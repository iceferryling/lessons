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9"/>
  </p:handoutMasterIdLst>
  <p:sldIdLst>
    <p:sldId id="675" r:id="rId3"/>
    <p:sldId id="676" r:id="rId5"/>
    <p:sldId id="268" r:id="rId6"/>
    <p:sldId id="270" r:id="rId7"/>
    <p:sldId id="497" r:id="rId8"/>
    <p:sldId id="498" r:id="rId9"/>
    <p:sldId id="499" r:id="rId10"/>
    <p:sldId id="614" r:id="rId11"/>
    <p:sldId id="495" r:id="rId12"/>
    <p:sldId id="504" r:id="rId13"/>
    <p:sldId id="506" r:id="rId14"/>
    <p:sldId id="500" r:id="rId15"/>
    <p:sldId id="507" r:id="rId16"/>
    <p:sldId id="508" r:id="rId17"/>
    <p:sldId id="509" r:id="rId18"/>
    <p:sldId id="510" r:id="rId19"/>
    <p:sldId id="512" r:id="rId20"/>
    <p:sldId id="513" r:id="rId21"/>
    <p:sldId id="514" r:id="rId22"/>
    <p:sldId id="511" r:id="rId23"/>
    <p:sldId id="515" r:id="rId24"/>
    <p:sldId id="516" r:id="rId25"/>
    <p:sldId id="517" r:id="rId26"/>
    <p:sldId id="654" r:id="rId27"/>
    <p:sldId id="518" r:id="rId28"/>
    <p:sldId id="655" r:id="rId29"/>
    <p:sldId id="520" r:id="rId30"/>
    <p:sldId id="542" r:id="rId31"/>
    <p:sldId id="501" r:id="rId32"/>
    <p:sldId id="543" r:id="rId33"/>
    <p:sldId id="540" r:id="rId34"/>
    <p:sldId id="656" r:id="rId35"/>
    <p:sldId id="541" r:id="rId36"/>
    <p:sldId id="657" r:id="rId37"/>
    <p:sldId id="545" r:id="rId38"/>
    <p:sldId id="546" r:id="rId39"/>
    <p:sldId id="559" r:id="rId40"/>
    <p:sldId id="652" r:id="rId41"/>
    <p:sldId id="560" r:id="rId42"/>
    <p:sldId id="558" r:id="rId43"/>
    <p:sldId id="561" r:id="rId44"/>
    <p:sldId id="620" r:id="rId45"/>
    <p:sldId id="562" r:id="rId46"/>
    <p:sldId id="563" r:id="rId47"/>
    <p:sldId id="584" r:id="rId48"/>
    <p:sldId id="653" r:id="rId49"/>
    <p:sldId id="582" r:id="rId50"/>
    <p:sldId id="585" r:id="rId51"/>
    <p:sldId id="586" r:id="rId52"/>
    <p:sldId id="587" r:id="rId53"/>
    <p:sldId id="589" r:id="rId54"/>
    <p:sldId id="590" r:id="rId55"/>
    <p:sldId id="658" r:id="rId56"/>
    <p:sldId id="661" r:id="rId57"/>
    <p:sldId id="594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00"/>
    <a:srgbClr val="840C26"/>
    <a:srgbClr val="FF7D27"/>
    <a:srgbClr val="1B06BA"/>
    <a:srgbClr val="180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7546" autoAdjust="0"/>
  </p:normalViewPr>
  <p:slideViewPr>
    <p:cSldViewPr showGuides="1">
      <p:cViewPr varScale="1">
        <p:scale>
          <a:sx n="79" d="100"/>
          <a:sy n="79" d="100"/>
        </p:scale>
        <p:origin x="909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B3334-8B19-41FD-BA5B-2CDDAB13B5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231CD-A0B8-4499-BF13-ACF9615008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26617-0DE9-4FCC-BA51-2984BBE673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ADF5C-0B53-4BD5-BF19-A16D1C70E8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8900" y="739775"/>
            <a:ext cx="6580188" cy="3702050"/>
          </a:xfrm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4686300"/>
            <a:ext cx="5405437" cy="4440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ri</a:t>
            </a:r>
            <a:r>
              <a:rPr lang="en-US" altLang="zh-CN" dirty="0"/>
              <a:t>=r0&lt;</a:t>
            </a:r>
            <a:r>
              <a:rPr lang="en-US" altLang="zh-CN" dirty="0" err="1"/>
              <a:t>rj</a:t>
            </a:r>
            <a:r>
              <a:rPr lang="en-US" altLang="zh-CN" dirty="0"/>
              <a:t>,</a:t>
            </a:r>
            <a:r>
              <a:rPr lang="zh-CN" altLang="en-US" dirty="0"/>
              <a:t>才进入循环。。。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R0</a:t>
            </a:r>
            <a:r>
              <a:rPr lang="zh-CN" altLang="en-US" dirty="0"/>
              <a:t>放监视哨，然后从前往后和有序序列比较，找插入位置；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演示视频里，从无序的那个里面取出元素，先和有序表中的最后一个元素做对比，如果比他大，那就不用动了，如果比它小，就把这个元素放在监视哨里，为了便于移动，</a:t>
            </a:r>
            <a:r>
              <a:rPr lang="en-US" altLang="zh-CN" dirty="0"/>
              <a:t>---</a:t>
            </a:r>
            <a:r>
              <a:rPr lang="zh-CN" altLang="en-US" dirty="0"/>
              <a:t>放到</a:t>
            </a:r>
            <a:r>
              <a:rPr lang="en-US" altLang="zh-CN" dirty="0"/>
              <a:t>r0</a:t>
            </a:r>
            <a:r>
              <a:rPr lang="zh-CN" altLang="en-US" dirty="0"/>
              <a:t>做监视哨，然后从后往前比，找到插入位置。。。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132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按折半查找的思想找插入位置。。。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讲了一下德国大众尾气门事件：三个来自</a:t>
            </a:r>
            <a:r>
              <a:rPr lang="en-US" altLang="zh-CN" dirty="0" err="1"/>
              <a:t>verginaria</a:t>
            </a:r>
            <a:r>
              <a:rPr lang="en-US" altLang="zh-CN" dirty="0"/>
              <a:t> state university</a:t>
            </a:r>
            <a:r>
              <a:rPr lang="zh-CN" altLang="en-US" dirty="0"/>
              <a:t>的研究生（</a:t>
            </a:r>
            <a:r>
              <a:rPr lang="en-US" altLang="zh-CN" dirty="0"/>
              <a:t>2</a:t>
            </a:r>
            <a:r>
              <a:rPr lang="zh-CN" altLang="en-US" dirty="0"/>
              <a:t>个印度</a:t>
            </a:r>
            <a:r>
              <a:rPr lang="en-US" altLang="zh-CN" dirty="0"/>
              <a:t>1</a:t>
            </a:r>
            <a:r>
              <a:rPr lang="zh-CN" altLang="en-US" dirty="0"/>
              <a:t>个瑞士），研究清洁能源，测汽车尾气，发现大众捷达柴油车，室内履带检测正常，但出去就超标</a:t>
            </a:r>
            <a:r>
              <a:rPr lang="en-US" altLang="zh-CN" dirty="0"/>
              <a:t>30</a:t>
            </a:r>
            <a:r>
              <a:rPr lang="zh-CN" altLang="en-US" dirty="0"/>
              <a:t>倍；一开始</a:t>
            </a:r>
            <a:r>
              <a:rPr lang="en-US" altLang="zh-CN" dirty="0"/>
              <a:t>5</a:t>
            </a:r>
            <a:r>
              <a:rPr lang="zh-CN" altLang="en-US" dirty="0"/>
              <a:t>公里以内，最后从东海岸出发到西海岸，</a:t>
            </a:r>
            <a:r>
              <a:rPr lang="en-US" altLang="zh-CN" dirty="0"/>
              <a:t>5000</a:t>
            </a:r>
            <a:r>
              <a:rPr lang="zh-CN" altLang="en-US" dirty="0"/>
              <a:t>公里；实验数据没有问题；</a:t>
            </a:r>
            <a:endParaRPr lang="en-US" altLang="zh-CN" dirty="0"/>
          </a:p>
          <a:p>
            <a:r>
              <a:rPr lang="zh-CN" altLang="en-US" dirty="0"/>
              <a:t>他们不敢公布出来，就发了一个技术报告，在一次学术研讨会上，没有指明是哪个牌子汽车；能源部职员参加了，展开了秘密调查，然后罚款</a:t>
            </a:r>
            <a:r>
              <a:rPr lang="en-US" altLang="zh-CN" dirty="0"/>
              <a:t>100</a:t>
            </a:r>
            <a:r>
              <a:rPr lang="zh-CN" altLang="en-US" dirty="0"/>
              <a:t>亿美金；大众损失了</a:t>
            </a:r>
            <a:r>
              <a:rPr lang="en-US" altLang="zh-CN" dirty="0"/>
              <a:t>3000</a:t>
            </a:r>
            <a:r>
              <a:rPr lang="zh-CN" altLang="en-US" dirty="0"/>
              <a:t>亿美金，仅次于</a:t>
            </a:r>
            <a:r>
              <a:rPr lang="en-US" altLang="zh-CN" dirty="0"/>
              <a:t>2</a:t>
            </a:r>
            <a:r>
              <a:rPr lang="zh-CN" altLang="en-US" dirty="0"/>
              <a:t>战；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号用于交换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假设初始序列含有</a:t>
            </a:r>
            <a:r>
              <a:rPr lang="en-US" altLang="zh-CN" dirty="0"/>
              <a:t>n</a:t>
            </a:r>
            <a:r>
              <a:rPr lang="zh-CN" altLang="en-US" dirty="0"/>
              <a:t>个记录，则可看成是</a:t>
            </a:r>
            <a:r>
              <a:rPr lang="en-US" altLang="zh-CN" dirty="0"/>
              <a:t>n</a:t>
            </a:r>
            <a:r>
              <a:rPr lang="zh-CN" altLang="en-US" dirty="0"/>
              <a:t>个有序的子序列，每个子序列的长度为</a:t>
            </a:r>
            <a:r>
              <a:rPr lang="en-US" altLang="zh-CN" dirty="0"/>
              <a:t>1</a:t>
            </a:r>
            <a:r>
              <a:rPr lang="zh-CN" altLang="en-US" dirty="0"/>
              <a:t>，然后两两归并，得到（</a:t>
            </a:r>
            <a:r>
              <a:rPr lang="en-US" altLang="zh-CN" dirty="0"/>
              <a:t>n/2</a:t>
            </a:r>
            <a:r>
              <a:rPr lang="zh-CN" altLang="en-US" dirty="0"/>
              <a:t>）向上取整个长度为</a:t>
            </a:r>
            <a:r>
              <a:rPr lang="en-US" altLang="zh-CN" dirty="0"/>
              <a:t>2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的有序子序列；再两两归并。。。，如此重复，直到得到一个长度为</a:t>
            </a:r>
            <a:r>
              <a:rPr lang="en-US" altLang="zh-CN" dirty="0"/>
              <a:t>n</a:t>
            </a:r>
            <a:r>
              <a:rPr lang="zh-CN" altLang="en-US" dirty="0"/>
              <a:t>的有序序列为止，这种方法称为</a:t>
            </a:r>
            <a:r>
              <a:rPr lang="en-US" altLang="zh-CN" dirty="0"/>
              <a:t>2-</a:t>
            </a:r>
            <a:r>
              <a:rPr lang="zh-CN" altLang="en-US" dirty="0"/>
              <a:t>路归并排序。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两个有序序列归并为一个有序序列。。。</a:t>
            </a:r>
            <a:endParaRPr lang="en-US" altLang="zh-CN" dirty="0"/>
          </a:p>
          <a:p>
            <a:r>
              <a:rPr lang="zh-CN" altLang="en-US" dirty="0"/>
              <a:t>将有序的</a:t>
            </a:r>
            <a:r>
              <a:rPr lang="en-US" altLang="zh-CN" dirty="0"/>
              <a:t>SR[</a:t>
            </a:r>
            <a:r>
              <a:rPr lang="en-US" altLang="zh-CN" dirty="0" err="1"/>
              <a:t>i</a:t>
            </a:r>
            <a:r>
              <a:rPr lang="en-US" altLang="zh-CN" dirty="0"/>
              <a:t>…m]</a:t>
            </a:r>
            <a:r>
              <a:rPr lang="zh-CN" altLang="en-US" dirty="0"/>
              <a:t>和</a:t>
            </a:r>
            <a:r>
              <a:rPr lang="en-US" altLang="zh-CN" dirty="0"/>
              <a:t>SR[m+1…n]</a:t>
            </a:r>
            <a:r>
              <a:rPr lang="zh-CN" altLang="en-US" dirty="0"/>
              <a:t>归并为有序的</a:t>
            </a:r>
            <a:r>
              <a:rPr lang="en-US" altLang="zh-CN" dirty="0"/>
              <a:t>TR[</a:t>
            </a:r>
            <a:r>
              <a:rPr lang="en-US" altLang="zh-CN" dirty="0" err="1"/>
              <a:t>i</a:t>
            </a:r>
            <a:r>
              <a:rPr lang="en-US" altLang="zh-CN" dirty="0"/>
              <a:t>…n];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SR</a:t>
            </a:r>
            <a:r>
              <a:rPr lang="zh-CN" altLang="en-US" dirty="0"/>
              <a:t>是由小到大地并入</a:t>
            </a:r>
            <a:r>
              <a:rPr lang="en-US" altLang="zh-CN" dirty="0"/>
              <a:t>TR</a:t>
            </a:r>
            <a:r>
              <a:rPr lang="zh-CN" altLang="en-US" dirty="0"/>
              <a:t>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将剩余的</a:t>
            </a:r>
            <a:r>
              <a:rPr lang="en-US" altLang="zh-CN" dirty="0" err="1"/>
              <a:t>SR【i</a:t>
            </a:r>
            <a:r>
              <a:rPr lang="en-US" altLang="zh-CN" dirty="0"/>
              <a:t>…m]</a:t>
            </a:r>
            <a:r>
              <a:rPr lang="zh-CN" altLang="en-US" dirty="0"/>
              <a:t>复制到</a:t>
            </a:r>
            <a:r>
              <a:rPr lang="en-US" altLang="zh-CN" dirty="0"/>
              <a:t>TR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将剩余的</a:t>
            </a:r>
            <a:r>
              <a:rPr lang="en-US" altLang="zh-CN" dirty="0"/>
              <a:t>SR[j,…n]</a:t>
            </a:r>
            <a:r>
              <a:rPr lang="zh-CN" altLang="en-US" dirty="0"/>
              <a:t>复制到</a:t>
            </a:r>
            <a:r>
              <a:rPr lang="en-US" altLang="zh-CN" dirty="0"/>
              <a:t>TR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是一个辅助数组。。。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23866-46B1-402C-BC44-337F9CBE0FE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6AE3E-89E5-4A06-88EF-7F11611CD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611E2-D52F-41B7-B74F-BADE4950A04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F1C4-642A-4ADA-9BFA-AA51F9BB6E3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FFD4-D706-4F06-B79F-9CFBD077825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FE1E-9E62-4823-9EB8-F8B0DD6D034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7B393-665A-4B39-9197-625A8FC359E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41E9-1823-4215-B7DD-3E345C994C7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6668-C7FA-4D4D-8F3E-AFCF156585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C463-3DE5-4DBB-9E44-3249A12021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DC92-0FB7-4CCC-9121-ED045FDC11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78613"/>
            <a:ext cx="12192000" cy="17938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5" name="页脚占位符 6"/>
          <p:cNvSpPr>
            <a:spLocks noGrp="1"/>
          </p:cNvSpPr>
          <p:nvPr userDrawn="1"/>
        </p:nvSpPr>
        <p:spPr>
          <a:xfrm>
            <a:off x="10174288" y="115888"/>
            <a:ext cx="2214562" cy="360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663300"/>
                </a:solidFill>
                <a:latin typeface="华文行楷" pitchFamily="2" charset="-122"/>
                <a:ea typeface="华文行楷" pitchFamily="2" charset="-122"/>
              </a:rPr>
              <a:t>第</a:t>
            </a:r>
            <a:r>
              <a:rPr lang="en-US" altLang="zh-CN" sz="2000" dirty="0">
                <a:solidFill>
                  <a:srgbClr val="663300"/>
                </a:solidFill>
                <a:latin typeface="华文行楷" pitchFamily="2" charset="-122"/>
                <a:ea typeface="华文行楷" pitchFamily="2" charset="-122"/>
              </a:rPr>
              <a:t>10</a:t>
            </a:r>
            <a:r>
              <a:rPr lang="zh-CN" altLang="en-US" sz="2000" dirty="0">
                <a:solidFill>
                  <a:srgbClr val="663300"/>
                </a:solidFill>
                <a:latin typeface="华文行楷" pitchFamily="2" charset="-122"/>
                <a:ea typeface="华文行楷" pitchFamily="2" charset="-122"/>
              </a:rPr>
              <a:t>章  字符串</a:t>
            </a:r>
            <a:endParaRPr lang="en-US" altLang="zh-CN" sz="2000" dirty="0">
              <a:solidFill>
                <a:srgbClr val="663300"/>
              </a:solidFill>
              <a:latin typeface="华文行楷" pitchFamily="2" charset="-122"/>
              <a:ea typeface="华文行楷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2000" dirty="0">
              <a:latin typeface="华文行楷" pitchFamily="2" charset="-122"/>
              <a:ea typeface="华文行楷" pitchFamily="2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2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4400" y="3197225"/>
            <a:ext cx="103632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grpSp>
        <p:nvGrpSpPr>
          <p:cNvPr id="7" name="Group 10"/>
          <p:cNvGrpSpPr/>
          <p:nvPr userDrawn="1"/>
        </p:nvGrpSpPr>
        <p:grpSpPr bwMode="auto">
          <a:xfrm>
            <a:off x="736600" y="2924175"/>
            <a:ext cx="10410825" cy="1463675"/>
            <a:chOff x="336" y="1824"/>
            <a:chExt cx="5328" cy="922"/>
          </a:xfrm>
        </p:grpSpPr>
        <p:pic>
          <p:nvPicPr>
            <p:cNvPr id="8" name="Picture 8" descr="ANABNR2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" t="-1314" r="-2" b="-36961"/>
            <a:stretch>
              <a:fillRect/>
            </a:stretch>
          </p:blipFill>
          <p:spPr bwMode="auto">
            <a:xfrm>
              <a:off x="336" y="2016"/>
              <a:ext cx="5328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9"/>
            <p:cNvSpPr>
              <a:spLocks noChangeArrowheads="1"/>
            </p:cNvSpPr>
            <p:nvPr userDrawn="1"/>
          </p:nvSpPr>
          <p:spPr bwMode="hidden">
            <a:xfrm>
              <a:off x="501" y="1824"/>
              <a:ext cx="192" cy="62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algn="ctr">
                <a:defRPr/>
              </a:pPr>
              <a:endParaRPr kumimoji="1" lang="zh-CN" altLang="en-US"/>
            </a:p>
          </p:txBody>
        </p:sp>
      </p:grpSp>
      <p:pic>
        <p:nvPicPr>
          <p:cNvPr id="10" name="图片 5" descr="head.gif"/>
          <p:cNvPicPr>
            <a:picLocks noChangeAspect="1"/>
          </p:cNvPicPr>
          <p:nvPr userDrawn="1"/>
        </p:nvPicPr>
        <p:blipFill>
          <a:blip r:embed="rId3">
            <a:lum contrast="-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D:\教学\教学报奖\扫描证书和佐证材料原件\2015扫描\新形态主教材封面.JP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4149725"/>
            <a:ext cx="221615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D:\教学\教学报奖\扫描证书和佐证材料原件\2015扫描\新形态学习指导封面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175" y="4149725"/>
            <a:ext cx="217805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页脚占位符 4"/>
          <p:cNvSpPr txBox="1"/>
          <p:nvPr userDrawn="1"/>
        </p:nvSpPr>
        <p:spPr>
          <a:xfrm>
            <a:off x="2092325" y="6384925"/>
            <a:ext cx="4978400" cy="284163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1100">
                <a:solidFill>
                  <a:srgbClr val="636363"/>
                </a:solidFill>
              </a:rPr>
              <a:t>版权所有，违者必究</a:t>
            </a:r>
            <a:endParaRPr lang="en-US" altLang="zh-CN" sz="1100">
              <a:solidFill>
                <a:srgbClr val="636363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BE045-BA99-46F1-9B81-65E8F8BF2354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5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A571-F154-4AFF-BD19-FD12AA52942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slide" Target="slide11.xml"/><Relationship Id="rId3" Type="http://schemas.openxmlformats.org/officeDocument/2006/relationships/slide" Target="slide29.xml"/><Relationship Id="rId2" Type="http://schemas.openxmlformats.org/officeDocument/2006/relationships/slide" Target="slide12.xml"/><Relationship Id="rId1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slide" Target="slide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4"/>
          <p:cNvSpPr txBox="1">
            <a:spLocks noChangeArrowheads="1"/>
          </p:cNvSpPr>
          <p:nvPr/>
        </p:nvSpPr>
        <p:spPr bwMode="auto">
          <a:xfrm>
            <a:off x="1416050" y="1919288"/>
            <a:ext cx="9632950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6600" b="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第</a:t>
            </a:r>
            <a:r>
              <a:rPr lang="en-US" altLang="zh-CN" sz="6600" b="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15</a:t>
            </a:r>
            <a:r>
              <a:rPr lang="zh-CN" altLang="en-US" sz="6600" b="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讲 排序算法</a:t>
            </a:r>
            <a:r>
              <a:rPr lang="en-US" altLang="zh-CN" sz="6600" b="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endParaRPr lang="zh-CN" altLang="en-US" sz="6600" b="0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1267" name="Text Box 21"/>
          <p:cNvSpPr txBox="1">
            <a:spLocks noChangeArrowheads="1"/>
          </p:cNvSpPr>
          <p:nvPr/>
        </p:nvSpPr>
        <p:spPr bwMode="auto">
          <a:xfrm>
            <a:off x="2927350" y="4117975"/>
            <a:ext cx="6121400" cy="1840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Franklin Gothic Book" pitchFamily="34" charset="0"/>
              </a:defRPr>
            </a:lvl1pPr>
            <a:lvl2pPr marL="742950" indent="-28575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Arial" panose="020B0604020202090204" pitchFamily="34" charset="0"/>
                <a:ea typeface="黑体" panose="02010609060101010101" pitchFamily="49" charset="-122"/>
              </a:rPr>
              <a:t>哈尔滨工业大学（深圳）</a:t>
            </a:r>
            <a:endParaRPr lang="zh-CN" altLang="en-US" sz="2400" b="0" dirty="0"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Arial" panose="020B0604020202090204" pitchFamily="34" charset="0"/>
                <a:ea typeface="黑体" panose="02010609060101010101" pitchFamily="49" charset="-122"/>
              </a:rPr>
              <a:t>计算机科学与技术学院</a:t>
            </a:r>
            <a:endParaRPr lang="zh-CN" altLang="en-US" sz="2400" b="0" dirty="0"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br>
              <a:rPr lang="en-US" altLang="zh-CN" sz="2800" b="0" dirty="0">
                <a:solidFill>
                  <a:srgbClr val="B9945B"/>
                </a:solidFill>
                <a:latin typeface="Arial" panose="020B0604020202090204" pitchFamily="34" charset="0"/>
                <a:ea typeface="黑体" panose="02010609060101010101" pitchFamily="49" charset="-122"/>
              </a:rPr>
            </a:br>
            <a:endParaRPr lang="en-US" altLang="zh-CN" sz="2800" b="0" dirty="0">
              <a:solidFill>
                <a:srgbClr val="B9945B"/>
              </a:solidFill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"/>
          <p:cNvGrpSpPr/>
          <p:nvPr/>
        </p:nvGrpSpPr>
        <p:grpSpPr bwMode="auto">
          <a:xfrm>
            <a:off x="1676400" y="2057400"/>
            <a:ext cx="8640762" cy="3959225"/>
            <a:chOff x="2214861" y="1815407"/>
            <a:chExt cx="8035728" cy="4074115"/>
          </a:xfrm>
        </p:grpSpPr>
        <p:grpSp>
          <p:nvGrpSpPr>
            <p:cNvPr id="13317" name="组合 4"/>
            <p:cNvGrpSpPr/>
            <p:nvPr/>
          </p:nvGrpSpPr>
          <p:grpSpPr bwMode="auto">
            <a:xfrm>
              <a:off x="2214861" y="1815407"/>
              <a:ext cx="905470" cy="3509664"/>
              <a:chOff x="3199" y="517"/>
              <a:chExt cx="1006327" cy="2255840"/>
            </a:xfrm>
          </p:grpSpPr>
          <p:sp>
            <p:nvSpPr>
              <p:cNvPr id="27" name="圆角矩形 26"/>
              <p:cNvSpPr/>
              <p:nvPr/>
            </p:nvSpPr>
            <p:spPr>
              <a:xfrm>
                <a:off x="3199" y="517"/>
                <a:ext cx="1005801" cy="2255349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8" name="圆角矩形 4"/>
              <p:cNvSpPr txBox="1"/>
              <p:nvPr/>
            </p:nvSpPr>
            <p:spPr>
              <a:xfrm>
                <a:off x="32733" y="30967"/>
                <a:ext cx="945092" cy="219445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7789" tIns="47789" rIns="47789" bIns="47789" spcCol="1270"/>
              <a:lstStyle/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255" b="1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进入计算机的世界</a:t>
                </a:r>
                <a:endParaRPr lang="zh-CN" altLang="en-US" sz="1255" b="1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18" name="组合 5"/>
            <p:cNvGrpSpPr/>
            <p:nvPr/>
          </p:nvGrpSpPr>
          <p:grpSpPr bwMode="auto">
            <a:xfrm>
              <a:off x="3179665" y="1815407"/>
              <a:ext cx="1872853" cy="3529013"/>
              <a:chOff x="1079830" y="517"/>
              <a:chExt cx="2182373" cy="1202928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1080673" y="517"/>
                <a:ext cx="2181380" cy="1202754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30162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9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26" name="圆角矩形 6"/>
              <p:cNvSpPr txBox="1"/>
              <p:nvPr/>
            </p:nvSpPr>
            <p:spPr>
              <a:xfrm>
                <a:off x="1116800" y="36154"/>
                <a:ext cx="2110847" cy="113203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7789" tIns="47789" rIns="47789" bIns="47789" spcCol="1270"/>
              <a:lstStyle/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255" b="1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程序设计基础</a:t>
                </a:r>
                <a:endParaRPr lang="zh-CN" altLang="en-US" sz="1255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19" name="组合 6"/>
            <p:cNvGrpSpPr/>
            <p:nvPr/>
          </p:nvGrpSpPr>
          <p:grpSpPr bwMode="auto">
            <a:xfrm>
              <a:off x="3272533" y="2264273"/>
              <a:ext cx="1693564" cy="1540073"/>
              <a:chOff x="1080896" y="1443452"/>
              <a:chExt cx="1290569" cy="784456"/>
            </a:xfrm>
          </p:grpSpPr>
          <p:sp>
            <p:nvSpPr>
              <p:cNvPr id="23" name="圆角矩形 22"/>
              <p:cNvSpPr/>
              <p:nvPr/>
            </p:nvSpPr>
            <p:spPr>
              <a:xfrm>
                <a:off x="1080430" y="1443638"/>
                <a:ext cx="1291542" cy="784649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4" name="圆角矩形 8"/>
              <p:cNvSpPr txBox="1"/>
              <p:nvPr/>
            </p:nvSpPr>
            <p:spPr>
              <a:xfrm>
                <a:off x="1088305" y="1466936"/>
                <a:ext cx="1245416" cy="73805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sz="1120" b="1" dirty="0">
                    <a:solidFill>
                      <a:srgbClr val="70AD47">
                        <a:lumMod val="40000"/>
                        <a:lumOff val="60000"/>
                      </a:srgbClr>
                    </a:solidFill>
                    <a:latin typeface="Calibri"/>
                  </a:rPr>
                  <a:t>C</a:t>
                </a:r>
                <a:r>
                  <a:rPr lang="zh-CN" altLang="en-US" sz="1120" b="1" dirty="0">
                    <a:solidFill>
                      <a:srgbClr val="70AD47">
                        <a:lumMod val="40000"/>
                        <a:lumOff val="60000"/>
                      </a:srgbClr>
                    </a:solidFill>
                    <a:latin typeface="Calibri"/>
                    <a:ea typeface="等线" panose="02010600030101010101" pitchFamily="2" charset="-122"/>
                  </a:rPr>
                  <a:t>语言语法</a:t>
                </a:r>
                <a:endParaRPr lang="zh-CN" altLang="en-US" sz="1120" dirty="0">
                  <a:solidFill>
                    <a:srgbClr val="70AD47">
                      <a:lumMod val="40000"/>
                      <a:lumOff val="60000"/>
                    </a:srgbClr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0" name="组合 7"/>
            <p:cNvGrpSpPr/>
            <p:nvPr/>
          </p:nvGrpSpPr>
          <p:grpSpPr bwMode="auto">
            <a:xfrm>
              <a:off x="3272533" y="3923011"/>
              <a:ext cx="1693564" cy="1318220"/>
              <a:chOff x="2406617" y="1443452"/>
              <a:chExt cx="854521" cy="787343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2406309" y="1443271"/>
                <a:ext cx="855165" cy="787384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30162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9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22" name="圆角矩形 10"/>
              <p:cNvSpPr txBox="1"/>
              <p:nvPr/>
            </p:nvSpPr>
            <p:spPr>
              <a:xfrm>
                <a:off x="2429401" y="1466687"/>
                <a:ext cx="808980" cy="74055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b="1" dirty="0">
                    <a:solidFill>
                      <a:srgbClr val="70AD47">
                        <a:lumMod val="40000"/>
                        <a:lumOff val="60000"/>
                      </a:srgbClr>
                    </a:solidFill>
                    <a:latin typeface="Calibri"/>
                    <a:ea typeface="等线" panose="02010600030101010101" pitchFamily="2" charset="-122"/>
                  </a:rPr>
                  <a:t>模块化编程</a:t>
                </a:r>
                <a:endParaRPr lang="zh-CN" altLang="en-US" sz="1120" dirty="0">
                  <a:solidFill>
                    <a:srgbClr val="70AD47">
                      <a:lumMod val="40000"/>
                      <a:lumOff val="60000"/>
                    </a:srgbClr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1" name="组合 8"/>
            <p:cNvGrpSpPr/>
            <p:nvPr/>
          </p:nvGrpSpPr>
          <p:grpSpPr bwMode="auto">
            <a:xfrm>
              <a:off x="5150332" y="1823935"/>
              <a:ext cx="1687216" cy="3520571"/>
              <a:chOff x="3332283" y="197"/>
              <a:chExt cx="1781087" cy="2255923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331752" y="-34"/>
                <a:ext cx="1781342" cy="2255772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30162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9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20" name="圆角矩形 12"/>
              <p:cNvSpPr txBox="1"/>
              <p:nvPr/>
            </p:nvSpPr>
            <p:spPr>
              <a:xfrm>
                <a:off x="3366038" y="70099"/>
                <a:ext cx="1678483" cy="215214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7789" tIns="47789" rIns="47789" bIns="47789" spcCol="1270"/>
              <a:lstStyle/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255" b="1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数据操作基础</a:t>
                </a:r>
                <a:endParaRPr lang="zh-CN" altLang="en-US" sz="1255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2" name="组合 9"/>
            <p:cNvGrpSpPr/>
            <p:nvPr/>
          </p:nvGrpSpPr>
          <p:grpSpPr bwMode="auto">
            <a:xfrm>
              <a:off x="7010501" y="1824434"/>
              <a:ext cx="483691" cy="3519984"/>
              <a:chOff x="5183793" y="517"/>
              <a:chExt cx="594677" cy="2255547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183201" y="1014"/>
                <a:ext cx="595352" cy="2254726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30162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9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8" name="圆角矩形 14"/>
              <p:cNvSpPr txBox="1"/>
              <p:nvPr/>
            </p:nvSpPr>
            <p:spPr>
              <a:xfrm>
                <a:off x="5201352" y="17762"/>
                <a:ext cx="559050" cy="222123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7789" tIns="47789" rIns="47789" bIns="47789" spcCol="1270"/>
              <a:lstStyle/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255" b="1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程序设计进阶</a:t>
                </a:r>
                <a:endParaRPr lang="zh-CN" altLang="en-US" sz="1255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3" name="组合 10"/>
            <p:cNvGrpSpPr/>
            <p:nvPr/>
          </p:nvGrpSpPr>
          <p:grpSpPr bwMode="auto">
            <a:xfrm>
              <a:off x="7667030" y="1815407"/>
              <a:ext cx="1914128" cy="3529013"/>
              <a:chOff x="5848774" y="517"/>
              <a:chExt cx="2689048" cy="2255547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5848719" y="517"/>
                <a:ext cx="2690015" cy="2255221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30162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9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6" name="圆角矩形 16"/>
              <p:cNvSpPr txBox="1"/>
              <p:nvPr/>
            </p:nvSpPr>
            <p:spPr>
              <a:xfrm>
                <a:off x="5913015" y="67338"/>
                <a:ext cx="2561424" cy="212262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7789" tIns="47789" rIns="47789" bIns="47789" spcCol="1270"/>
              <a:lstStyle/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255" b="1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数据操作进阶</a:t>
                </a:r>
                <a:endParaRPr lang="zh-CN" altLang="en-US" sz="1255" b="1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4" name="组合 11"/>
            <p:cNvGrpSpPr/>
            <p:nvPr/>
          </p:nvGrpSpPr>
          <p:grpSpPr bwMode="auto">
            <a:xfrm>
              <a:off x="9741100" y="1815407"/>
              <a:ext cx="509489" cy="3529013"/>
              <a:chOff x="8608126" y="517"/>
              <a:chExt cx="418881" cy="2255547"/>
            </a:xfrm>
          </p:grpSpPr>
          <p:sp>
            <p:nvSpPr>
              <p:cNvPr id="13" name="圆角矩形 12"/>
              <p:cNvSpPr/>
              <p:nvPr/>
            </p:nvSpPr>
            <p:spPr>
              <a:xfrm>
                <a:off x="8608251" y="517"/>
                <a:ext cx="418756" cy="2255221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defTabSz="30162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9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4" name="圆角矩形 18"/>
              <p:cNvSpPr txBox="1"/>
              <p:nvPr/>
            </p:nvSpPr>
            <p:spPr>
              <a:xfrm>
                <a:off x="8621602" y="13046"/>
                <a:ext cx="392054" cy="223016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7789" tIns="47789" rIns="47789" bIns="47789" spcCol="1270"/>
              <a:lstStyle/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en-US" altLang="zh-CN" sz="1255" b="1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55753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255" b="1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数据存储</a:t>
                </a:r>
                <a:endParaRPr lang="zh-CN" altLang="en-US" sz="1255" b="1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5" name="组合 28"/>
            <p:cNvGrpSpPr/>
            <p:nvPr/>
          </p:nvGrpSpPr>
          <p:grpSpPr bwMode="auto">
            <a:xfrm>
              <a:off x="2275484" y="2763441"/>
              <a:ext cx="340519" cy="1832868"/>
              <a:chOff x="69905" y="2496364"/>
              <a:chExt cx="418881" cy="2255547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69791" y="2495669"/>
                <a:ext cx="419516" cy="2255539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圆角矩形 4"/>
              <p:cNvSpPr txBox="1"/>
              <p:nvPr/>
            </p:nvSpPr>
            <p:spPr>
              <a:xfrm>
                <a:off x="80687" y="2507730"/>
                <a:ext cx="397723" cy="223141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fontAlgn="auto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计算与编码</a:t>
                </a:r>
                <a:endParaRPr lang="en-US" altLang="zh-CN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6" name="组合 29"/>
            <p:cNvGrpSpPr/>
            <p:nvPr/>
          </p:nvGrpSpPr>
          <p:grpSpPr bwMode="auto">
            <a:xfrm>
              <a:off x="2706292" y="2763441"/>
              <a:ext cx="340519" cy="1832868"/>
              <a:chOff x="523939" y="2496364"/>
              <a:chExt cx="418881" cy="2255547"/>
            </a:xfrm>
          </p:grpSpPr>
          <p:sp>
            <p:nvSpPr>
              <p:cNvPr id="31" name="圆角矩形 30"/>
              <p:cNvSpPr/>
              <p:nvPr/>
            </p:nvSpPr>
            <p:spPr>
              <a:xfrm>
                <a:off x="524174" y="2495669"/>
                <a:ext cx="419516" cy="2255539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圆角矩形 6"/>
              <p:cNvSpPr txBox="1"/>
              <p:nvPr/>
            </p:nvSpPr>
            <p:spPr>
              <a:xfrm>
                <a:off x="536887" y="2507730"/>
                <a:ext cx="394090" cy="223141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fontAlgn="auto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程序设计概述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7" name="组合 34"/>
            <p:cNvGrpSpPr/>
            <p:nvPr/>
          </p:nvGrpSpPr>
          <p:grpSpPr bwMode="auto">
            <a:xfrm>
              <a:off x="3480198" y="2598342"/>
              <a:ext cx="1282105" cy="256679"/>
              <a:chOff x="1080896" y="2467914"/>
              <a:chExt cx="418472" cy="2255547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1080859" y="2463908"/>
                <a:ext cx="418745" cy="2253702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3" name="圆角矩形 4"/>
              <p:cNvSpPr txBox="1"/>
              <p:nvPr/>
            </p:nvSpPr>
            <p:spPr>
              <a:xfrm>
                <a:off x="1092906" y="2478259"/>
                <a:ext cx="394651" cy="222500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数据类型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8" name="组合 35"/>
            <p:cNvGrpSpPr/>
            <p:nvPr/>
          </p:nvGrpSpPr>
          <p:grpSpPr bwMode="auto">
            <a:xfrm>
              <a:off x="3462140" y="2925962"/>
              <a:ext cx="1300163" cy="274737"/>
              <a:chOff x="1516944" y="2467914"/>
              <a:chExt cx="418472" cy="2255547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1517018" y="2470136"/>
                <a:ext cx="418631" cy="2253106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1" name="圆角矩形 6"/>
              <p:cNvSpPr txBox="1"/>
              <p:nvPr/>
            </p:nvSpPr>
            <p:spPr>
              <a:xfrm>
                <a:off x="1529373" y="2483551"/>
                <a:ext cx="393922" cy="222628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表  达  式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29" name="组合 36"/>
            <p:cNvGrpSpPr/>
            <p:nvPr/>
          </p:nvGrpSpPr>
          <p:grpSpPr bwMode="auto">
            <a:xfrm>
              <a:off x="3462140" y="3314206"/>
              <a:ext cx="1300163" cy="291505"/>
              <a:chOff x="1952993" y="2467914"/>
              <a:chExt cx="418472" cy="2255547"/>
            </a:xfrm>
          </p:grpSpPr>
          <p:sp>
            <p:nvSpPr>
              <p:cNvPr id="38" name="圆角矩形 37"/>
              <p:cNvSpPr/>
              <p:nvPr/>
            </p:nvSpPr>
            <p:spPr>
              <a:xfrm>
                <a:off x="1953067" y="2474220"/>
                <a:ext cx="418631" cy="2249894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9" name="圆角矩形 8"/>
              <p:cNvSpPr txBox="1"/>
              <p:nvPr/>
            </p:nvSpPr>
            <p:spPr>
              <a:xfrm>
                <a:off x="1965422" y="2486864"/>
                <a:ext cx="393922" cy="222461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程序控制流程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0" name="组合 43"/>
            <p:cNvGrpSpPr/>
            <p:nvPr/>
          </p:nvGrpSpPr>
          <p:grpSpPr bwMode="auto">
            <a:xfrm>
              <a:off x="3462140" y="4285456"/>
              <a:ext cx="1300163" cy="300534"/>
              <a:chOff x="2406617" y="2470801"/>
              <a:chExt cx="418472" cy="2255547"/>
            </a:xfrm>
          </p:grpSpPr>
          <p:sp>
            <p:nvSpPr>
              <p:cNvPr id="48" name="圆角矩形 47"/>
              <p:cNvSpPr/>
              <p:nvPr/>
            </p:nvSpPr>
            <p:spPr>
              <a:xfrm>
                <a:off x="2406691" y="2470075"/>
                <a:ext cx="418631" cy="2255864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9" name="圆角矩形 4"/>
              <p:cNvSpPr txBox="1"/>
              <p:nvPr/>
            </p:nvSpPr>
            <p:spPr>
              <a:xfrm>
                <a:off x="2419046" y="2482339"/>
                <a:ext cx="393922" cy="223134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b="1" dirty="0">
                    <a:solidFill>
                      <a:schemeClr val="bg1"/>
                    </a:solidFill>
                    <a:latin typeface="Calibri"/>
                    <a:ea typeface="等线" panose="02010600030101010101" pitchFamily="2" charset="-122"/>
                  </a:rPr>
                  <a:t>分治与函数</a:t>
                </a:r>
                <a:endParaRPr lang="zh-CN" altLang="en-US" sz="1120" b="1" dirty="0">
                  <a:solidFill>
                    <a:schemeClr val="bg1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47" name="圆角矩形 6"/>
            <p:cNvSpPr txBox="1"/>
            <p:nvPr/>
          </p:nvSpPr>
          <p:spPr bwMode="auto">
            <a:xfrm>
              <a:off x="3500754" y="4708454"/>
              <a:ext cx="1223888" cy="295675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2759" tIns="42759" rIns="42759" bIns="42759" spcCol="1270" anchor="ctr"/>
            <a:lstStyle/>
            <a:p>
              <a:pPr algn="ctr" defTabSz="49911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120" b="1" dirty="0">
                  <a:solidFill>
                    <a:schemeClr val="bg1"/>
                  </a:solidFill>
                  <a:latin typeface="Calibri"/>
                  <a:ea typeface="等线" panose="02010600030101010101" pitchFamily="2" charset="-122"/>
                </a:rPr>
                <a:t>递归函数</a:t>
              </a:r>
              <a:endParaRPr lang="zh-CN" altLang="en-US" sz="1120" b="1" dirty="0">
                <a:solidFill>
                  <a:schemeClr val="bg1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grpSp>
          <p:nvGrpSpPr>
            <p:cNvPr id="13332" name="组合 49"/>
            <p:cNvGrpSpPr/>
            <p:nvPr/>
          </p:nvGrpSpPr>
          <p:grpSpPr bwMode="auto">
            <a:xfrm>
              <a:off x="5316935" y="2368749"/>
              <a:ext cx="340519" cy="1831578"/>
              <a:chOff x="3332507" y="2496070"/>
              <a:chExt cx="418881" cy="2255547"/>
            </a:xfrm>
          </p:grpSpPr>
          <p:sp>
            <p:nvSpPr>
              <p:cNvPr id="60" name="圆角矩形 59"/>
              <p:cNvSpPr/>
              <p:nvPr/>
            </p:nvSpPr>
            <p:spPr>
              <a:xfrm>
                <a:off x="3332163" y="2496609"/>
                <a:ext cx="419516" cy="2255115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1" name="圆角矩形 4"/>
              <p:cNvSpPr txBox="1"/>
              <p:nvPr/>
            </p:nvSpPr>
            <p:spPr>
              <a:xfrm>
                <a:off x="3344876" y="2508679"/>
                <a:ext cx="395906" cy="22309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schemeClr val="bg1"/>
                    </a:solidFill>
                    <a:latin typeface="Calibri"/>
                    <a:ea typeface="等线" panose="02010600030101010101" pitchFamily="2" charset="-122"/>
                  </a:rPr>
                  <a:t>数        </a:t>
                </a:r>
                <a:r>
                  <a:rPr lang="en-US" altLang="zh-CN" sz="1120" dirty="0">
                    <a:solidFill>
                      <a:schemeClr val="bg1"/>
                    </a:solidFill>
                    <a:latin typeface="Calibri"/>
                    <a:ea typeface="等线" panose="02010600030101010101" pitchFamily="2" charset="-122"/>
                  </a:rPr>
                  <a:t>	</a:t>
                </a:r>
                <a:r>
                  <a:rPr lang="zh-CN" altLang="en-US" sz="1120" dirty="0">
                    <a:solidFill>
                      <a:schemeClr val="bg1"/>
                    </a:solidFill>
                    <a:latin typeface="Calibri"/>
                    <a:ea typeface="等线" panose="02010600030101010101" pitchFamily="2" charset="-122"/>
                  </a:rPr>
                  <a:t>组</a:t>
                </a:r>
                <a:endParaRPr lang="zh-CN" altLang="en-US" sz="1120" dirty="0">
                  <a:solidFill>
                    <a:schemeClr val="bg1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3" name="组合 50"/>
            <p:cNvGrpSpPr/>
            <p:nvPr/>
          </p:nvGrpSpPr>
          <p:grpSpPr bwMode="auto">
            <a:xfrm>
              <a:off x="5823844" y="2368749"/>
              <a:ext cx="340519" cy="1831578"/>
              <a:chOff x="3786541" y="2496070"/>
              <a:chExt cx="418881" cy="2255547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3787368" y="2496609"/>
                <a:ext cx="417699" cy="2255115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9" name="圆角矩形 6"/>
              <p:cNvSpPr txBox="1"/>
              <p:nvPr/>
            </p:nvSpPr>
            <p:spPr>
              <a:xfrm>
                <a:off x="3800081" y="2508679"/>
                <a:ext cx="392274" cy="22309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字符串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4" name="组合 51"/>
            <p:cNvGrpSpPr/>
            <p:nvPr/>
          </p:nvGrpSpPr>
          <p:grpSpPr bwMode="auto">
            <a:xfrm>
              <a:off x="6323013" y="2377779"/>
              <a:ext cx="340519" cy="1835447"/>
              <a:chOff x="4240574" y="2496070"/>
              <a:chExt cx="418881" cy="2259870"/>
            </a:xfrm>
          </p:grpSpPr>
          <p:sp>
            <p:nvSpPr>
              <p:cNvPr id="56" name="圆角矩形 55"/>
              <p:cNvSpPr/>
              <p:nvPr/>
            </p:nvSpPr>
            <p:spPr>
              <a:xfrm>
                <a:off x="4241197" y="2495547"/>
                <a:ext cx="417699" cy="2254677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7" name="圆角矩形 8"/>
              <p:cNvSpPr txBox="1"/>
              <p:nvPr/>
            </p:nvSpPr>
            <p:spPr>
              <a:xfrm>
                <a:off x="4253911" y="2523705"/>
                <a:ext cx="392274" cy="223255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结构体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5" name="组合 52"/>
            <p:cNvGrpSpPr/>
            <p:nvPr/>
          </p:nvGrpSpPr>
          <p:grpSpPr bwMode="auto">
            <a:xfrm>
              <a:off x="5258893" y="4506021"/>
              <a:ext cx="1440755" cy="420489"/>
              <a:chOff x="4694608" y="2496070"/>
              <a:chExt cx="418881" cy="2255547"/>
            </a:xfrm>
          </p:grpSpPr>
          <p:sp>
            <p:nvSpPr>
              <p:cNvPr id="54" name="圆角矩形 53"/>
              <p:cNvSpPr/>
              <p:nvPr/>
            </p:nvSpPr>
            <p:spPr>
              <a:xfrm>
                <a:off x="4694662" y="2495375"/>
                <a:ext cx="418926" cy="2251992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5" name="圆角矩形 10"/>
              <p:cNvSpPr txBox="1"/>
              <p:nvPr/>
            </p:nvSpPr>
            <p:spPr>
              <a:xfrm>
                <a:off x="4707109" y="2512900"/>
                <a:ext cx="394031" cy="221694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数据遍历与搜索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6" name="组合 61"/>
            <p:cNvGrpSpPr/>
            <p:nvPr/>
          </p:nvGrpSpPr>
          <p:grpSpPr bwMode="auto">
            <a:xfrm>
              <a:off x="7072412" y="3369667"/>
              <a:ext cx="332780" cy="1832868"/>
              <a:chOff x="5202935" y="2496070"/>
              <a:chExt cx="556392" cy="2255547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5202288" y="2495162"/>
                <a:ext cx="557852" cy="2255539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4" name="圆角矩形 4"/>
              <p:cNvSpPr txBox="1"/>
              <p:nvPr/>
            </p:nvSpPr>
            <p:spPr>
              <a:xfrm>
                <a:off x="5219566" y="2511244"/>
                <a:ext cx="523295" cy="222337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栈与递归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7" name="组合 64"/>
            <p:cNvGrpSpPr/>
            <p:nvPr/>
          </p:nvGrpSpPr>
          <p:grpSpPr bwMode="auto">
            <a:xfrm>
              <a:off x="7886304" y="2367460"/>
              <a:ext cx="1465263" cy="357286"/>
              <a:chOff x="5848774" y="2496070"/>
              <a:chExt cx="418881" cy="2255547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5848963" y="2496655"/>
                <a:ext cx="418672" cy="2258483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2" name="圆角矩形 4"/>
              <p:cNvSpPr txBox="1"/>
              <p:nvPr/>
            </p:nvSpPr>
            <p:spPr>
              <a:xfrm>
                <a:off x="5861203" y="2506971"/>
                <a:ext cx="394193" cy="222754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排序算法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8" name="组合 65"/>
            <p:cNvGrpSpPr/>
            <p:nvPr/>
          </p:nvGrpSpPr>
          <p:grpSpPr bwMode="auto">
            <a:xfrm>
              <a:off x="7879856" y="2973687"/>
              <a:ext cx="1471711" cy="355997"/>
              <a:chOff x="6302807" y="2496070"/>
              <a:chExt cx="418881" cy="2255547"/>
            </a:xfrm>
          </p:grpSpPr>
          <p:sp>
            <p:nvSpPr>
              <p:cNvPr id="79" name="圆角矩形 78"/>
              <p:cNvSpPr/>
              <p:nvPr/>
            </p:nvSpPr>
            <p:spPr>
              <a:xfrm>
                <a:off x="6302730" y="2495555"/>
                <a:ext cx="418938" cy="2256310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0" name="圆角矩形 6"/>
              <p:cNvSpPr txBox="1"/>
              <p:nvPr/>
            </p:nvSpPr>
            <p:spPr>
              <a:xfrm>
                <a:off x="6314916" y="2516255"/>
                <a:ext cx="394567" cy="221491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指             针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39" name="组合 66"/>
            <p:cNvGrpSpPr/>
            <p:nvPr/>
          </p:nvGrpSpPr>
          <p:grpSpPr bwMode="auto">
            <a:xfrm>
              <a:off x="7874697" y="3389016"/>
              <a:ext cx="1471711" cy="355997"/>
              <a:chOff x="6756841" y="2496070"/>
              <a:chExt cx="418881" cy="2255547"/>
            </a:xfrm>
          </p:grpSpPr>
          <p:sp>
            <p:nvSpPr>
              <p:cNvPr id="77" name="圆角矩形 76"/>
              <p:cNvSpPr/>
              <p:nvPr/>
            </p:nvSpPr>
            <p:spPr>
              <a:xfrm>
                <a:off x="6756971" y="2493006"/>
                <a:ext cx="418938" cy="2256310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8" name="圆角矩形 8"/>
              <p:cNvSpPr txBox="1"/>
              <p:nvPr/>
            </p:nvSpPr>
            <p:spPr>
              <a:xfrm>
                <a:off x="6769157" y="2513706"/>
                <a:ext cx="394567" cy="222525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指针与函数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40" name="组合 67"/>
            <p:cNvGrpSpPr/>
            <p:nvPr/>
          </p:nvGrpSpPr>
          <p:grpSpPr bwMode="auto">
            <a:xfrm>
              <a:off x="7874697" y="3797896"/>
              <a:ext cx="1487189" cy="357287"/>
              <a:chOff x="7210874" y="2496070"/>
              <a:chExt cx="418881" cy="2255547"/>
            </a:xfrm>
          </p:grpSpPr>
          <p:sp>
            <p:nvSpPr>
              <p:cNvPr id="75" name="圆角矩形 74"/>
              <p:cNvSpPr/>
              <p:nvPr/>
            </p:nvSpPr>
            <p:spPr>
              <a:xfrm>
                <a:off x="7211003" y="2500241"/>
                <a:ext cx="418736" cy="2248161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6" name="圆角矩形 10"/>
              <p:cNvSpPr txBox="1"/>
              <p:nvPr/>
            </p:nvSpPr>
            <p:spPr>
              <a:xfrm>
                <a:off x="7223478" y="2520866"/>
                <a:ext cx="393787" cy="220691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动态内存分配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41" name="组合 68"/>
            <p:cNvGrpSpPr/>
            <p:nvPr/>
          </p:nvGrpSpPr>
          <p:grpSpPr bwMode="auto">
            <a:xfrm>
              <a:off x="7874697" y="4441528"/>
              <a:ext cx="1487189" cy="357286"/>
              <a:chOff x="7664907" y="2496070"/>
              <a:chExt cx="418881" cy="2255547"/>
            </a:xfrm>
          </p:grpSpPr>
          <p:sp>
            <p:nvSpPr>
              <p:cNvPr id="73" name="圆角矩形 72"/>
              <p:cNvSpPr/>
              <p:nvPr/>
            </p:nvSpPr>
            <p:spPr>
              <a:xfrm>
                <a:off x="7665036" y="2500202"/>
                <a:ext cx="418736" cy="2248167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4" name="圆角矩形 12"/>
              <p:cNvSpPr txBox="1"/>
              <p:nvPr/>
            </p:nvSpPr>
            <p:spPr>
              <a:xfrm>
                <a:off x="7669610" y="2520827"/>
                <a:ext cx="394203" cy="220691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链            表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342" name="组合 69"/>
            <p:cNvGrpSpPr/>
            <p:nvPr/>
          </p:nvGrpSpPr>
          <p:grpSpPr bwMode="auto">
            <a:xfrm>
              <a:off x="7882434" y="4856858"/>
              <a:ext cx="1463972" cy="357286"/>
              <a:chOff x="8118941" y="2496070"/>
              <a:chExt cx="418881" cy="2255547"/>
            </a:xfrm>
          </p:grpSpPr>
          <p:sp>
            <p:nvSpPr>
              <p:cNvPr id="71" name="圆角矩形 70"/>
              <p:cNvSpPr/>
              <p:nvPr/>
            </p:nvSpPr>
            <p:spPr>
              <a:xfrm>
                <a:off x="8118970" y="2497649"/>
                <a:ext cx="419041" cy="2258483"/>
              </a:xfrm>
              <a:prstGeom prst="roundRect">
                <a:avLst>
                  <a:gd name="adj" fmla="val 10000"/>
                </a:avLst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2" name="圆角矩形 14"/>
              <p:cNvSpPr txBox="1"/>
              <p:nvPr/>
            </p:nvSpPr>
            <p:spPr>
              <a:xfrm>
                <a:off x="8131221" y="2518274"/>
                <a:ext cx="394541" cy="221723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树与图简介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84" name="直线连接符 83"/>
            <p:cNvCxnSpPr/>
            <p:nvPr/>
          </p:nvCxnSpPr>
          <p:spPr>
            <a:xfrm>
              <a:off x="7666991" y="2854355"/>
              <a:ext cx="1863143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/>
            <p:cNvCxnSpPr/>
            <p:nvPr/>
          </p:nvCxnSpPr>
          <p:spPr>
            <a:xfrm flipV="1">
              <a:off x="7714234" y="4272291"/>
              <a:ext cx="1815900" cy="13069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45" name="组合 87"/>
            <p:cNvGrpSpPr/>
            <p:nvPr/>
          </p:nvGrpSpPr>
          <p:grpSpPr bwMode="auto">
            <a:xfrm>
              <a:off x="9824940" y="3370958"/>
              <a:ext cx="340519" cy="1832868"/>
              <a:chOff x="8608126" y="2496070"/>
              <a:chExt cx="418881" cy="2255547"/>
            </a:xfrm>
          </p:grpSpPr>
          <p:sp>
            <p:nvSpPr>
              <p:cNvPr id="89" name="圆角矩形 88"/>
              <p:cNvSpPr/>
              <p:nvPr/>
            </p:nvSpPr>
            <p:spPr>
              <a:xfrm>
                <a:off x="8608695" y="2495584"/>
                <a:ext cx="417699" cy="2255539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0" name="圆角矩形 4"/>
              <p:cNvSpPr txBox="1"/>
              <p:nvPr/>
            </p:nvSpPr>
            <p:spPr>
              <a:xfrm>
                <a:off x="8619591" y="2507645"/>
                <a:ext cx="394091" cy="223141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42759" tIns="42759" rIns="42759" bIns="42759" spcCol="1270" anchor="ctr"/>
              <a:lstStyle/>
              <a:p>
                <a:pPr algn="ctr" defTabSz="499110" eaLnBrk="1" fontAlgn="auto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120" dirty="0">
                    <a:solidFill>
                      <a:prstClr val="white"/>
                    </a:solidFill>
                    <a:latin typeface="Calibri"/>
                    <a:ea typeface="等线" panose="02010600030101010101" pitchFamily="2" charset="-122"/>
                  </a:rPr>
                  <a:t>文件</a:t>
                </a:r>
                <a:endParaRPr lang="zh-CN" altLang="en-US" sz="1120" dirty="0">
                  <a:solidFill>
                    <a:prstClr val="white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91" name="右箭头 90"/>
            <p:cNvSpPr/>
            <p:nvPr/>
          </p:nvSpPr>
          <p:spPr>
            <a:xfrm>
              <a:off x="2214861" y="5536672"/>
              <a:ext cx="8019489" cy="10944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0162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190">
                <a:solidFill>
                  <a:prstClr val="white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9248" name="文本框 91"/>
            <p:cNvSpPr txBox="1">
              <a:spLocks noChangeArrowheads="1"/>
            </p:cNvSpPr>
            <p:nvPr/>
          </p:nvSpPr>
          <p:spPr bwMode="auto">
            <a:xfrm>
              <a:off x="3860982" y="5585679"/>
              <a:ext cx="5740017" cy="303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72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</a:defRPr>
              </a:lvl1pPr>
              <a:lvl2pPr marL="742950" indent="-285750" defTabSz="4572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2pPr>
              <a:lvl3pPr marL="1143000" indent="-228600" defTabSz="4572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3pPr>
              <a:lvl4pPr marL="1600200" indent="-228600" defTabSz="4572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4pPr>
              <a:lvl5pPr marL="2057400" indent="-228600" defTabSz="4572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Times New Roman" panose="02020503050405090304" pitchFamily="18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1190">
                  <a:solidFill>
                    <a:srgbClr val="000000"/>
                  </a:solidFill>
                  <a:latin typeface="Calibri" panose="020F0502020204030204" pitchFamily="34" charset="0"/>
                  <a:ea typeface="等线" panose="02010600030101010101" pitchFamily="2" charset="-122"/>
                </a:rPr>
                <a:t>程序设计思想与数据操作方法融会贯通，内容由浅入深         </a:t>
              </a:r>
              <a:endParaRPr lang="zh-CN" altLang="en-US" sz="1190">
                <a:solidFill>
                  <a:srgbClr val="000000"/>
                </a:solidFill>
                <a:latin typeface="Calibri" panose="020F0502020204030204" pitchFamily="34" charset="0"/>
                <a:ea typeface="等线" panose="02010600030101010101" pitchFamily="2" charset="-122"/>
              </a:endParaRPr>
            </a:p>
          </p:txBody>
        </p:sp>
      </p:grpSp>
      <p:sp>
        <p:nvSpPr>
          <p:cNvPr id="93" name="Rectangle 2"/>
          <p:cNvSpPr>
            <a:spLocks noGrp="1" noChangeArrowheads="1"/>
          </p:cNvSpPr>
          <p:nvPr>
            <p:ph type="title"/>
          </p:nvPr>
        </p:nvSpPr>
        <p:spPr>
          <a:xfrm>
            <a:off x="1112044" y="985838"/>
            <a:ext cx="9653587" cy="7556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/>
              <a:t>《</a:t>
            </a:r>
            <a:r>
              <a:rPr lang="zh-CN" altLang="en-US" dirty="0"/>
              <a:t>程序设计思维与实践</a:t>
            </a:r>
            <a:r>
              <a:rPr lang="en-US" altLang="zh-CN" dirty="0"/>
              <a:t>》</a:t>
            </a:r>
            <a:r>
              <a:rPr lang="zh-CN" altLang="en-US" dirty="0"/>
              <a:t>课程内容结构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560355" y="2579687"/>
            <a:ext cx="2046401" cy="415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114935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15.1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概述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15.2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插入排序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15.3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交换排序</a:t>
            </a:r>
            <a:endParaRPr kumimoji="1" lang="en-US" altLang="zh-CN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15.4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选择排序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15.5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归并排序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(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选讲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)</a:t>
            </a:r>
            <a:endParaRPr kumimoji="1" lang="en-US" altLang="zh-CN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47952-67BC-4BAE-BE8B-A06FE40D373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6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6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1449388"/>
            <a:ext cx="9220200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排序</a:t>
            </a:r>
            <a:r>
              <a:rPr lang="zh-CN" altLang="en-US" b="1" dirty="0"/>
              <a:t>是计算机程序设计中的一种重要操作，它的功能是将一个数据元素</a:t>
            </a:r>
            <a:r>
              <a:rPr lang="en-US" altLang="zh-CN" b="1" dirty="0"/>
              <a:t>(</a:t>
            </a:r>
            <a:r>
              <a:rPr lang="zh-CN" altLang="en-US" b="1" dirty="0"/>
              <a:t>或记录</a:t>
            </a:r>
            <a:r>
              <a:rPr lang="en-US" altLang="zh-CN" b="1" dirty="0"/>
              <a:t>)</a:t>
            </a:r>
            <a:r>
              <a:rPr lang="zh-CN" altLang="en-US" b="1" dirty="0"/>
              <a:t>的任意序列，重新排列成一个按关键字有序的序列。</a:t>
            </a:r>
            <a:endParaRPr lang="zh-CN" altLang="en-US" b="1" dirty="0"/>
          </a:p>
          <a:p>
            <a:pPr>
              <a:lnSpc>
                <a:spcPts val="4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排序的目的</a:t>
            </a:r>
            <a:r>
              <a:rPr lang="zh-CN" altLang="en-US" b="1" dirty="0"/>
              <a:t>之一是方便数据查找。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5A0D-5ADE-48D9-BA58-EB3E167BDC7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6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6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A521-09D1-4D4B-96CC-DBE6D3E360E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854200" y="12954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内部排序和外部排序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2214562" y="3379789"/>
            <a:ext cx="7696200" cy="1643527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排序期间文件的全部记录不能同时存放在计算机的内存中，要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借助计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算机的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外存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才能完成排序，称之为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“外部排序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”。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2214562" y="2011363"/>
            <a:ext cx="7696200" cy="1126462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在排序过程中，只使用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计算机的内存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存放待排序记录，称这种排序为内部排序。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2286000" y="5180013"/>
            <a:ext cx="7696200" cy="1117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内外存之间的数据交换次数就成为影响外部排序速度的主要因素。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E5B5-4DE2-4629-98D8-2A7B8BBBC18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286000" y="1273176"/>
            <a:ext cx="7848600" cy="1541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　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内部排序的过程是一个逐步扩大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记录的有序序列长度的过程。</a:t>
            </a:r>
            <a:endParaRPr kumimoji="1" lang="zh-CN" altLang="en-US" sz="4000" b="1" dirty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7162800" y="4413250"/>
            <a:ext cx="3505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经过一趟排序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Rectangle 8" descr="60%"/>
          <p:cNvSpPr>
            <a:spLocks noChangeArrowheads="1"/>
          </p:cNvSpPr>
          <p:nvPr/>
        </p:nvSpPr>
        <p:spPr bwMode="auto">
          <a:xfrm>
            <a:off x="2667000" y="3270250"/>
            <a:ext cx="2514600" cy="838200"/>
          </a:xfrm>
          <a:prstGeom prst="rect">
            <a:avLst/>
          </a:prstGeom>
          <a:pattFill prst="pct60">
            <a:fgClr>
              <a:srgbClr val="E2D7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600" b="1" kern="0">
                <a:solidFill>
                  <a:srgbClr val="003300"/>
                </a:solidFill>
                <a:latin typeface="Times New Roman" panose="02020503050405090304" pitchFamily="18" charset="0"/>
                <a:ea typeface="隶书" pitchFamily="49" charset="-122"/>
              </a:rPr>
              <a:t>有序序列区</a:t>
            </a:r>
            <a:endParaRPr kumimoji="1" lang="zh-CN" altLang="en-US" sz="36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Rectangle 9" descr="棚架"/>
          <p:cNvSpPr>
            <a:spLocks noChangeArrowheads="1"/>
          </p:cNvSpPr>
          <p:nvPr/>
        </p:nvSpPr>
        <p:spPr bwMode="auto">
          <a:xfrm>
            <a:off x="5181600" y="3270250"/>
            <a:ext cx="40386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600" b="1" kern="0">
                <a:solidFill>
                  <a:srgbClr val="003300"/>
                </a:solidFill>
                <a:latin typeface="隶书" pitchFamily="49" charset="-122"/>
                <a:ea typeface="隶书" pitchFamily="49" charset="-122"/>
              </a:rPr>
              <a:t>无 序 序 列 区</a:t>
            </a:r>
            <a:endParaRPr kumimoji="1" lang="zh-CN" altLang="en-US" sz="44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Rectangle 12" descr="60%"/>
          <p:cNvSpPr>
            <a:spLocks noChangeArrowheads="1"/>
          </p:cNvSpPr>
          <p:nvPr/>
        </p:nvSpPr>
        <p:spPr bwMode="auto">
          <a:xfrm>
            <a:off x="2743200" y="5403850"/>
            <a:ext cx="2971800" cy="838200"/>
          </a:xfrm>
          <a:prstGeom prst="rect">
            <a:avLst/>
          </a:prstGeom>
          <a:pattFill prst="pct60">
            <a:fgClr>
              <a:srgbClr val="E2D7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600" b="1" kern="0">
                <a:solidFill>
                  <a:srgbClr val="003300"/>
                </a:solidFill>
                <a:latin typeface="Times New Roman" panose="02020503050405090304" pitchFamily="18" charset="0"/>
                <a:ea typeface="隶书" pitchFamily="49" charset="-122"/>
              </a:rPr>
              <a:t>有序序列区</a:t>
            </a:r>
            <a:endParaRPr kumimoji="1" lang="zh-CN" altLang="en-US" sz="36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Rectangle 13" descr="棚架"/>
          <p:cNvSpPr>
            <a:spLocks noChangeArrowheads="1"/>
          </p:cNvSpPr>
          <p:nvPr/>
        </p:nvSpPr>
        <p:spPr bwMode="auto">
          <a:xfrm>
            <a:off x="5715000" y="5403850"/>
            <a:ext cx="35052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600" b="1" kern="0">
                <a:solidFill>
                  <a:srgbClr val="003300"/>
                </a:solidFill>
                <a:latin typeface="隶书" pitchFamily="49" charset="-122"/>
                <a:ea typeface="隶书" pitchFamily="49" charset="-122"/>
              </a:rPr>
              <a:t>无 序 序 列 区</a:t>
            </a:r>
            <a:endParaRPr kumimoji="1" lang="zh-CN" altLang="en-US" sz="44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AutoShape 14"/>
          <p:cNvSpPr>
            <a:spLocks noChangeArrowheads="1"/>
          </p:cNvSpPr>
          <p:nvPr/>
        </p:nvSpPr>
        <p:spPr bwMode="auto">
          <a:xfrm>
            <a:off x="6400800" y="4337050"/>
            <a:ext cx="533400" cy="914400"/>
          </a:xfrm>
          <a:prstGeom prst="downArrow">
            <a:avLst>
              <a:gd name="adj1" fmla="val 50000"/>
              <a:gd name="adj2" fmla="val 42857"/>
            </a:avLst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5181600" y="4108450"/>
            <a:ext cx="0" cy="1295400"/>
          </a:xfrm>
          <a:prstGeom prst="line">
            <a:avLst/>
          </a:prstGeom>
          <a:noFill/>
          <a:ln w="9525" cap="rnd">
            <a:solidFill>
              <a:srgbClr val="003366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5715000" y="4108450"/>
            <a:ext cx="0" cy="1295400"/>
          </a:xfrm>
          <a:prstGeom prst="line">
            <a:avLst/>
          </a:prstGeom>
          <a:noFill/>
          <a:ln w="9525" cap="rnd">
            <a:solidFill>
              <a:srgbClr val="003366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1703388" y="8382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9" grpId="0" animBg="1" autoUpdateAnimBg="0"/>
      <p:bldP spid="20" grpId="0" animBg="1" autoUpdateAnimBg="0"/>
      <p:bldP spid="21" grpId="0" animBg="1" autoUpdateAnimBg="0"/>
      <p:bldP spid="22" grpId="0" animBg="1" autoUpdateAnimBg="0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7674-218E-4001-AC4D-2963885521C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1981201" y="1537232"/>
            <a:ext cx="8093075" cy="1323439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基于不同的“扩大” 有序序列长度的方法，内部排序方法大致可分下列几种类型：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Text Box 6">
            <a:hlinkClick r:id="rId1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2362200" y="3719513"/>
            <a:ext cx="1874838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插入类</a:t>
            </a:r>
            <a:endParaRPr kumimoji="1" lang="zh-CN" altLang="en-US" sz="4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Text Box 7">
            <a:hlinkClick r:id="rId2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5181600" y="3719513"/>
            <a:ext cx="1874838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交换类</a:t>
            </a:r>
            <a:endParaRPr kumimoji="1" lang="zh-CN" altLang="en-US" sz="4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0" name="Text Box 8">
            <a:hlinkClick r:id="rId3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8001000" y="3719513"/>
            <a:ext cx="1874838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选择类</a:t>
            </a:r>
            <a:endParaRPr kumimoji="1" lang="zh-CN" altLang="en-US" sz="4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1" name="Text Box 9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306764" y="5022850"/>
            <a:ext cx="2014537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4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 </a:t>
            </a:r>
            <a:r>
              <a:rPr kumimoji="1" lang="zh-CN" altLang="en-US" sz="44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归并类</a:t>
            </a:r>
            <a:endParaRPr kumimoji="1" lang="zh-CN" altLang="en-US" sz="4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2" name="Text Box 10">
            <a:hlinkClick r:id="rId4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6477000" y="5022850"/>
            <a:ext cx="2438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其它方法</a:t>
            </a:r>
            <a:endParaRPr kumimoji="1" lang="zh-CN" altLang="en-US" sz="44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1703388" y="8382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0BF82-954C-464D-A845-1A9A9BD4C1A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03388" y="9906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" name="Text Box 1026"/>
          <p:cNvSpPr txBox="1">
            <a:spLocks noChangeArrowheads="1"/>
          </p:cNvSpPr>
          <p:nvPr/>
        </p:nvSpPr>
        <p:spPr bwMode="auto">
          <a:xfrm>
            <a:off x="813896" y="1509714"/>
            <a:ext cx="7907889" cy="459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排序算法的性能： 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914400" lvl="1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基本操作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。内排序在排序过程中的基本操作： 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1371600" lvl="2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比较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：关键码之间的比较； 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1371600" lvl="2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移动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：记录从一个位置移动到另一个位置。 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914400" lvl="1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辅助存储空间。 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1371600" lvl="2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辅助存储空间是指在数据规模一定的条件下，除了存放待排序记录占用的存储空间之外，执行算法所需要 的其他额外存储空间。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914400" lvl="1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算法本身的复杂度。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7511" y="4038600"/>
            <a:ext cx="1659253" cy="1613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6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6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EA4E-D04A-447E-B7F8-C1ECA0E8847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209800" y="2016372"/>
            <a:ext cx="8153400" cy="3927229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1500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在排序过程中，有若干记录的</a:t>
            </a:r>
            <a:r>
              <a:rPr kumimoji="1" lang="zh-CN" altLang="en-US" sz="28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关键字相等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，即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K</a:t>
            </a:r>
            <a:r>
              <a:rPr kumimoji="1" lang="en-US" altLang="zh-CN" sz="2800" b="1" baseline="-2500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kumimoji="1" lang="en-US" altLang="zh-CN" sz="2800" b="1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K</a:t>
            </a:r>
            <a:r>
              <a:rPr kumimoji="1" lang="en-US" altLang="zh-CN" sz="2800" b="1" baseline="-25000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(1≤i≤n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1 1≤j≤n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 b="1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i≠j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) 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，在排序前后，含相等关键字的记录的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相对位置保持不变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，即排序前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之前，排序后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仍在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之前，称这种排序方法是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稳定的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kumimoji="1" lang="zh-CN" altLang="en-US" sz="2800" b="1" dirty="0">
              <a:solidFill>
                <a:srgbClr val="003366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fontAlgn="base">
              <a:lnSpc>
                <a:spcPct val="125000"/>
              </a:lnSpc>
              <a:spcBef>
                <a:spcPct val="15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    反之，若可能使排序后的序列中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之后，称所用排序方法是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不稳定的。</a:t>
            </a:r>
            <a:endParaRPr kumimoji="1" lang="en-US" altLang="zh-CN" sz="2800" b="1" dirty="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631951" y="1292169"/>
            <a:ext cx="46085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排序方法的稳定和不稳定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91E39-386D-4F6A-B81D-2CFF870322C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749425" y="1508252"/>
            <a:ext cx="7588250" cy="347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#define MAXSIZE  1000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待排顺序表最大长度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78000" y="2013077"/>
            <a:ext cx="7632700" cy="347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typedef  int  KeyType;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关键字类型为整数类型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209800" y="2516314"/>
            <a:ext cx="7056438" cy="17573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typedef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struct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KeyType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  key; 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关键字项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InfoType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otherinfo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其它数据项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       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记录类型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776413" y="4459414"/>
            <a:ext cx="7416800" cy="17573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typedef  struct {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503050405090304" pitchFamily="18" charset="0"/>
              </a:rPr>
              <a:t>RcdType    r[MAXSIZE+1];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     // r[0]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闲置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503050405090304" pitchFamily="18" charset="0"/>
              </a:rPr>
              <a:t>int               length;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  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顺序表长度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} SqList;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                       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顺序表类型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1560512" y="838200"/>
            <a:ext cx="4383087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存储结构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顺序表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0668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15.2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插入排序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交换排序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7FE5E-3154-424D-B432-9A42EB72984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50AD8-1E59-4237-A51A-7E785F22E19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026"/>
          <p:cNvSpPr txBox="1">
            <a:spLocks noChangeArrowheads="1"/>
          </p:cNvSpPr>
          <p:nvPr/>
        </p:nvSpPr>
        <p:spPr bwMode="auto">
          <a:xfrm>
            <a:off x="2316164" y="1522404"/>
            <a:ext cx="224131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1. 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插入类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1027"/>
          <p:cNvSpPr txBox="1">
            <a:spLocks noChangeArrowheads="1"/>
          </p:cNvSpPr>
          <p:nvPr/>
        </p:nvSpPr>
        <p:spPr bwMode="auto">
          <a:xfrm>
            <a:off x="2286000" y="2355851"/>
            <a:ext cx="7881966" cy="2954655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　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将无序子序列中的一个或几个记录“插入”到有序序列中，从而增加记录的有序子序列的长度。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703388" y="9144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15.2 </a:t>
            </a:r>
            <a:r>
              <a:rPr lang="zh-CN" altLang="en-US" b="1" dirty="0"/>
              <a:t>插入排序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15.2.1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直接插入排序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15.2.2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折半插入排序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D6FEE-296A-4163-A822-DE052EAD17A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F02E-FC0A-437B-8339-76851F824E4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4" descr="60%"/>
          <p:cNvSpPr>
            <a:spLocks noChangeArrowheads="1"/>
          </p:cNvSpPr>
          <p:nvPr/>
        </p:nvSpPr>
        <p:spPr bwMode="auto">
          <a:xfrm>
            <a:off x="2057400" y="2095520"/>
            <a:ext cx="3352800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有序序列</a:t>
            </a:r>
            <a:r>
              <a:rPr kumimoji="1" lang="en-US" altLang="zh-CN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R[1..i-1]</a:t>
            </a:r>
            <a:endParaRPr kumimoji="1" lang="en-US" altLang="zh-CN" sz="3000" b="1" kern="0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410200" y="3238520"/>
            <a:ext cx="762000" cy="838200"/>
          </a:xfrm>
          <a:prstGeom prst="rect">
            <a:avLst/>
          </a:prstGeom>
          <a:gradFill rotWithShape="0">
            <a:gsLst>
              <a:gs pos="0">
                <a:srgbClr val="66FFFF"/>
              </a:gs>
              <a:gs pos="100000">
                <a:srgbClr val="66FFFF">
                  <a:gamma/>
                  <a:shade val="94118"/>
                  <a:invGamma/>
                </a:srgb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kern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R[i]</a:t>
            </a:r>
            <a:endParaRPr kumimoji="1" lang="en-US" altLang="zh-CN" sz="30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Rectangle 6" descr="棚架"/>
          <p:cNvSpPr>
            <a:spLocks noChangeArrowheads="1"/>
          </p:cNvSpPr>
          <p:nvPr/>
        </p:nvSpPr>
        <p:spPr bwMode="auto">
          <a:xfrm>
            <a:off x="5410200" y="2095520"/>
            <a:ext cx="47244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无序序列 </a:t>
            </a:r>
            <a:r>
              <a:rPr kumimoji="1" lang="en-US" altLang="zh-CN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3200" b="1" kern="0" dirty="0" err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..n]</a:t>
            </a:r>
            <a:endParaRPr kumimoji="1" lang="en-US" altLang="zh-CN" sz="3200" b="1" kern="0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1965325" y="1504123"/>
            <a:ext cx="595227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一趟直接插入排序的基本思想：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Rectangle 15" descr="60%"/>
          <p:cNvSpPr>
            <a:spLocks noChangeArrowheads="1"/>
          </p:cNvSpPr>
          <p:nvPr/>
        </p:nvSpPr>
        <p:spPr bwMode="auto">
          <a:xfrm>
            <a:off x="2057400" y="5448320"/>
            <a:ext cx="4114800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kern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有序序列</a:t>
            </a:r>
            <a:r>
              <a:rPr kumimoji="1" lang="en-US" altLang="zh-CN" sz="3200" b="1" kern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R[1..i]</a:t>
            </a:r>
            <a:endParaRPr kumimoji="1" lang="en-US" altLang="zh-CN" sz="30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Rectangle 16" descr="棚架"/>
          <p:cNvSpPr>
            <a:spLocks noChangeArrowheads="1"/>
          </p:cNvSpPr>
          <p:nvPr/>
        </p:nvSpPr>
        <p:spPr bwMode="auto">
          <a:xfrm>
            <a:off x="6172200" y="5448320"/>
            <a:ext cx="39624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kern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无序序列 </a:t>
            </a:r>
            <a:r>
              <a:rPr kumimoji="1" lang="en-US" altLang="zh-CN" sz="3200" b="1" kern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R[i+1..n]</a:t>
            </a:r>
            <a:endParaRPr kumimoji="1" lang="en-US" altLang="zh-CN" sz="3200" b="1" kern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cxnSp>
        <p:nvCxnSpPr>
          <p:cNvPr id="24" name="AutoShape 21"/>
          <p:cNvCxnSpPr>
            <a:cxnSpLocks noChangeShapeType="1"/>
            <a:stCxn id="19" idx="1"/>
            <a:endCxn id="18" idx="2"/>
          </p:cNvCxnSpPr>
          <p:nvPr/>
        </p:nvCxnSpPr>
        <p:spPr bwMode="auto">
          <a:xfrm rot="10800000">
            <a:off x="3733800" y="2933720"/>
            <a:ext cx="1676400" cy="723900"/>
          </a:xfrm>
          <a:prstGeom prst="bentConnector2">
            <a:avLst/>
          </a:prstGeom>
          <a:noFill/>
          <a:ln w="57150">
            <a:solidFill>
              <a:srgbClr val="000000"/>
            </a:solidFill>
            <a:miter lim="800000"/>
            <a:tailEnd type="triangle" w="med" len="med"/>
          </a:ln>
          <a:effectLst/>
        </p:spPr>
      </p:cxnSp>
      <p:sp>
        <p:nvSpPr>
          <p:cNvPr id="25" name="AutoShape 22"/>
          <p:cNvSpPr>
            <a:spLocks noChangeArrowheads="1"/>
          </p:cNvSpPr>
          <p:nvPr/>
        </p:nvSpPr>
        <p:spPr bwMode="auto">
          <a:xfrm>
            <a:off x="4495800" y="3924320"/>
            <a:ext cx="838200" cy="1371600"/>
          </a:xfrm>
          <a:prstGeom prst="downArrow">
            <a:avLst>
              <a:gd name="adj1" fmla="val 50000"/>
              <a:gd name="adj2" fmla="val 40909"/>
            </a:avLst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6172200" y="2095520"/>
            <a:ext cx="0" cy="8382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6172200" y="4076720"/>
            <a:ext cx="0" cy="137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992313" y="928688"/>
            <a:ext cx="33845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插入排序的思想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 autoUpdateAnimBg="0"/>
      <p:bldP spid="19" grpId="0" animBg="1" autoUpdateAnimBg="0"/>
      <p:bldP spid="20" grpId="0" animBg="1" autoUpdateAnimBg="0"/>
      <p:bldP spid="22" grpId="0" animBg="1" autoUpdateAnimBg="0"/>
      <p:bldP spid="23" grpId="0" animBg="1" autoUpdateAnimBg="0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E3DA-5939-4FDE-BBD4-885B2149AE9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3074"/>
          <p:cNvSpPr txBox="1">
            <a:spLocks noChangeArrowheads="1"/>
          </p:cNvSpPr>
          <p:nvPr/>
        </p:nvSpPr>
        <p:spPr bwMode="auto">
          <a:xfrm>
            <a:off x="1752600" y="2590378"/>
            <a:ext cx="6316153" cy="5598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实现“一趟插入排序”可分三步进行：</a:t>
            </a:r>
            <a:endParaRPr kumimoji="1" lang="zh-CN" altLang="en-US" sz="2800" b="1" dirty="0">
              <a:solidFill>
                <a:srgbClr val="FF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0" name="Text Box 3081"/>
          <p:cNvSpPr txBox="1">
            <a:spLocks noChangeArrowheads="1"/>
          </p:cNvSpPr>
          <p:nvPr/>
        </p:nvSpPr>
        <p:spPr bwMode="auto">
          <a:xfrm>
            <a:off x="2058987" y="5624853"/>
            <a:ext cx="85344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3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．将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 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503050405090304" pitchFamily="18" charset="0"/>
                <a:ea typeface="楷体_GB2312" pitchFamily="49" charset="-122"/>
              </a:rPr>
              <a:t>插入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复制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到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R[j+1]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的位置上。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1" name="Rectangle 3082"/>
          <p:cNvSpPr>
            <a:spLocks noChangeArrowheads="1"/>
          </p:cNvSpPr>
          <p:nvPr/>
        </p:nvSpPr>
        <p:spPr bwMode="auto">
          <a:xfrm>
            <a:off x="2058987" y="4338969"/>
            <a:ext cx="8534400" cy="11523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2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．将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R[j+1..i-1]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中的所有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503050405090304" pitchFamily="18" charset="0"/>
                <a:ea typeface="楷体_GB2312" pitchFamily="49" charset="-122"/>
              </a:rPr>
              <a:t>记录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均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503050405090304" pitchFamily="18" charset="0"/>
                <a:ea typeface="楷体_GB2312" pitchFamily="49" charset="-122"/>
              </a:rPr>
              <a:t>后移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一个位置；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2" name="Rectangle 3083"/>
          <p:cNvSpPr>
            <a:spLocks noChangeArrowheads="1"/>
          </p:cNvSpPr>
          <p:nvPr/>
        </p:nvSpPr>
        <p:spPr bwMode="auto">
          <a:xfrm>
            <a:off x="2001837" y="3049367"/>
            <a:ext cx="6713697" cy="11523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．在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R[1..i-1]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中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503050405090304" pitchFamily="18" charset="0"/>
                <a:ea typeface="楷体_GB2312" pitchFamily="49" charset="-122"/>
              </a:rPr>
              <a:t>查找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的插入位置，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R[1..j].key </a:t>
            </a:r>
            <a:r>
              <a:rPr kumimoji="1" lang="en-US" altLang="zh-CN" sz="2800" b="1" dirty="0">
                <a:solidFill>
                  <a:srgbClr val="003366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 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].key </a:t>
            </a:r>
            <a:r>
              <a:rPr kumimoji="1" lang="en-US" altLang="zh-CN" sz="2800" b="1" dirty="0">
                <a:solidFill>
                  <a:srgbClr val="003366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&lt;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 R[j+1..i-1].key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  <a:sym typeface="Symbol" pitchFamily="18" charset="2"/>
              </a:rPr>
              <a:t>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1992313" y="990601"/>
            <a:ext cx="33845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插入排序的思想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Rectangle 4" descr="60%"/>
          <p:cNvSpPr>
            <a:spLocks noChangeArrowheads="1"/>
          </p:cNvSpPr>
          <p:nvPr/>
        </p:nvSpPr>
        <p:spPr bwMode="auto">
          <a:xfrm>
            <a:off x="2114909" y="1575651"/>
            <a:ext cx="3352800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有序序列</a:t>
            </a:r>
            <a:r>
              <a:rPr kumimoji="1" lang="en-US" altLang="zh-CN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R[1..i-1]</a:t>
            </a:r>
            <a:endParaRPr kumimoji="1" lang="en-US" altLang="zh-CN" sz="3000" b="1" kern="0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Rectangle 6" descr="棚架"/>
          <p:cNvSpPr>
            <a:spLocks noChangeArrowheads="1"/>
          </p:cNvSpPr>
          <p:nvPr/>
        </p:nvSpPr>
        <p:spPr bwMode="auto">
          <a:xfrm>
            <a:off x="5467709" y="1575651"/>
            <a:ext cx="47244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无序序列 </a:t>
            </a:r>
            <a:r>
              <a:rPr kumimoji="1" lang="en-US" altLang="zh-CN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3200" b="1" kern="0" dirty="0" err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kern="0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..n]</a:t>
            </a:r>
            <a:endParaRPr kumimoji="1" lang="en-US" altLang="zh-CN" sz="3200" b="1" kern="0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7" name="Line 23"/>
          <p:cNvSpPr>
            <a:spLocks noChangeShapeType="1"/>
          </p:cNvSpPr>
          <p:nvPr/>
        </p:nvSpPr>
        <p:spPr bwMode="auto">
          <a:xfrm>
            <a:off x="6229709" y="1575651"/>
            <a:ext cx="0" cy="8382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utoUpdateAnimBg="0"/>
      <p:bldP spid="31" grpId="0" autoUpdateAnimBg="0"/>
      <p:bldP spid="32" grpId="0" autoUpdateAnimBg="0"/>
      <p:bldP spid="15" grpId="0" animBg="1" autoUpdateAnimBg="0"/>
      <p:bldP spid="16" grpId="0" animBg="1" autoUpdateAnimBg="0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794E1-BC40-4CAA-8A23-012AC83EBF7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92314" y="990600"/>
            <a:ext cx="5103819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直接插入排序算法概述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2351088" y="1855789"/>
            <a:ext cx="7262812" cy="3825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将序列中的第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个记录看成是一个有序的子序列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从第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个记录起逐个进行插入，直至整个序列变成按关键字有序序列为止；</a:t>
            </a:r>
            <a:endParaRPr kumimoji="1" lang="zh-CN" altLang="en-US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每一趟排序需要进行比较、后移记录、插入适当位置。从第二个记录到第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个记录共需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n-1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趟。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D7616-BE30-4ADD-AAE9-E07FAB88F74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027"/>
          <p:cNvSpPr txBox="1">
            <a:spLocks noChangeArrowheads="1"/>
          </p:cNvSpPr>
          <p:nvPr/>
        </p:nvSpPr>
        <p:spPr bwMode="auto">
          <a:xfrm>
            <a:off x="2085976" y="1447801"/>
            <a:ext cx="8201025" cy="2031325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　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利用 “顺序查找”实现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“在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R[1..i-1]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中</a:t>
            </a:r>
            <a:r>
              <a:rPr kumimoji="1" lang="zh-CN" altLang="en-US" sz="4400" b="1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查找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40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的插入位置”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1029"/>
          <p:cNvSpPr txBox="1">
            <a:spLocks noChangeArrowheads="1"/>
          </p:cNvSpPr>
          <p:nvPr/>
        </p:nvSpPr>
        <p:spPr bwMode="auto">
          <a:xfrm>
            <a:off x="2879725" y="4205288"/>
            <a:ext cx="5099050" cy="823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算法的实现要点：</a:t>
            </a:r>
            <a:endParaRPr kumimoji="1" lang="zh-CN" altLang="en-US" sz="30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3B450-6DAF-4A19-AA79-A6E024779FE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246284" y="1421250"/>
            <a:ext cx="6340475" cy="1169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从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R[i-1]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起向前进行顺序查找，            </a:t>
            </a:r>
            <a:r>
              <a:rPr kumimoji="1" lang="zh-CN" altLang="en-US" sz="2800" b="1" dirty="0">
                <a:solidFill>
                  <a:srgbClr val="FF6600"/>
                </a:solidFill>
                <a:latin typeface="Times New Roman" panose="02020503050405090304" pitchFamily="18" charset="0"/>
                <a:ea typeface="楷体_GB2312" pitchFamily="49" charset="-122"/>
              </a:rPr>
              <a:t>监视哨设置在</a:t>
            </a:r>
            <a:r>
              <a:rPr kumimoji="1" lang="en-US" altLang="zh-CN" sz="2800" b="1" dirty="0">
                <a:solidFill>
                  <a:srgbClr val="FF6600"/>
                </a:solidFill>
                <a:latin typeface="Times New Roman" panose="02020503050405090304" pitchFamily="18" charset="0"/>
                <a:ea typeface="楷体_GB2312" pitchFamily="49" charset="-122"/>
              </a:rPr>
              <a:t>R[0]</a:t>
            </a:r>
            <a:r>
              <a:rPr kumimoji="1" lang="zh-CN" altLang="en-US" sz="2800" b="1" dirty="0">
                <a:solidFill>
                  <a:srgbClr val="FF6600"/>
                </a:solidFill>
                <a:latin typeface="Times New Roman" panose="02020503050405090304" pitchFamily="18" charset="0"/>
                <a:ea typeface="楷体_GB2312" pitchFamily="49" charset="-122"/>
              </a:rPr>
              <a:t>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2239934" y="4226880"/>
            <a:ext cx="5498621" cy="695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R[0] = R[i];            //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设置“哨兵”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2252633" y="5780104"/>
            <a:ext cx="5775940" cy="695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循环结束表明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的插入位置为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 +1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Rectangle 14" descr="大棋盘"/>
          <p:cNvSpPr>
            <a:spLocks noChangeArrowheads="1"/>
          </p:cNvSpPr>
          <p:nvPr/>
        </p:nvSpPr>
        <p:spPr bwMode="auto">
          <a:xfrm>
            <a:off x="2947958" y="3106104"/>
            <a:ext cx="3124200" cy="304800"/>
          </a:xfrm>
          <a:prstGeom prst="rect">
            <a:avLst/>
          </a:prstGeom>
          <a:pattFill prst="lgCheck">
            <a:fgClr>
              <a:srgbClr val="CC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643158" y="3106104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414558" y="2496505"/>
            <a:ext cx="838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R[0]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5919758" y="3410904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4624358" y="3410904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646584" y="3563304"/>
            <a:ext cx="5873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Rectangle 21" descr="60%"/>
          <p:cNvSpPr>
            <a:spLocks noChangeArrowheads="1"/>
          </p:cNvSpPr>
          <p:nvPr/>
        </p:nvSpPr>
        <p:spPr bwMode="auto">
          <a:xfrm>
            <a:off x="4776758" y="3106104"/>
            <a:ext cx="1295400" cy="304800"/>
          </a:xfrm>
          <a:prstGeom prst="rect">
            <a:avLst/>
          </a:prstGeom>
          <a:pattFill prst="pct60">
            <a:fgClr>
              <a:srgbClr val="FF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072158" y="3106104"/>
            <a:ext cx="3429000" cy="304800"/>
          </a:xfrm>
          <a:prstGeom prst="rect">
            <a:avLst/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072158" y="3106104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843559" y="2572704"/>
            <a:ext cx="784189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R[i]</a:t>
            </a:r>
            <a:endParaRPr kumimoji="1" lang="en-US" altLang="zh-CN" sz="2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236759" y="4766646"/>
            <a:ext cx="5533823" cy="12988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for (j=i-1; R[0].key&lt;R[j].key; --j);  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                              //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从后往前找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5995959" y="3715705"/>
            <a:ext cx="9683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rPr>
              <a:t>j=i-1</a:t>
            </a:r>
            <a:endParaRPr kumimoji="1" lang="en-US" altLang="zh-CN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>
            <a:off x="5386358" y="3791904"/>
            <a:ext cx="1600200" cy="457200"/>
          </a:xfrm>
          <a:prstGeom prst="wedgeRoundRectCallout">
            <a:avLst>
              <a:gd name="adj1" fmla="val -80653"/>
              <a:gd name="adj2" fmla="val -129861"/>
              <a:gd name="adj3" fmla="val 16667"/>
            </a:avLst>
          </a:prstGeom>
          <a:solidFill>
            <a:srgbClr val="FFFF99">
              <a:alpha val="50000"/>
            </a:srgbClr>
          </a:solidFill>
          <a:ln w="12700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990000"/>
                </a:solidFill>
                <a:latin typeface="Times New Roman" panose="02020503050405090304" pitchFamily="18" charset="0"/>
                <a:ea typeface="楷体_GB2312" pitchFamily="49" charset="-122"/>
              </a:rPr>
              <a:t>插入位置</a:t>
            </a:r>
            <a:endParaRPr kumimoji="1" lang="zh-CN" altLang="en-US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Text Box 2320"/>
          <p:cNvSpPr txBox="1">
            <a:spLocks noChangeArrowheads="1"/>
          </p:cNvSpPr>
          <p:nvPr/>
        </p:nvSpPr>
        <p:spPr bwMode="auto">
          <a:xfrm>
            <a:off x="1990726" y="928688"/>
            <a:ext cx="45370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直接插入排序算法要点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nimBg="1"/>
      <p:bldP spid="17" grpId="0" animBg="1"/>
      <p:bldP spid="18" grpId="0" autoUpdateAnimBg="0"/>
      <p:bldP spid="19" grpId="0" animBg="1"/>
      <p:bldP spid="20" grpId="0" animBg="1"/>
      <p:bldP spid="21" grpId="0" autoUpdateAnimBg="0"/>
      <p:bldP spid="22" grpId="0" animBg="1"/>
      <p:bldP spid="23" grpId="0" animBg="1"/>
      <p:bldP spid="24" grpId="0" animBg="1"/>
      <p:bldP spid="25" grpId="0" autoUpdateAnimBg="0"/>
      <p:bldP spid="26" grpId="0" autoUpdateAnimBg="0"/>
      <p:bldP spid="27" grpId="0" autoUpdateAnimBg="0"/>
      <p:bldP spid="2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418F-4601-4384-81C9-2AA86D549CC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809721" y="1573650"/>
            <a:ext cx="8401080" cy="116955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对于在查找过程中找到的那些关键字不小于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].key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的记录，并在查找的同时实现记录向后移动；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2641601" y="2786729"/>
            <a:ext cx="5533823" cy="11264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for (j=i-1; R[0].key&lt;R[j].key; --j);  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        R[j+1] = R[j]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5" name="Rectangle 17" descr="大棋盘"/>
          <p:cNvSpPr>
            <a:spLocks noChangeArrowheads="1"/>
          </p:cNvSpPr>
          <p:nvPr/>
        </p:nvSpPr>
        <p:spPr bwMode="auto">
          <a:xfrm>
            <a:off x="3352800" y="4560887"/>
            <a:ext cx="3124200" cy="457200"/>
          </a:xfrm>
          <a:prstGeom prst="rect">
            <a:avLst/>
          </a:prstGeom>
          <a:pattFill prst="lgCheck">
            <a:fgClr>
              <a:srgbClr val="CCFFCC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048000" y="4560887"/>
            <a:ext cx="304800" cy="457200"/>
          </a:xfrm>
          <a:prstGeom prst="rect">
            <a:avLst/>
          </a:prstGeom>
          <a:solidFill>
            <a:srgbClr val="00FFFF"/>
          </a:soli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2819400" y="3951288"/>
            <a:ext cx="838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R[0]</a:t>
            </a:r>
            <a:endParaRPr kumimoji="1" lang="en-US" altLang="zh-CN" sz="2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>
            <a:off x="6324600" y="5094287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5029200" y="5018087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5051426" y="5094287"/>
            <a:ext cx="5873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6477000" y="4560887"/>
            <a:ext cx="3429000" cy="457200"/>
          </a:xfrm>
          <a:prstGeom prst="rect">
            <a:avLst/>
          </a:prstGeom>
          <a:solidFill>
            <a:srgbClr val="E2D700"/>
          </a:soli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6477000" y="4560887"/>
            <a:ext cx="304800" cy="457200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6248401" y="4027487"/>
            <a:ext cx="784189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R[i]</a:t>
            </a:r>
            <a:endParaRPr kumimoji="1" lang="en-US" altLang="zh-CN" sz="2800" b="1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Rectangle 28" descr="60%"/>
          <p:cNvSpPr>
            <a:spLocks noChangeArrowheads="1"/>
          </p:cNvSpPr>
          <p:nvPr/>
        </p:nvSpPr>
        <p:spPr bwMode="auto">
          <a:xfrm>
            <a:off x="5486400" y="4560887"/>
            <a:ext cx="1295400" cy="457200"/>
          </a:xfrm>
          <a:prstGeom prst="rect">
            <a:avLst/>
          </a:prstGeom>
          <a:pattFill prst="pct60">
            <a:fgClr>
              <a:srgbClr val="FF99FF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Rectangle 29" descr="大棋盘"/>
          <p:cNvSpPr>
            <a:spLocks noChangeArrowheads="1"/>
          </p:cNvSpPr>
          <p:nvPr/>
        </p:nvSpPr>
        <p:spPr bwMode="auto">
          <a:xfrm>
            <a:off x="5181600" y="4560887"/>
            <a:ext cx="304800" cy="457200"/>
          </a:xfrm>
          <a:prstGeom prst="rect">
            <a:avLst/>
          </a:prstGeom>
          <a:pattFill prst="lgCheck">
            <a:fgClr>
              <a:srgbClr val="CCFFCC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6400801" y="5094287"/>
            <a:ext cx="11969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rPr>
              <a:t>j= i-1</a:t>
            </a:r>
            <a:endParaRPr kumimoji="1" lang="en-US" altLang="zh-CN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Line 33"/>
          <p:cNvSpPr>
            <a:spLocks noChangeShapeType="1"/>
          </p:cNvSpPr>
          <p:nvPr/>
        </p:nvSpPr>
        <p:spPr bwMode="auto">
          <a:xfrm>
            <a:off x="6477000" y="4560887"/>
            <a:ext cx="1588" cy="45720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2708806" y="5818863"/>
            <a:ext cx="6316153" cy="52322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上述循环结束后可以直接进行“插入”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AutoShape 36"/>
          <p:cNvSpPr>
            <a:spLocks noChangeArrowheads="1"/>
          </p:cNvSpPr>
          <p:nvPr/>
        </p:nvSpPr>
        <p:spPr bwMode="auto">
          <a:xfrm>
            <a:off x="5943600" y="5322887"/>
            <a:ext cx="1600200" cy="457200"/>
          </a:xfrm>
          <a:prstGeom prst="wedgeRoundRectCallout">
            <a:avLst>
              <a:gd name="adj1" fmla="val -87796"/>
              <a:gd name="adj2" fmla="val -163194"/>
              <a:gd name="adj3" fmla="val 16667"/>
            </a:avLst>
          </a:prstGeom>
          <a:solidFill>
            <a:srgbClr val="FFFF99">
              <a:alpha val="50000"/>
            </a:srgbClr>
          </a:solidFill>
          <a:ln w="12700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990000"/>
                </a:solidFill>
                <a:latin typeface="Times New Roman" panose="02020503050405090304" pitchFamily="18" charset="0"/>
                <a:ea typeface="楷体_GB2312" pitchFamily="49" charset="-122"/>
              </a:rPr>
              <a:t>插入位置</a:t>
            </a:r>
            <a:endParaRPr kumimoji="1" lang="zh-CN" altLang="en-US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0" name="Text Box 2320"/>
          <p:cNvSpPr txBox="1">
            <a:spLocks noChangeArrowheads="1"/>
          </p:cNvSpPr>
          <p:nvPr/>
        </p:nvSpPr>
        <p:spPr bwMode="auto">
          <a:xfrm>
            <a:off x="1990726" y="928688"/>
            <a:ext cx="45370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直接插入排序算法要点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nimBg="1"/>
      <p:bldP spid="16" grpId="0" animBg="1"/>
      <p:bldP spid="17" grpId="0" autoUpdateAnimBg="0"/>
      <p:bldP spid="18" grpId="0" animBg="1"/>
      <p:bldP spid="19" grpId="0" animBg="1"/>
      <p:bldP spid="20" grpId="0" autoUpdateAnimBg="0"/>
      <p:bldP spid="21" grpId="0" animBg="1"/>
      <p:bldP spid="22" grpId="0" animBg="1"/>
      <p:bldP spid="23" grpId="0" autoUpdateAnimBg="0"/>
      <p:bldP spid="24" grpId="0" animBg="1"/>
      <p:bldP spid="25" grpId="0" animBg="1"/>
      <p:bldP spid="26" grpId="0" autoUpdateAnimBg="0"/>
      <p:bldP spid="27" grpId="0" animBg="1"/>
      <p:bldP spid="28" grpId="0" animBg="1" autoUpdateAnimBg="0"/>
      <p:bldP spid="2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4414-B852-40EC-8135-9D04505C6F4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320"/>
          <p:cNvSpPr txBox="1">
            <a:spLocks noChangeArrowheads="1"/>
          </p:cNvSpPr>
          <p:nvPr/>
        </p:nvSpPr>
        <p:spPr bwMode="auto">
          <a:xfrm>
            <a:off x="1990726" y="849289"/>
            <a:ext cx="45370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952596" y="1300123"/>
            <a:ext cx="8305800" cy="5446395"/>
            <a:chOff x="838200" y="1524000"/>
            <a:chExt cx="8305800" cy="5446395"/>
          </a:xfrm>
        </p:grpSpPr>
        <p:sp>
          <p:nvSpPr>
            <p:cNvPr id="15" name="Text Box 2052"/>
            <p:cNvSpPr txBox="1">
              <a:spLocks noChangeArrowheads="1"/>
            </p:cNvSpPr>
            <p:nvPr/>
          </p:nvSpPr>
          <p:spPr bwMode="auto">
            <a:xfrm>
              <a:off x="838200" y="1524000"/>
              <a:ext cx="8305800" cy="54463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just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zh-CN" altLang="en-US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直接插入排序的过程。</a:t>
              </a:r>
              <a:endParaRPr kumimoji="1" lang="zh-CN" altLang="en-US" sz="2400" b="1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just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初始关键字：     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(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38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65  97  76  13  27  </a:t>
              </a:r>
              <a:r>
                <a:rPr kumimoji="1" lang="en-US" altLang="zh-CN" sz="2400" b="1" u="sng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=2: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38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38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65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97  76  13  27  </a:t>
              </a:r>
              <a:r>
                <a:rPr kumimoji="1" lang="en-US" altLang="zh-CN" sz="2400" b="1" u="sng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=3: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65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38  49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65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76  13  27  </a:t>
              </a:r>
              <a:r>
                <a:rPr kumimoji="1" lang="en-US" altLang="zh-CN" sz="2400" b="1" u="sng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=4: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38  49  65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76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13  27  </a:t>
              </a:r>
              <a:r>
                <a:rPr kumimoji="1" lang="en-US" altLang="zh-CN" sz="2400" b="1" u="sng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kern="0" dirty="0">
                  <a:solidFill>
                    <a:srgbClr val="6600CC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=5: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76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38  49  65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76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 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27  </a:t>
              </a:r>
              <a:r>
                <a:rPr kumimoji="1" lang="en-US" altLang="zh-CN" sz="2400" b="1" u="sng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=6: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38  49  65  76  97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 27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u="sng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=7: (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27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27 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38  49  65  76  97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u="sng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u="sng" kern="0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kern="0" dirty="0" err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=8: (</a:t>
              </a:r>
              <a:r>
                <a:rPr kumimoji="1" lang="en-US" altLang="zh-CN" sz="2400" b="1" u="sng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13  27  38  49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u="sng" kern="0" dirty="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kern="0" dirty="0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65  76   97</a:t>
              </a:r>
              <a:r>
                <a:rPr kumimoji="1" lang="en-US" altLang="zh-CN" sz="2400" b="1" kern="0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endParaRPr kumimoji="1" lang="en-US" altLang="zh-CN" sz="2400" b="1" u="sng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en-US" altLang="zh-CN" sz="2400" b="1" kern="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" name="Line 2053"/>
            <p:cNvSpPr>
              <a:spLocks noChangeShapeType="1"/>
            </p:cNvSpPr>
            <p:nvPr/>
          </p:nvSpPr>
          <p:spPr bwMode="auto">
            <a:xfrm flipH="1">
              <a:off x="4149306" y="2501955"/>
              <a:ext cx="53340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sp>
          <p:nvSpPr>
            <p:cNvPr id="17" name="Line 2054"/>
            <p:cNvSpPr>
              <a:spLocks noChangeShapeType="1"/>
            </p:cNvSpPr>
            <p:nvPr/>
          </p:nvSpPr>
          <p:spPr bwMode="auto">
            <a:xfrm>
              <a:off x="5486400" y="2967077"/>
              <a:ext cx="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sp>
          <p:nvSpPr>
            <p:cNvPr id="18" name="Line 2055"/>
            <p:cNvSpPr>
              <a:spLocks noChangeShapeType="1"/>
            </p:cNvSpPr>
            <p:nvPr/>
          </p:nvSpPr>
          <p:spPr bwMode="auto">
            <a:xfrm>
              <a:off x="6079617" y="3576677"/>
              <a:ext cx="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sp>
          <p:nvSpPr>
            <p:cNvPr id="19" name="Line 2056"/>
            <p:cNvSpPr>
              <a:spLocks noChangeShapeType="1"/>
            </p:cNvSpPr>
            <p:nvPr/>
          </p:nvSpPr>
          <p:spPr bwMode="auto">
            <a:xfrm flipH="1">
              <a:off x="6137844" y="4148832"/>
              <a:ext cx="520159" cy="2097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sp>
          <p:nvSpPr>
            <p:cNvPr id="20" name="Line 2057"/>
            <p:cNvSpPr>
              <a:spLocks noChangeShapeType="1"/>
            </p:cNvSpPr>
            <p:nvPr/>
          </p:nvSpPr>
          <p:spPr bwMode="auto">
            <a:xfrm flipH="1">
              <a:off x="4219604" y="4639511"/>
              <a:ext cx="30480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sp>
          <p:nvSpPr>
            <p:cNvPr id="21" name="Line 2058"/>
            <p:cNvSpPr>
              <a:spLocks noChangeShapeType="1"/>
            </p:cNvSpPr>
            <p:nvPr/>
          </p:nvSpPr>
          <p:spPr bwMode="auto">
            <a:xfrm flipH="1">
              <a:off x="4991100" y="5225405"/>
              <a:ext cx="29718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sp>
          <p:nvSpPr>
            <p:cNvPr id="22" name="Line 2059"/>
            <p:cNvSpPr>
              <a:spLocks noChangeShapeType="1"/>
            </p:cNvSpPr>
            <p:nvPr/>
          </p:nvSpPr>
          <p:spPr bwMode="auto">
            <a:xfrm flipH="1">
              <a:off x="6564161" y="5726189"/>
              <a:ext cx="19812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3000" b="1" kern="0">
                <a:solidFill>
                  <a:srgbClr val="6600CC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C178-DE77-4EE9-A121-3A64DCE140E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2063750" y="1328742"/>
            <a:ext cx="8072438" cy="5090624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InsertionSort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*L ) { 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升序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对顺序表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L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作直接插入排序。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for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=2;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&lt;=L-&gt;length; ++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)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if (L-&gt;r[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].key &lt; L-&gt;r[i-1].key)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L-&gt;r[0] = L-&gt;r[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];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复制为监视哨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for ( j=i-1; L-&gt;r[0].key &lt; L-&gt;r[j].key;  -- j 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L-&gt;r[j+1] = L-&gt;r[j];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记录后移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L-&gt;r[j+1] = L-&gt;r[0];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插入到正确位置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//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InsertSort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2063750" y="874644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7EA5-8965-45F3-B8E5-819E4366711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095472" y="2096869"/>
            <a:ext cx="8060220" cy="92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实现直接插入排序的基本操作有两个：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095473" y="5144870"/>
            <a:ext cx="4584909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（</a:t>
            </a: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2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）“</a:t>
            </a:r>
            <a:r>
              <a:rPr kumimoji="1" lang="zh-CN" altLang="en-US" sz="3600" b="1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移动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”记录。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2095472" y="3468469"/>
            <a:ext cx="9017000" cy="14219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（</a:t>
            </a: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1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）“</a:t>
            </a:r>
            <a:r>
              <a:rPr kumimoji="1" lang="zh-CN" altLang="en-US" sz="3600" b="1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比较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”序列中两个关键字的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     大小；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2063750" y="988806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ABF2-26B1-4658-8711-325D93A6825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974826" y="1361764"/>
            <a:ext cx="775885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80"/>
                </a:solidFill>
                <a:latin typeface="Times New Roman" panose="02020503050405090304" pitchFamily="18" charset="0"/>
                <a:ea typeface="楷体_GB2312" pitchFamily="49" charset="-122"/>
              </a:rPr>
              <a:t>最好的情况（关键字在记录序列中顺序有序）：</a:t>
            </a:r>
            <a:endParaRPr kumimoji="1" lang="zh-CN" altLang="en-US" sz="2800" b="1" dirty="0">
              <a:solidFill>
                <a:srgbClr val="00008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371700" y="1994555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比较”的次数：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2905100" y="2556531"/>
          <a:ext cx="22003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" imgW="9865360" imgH="5987415" progId="Equation.3">
                  <p:embed/>
                </p:oleObj>
              </mc:Choice>
              <mc:Fallback>
                <p:oleObj name="公式" r:id="rId1" imgW="9865360" imgH="5987415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00" y="2556531"/>
                        <a:ext cx="220030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629500" y="2708930"/>
            <a:ext cx="36420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0</a:t>
            </a:r>
            <a:endParaRPr kumimoji="1" lang="en-US" altLang="zh-CN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6410300" y="1991380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移动”的次数：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1981200" y="914400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41751" y="4142133"/>
            <a:ext cx="348204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时间复杂度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O(n),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O(1);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ABF2-26B1-4658-8711-325D93A6825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2057401" y="1549348"/>
            <a:ext cx="8337809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80"/>
                </a:solidFill>
                <a:latin typeface="Times New Roman" panose="02020503050405090304" pitchFamily="18" charset="0"/>
                <a:ea typeface="楷体_GB2312" pitchFamily="49" charset="-122"/>
              </a:rPr>
              <a:t>最坏的情况（关键字在记录序列中逆序有序）：</a:t>
            </a:r>
            <a:endParaRPr kumimoji="1" lang="zh-CN" altLang="en-US" sz="2800" b="1" dirty="0">
              <a:solidFill>
                <a:srgbClr val="00008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2362199" y="2279598"/>
            <a:ext cx="310450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比较”的次数：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6553199" y="2279598"/>
            <a:ext cx="310450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移动”的次数：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1981200" y="914400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370959" y="4194703"/>
            <a:ext cx="3312125" cy="11264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时间复杂度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比较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28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),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28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);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17" name="Group 52"/>
          <p:cNvGrpSpPr/>
          <p:nvPr/>
        </p:nvGrpSpPr>
        <p:grpSpPr bwMode="auto">
          <a:xfrm>
            <a:off x="2384128" y="3033177"/>
            <a:ext cx="3073400" cy="823913"/>
            <a:chOff x="1708" y="2403"/>
            <a:chExt cx="1374" cy="511"/>
          </a:xfrm>
        </p:grpSpPr>
        <p:sp>
          <p:nvSpPr>
            <p:cNvPr id="18" name="AutoShape 8"/>
            <p:cNvSpPr>
              <a:spLocks noChangeAspect="1" noChangeArrowheads="1" noTextEdit="1"/>
            </p:cNvSpPr>
            <p:nvPr/>
          </p:nvSpPr>
          <p:spPr bwMode="auto">
            <a:xfrm>
              <a:off x="1708" y="2404"/>
              <a:ext cx="1333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2175" y="2672"/>
              <a:ext cx="907" cy="1"/>
            </a:xfrm>
            <a:prstGeom prst="line">
              <a:avLst/>
            </a:prstGeom>
            <a:noFill/>
            <a:ln w="14351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2595" y="264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2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3004" y="244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)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2931" y="24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1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2595" y="2445"/>
              <a:ext cx="12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)(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515" y="24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2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2217" y="244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(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2834" y="2448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Symbol" pitchFamily="18" charset="2"/>
                  <a:ea typeface="华文行楷" pitchFamily="2" charset="-122"/>
                </a:rPr>
                <a:t>-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2405" y="2440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Symbol" pitchFamily="18" charset="2"/>
                  <a:ea typeface="华文行楷" pitchFamily="2" charset="-122"/>
                </a:rPr>
                <a:t>+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3" name="Rectangle 19"/>
            <p:cNvSpPr>
              <a:spLocks noChangeArrowheads="1"/>
            </p:cNvSpPr>
            <p:nvPr/>
          </p:nvSpPr>
          <p:spPr bwMode="auto">
            <a:xfrm>
              <a:off x="2034" y="2525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Symbol" pitchFamily="18" charset="2"/>
                  <a:ea typeface="华文行楷" pitchFamily="2" charset="-122"/>
                </a:rPr>
                <a:t>=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1752" y="2525"/>
              <a:ext cx="13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>
                  <a:solidFill>
                    <a:srgbClr val="000000"/>
                  </a:solidFill>
                  <a:latin typeface="Symbol" pitchFamily="18" charset="2"/>
                  <a:ea typeface="华文行楷" pitchFamily="2" charset="-122"/>
                </a:rPr>
                <a:t>å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2704" y="244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i="1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n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6" name="Rectangle 23"/>
            <p:cNvSpPr>
              <a:spLocks noChangeArrowheads="1"/>
            </p:cNvSpPr>
            <p:nvPr/>
          </p:nvSpPr>
          <p:spPr bwMode="auto">
            <a:xfrm>
              <a:off x="2267" y="244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i="1" dirty="0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n</a:t>
              </a:r>
              <a:endParaRPr kumimoji="0" lang="en-US" altLang="zh-CN" dirty="0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1940" y="2522"/>
              <a:ext cx="5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i="1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i</a:t>
              </a:r>
              <a:endParaRPr kumimoji="0" lang="en-US" altLang="zh-CN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8" name="Rectangle 25"/>
            <p:cNvSpPr>
              <a:spLocks noChangeArrowheads="1"/>
            </p:cNvSpPr>
            <p:nvPr/>
          </p:nvSpPr>
          <p:spPr bwMode="auto">
            <a:xfrm>
              <a:off x="1799" y="240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n</a:t>
              </a:r>
              <a:endParaRPr kumimoji="0" lang="en-US" altLang="zh-CN" sz="2000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  <p:sp>
          <p:nvSpPr>
            <p:cNvPr id="39" name="Rectangle 26"/>
            <p:cNvSpPr>
              <a:spLocks noChangeArrowheads="1"/>
            </p:cNvSpPr>
            <p:nvPr/>
          </p:nvSpPr>
          <p:spPr bwMode="auto">
            <a:xfrm>
              <a:off x="1725" y="2675"/>
              <a:ext cx="2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Font typeface="Monotype Sorts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  <a:sym typeface="Wingdings" panose="05000000000000000000" pitchFamily="2" charset="2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Font typeface="Monotype Sorts" pitchFamily="2" charset="2"/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Font typeface="Monotype Sorts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Blip>
                  <a:blip r:embed="rId4"/>
                </a:buBlip>
                <a:defRPr kumimoji="1" sz="2200"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000000"/>
                  </a:solidFill>
                  <a:latin typeface="Times New Roman" panose="02020503050405090304" pitchFamily="18" charset="0"/>
                  <a:ea typeface="华文行楷" pitchFamily="2" charset="-122"/>
                </a:rPr>
                <a:t>i=2</a:t>
              </a:r>
              <a:endParaRPr kumimoji="0" lang="en-US" altLang="zh-CN" sz="2000">
                <a:solidFill>
                  <a:schemeClr val="accent2"/>
                </a:solidFill>
                <a:latin typeface="Arial" panose="020B0604020202090204" pitchFamily="34" charset="0"/>
                <a:ea typeface="华文行楷" pitchFamily="2" charset="-122"/>
              </a:endParaRPr>
            </a:p>
          </p:txBody>
        </p:sp>
      </p:grpSp>
      <p:sp>
        <p:nvSpPr>
          <p:cNvPr id="41" name="Rectangle 69"/>
          <p:cNvSpPr>
            <a:spLocks noChangeArrowheads="1"/>
          </p:cNvSpPr>
          <p:nvPr/>
        </p:nvSpPr>
        <p:spPr bwMode="auto">
          <a:xfrm>
            <a:off x="6787714" y="2998672"/>
            <a:ext cx="206131" cy="319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n</a:t>
            </a:r>
            <a:endParaRPr kumimoji="0" lang="en-US" altLang="zh-CN" sz="200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42" name="Line 55"/>
          <p:cNvSpPr>
            <a:spLocks noChangeShapeType="1"/>
          </p:cNvSpPr>
          <p:nvPr/>
        </p:nvSpPr>
        <p:spPr bwMode="auto">
          <a:xfrm flipV="1">
            <a:off x="7934497" y="3410942"/>
            <a:ext cx="1343327" cy="3330"/>
          </a:xfrm>
          <a:prstGeom prst="line">
            <a:avLst/>
          </a:prstGeom>
          <a:noFill/>
          <a:ln w="14351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56"/>
          <p:cNvSpPr>
            <a:spLocks noChangeArrowheads="1"/>
          </p:cNvSpPr>
          <p:nvPr/>
        </p:nvSpPr>
        <p:spPr bwMode="auto">
          <a:xfrm>
            <a:off x="8494989" y="3360986"/>
            <a:ext cx="222344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2</a:t>
            </a:r>
            <a:endParaRPr kumimoji="0" lang="en-US" altLang="zh-CN" dirty="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44" name="Rectangle 57"/>
          <p:cNvSpPr>
            <a:spLocks noChangeArrowheads="1"/>
          </p:cNvSpPr>
          <p:nvPr/>
        </p:nvSpPr>
        <p:spPr bwMode="auto">
          <a:xfrm>
            <a:off x="9097170" y="3031280"/>
            <a:ext cx="148229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)</a:t>
            </a:r>
            <a:endParaRPr kumimoji="0" lang="en-US" altLang="zh-CN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45" name="Rectangle 58"/>
          <p:cNvSpPr>
            <a:spLocks noChangeArrowheads="1"/>
          </p:cNvSpPr>
          <p:nvPr/>
        </p:nvSpPr>
        <p:spPr bwMode="auto">
          <a:xfrm>
            <a:off x="8928096" y="3031280"/>
            <a:ext cx="222344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1</a:t>
            </a:r>
            <a:endParaRPr kumimoji="0" lang="en-US" altLang="zh-CN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46" name="Rectangle 59"/>
          <p:cNvSpPr>
            <a:spLocks noChangeArrowheads="1"/>
          </p:cNvSpPr>
          <p:nvPr/>
        </p:nvSpPr>
        <p:spPr bwMode="auto">
          <a:xfrm>
            <a:off x="8244852" y="3031280"/>
            <a:ext cx="101908" cy="36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(</a:t>
            </a:r>
            <a:endParaRPr kumimoji="0" lang="en-US" altLang="zh-CN" dirty="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48" name="Rectangle 61"/>
          <p:cNvSpPr>
            <a:spLocks noChangeArrowheads="1"/>
          </p:cNvSpPr>
          <p:nvPr/>
        </p:nvSpPr>
        <p:spPr bwMode="auto">
          <a:xfrm>
            <a:off x="8608154" y="3068610"/>
            <a:ext cx="0" cy="36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dirty="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49" name="Rectangle 62"/>
          <p:cNvSpPr>
            <a:spLocks noChangeArrowheads="1"/>
          </p:cNvSpPr>
          <p:nvPr/>
        </p:nvSpPr>
        <p:spPr bwMode="auto">
          <a:xfrm>
            <a:off x="8703436" y="3036275"/>
            <a:ext cx="243188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  <a:latin typeface="Symbol" pitchFamily="18" charset="2"/>
                <a:ea typeface="华文行楷" pitchFamily="2" charset="-122"/>
              </a:rPr>
              <a:t>-</a:t>
            </a:r>
            <a:endParaRPr kumimoji="0" lang="en-US" altLang="zh-CN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51" name="Rectangle 64"/>
          <p:cNvSpPr>
            <a:spLocks noChangeArrowheads="1"/>
          </p:cNvSpPr>
          <p:nvPr/>
        </p:nvSpPr>
        <p:spPr bwMode="auto">
          <a:xfrm>
            <a:off x="7637716" y="3190168"/>
            <a:ext cx="243188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000000"/>
                </a:solidFill>
                <a:latin typeface="Symbol" pitchFamily="18" charset="2"/>
                <a:ea typeface="华文行楷" pitchFamily="2" charset="-122"/>
              </a:rPr>
              <a:t>=</a:t>
            </a:r>
            <a:endParaRPr kumimoji="0" lang="en-US" altLang="zh-CN" dirty="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52" name="Rectangle 65"/>
          <p:cNvSpPr>
            <a:spLocks noChangeArrowheads="1"/>
          </p:cNvSpPr>
          <p:nvPr/>
        </p:nvSpPr>
        <p:spPr bwMode="auto">
          <a:xfrm>
            <a:off x="6678858" y="3201825"/>
            <a:ext cx="317303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  <a:latin typeface="Symbol" pitchFamily="18" charset="2"/>
                <a:ea typeface="华文行楷" pitchFamily="2" charset="-122"/>
              </a:rPr>
              <a:t>å</a:t>
            </a:r>
            <a:endParaRPr kumimoji="0" lang="en-US" altLang="zh-CN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53" name="Rectangle 66"/>
          <p:cNvSpPr>
            <a:spLocks noChangeArrowheads="1"/>
          </p:cNvSpPr>
          <p:nvPr/>
        </p:nvSpPr>
        <p:spPr bwMode="auto">
          <a:xfrm>
            <a:off x="8402345" y="3031280"/>
            <a:ext cx="247821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i="1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n</a:t>
            </a:r>
            <a:endParaRPr kumimoji="0" lang="en-US" altLang="zh-CN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54" name="Rectangle 67"/>
          <p:cNvSpPr>
            <a:spLocks noChangeArrowheads="1"/>
          </p:cNvSpPr>
          <p:nvPr/>
        </p:nvSpPr>
        <p:spPr bwMode="auto">
          <a:xfrm>
            <a:off x="7976187" y="3042936"/>
            <a:ext cx="247821" cy="38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i="1" dirty="0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n</a:t>
            </a:r>
            <a:endParaRPr kumimoji="0" lang="en-US" altLang="zh-CN" dirty="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55" name="Rectangle 70"/>
          <p:cNvSpPr>
            <a:spLocks noChangeArrowheads="1"/>
          </p:cNvSpPr>
          <p:nvPr/>
        </p:nvSpPr>
        <p:spPr bwMode="auto">
          <a:xfrm>
            <a:off x="6616324" y="3451602"/>
            <a:ext cx="497957" cy="319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000000"/>
                </a:solidFill>
                <a:latin typeface="Times New Roman" panose="02020503050405090304" pitchFamily="18" charset="0"/>
                <a:ea typeface="华文行楷" pitchFamily="2" charset="-122"/>
              </a:rPr>
              <a:t>i=2</a:t>
            </a:r>
            <a:endParaRPr kumimoji="0" lang="en-US" altLang="zh-CN" sz="2000">
              <a:solidFill>
                <a:schemeClr val="accent2"/>
              </a:solidFill>
              <a:latin typeface="Arial" panose="020B0604020202090204" pitchFamily="34" charset="0"/>
              <a:ea typeface="华文行楷" pitchFamily="2" charset="-122"/>
            </a:endParaRPr>
          </a:p>
        </p:txBody>
      </p:sp>
      <p:sp>
        <p:nvSpPr>
          <p:cNvPr id="56" name="Rectangle 72"/>
          <p:cNvSpPr>
            <a:spLocks noChangeArrowheads="1"/>
          </p:cNvSpPr>
          <p:nvPr/>
        </p:nvSpPr>
        <p:spPr bwMode="auto">
          <a:xfrm>
            <a:off x="6685806" y="3168521"/>
            <a:ext cx="1141828" cy="461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Helvetica" pitchFamily="34" charset="0"/>
                <a:sym typeface="Wingdings" panose="05000000000000000000" pitchFamily="2" charset="2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Font typeface="Monotype Sorts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Blip>
                <a:blip r:embed="rId4"/>
              </a:buBlip>
              <a:defRPr kumimoji="1" sz="22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buClr>
                <a:schemeClr val="bg1"/>
              </a:buClr>
              <a:buFontTx/>
              <a:buNone/>
            </a:pPr>
            <a:r>
              <a:rPr kumimoji="0"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</a:rPr>
              <a:t>（</a:t>
            </a:r>
            <a:r>
              <a:rPr kumimoji="0" lang="en-US" altLang="zh-CN" i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</a:rPr>
              <a:t>i-</a:t>
            </a:r>
            <a:r>
              <a:rPr kumimoji="0"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kumimoji="0"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</a:rPr>
              <a:t>）</a:t>
            </a:r>
            <a:endParaRPr kumimoji="0"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983B1-CF21-4230-8B32-6E4D995EED3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2495550" y="1361754"/>
            <a:ext cx="6688138" cy="48936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66"/>
                </a:solidFill>
                <a:latin typeface="Times New Roman" panose="02020503050405090304" pitchFamily="18" charset="0"/>
              </a:rPr>
              <a:t>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(1)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稳定性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直接插入排序是</a:t>
            </a:r>
            <a:r>
              <a:rPr kumimoji="1" lang="zh-CN" altLang="en-US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稳定的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排序方法。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 	R[0].key&lt;R[j].key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	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(2)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算法效率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a.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时间复杂度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最好情况</a:t>
            </a:r>
            <a:r>
              <a:rPr kumimoji="1" lang="en-US" altLang="zh-CN" sz="24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: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比较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O(n),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O(1);</a:t>
            </a:r>
            <a:endParaRPr kumimoji="1" lang="en-US" altLang="zh-CN" sz="28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最坏情况</a:t>
            </a:r>
            <a:r>
              <a:rPr kumimoji="1" lang="en-US" altLang="zh-CN" sz="24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24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24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: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比较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28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),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28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);</a:t>
            </a:r>
            <a:endParaRPr kumimoji="1" lang="en-US" altLang="zh-CN" sz="28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平均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28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</a:t>
            </a:r>
            <a:endParaRPr kumimoji="1" lang="en-US" altLang="zh-CN" sz="28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b.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空间复杂度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</a:t>
            </a:r>
            <a:r>
              <a:rPr kumimoji="1" lang="zh-CN" altLang="en-US" sz="28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。</a:t>
            </a:r>
            <a:endParaRPr kumimoji="1" lang="zh-CN" altLang="en-US" sz="28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2063750" y="847404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983B1-CF21-4230-8B32-6E4D995EED3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2063750" y="847404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76399" y="1600200"/>
            <a:ext cx="883920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/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算法的性能分析</a:t>
            </a: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838200" lvl="1" indent="-381000">
              <a:buFont typeface="Arial" panose="020B0604020202090204" pitchFamily="34" charset="0"/>
              <a:buChar char="•"/>
            </a:pPr>
            <a:r>
              <a:rPr lang="zh-CN" altLang="en-US" sz="2400" b="1" dirty="0">
                <a:ea typeface="楷体_GB2312" pitchFamily="49" charset="-122"/>
              </a:rPr>
              <a:t>直接插入排序算法简单、容易实现，适用于待排序记录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基本有序</a:t>
            </a:r>
            <a:r>
              <a:rPr lang="zh-CN" altLang="en-US" sz="2400" b="1" dirty="0">
                <a:ea typeface="楷体_GB2312" pitchFamily="49" charset="-122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待排序记录较小</a:t>
            </a:r>
            <a:r>
              <a:rPr lang="zh-CN" altLang="en-US" sz="2400" b="1" dirty="0">
                <a:ea typeface="楷体_GB2312" pitchFamily="49" charset="-122"/>
              </a:rPr>
              <a:t>时。</a:t>
            </a:r>
            <a:endParaRPr lang="zh-CN" altLang="en-US" sz="2400" b="1" dirty="0">
              <a:ea typeface="楷体_GB2312" pitchFamily="49" charset="-122"/>
            </a:endParaRPr>
          </a:p>
          <a:p>
            <a:pPr marL="838200" lvl="1" indent="-381000">
              <a:buFont typeface="Arial" panose="020B0604020202090204" pitchFamily="34" charset="0"/>
              <a:buChar char="•"/>
            </a:pPr>
            <a:r>
              <a:rPr lang="zh-CN" altLang="en-US" sz="2400" b="1" dirty="0">
                <a:ea typeface="楷体_GB2312" pitchFamily="49" charset="-122"/>
              </a:rPr>
              <a:t>当待排序的记录个数较多时，大量的比较和移动操作使直接插入排序算法的效率降低。</a:t>
            </a:r>
            <a:endParaRPr lang="en-US" altLang="zh-CN" sz="2400" b="1" dirty="0">
              <a:ea typeface="楷体_GB2312" pitchFamily="49" charset="-122"/>
            </a:endParaRPr>
          </a:p>
          <a:p>
            <a:pPr marL="838200" lvl="1" indent="-381000">
              <a:buFont typeface="Arial" panose="020B0604020202090204" pitchFamily="34" charset="0"/>
              <a:buChar char="•"/>
            </a:pP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381000" indent="-381000"/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改进的直接插入排序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-----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折半插入排序</a:t>
            </a:r>
            <a:endParaRPr lang="zh-CN" altLang="en-US" sz="2400" b="1" dirty="0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marL="838200" lvl="1" indent="-381000"/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直接插入排序，</a:t>
            </a:r>
            <a:r>
              <a:rPr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在插入第 </a:t>
            </a:r>
            <a:r>
              <a:rPr lang="en-US" altLang="zh-CN" sz="2400" b="1" i="1" dirty="0" err="1"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（</a:t>
            </a:r>
            <a:r>
              <a:rPr lang="en-US" altLang="zh-CN" sz="2400" b="1" i="1" dirty="0" err="1"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＞</a:t>
            </a:r>
            <a:r>
              <a:rPr lang="en-US" altLang="zh-CN" sz="2400" b="1" dirty="0">
                <a:latin typeface="Times New Roman" panose="0202050305040509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）个记录时，前面的 </a:t>
            </a:r>
            <a:r>
              <a:rPr lang="en-US" altLang="zh-CN" sz="2400" b="1" i="1" dirty="0"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anose="02020503050405090304" pitchFamily="18" charset="0"/>
                <a:ea typeface="楷体_GB2312" pitchFamily="49" charset="-122"/>
              </a:rPr>
              <a:t>-1 </a:t>
            </a:r>
            <a:r>
              <a:rPr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个记录已经排好序，则在寻找插入位置时，可以用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折半查找来代替顺序查找</a:t>
            </a:r>
            <a:r>
              <a:rPr lang="zh-CN" altLang="en-US" sz="2400" b="1" dirty="0">
                <a:latin typeface="Times New Roman" panose="02020503050405090304" pitchFamily="18" charset="0"/>
                <a:ea typeface="楷体_GB2312" pitchFamily="49" charset="-122"/>
              </a:rPr>
              <a:t>，从而较少比较次数。</a:t>
            </a:r>
            <a:endParaRPr lang="zh-CN" altLang="en-US" sz="2400" b="1" dirty="0"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15.2.2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折半插入排序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4E4-1E7F-4062-8FCD-AEE666C9D3C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90726" y="901710"/>
            <a:ext cx="41052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折半插入排序思想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78480" y="1524000"/>
            <a:ext cx="6985000" cy="3298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在直接插入排序中，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r[1..i-1]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是一个按关键字有序的有序序列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可以利用折半查找实现“在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r[1..i-1]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中查找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的插入位置”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称这种排序为折半插入排序。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15.3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交换排序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F4C5D-43E1-41F5-BCE6-ADBEA8B1E6C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15.3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交换排序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DD76-24ED-499D-A64C-B08FD004C55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270126" y="2313918"/>
            <a:ext cx="7826403" cy="319472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　通过“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交换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”无序序列中的记录从而得到其中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关键字最小或最大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的记录，并将它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加入到有序子序列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中，以此方法增加记录的有序子序列的长度。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03388" y="9144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Text Box 1026"/>
          <p:cNvSpPr txBox="1">
            <a:spLocks noChangeArrowheads="1"/>
          </p:cNvSpPr>
          <p:nvPr/>
        </p:nvSpPr>
        <p:spPr bwMode="auto">
          <a:xfrm>
            <a:off x="2316164" y="1522404"/>
            <a:ext cx="224131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2. 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交换类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15.3  </a:t>
            </a:r>
            <a:r>
              <a:rPr lang="zh-CN" altLang="en-US" b="1" dirty="0"/>
              <a:t>交换排序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15.3.1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起泡排序（冒泡排序）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15.3.2 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B3DBD-BA9D-4B45-877C-DB56B6F11E3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15.3.1 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起泡排序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8B56-C50E-41EF-95B5-8554AE22B04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315200" y="2781257"/>
            <a:ext cx="3352800" cy="5878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第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趟起泡排序</a:t>
            </a:r>
            <a:endParaRPr kumimoji="1" lang="zh-CN" altLang="en-US" sz="2800" b="1">
              <a:solidFill>
                <a:srgbClr val="00008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286000" y="1638256"/>
            <a:ext cx="4191000" cy="533400"/>
          </a:xfrm>
          <a:prstGeom prst="rect">
            <a:avLst/>
          </a:prstGeom>
          <a:solidFill>
            <a:srgbClr val="CCFFFF"/>
          </a:solidFill>
          <a:ln w="9525">
            <a:solidFill>
              <a:srgbClr val="04617B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无序序列</a:t>
            </a:r>
            <a:r>
              <a:rPr kumimoji="1" lang="en-US" altLang="zh-CN" sz="2800" b="1" kern="0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R[1..n-i+1]</a:t>
            </a:r>
            <a:endParaRPr kumimoji="1" lang="en-US" altLang="zh-CN" sz="2800" b="1" kern="0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477000" y="1638256"/>
            <a:ext cx="3505200" cy="533400"/>
          </a:xfrm>
          <a:prstGeom prst="rect">
            <a:avLst/>
          </a:prstGeom>
          <a:solidFill>
            <a:srgbClr val="66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2800" b="1" kern="0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有序序列 </a:t>
            </a:r>
            <a:r>
              <a:rPr kumimoji="1" lang="en-US" altLang="zh-CN" sz="2800" b="1" kern="0" dirty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R[n-i+2..n]</a:t>
            </a:r>
            <a:endParaRPr kumimoji="1" lang="en-US" altLang="zh-CN" sz="2800" b="1" kern="0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2800" b="1" kern="0" dirty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324600" y="1104856"/>
            <a:ext cx="0" cy="533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stealth" w="lg" len="lg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400800" y="876257"/>
            <a:ext cx="1101584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n-i+1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2286000" y="4610056"/>
            <a:ext cx="3810000" cy="533400"/>
          </a:xfrm>
          <a:prstGeom prst="rect">
            <a:avLst/>
          </a:prstGeom>
          <a:solidFill>
            <a:srgbClr val="CCFFFF"/>
          </a:solidFill>
          <a:ln w="9525">
            <a:solidFill>
              <a:srgbClr val="04617B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无序序列</a:t>
            </a:r>
            <a:r>
              <a:rPr kumimoji="1" lang="en-US" altLang="zh-CN" sz="2800" b="1" kern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R[1..n-i]</a:t>
            </a:r>
            <a:endParaRPr kumimoji="1" lang="en-US" altLang="zh-CN" sz="2800" b="1" kern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6096000" y="4610056"/>
            <a:ext cx="3886200" cy="533400"/>
          </a:xfrm>
          <a:prstGeom prst="rect">
            <a:avLst/>
          </a:prstGeom>
          <a:solidFill>
            <a:srgbClr val="66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2800" b="1" kern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有序序列 </a:t>
            </a:r>
            <a:r>
              <a:rPr kumimoji="1" lang="en-US" altLang="zh-CN" sz="2800" b="1" kern="0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R[n-i+1..n]</a:t>
            </a:r>
            <a:endParaRPr kumimoji="1" lang="en-US" altLang="zh-CN" sz="2800" b="1" kern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2800" b="1" kern="0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AutoShape 20"/>
          <p:cNvSpPr>
            <a:spLocks noChangeArrowheads="1"/>
          </p:cNvSpPr>
          <p:nvPr/>
        </p:nvSpPr>
        <p:spPr bwMode="auto">
          <a:xfrm>
            <a:off x="6629400" y="2552656"/>
            <a:ext cx="752484" cy="1828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BF5F9"/>
          </a:solidFill>
          <a:ln w="9525">
            <a:solidFill>
              <a:srgbClr val="006666"/>
            </a:solidFill>
            <a:miter lim="800000"/>
          </a:ln>
          <a:effectLst/>
        </p:spPr>
        <p:txBody>
          <a:bodyPr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736726" y="2705057"/>
            <a:ext cx="4206875" cy="1514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比较相邻记录，将关键字最大的记录</a:t>
            </a:r>
            <a:r>
              <a:rPr kumimoji="1" lang="zh-CN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交换到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n-i+1 </a:t>
            </a:r>
            <a:r>
              <a:rPr kumimoji="1" lang="zh-CN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的位置上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AutoShape 22"/>
          <p:cNvSpPr>
            <a:spLocks noChangeArrowheads="1"/>
          </p:cNvSpPr>
          <p:nvPr/>
        </p:nvSpPr>
        <p:spPr bwMode="auto">
          <a:xfrm>
            <a:off x="42672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AutoShape 23"/>
          <p:cNvSpPr>
            <a:spLocks noChangeArrowheads="1"/>
          </p:cNvSpPr>
          <p:nvPr/>
        </p:nvSpPr>
        <p:spPr bwMode="auto">
          <a:xfrm>
            <a:off x="58674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AutoShape 24"/>
          <p:cNvSpPr>
            <a:spLocks noChangeArrowheads="1"/>
          </p:cNvSpPr>
          <p:nvPr/>
        </p:nvSpPr>
        <p:spPr bwMode="auto">
          <a:xfrm>
            <a:off x="53340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AutoShape 25"/>
          <p:cNvSpPr>
            <a:spLocks noChangeArrowheads="1"/>
          </p:cNvSpPr>
          <p:nvPr/>
        </p:nvSpPr>
        <p:spPr bwMode="auto">
          <a:xfrm>
            <a:off x="48006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AutoShape 26"/>
          <p:cNvSpPr>
            <a:spLocks noChangeArrowheads="1"/>
          </p:cNvSpPr>
          <p:nvPr/>
        </p:nvSpPr>
        <p:spPr bwMode="auto">
          <a:xfrm>
            <a:off x="38100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>
            <a:off x="33528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AutoShape 28"/>
          <p:cNvSpPr>
            <a:spLocks noChangeArrowheads="1"/>
          </p:cNvSpPr>
          <p:nvPr/>
        </p:nvSpPr>
        <p:spPr bwMode="auto">
          <a:xfrm>
            <a:off x="28956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AutoShape 29"/>
          <p:cNvSpPr>
            <a:spLocks noChangeArrowheads="1"/>
          </p:cNvSpPr>
          <p:nvPr/>
        </p:nvSpPr>
        <p:spPr bwMode="auto">
          <a:xfrm>
            <a:off x="23622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6477000" y="2171656"/>
            <a:ext cx="0" cy="2971800"/>
          </a:xfrm>
          <a:prstGeom prst="line">
            <a:avLst/>
          </a:prstGeom>
          <a:noFill/>
          <a:ln w="9525" cap="rnd">
            <a:solidFill>
              <a:srgbClr val="FF66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6096000" y="1638256"/>
            <a:ext cx="0" cy="2971800"/>
          </a:xfrm>
          <a:prstGeom prst="line">
            <a:avLst/>
          </a:prstGeom>
          <a:noFill/>
          <a:ln w="9525" cap="rnd">
            <a:solidFill>
              <a:srgbClr val="FF66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38349" y="5257801"/>
            <a:ext cx="7524817" cy="1015663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003300"/>
                </a:solidFill>
                <a:latin typeface="隶书" pitchFamily="49" charset="-122"/>
                <a:ea typeface="隶书" pitchFamily="49" charset="-122"/>
              </a:rPr>
              <a:t>起泡排序的特点：</a:t>
            </a:r>
            <a:endParaRPr kumimoji="1" lang="en-US" altLang="zh-CN" sz="3000" b="1" dirty="0">
              <a:solidFill>
                <a:srgbClr val="003300"/>
              </a:solidFill>
              <a:latin typeface="隶书" pitchFamily="49" charset="-122"/>
              <a:ea typeface="隶书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有序序列中的关键字值都比无序序列中的大</a:t>
            </a:r>
            <a:endParaRPr kumimoji="1" lang="zh-CN" altLang="en-US" sz="3000" b="1" dirty="0">
              <a:solidFill>
                <a:srgbClr val="FF33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1919288" y="1090570"/>
            <a:ext cx="3033704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起泡排序特点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nimBg="1" autoUpdateAnimBg="0"/>
      <p:bldP spid="15" grpId="0" animBg="1" autoUpdateAnimBg="0"/>
      <p:bldP spid="16" grpId="0" animBg="1"/>
      <p:bldP spid="17" grpId="0" autoUpdateAnimBg="0"/>
      <p:bldP spid="18" grpId="0" animBg="1" autoUpdateAnimBg="0"/>
      <p:bldP spid="19" grpId="0" animBg="1" autoUpdateAnimBg="0"/>
      <p:bldP spid="20" grpId="0" animBg="1"/>
      <p:bldP spid="21" grpId="0" autoUpdateAnimBg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15.3.1  </a:t>
            </a:r>
            <a:r>
              <a:rPr lang="zh-CN" altLang="en-US" b="1" dirty="0"/>
              <a:t>起泡排序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B3DBD-BA9D-4B45-877C-DB56B6F11E3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0" y="1390265"/>
            <a:ext cx="8153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例：</a:t>
            </a:r>
            <a:r>
              <a:rPr lang="zh-CN" altLang="zh-CN" sz="2800" dirty="0">
                <a:latin typeface="楷体_GB2312" pitchFamily="49" charset="-122"/>
                <a:ea typeface="楷体_GB2312" pitchFamily="49" charset="-122"/>
              </a:rPr>
              <a:t>关键字序列 T=(21，25，49，25</a:t>
            </a:r>
            <a:r>
              <a:rPr lang="zh-CN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zh-CN" sz="2800" dirty="0">
                <a:latin typeface="楷体_GB2312" pitchFamily="49" charset="-122"/>
                <a:ea typeface="楷体_GB2312" pitchFamily="49" charset="-122"/>
              </a:rPr>
              <a:t>，16，08），请写出冒泡排序的具体实现过程。</a:t>
            </a:r>
            <a:endParaRPr lang="zh-CN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733800" y="2491313"/>
            <a:ext cx="5486400" cy="322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3000"/>
              </a:lnSpc>
              <a:spcBef>
                <a:spcPts val="30"/>
              </a:spcBef>
            </a:pPr>
            <a:r>
              <a:rPr lang="zh-CN" altLang="zh-CN" sz="2800" dirty="0"/>
              <a:t>21，25，49， 25</a:t>
            </a:r>
            <a:r>
              <a:rPr lang="zh-CN" altLang="zh-CN" sz="2800" dirty="0">
                <a:solidFill>
                  <a:schemeClr val="tx2"/>
                </a:solidFill>
              </a:rPr>
              <a:t>*</a:t>
            </a:r>
            <a:r>
              <a:rPr lang="zh-CN" altLang="zh-CN" sz="2800" dirty="0"/>
              <a:t>，16，  08</a:t>
            </a:r>
            <a:endParaRPr lang="zh-CN" altLang="zh-CN" sz="2800" dirty="0"/>
          </a:p>
          <a:p>
            <a:pPr algn="l">
              <a:lnSpc>
                <a:spcPct val="123000"/>
              </a:lnSpc>
              <a:spcBef>
                <a:spcPts val="30"/>
              </a:spcBef>
            </a:pPr>
            <a:r>
              <a:rPr lang="zh-CN" altLang="zh-CN" sz="2800" dirty="0"/>
              <a:t>21，25，</a:t>
            </a:r>
            <a:r>
              <a:rPr lang="zh-CN" altLang="zh-CN" sz="2800" dirty="0">
                <a:solidFill>
                  <a:srgbClr val="FF00FF"/>
                </a:solidFill>
              </a:rPr>
              <a:t>25*，16， 08 ， </a:t>
            </a:r>
            <a:r>
              <a:rPr lang="zh-CN" altLang="zh-CN" sz="2800" dirty="0">
                <a:solidFill>
                  <a:schemeClr val="tx2"/>
                </a:solidFill>
              </a:rPr>
              <a:t>49</a:t>
            </a:r>
            <a:endParaRPr lang="zh-CN" altLang="zh-CN" sz="2800" dirty="0">
              <a:solidFill>
                <a:schemeClr val="tx2"/>
              </a:solidFill>
            </a:endParaRPr>
          </a:p>
          <a:p>
            <a:pPr algn="l">
              <a:lnSpc>
                <a:spcPct val="123000"/>
              </a:lnSpc>
              <a:spcBef>
                <a:spcPts val="30"/>
              </a:spcBef>
            </a:pPr>
            <a:r>
              <a:rPr lang="zh-CN" altLang="zh-CN" sz="2800" dirty="0"/>
              <a:t>21，25， </a:t>
            </a:r>
            <a:r>
              <a:rPr lang="zh-CN" altLang="zh-CN" sz="2800" dirty="0">
                <a:solidFill>
                  <a:srgbClr val="008000"/>
                </a:solidFill>
              </a:rPr>
              <a:t>16， 08 ，</a:t>
            </a:r>
            <a:r>
              <a:rPr lang="zh-CN" altLang="zh-CN" sz="2800" dirty="0">
                <a:solidFill>
                  <a:schemeClr val="tx2"/>
                </a:solidFill>
              </a:rPr>
              <a:t>25*，49</a:t>
            </a:r>
            <a:endParaRPr lang="zh-CN" altLang="zh-CN" sz="2800" dirty="0">
              <a:solidFill>
                <a:schemeClr val="tx2"/>
              </a:solidFill>
            </a:endParaRPr>
          </a:p>
          <a:p>
            <a:pPr algn="l">
              <a:lnSpc>
                <a:spcPct val="123000"/>
              </a:lnSpc>
              <a:spcBef>
                <a:spcPts val="30"/>
              </a:spcBef>
            </a:pPr>
            <a:r>
              <a:rPr lang="zh-CN" altLang="zh-CN" sz="2800" dirty="0"/>
              <a:t>21，</a:t>
            </a:r>
            <a:r>
              <a:rPr lang="zh-CN" altLang="zh-CN" sz="2800" dirty="0">
                <a:solidFill>
                  <a:schemeClr val="hlink"/>
                </a:solidFill>
              </a:rPr>
              <a:t>16， 08 ，</a:t>
            </a:r>
            <a:r>
              <a:rPr lang="zh-CN" altLang="zh-CN" sz="2800" dirty="0">
                <a:solidFill>
                  <a:schemeClr val="tx2"/>
                </a:solidFill>
              </a:rPr>
              <a:t>25，</a:t>
            </a:r>
            <a:r>
              <a:rPr lang="zh-CN" altLang="zh-CN" sz="2800" dirty="0"/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25*，49</a:t>
            </a:r>
            <a:endParaRPr lang="zh-CN" altLang="zh-CN" sz="2800" dirty="0">
              <a:solidFill>
                <a:schemeClr val="tx2"/>
              </a:solidFill>
            </a:endParaRPr>
          </a:p>
          <a:p>
            <a:pPr algn="l">
              <a:lnSpc>
                <a:spcPct val="123000"/>
              </a:lnSpc>
              <a:spcBef>
                <a:spcPts val="30"/>
              </a:spcBef>
            </a:pPr>
            <a:r>
              <a:rPr lang="zh-CN" altLang="zh-CN" sz="2800" dirty="0">
                <a:solidFill>
                  <a:srgbClr val="FF6600"/>
                </a:solidFill>
              </a:rPr>
              <a:t>16，08 ，</a:t>
            </a:r>
            <a:r>
              <a:rPr lang="zh-CN" altLang="zh-CN" sz="2800" dirty="0">
                <a:solidFill>
                  <a:schemeClr val="tx2"/>
                </a:solidFill>
              </a:rPr>
              <a:t>21，</a:t>
            </a:r>
            <a:r>
              <a:rPr lang="zh-CN" altLang="zh-CN" sz="2800" dirty="0"/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25，</a:t>
            </a:r>
            <a:r>
              <a:rPr lang="zh-CN" altLang="zh-CN" sz="2800" dirty="0"/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25*，49</a:t>
            </a:r>
            <a:endParaRPr lang="zh-CN" altLang="zh-CN" sz="2800" dirty="0">
              <a:solidFill>
                <a:schemeClr val="tx2"/>
              </a:solidFill>
            </a:endParaRPr>
          </a:p>
          <a:p>
            <a:pPr algn="l">
              <a:lnSpc>
                <a:spcPct val="123000"/>
              </a:lnSpc>
              <a:spcBef>
                <a:spcPts val="30"/>
              </a:spcBef>
            </a:pPr>
            <a:r>
              <a:rPr lang="zh-CN" altLang="zh-CN" sz="2800" dirty="0">
                <a:solidFill>
                  <a:srgbClr val="9900FF"/>
                </a:solidFill>
              </a:rPr>
              <a:t>08，</a:t>
            </a:r>
            <a:r>
              <a:rPr lang="zh-CN" altLang="zh-CN" sz="2800" dirty="0">
                <a:solidFill>
                  <a:schemeClr val="tx2"/>
                </a:solidFill>
              </a:rPr>
              <a:t>16，</a:t>
            </a:r>
            <a:r>
              <a:rPr lang="zh-CN" altLang="zh-CN" sz="2800" dirty="0">
                <a:solidFill>
                  <a:srgbClr val="FF9966"/>
                </a:solidFill>
              </a:rPr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21，</a:t>
            </a:r>
            <a:r>
              <a:rPr lang="zh-CN" altLang="zh-CN" sz="2800" dirty="0"/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25，</a:t>
            </a:r>
            <a:r>
              <a:rPr lang="zh-CN" altLang="zh-CN" sz="2800" dirty="0"/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25*，49</a:t>
            </a:r>
            <a:endParaRPr lang="zh-CN" altLang="zh-CN" sz="2800" dirty="0">
              <a:solidFill>
                <a:schemeClr val="tx2"/>
              </a:solidFill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2385134" y="2524041"/>
            <a:ext cx="2057400" cy="321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25000"/>
              </a:spcBef>
            </a:pPr>
            <a:r>
              <a:rPr lang="zh-CN" altLang="zh-CN" sz="2800" dirty="0">
                <a:solidFill>
                  <a:srgbClr val="008000"/>
                </a:solidFill>
                <a:ea typeface="楷体_GB2312" pitchFamily="49" charset="-122"/>
              </a:rPr>
              <a:t>初态：</a:t>
            </a:r>
            <a:endParaRPr lang="zh-CN" altLang="zh-CN" sz="2800" dirty="0">
              <a:solidFill>
                <a:srgbClr val="008000"/>
              </a:solidFill>
              <a:ea typeface="楷体_GB2312" pitchFamily="49" charset="-122"/>
            </a:endParaRPr>
          </a:p>
          <a:p>
            <a:pPr algn="l">
              <a:spcBef>
                <a:spcPct val="25000"/>
              </a:spcBef>
            </a:pPr>
            <a:r>
              <a:rPr lang="zh-CN" altLang="zh-CN" sz="2800" dirty="0">
                <a:solidFill>
                  <a:srgbClr val="008000"/>
                </a:solidFill>
                <a:ea typeface="楷体_GB2312" pitchFamily="49" charset="-122"/>
              </a:rPr>
              <a:t>第1趟</a:t>
            </a:r>
            <a:endParaRPr lang="zh-CN" altLang="zh-CN" sz="2800" dirty="0">
              <a:solidFill>
                <a:srgbClr val="008000"/>
              </a:solidFill>
              <a:ea typeface="楷体_GB2312" pitchFamily="49" charset="-122"/>
            </a:endParaRPr>
          </a:p>
          <a:p>
            <a:pPr algn="l">
              <a:spcBef>
                <a:spcPct val="25000"/>
              </a:spcBef>
            </a:pPr>
            <a:r>
              <a:rPr lang="zh-CN" altLang="zh-CN" sz="2800" dirty="0">
                <a:solidFill>
                  <a:srgbClr val="008000"/>
                </a:solidFill>
                <a:ea typeface="楷体_GB2312" pitchFamily="49" charset="-122"/>
              </a:rPr>
              <a:t>第2趟</a:t>
            </a:r>
            <a:endParaRPr lang="zh-CN" altLang="zh-CN" sz="2800" dirty="0">
              <a:solidFill>
                <a:srgbClr val="008000"/>
              </a:solidFill>
              <a:ea typeface="楷体_GB2312" pitchFamily="49" charset="-122"/>
            </a:endParaRPr>
          </a:p>
          <a:p>
            <a:pPr algn="l">
              <a:spcBef>
                <a:spcPct val="25000"/>
              </a:spcBef>
            </a:pPr>
            <a:r>
              <a:rPr lang="zh-CN" altLang="zh-CN" sz="2800" dirty="0">
                <a:solidFill>
                  <a:srgbClr val="008000"/>
                </a:solidFill>
                <a:ea typeface="楷体_GB2312" pitchFamily="49" charset="-122"/>
              </a:rPr>
              <a:t>第3趟</a:t>
            </a:r>
            <a:endParaRPr lang="zh-CN" altLang="zh-CN" sz="2800" dirty="0">
              <a:solidFill>
                <a:srgbClr val="008000"/>
              </a:solidFill>
              <a:ea typeface="楷体_GB2312" pitchFamily="49" charset="-122"/>
            </a:endParaRPr>
          </a:p>
          <a:p>
            <a:pPr algn="l">
              <a:spcBef>
                <a:spcPct val="25000"/>
              </a:spcBef>
            </a:pPr>
            <a:r>
              <a:rPr lang="zh-CN" altLang="zh-CN" sz="2800" dirty="0">
                <a:solidFill>
                  <a:srgbClr val="008000"/>
                </a:solidFill>
                <a:ea typeface="楷体_GB2312" pitchFamily="49" charset="-122"/>
              </a:rPr>
              <a:t>第4趟</a:t>
            </a:r>
            <a:endParaRPr lang="zh-CN" altLang="zh-CN" sz="2800" dirty="0">
              <a:solidFill>
                <a:srgbClr val="008000"/>
              </a:solidFill>
              <a:ea typeface="楷体_GB2312" pitchFamily="49" charset="-122"/>
            </a:endParaRPr>
          </a:p>
          <a:p>
            <a:pPr algn="l">
              <a:spcBef>
                <a:spcPct val="25000"/>
              </a:spcBef>
            </a:pPr>
            <a:r>
              <a:rPr lang="zh-CN" altLang="zh-CN" sz="2800" dirty="0">
                <a:solidFill>
                  <a:srgbClr val="008000"/>
                </a:solidFill>
                <a:ea typeface="楷体_GB2312" pitchFamily="49" charset="-122"/>
              </a:rPr>
              <a:t>第5趟</a:t>
            </a:r>
            <a:endParaRPr lang="zh-CN" altLang="zh-CN" sz="2800" dirty="0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" name="流程图: 可选过程 17"/>
          <p:cNvSpPr/>
          <p:nvPr/>
        </p:nvSpPr>
        <p:spPr>
          <a:xfrm>
            <a:off x="6096000" y="5745485"/>
            <a:ext cx="1257408" cy="35763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稳定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 build="p"/>
      <p:bldP spid="16" grpId="0" autoUpdateAnimBg="0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15.3.1 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起泡排序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CC58-4C8A-49FA-8D5F-6924A9664A5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19288" y="1014413"/>
            <a:ext cx="24495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基本思想  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600200" y="1517306"/>
            <a:ext cx="8748713" cy="2897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从第一个记录开始，两两记录比较，若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F[1].key&gt;F[2].key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，则将两个记录交换；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趟比较结果将序列中关键字最大的记录放置到最后一个位置，称为“沉底”；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(3)n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个记录最多比较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n-1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遍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趟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。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(4)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若一趟排序中没有交换，即可结束程序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15.3.1 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起泡排序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CC58-4C8A-49FA-8D5F-6924A9664A5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19288" y="1014413"/>
            <a:ext cx="24495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447800" y="1533526"/>
            <a:ext cx="11232357" cy="54968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BubbleSort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*L 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{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i,j,noswap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temp;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for(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=1;i&lt;=n-1;i++)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{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=TRUE;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for(j=1;j&lt;=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n-i;j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if (L-&gt;r[j].key&gt;L-&gt;r[j+1].key)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 {temp=L-&gt;r[j]; L-&gt;r[j]=L-&gt;r[j+1]; L-&gt;r[j+1]=temp;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=FALSE;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)  break;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15.3.1 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起泡排序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F364-72A7-43D7-A651-60DA9EF33EC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027"/>
          <p:cNvSpPr txBox="1">
            <a:spLocks noChangeArrowheads="1"/>
          </p:cNvSpPr>
          <p:nvPr/>
        </p:nvSpPr>
        <p:spPr bwMode="auto">
          <a:xfrm>
            <a:off x="1866901" y="1334133"/>
            <a:ext cx="7758855" cy="1126462"/>
          </a:xfrm>
          <a:prstGeom prst="rect">
            <a:avLst/>
          </a:prstGeom>
          <a:noFill/>
          <a:ln w="9525">
            <a:solidFill>
              <a:srgbClr val="0F6FC6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 dirty="0">
                <a:solidFill>
                  <a:srgbClr val="000099"/>
                </a:solidFill>
                <a:latin typeface="Times New Roman" panose="02020503050405090304" pitchFamily="18" charset="0"/>
                <a:ea typeface="楷体_GB2312" pitchFamily="49" charset="-122"/>
              </a:rPr>
              <a:t>最好的情况（关键字在记录序列中顺序有序）：</a:t>
            </a:r>
            <a:endParaRPr kumimoji="1" lang="zh-CN" altLang="en-US" sz="2800" b="1" kern="0" dirty="0">
              <a:solidFill>
                <a:srgbClr val="000099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 dirty="0">
                <a:solidFill>
                  <a:srgbClr val="000099"/>
                </a:solidFill>
                <a:latin typeface="Times New Roman" panose="02020503050405090304" pitchFamily="18" charset="0"/>
                <a:ea typeface="楷体_GB2312" pitchFamily="49" charset="-122"/>
              </a:rPr>
              <a:t>    只需进行一趟起泡</a:t>
            </a:r>
            <a:endParaRPr kumimoji="1" lang="zh-CN" altLang="en-US" sz="2800" b="1" kern="0" dirty="0">
              <a:solidFill>
                <a:srgbClr val="00008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7" name="Text Box 1028"/>
          <p:cNvSpPr txBox="1">
            <a:spLocks noChangeArrowheads="1"/>
          </p:cNvSpPr>
          <p:nvPr/>
        </p:nvSpPr>
        <p:spPr bwMode="auto">
          <a:xfrm>
            <a:off x="2133600" y="2596863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比较”的次数：</a:t>
            </a:r>
            <a:endParaRPr kumimoji="1" lang="zh-CN" altLang="en-US" sz="2800" b="1" dirty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8" name="Text Box 1029"/>
          <p:cNvSpPr txBox="1">
            <a:spLocks noChangeArrowheads="1"/>
          </p:cNvSpPr>
          <p:nvPr/>
        </p:nvSpPr>
        <p:spPr bwMode="auto">
          <a:xfrm>
            <a:off x="1882776" y="3736034"/>
            <a:ext cx="7758855" cy="1126462"/>
          </a:xfrm>
          <a:prstGeom prst="rect">
            <a:avLst/>
          </a:prstGeom>
          <a:noFill/>
          <a:ln w="9525">
            <a:solidFill>
              <a:srgbClr val="0F6FC6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 dirty="0">
                <a:solidFill>
                  <a:srgbClr val="333399"/>
                </a:solidFill>
                <a:latin typeface="Times New Roman" panose="02020503050405090304" pitchFamily="18" charset="0"/>
                <a:ea typeface="楷体_GB2312" pitchFamily="49" charset="-122"/>
              </a:rPr>
              <a:t>最坏的情况（关键字在记录序列中逆序有序）：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 dirty="0">
                <a:solidFill>
                  <a:srgbClr val="333399"/>
                </a:solidFill>
                <a:latin typeface="Times New Roman" panose="02020503050405090304" pitchFamily="18" charset="0"/>
                <a:ea typeface="楷体_GB2312" pitchFamily="49" charset="-122"/>
              </a:rPr>
              <a:t>    需进行</a:t>
            </a:r>
            <a:r>
              <a:rPr kumimoji="1" lang="en-US" altLang="zh-CN" sz="2800" b="1" kern="0" dirty="0">
                <a:solidFill>
                  <a:srgbClr val="333399"/>
                </a:solidFill>
                <a:latin typeface="Times New Roman" panose="02020503050405090304" pitchFamily="18" charset="0"/>
                <a:ea typeface="楷体_GB2312" pitchFamily="49" charset="-122"/>
              </a:rPr>
              <a:t>n-1</a:t>
            </a:r>
            <a:r>
              <a:rPr kumimoji="1" lang="zh-CN" altLang="en-US" sz="2800" b="1" kern="0" dirty="0">
                <a:solidFill>
                  <a:srgbClr val="333399"/>
                </a:solidFill>
                <a:latin typeface="Times New Roman" panose="02020503050405090304" pitchFamily="18" charset="0"/>
                <a:ea typeface="楷体_GB2312" pitchFamily="49" charset="-122"/>
              </a:rPr>
              <a:t>趟起泡，</a:t>
            </a:r>
            <a:r>
              <a:rPr kumimoji="1" lang="zh-CN" altLang="en-US" sz="2800" b="1" kern="0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每一次比较交换都移动</a:t>
            </a:r>
            <a:r>
              <a:rPr kumimoji="1" lang="en-US" altLang="zh-CN" sz="2800" b="1" kern="0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3</a:t>
            </a:r>
            <a:r>
              <a:rPr kumimoji="1" lang="zh-CN" altLang="en-US" sz="2800" b="1" kern="0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次</a:t>
            </a:r>
            <a:endParaRPr kumimoji="1" lang="zh-CN" altLang="en-US" sz="2800" b="1" kern="0" dirty="0">
              <a:solidFill>
                <a:srgbClr val="FF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Text Box 1030"/>
          <p:cNvSpPr txBox="1">
            <a:spLocks noChangeArrowheads="1"/>
          </p:cNvSpPr>
          <p:nvPr/>
        </p:nvSpPr>
        <p:spPr bwMode="auto">
          <a:xfrm>
            <a:off x="2133600" y="5009209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“</a:t>
            </a:r>
            <a:r>
              <a:rPr kumimoji="1" lang="zh-CN" altLang="en-US" sz="2800" b="1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比较”的次数：</a:t>
            </a:r>
            <a:endParaRPr kumimoji="1" lang="zh-CN" altLang="en-US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Text Box 1032"/>
          <p:cNvSpPr txBox="1">
            <a:spLocks noChangeArrowheads="1"/>
          </p:cNvSpPr>
          <p:nvPr/>
        </p:nvSpPr>
        <p:spPr bwMode="auto">
          <a:xfrm>
            <a:off x="7543800" y="3096929"/>
            <a:ext cx="36420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0</a:t>
            </a:r>
            <a:endParaRPr kumimoji="1" lang="en-US" altLang="zh-CN" sz="2800" b="1" dirty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Rectangle 1035"/>
          <p:cNvSpPr>
            <a:spLocks noChangeArrowheads="1"/>
          </p:cNvSpPr>
          <p:nvPr/>
        </p:nvSpPr>
        <p:spPr bwMode="auto">
          <a:xfrm>
            <a:off x="6400800" y="2506406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“</a:t>
            </a:r>
            <a:r>
              <a:rPr kumimoji="1" lang="zh-CN" altLang="en-US" sz="2800" b="1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移动”的次数：</a:t>
            </a:r>
            <a:endParaRPr kumimoji="1" lang="zh-CN" altLang="en-US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Rectangle 1036"/>
          <p:cNvSpPr>
            <a:spLocks noChangeArrowheads="1"/>
          </p:cNvSpPr>
          <p:nvPr/>
        </p:nvSpPr>
        <p:spPr bwMode="auto">
          <a:xfrm>
            <a:off x="6400800" y="5009209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“</a:t>
            </a:r>
            <a:r>
              <a:rPr kumimoji="1" lang="zh-CN" altLang="en-US" sz="2800" b="1">
                <a:solidFill>
                  <a:srgbClr val="005042"/>
                </a:solidFill>
                <a:latin typeface="Times New Roman" panose="02020503050405090304" pitchFamily="18" charset="0"/>
                <a:ea typeface="隶书" pitchFamily="49" charset="-122"/>
              </a:rPr>
              <a:t>移动”的次数：</a:t>
            </a:r>
            <a:endParaRPr kumimoji="1" lang="zh-CN" altLang="en-US" sz="2800" b="1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Text Box 1037"/>
          <p:cNvSpPr txBox="1">
            <a:spLocks noChangeArrowheads="1"/>
          </p:cNvSpPr>
          <p:nvPr/>
        </p:nvSpPr>
        <p:spPr bwMode="auto">
          <a:xfrm>
            <a:off x="3200401" y="3081054"/>
            <a:ext cx="68480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n-1</a:t>
            </a:r>
            <a:endParaRPr kumimoji="1" lang="en-US" altLang="zh-CN" sz="2800" b="1">
              <a:solidFill>
                <a:srgbClr val="FF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24" name="Object 1024"/>
          <p:cNvGraphicFramePr>
            <a:graphicFrameLocks noChangeAspect="1"/>
          </p:cNvGraphicFramePr>
          <p:nvPr/>
        </p:nvGraphicFramePr>
        <p:xfrm>
          <a:off x="2438400" y="5303837"/>
          <a:ext cx="30480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" imgW="16739870" imgH="5987415" progId="Equation.3">
                  <p:embed/>
                </p:oleObj>
              </mc:Choice>
              <mc:Fallback>
                <p:oleObj name="公式" r:id="rId1" imgW="16739870" imgH="5987415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303837"/>
                        <a:ext cx="30480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25"/>
          <p:cNvGraphicFramePr>
            <a:graphicFrameLocks noChangeAspect="1"/>
          </p:cNvGraphicFramePr>
          <p:nvPr/>
        </p:nvGraphicFramePr>
        <p:xfrm>
          <a:off x="6553200" y="5303838"/>
          <a:ext cx="34290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3" imgW="18679160" imgH="5987415" progId="Equation.3">
                  <p:embed/>
                </p:oleObj>
              </mc:Choice>
              <mc:Fallback>
                <p:oleObj name="公式" r:id="rId3" imgW="18679160" imgH="5987415" progId="Equation.3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303838"/>
                        <a:ext cx="34290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1919288" y="834067"/>
            <a:ext cx="2462200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17" grpId="0" autoUpdateAnimBg="0"/>
      <p:bldP spid="18" grpId="0" animBg="1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15.3.1 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起泡排序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E04A7-2468-492B-B5B5-869F2675BCC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1219200" y="1222492"/>
            <a:ext cx="7127875" cy="439889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(1)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稳定性</a:t>
            </a:r>
            <a:endParaRPr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起泡排序是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稳定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的排序方法。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时间复杂性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最好情况：比较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最坏情况：比较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lang="en-US" altLang="zh-CN" sz="2800" b="1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),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lang="en-US" altLang="zh-CN" sz="2800" b="1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)</a:t>
            </a:r>
            <a:endParaRPr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平均情况：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lang="en-US" altLang="zh-CN" sz="2800" b="1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)</a:t>
            </a:r>
            <a:endParaRPr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(3)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空间复杂性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919288" y="785770"/>
            <a:ext cx="2462200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交换排序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15.4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选择排序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195-AF89-4C51-9DA5-B9B35E06C97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15.1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AEFEC-5C08-4181-942C-ECA192ACB37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413002" y="2528232"/>
            <a:ext cx="7397775" cy="319472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　从记录的无序子序列中“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选择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”关键字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最小或最大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的记录，并将它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加入到有序子序列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中，以此方法增加记录的有序子序列的长度。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03388" y="9144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Text Box 1026"/>
          <p:cNvSpPr txBox="1">
            <a:spLocks noChangeArrowheads="1"/>
          </p:cNvSpPr>
          <p:nvPr/>
        </p:nvSpPr>
        <p:spPr bwMode="auto">
          <a:xfrm>
            <a:off x="2316164" y="1522404"/>
            <a:ext cx="224131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3. 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选择类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15.4 </a:t>
            </a:r>
            <a:r>
              <a:rPr lang="zh-CN" altLang="en-US" b="1" dirty="0"/>
              <a:t>选择排序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15.4.1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简单选择排序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1326-D6A2-4D69-8446-D1133AB9529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15.4.1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CDA83-4917-4765-863D-34CF40BB844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1919289" y="936626"/>
            <a:ext cx="65373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基本思想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540042" y="1744318"/>
            <a:ext cx="8823158" cy="3046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        (1)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第一次从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n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个关键字中选择一个最小值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,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确定第一个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32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        (2)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第二次再从剩余元素中选择一个最小值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,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确定第二个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32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        (3)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共需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n-1</a:t>
            </a:r>
            <a:r>
              <a:rPr kumimoji="1" lang="zh-CN" altLang="en-US" sz="32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次选择。</a:t>
            </a:r>
            <a:endParaRPr kumimoji="1" lang="zh-CN" altLang="en-US" sz="32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15.4.1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B21B-8D88-41CE-A535-E75D9A51892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001839" y="838201"/>
            <a:ext cx="41036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操作过程    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2074864" y="1558926"/>
            <a:ext cx="8135937" cy="440120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设需要排序的表是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A[n+1]: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第一趟排序是在无序区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A[1]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到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A[n]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中选出最小的记录，将它与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A[1]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交换，确定最小值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第二趟排序是在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A[2]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到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A[n]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中选关键字最小的记录，将它与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A[2]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交换，确定次小值；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第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503050405090304" pitchFamily="18" charset="0"/>
              </a:rPr>
              <a:t>i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趟排序是在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到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A[n]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中选关键字最小的记录，将它与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A[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]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交换；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(4)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共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n-1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趟排序。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15.4.1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1C12-EB50-4D02-91FD-9FA0056298D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001839" y="838201"/>
            <a:ext cx="41036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操作过程    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76662" y="1424911"/>
            <a:ext cx="8458201" cy="483209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简单选择排序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与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起泡排序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的区别在：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起泡排序每次比较后 ，如果发现顺序不对立即进行交换，而选择排序不立即进行交换而是找出最小关键字记录后再进行交换。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和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直接插入排序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的区别：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直接插入排序是从无序区随意选择一个，插入有序区相应位置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503050405090304" pitchFamily="18" charset="0"/>
              </a:rPr>
              <a:t>简单选择排序是从无序区中选择最小（大），直接放入有序区最小或最大位置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15.4.1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B65B-765E-4515-8717-6787D90783D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676400" y="1425350"/>
            <a:ext cx="10922710" cy="526297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void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SelectSort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*L)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i,j,low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for(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=1;i&lt;L-&gt;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length;i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{low=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for(j=i+1;j&lt;=L-&gt;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length;j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</a:rPr>
              <a:t>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if(L-&gt;r[j].key&lt;L-&gt;r[low].key)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low=j;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if(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!=low)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{L-&gt;r[0]=L-&gt;r[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];L-&gt;r[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]=L-&gt;r[low];L-&gt;r[low]=L-&gt;r[0];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}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919288" y="914401"/>
            <a:ext cx="24495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算  法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1239" y="2133600"/>
            <a:ext cx="39917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时间复杂度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2800" b="1" i="1" dirty="0">
                <a:latin typeface="Times New Roman" panose="02020503050405090304" pitchFamily="18" charset="0"/>
                <a:ea typeface="楷体_GB2312" pitchFamily="49" charset="-122"/>
              </a:rPr>
              <a:t>O</a:t>
            </a:r>
            <a:r>
              <a:rPr lang="en-US" altLang="zh-CN" sz="2800" b="1" dirty="0">
                <a:latin typeface="Times New Roman" panose="0202050305040509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latin typeface="Times New Roman" panose="0202050305040509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30000" dirty="0">
                <a:latin typeface="Times New Roman" panose="0202050305040509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Times New Roman" panose="0202050305040509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15.4.1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4C2E-BBBA-4D80-8166-6A8CDBBE362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19289" y="954088"/>
            <a:ext cx="640873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032000" y="1568228"/>
            <a:ext cx="8331200" cy="429040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稳定性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lv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简单选择排序方法是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不稳定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的。例（</a:t>
            </a:r>
            <a:r>
              <a:rPr kumimoji="1" lang="en-US" altLang="zh-CN" sz="2800" b="1" dirty="0">
                <a:latin typeface="Helvetica" pitchFamily="34" charset="0"/>
                <a:sym typeface="Wingdings" panose="05000000000000000000" pitchFamily="2" charset="2"/>
              </a:rPr>
              <a:t>2,2’,1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）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50305040509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),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移动最好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O(1),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最差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空间复杂度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为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O(1)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。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交换排序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15.5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归并排序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</a:rPr>
              <a:t>*</a:t>
            </a:r>
            <a:endParaRPr kumimoji="1" lang="zh-CN" altLang="en-US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15.6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宋体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F915-E5C5-4D18-B586-670D9C77A1E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（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选讲</a:t>
            </a: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）</a:t>
            </a:r>
            <a:endParaRPr kumimoji="1" lang="en-US" altLang="zh-CN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682B-8DCA-4D21-9C58-7672747D24C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286000" y="2359034"/>
            <a:ext cx="6953272" cy="265430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　通过“</a:t>
            </a: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归并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”两个或两个以上的记录有序子序列，</a:t>
            </a: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逐步增加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记录</a:t>
            </a: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有序序列的长度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。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03388" y="990601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" name="Text Box 1026"/>
          <p:cNvSpPr txBox="1">
            <a:spLocks noChangeArrowheads="1"/>
          </p:cNvSpPr>
          <p:nvPr/>
        </p:nvSpPr>
        <p:spPr bwMode="auto">
          <a:xfrm>
            <a:off x="2316164" y="1512872"/>
            <a:ext cx="211307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4.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503050405090304" pitchFamily="18" charset="0"/>
                <a:ea typeface="楷体_GB2312" pitchFamily="49" charset="-122"/>
              </a:rPr>
              <a:t>归并类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7A4-8767-4A71-9124-03F90DADF93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930400" y="949326"/>
            <a:ext cx="66865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归并的定义    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133600" y="1869454"/>
            <a:ext cx="7777162" cy="3862596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归并</a:t>
            </a:r>
            <a:r>
              <a:rPr kumimoji="1" lang="zh-CN" altLang="en-US" sz="2800" b="1" dirty="0">
                <a:solidFill>
                  <a:srgbClr val="0707F9"/>
                </a:solidFill>
                <a:latin typeface="Times New Roman" panose="02020503050405090304" pitchFamily="18" charset="0"/>
              </a:rPr>
              <a:t>又叫合并，两个或两个以上的有序序列合并成一个有序序列。   </a:t>
            </a:r>
            <a:endParaRPr kumimoji="1" lang="en-US" altLang="zh-CN" sz="2800" b="1" dirty="0">
              <a:solidFill>
                <a:srgbClr val="0707F9"/>
              </a:solidFill>
              <a:latin typeface="Times New Roman" panose="02020503050405090304" pitchFamily="18" charset="0"/>
            </a:endParaRP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endParaRPr kumimoji="1" lang="en-US" altLang="zh-CN" sz="4000" b="1" dirty="0">
              <a:solidFill>
                <a:srgbClr val="0707F9"/>
              </a:solidFill>
              <a:latin typeface="Times New Roman" panose="02020503050405090304" pitchFamily="18" charset="0"/>
            </a:endParaRPr>
          </a:p>
          <a:p>
            <a:pPr marL="0" lvl="1" fontAlgn="base">
              <a:spcBef>
                <a:spcPct val="25000"/>
              </a:spcBef>
              <a:spcAft>
                <a:spcPct val="0"/>
              </a:spcAft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归并排序的主要操作是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归并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，其主要思想是：将若干有序序列逐步归并，最终得到一个有序序列。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endParaRPr kumimoji="1" lang="zh-CN" altLang="en-US" sz="2800" b="1" dirty="0">
              <a:solidFill>
                <a:srgbClr val="0707F9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BA36C-B745-40C0-9DF2-40358AEEAEA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Group 3"/>
          <p:cNvGraphicFramePr>
            <a:graphicFrameLocks noGrp="1"/>
          </p:cNvGraphicFramePr>
          <p:nvPr/>
        </p:nvGraphicFramePr>
        <p:xfrm>
          <a:off x="2422526" y="2076451"/>
          <a:ext cx="7777163" cy="519113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62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72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2351089" y="1562100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7537451" y="1587500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m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9553576" y="1587500"/>
            <a:ext cx="5746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19" name="Group 90"/>
          <p:cNvGraphicFramePr>
            <a:graphicFrameLocks noGrp="1"/>
          </p:cNvGraphicFramePr>
          <p:nvPr/>
        </p:nvGraphicFramePr>
        <p:xfrm>
          <a:off x="2495551" y="5173662"/>
          <a:ext cx="7777163" cy="459360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3762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Text Box 58"/>
          <p:cNvSpPr txBox="1">
            <a:spLocks noChangeArrowheads="1"/>
          </p:cNvSpPr>
          <p:nvPr/>
        </p:nvSpPr>
        <p:spPr bwMode="auto">
          <a:xfrm>
            <a:off x="2424114" y="4586288"/>
            <a:ext cx="7905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Text Box 59"/>
          <p:cNvSpPr txBox="1">
            <a:spLocks noChangeArrowheads="1"/>
          </p:cNvSpPr>
          <p:nvPr/>
        </p:nvSpPr>
        <p:spPr bwMode="auto">
          <a:xfrm>
            <a:off x="9553576" y="4586288"/>
            <a:ext cx="4302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Text Box 60"/>
          <p:cNvSpPr txBox="1">
            <a:spLocks noChangeArrowheads="1"/>
          </p:cNvSpPr>
          <p:nvPr/>
        </p:nvSpPr>
        <p:spPr bwMode="auto">
          <a:xfrm>
            <a:off x="1549401" y="1993900"/>
            <a:ext cx="8747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SR[]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Text Box 61"/>
          <p:cNvSpPr txBox="1">
            <a:spLocks noChangeArrowheads="1"/>
          </p:cNvSpPr>
          <p:nvPr/>
        </p:nvSpPr>
        <p:spPr bwMode="auto">
          <a:xfrm>
            <a:off x="1558925" y="5162551"/>
            <a:ext cx="8651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TR[]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Text Box 62"/>
          <p:cNvSpPr txBox="1">
            <a:spLocks noChangeArrowheads="1"/>
          </p:cNvSpPr>
          <p:nvPr/>
        </p:nvSpPr>
        <p:spPr bwMode="auto">
          <a:xfrm>
            <a:off x="2555875" y="2714626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Text Box 63"/>
          <p:cNvSpPr txBox="1">
            <a:spLocks noChangeArrowheads="1"/>
          </p:cNvSpPr>
          <p:nvPr/>
        </p:nvSpPr>
        <p:spPr bwMode="auto">
          <a:xfrm>
            <a:off x="8174039" y="2668588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Text Box 64"/>
          <p:cNvSpPr txBox="1">
            <a:spLocks noChangeArrowheads="1"/>
          </p:cNvSpPr>
          <p:nvPr/>
        </p:nvSpPr>
        <p:spPr bwMode="auto">
          <a:xfrm>
            <a:off x="2495551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08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3205164" y="2714626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8821739" y="2668588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Text Box 67"/>
          <p:cNvSpPr txBox="1">
            <a:spLocks noChangeArrowheads="1"/>
          </p:cNvSpPr>
          <p:nvPr/>
        </p:nvSpPr>
        <p:spPr bwMode="auto">
          <a:xfrm>
            <a:off x="3216276" y="5164138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16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0" name="Text Box 68"/>
          <p:cNvSpPr txBox="1">
            <a:spLocks noChangeArrowheads="1"/>
          </p:cNvSpPr>
          <p:nvPr/>
        </p:nvSpPr>
        <p:spPr bwMode="auto">
          <a:xfrm>
            <a:off x="4006851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21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1" name="Text Box 69"/>
          <p:cNvSpPr txBox="1">
            <a:spLocks noChangeArrowheads="1"/>
          </p:cNvSpPr>
          <p:nvPr/>
        </p:nvSpPr>
        <p:spPr bwMode="auto">
          <a:xfrm>
            <a:off x="4727576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22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2" name="Text Box 70"/>
          <p:cNvSpPr txBox="1">
            <a:spLocks noChangeArrowheads="1"/>
          </p:cNvSpPr>
          <p:nvPr/>
        </p:nvSpPr>
        <p:spPr bwMode="auto">
          <a:xfrm>
            <a:off x="5375276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23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6096001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25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4" name="Text Box 72"/>
          <p:cNvSpPr txBox="1">
            <a:spLocks noChangeArrowheads="1"/>
          </p:cNvSpPr>
          <p:nvPr/>
        </p:nvSpPr>
        <p:spPr bwMode="auto">
          <a:xfrm>
            <a:off x="6815138" y="5162551"/>
            <a:ext cx="576262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u="sng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25</a:t>
            </a:r>
            <a:endParaRPr kumimoji="1" lang="en-US" altLang="zh-CN" sz="2800" b="1" u="sng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5" name="Text Box 73"/>
          <p:cNvSpPr txBox="1">
            <a:spLocks noChangeArrowheads="1"/>
          </p:cNvSpPr>
          <p:nvPr/>
        </p:nvSpPr>
        <p:spPr bwMode="auto">
          <a:xfrm>
            <a:off x="7535863" y="5162551"/>
            <a:ext cx="576262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49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6" name="Text Box 74"/>
          <p:cNvSpPr txBox="1">
            <a:spLocks noChangeArrowheads="1"/>
          </p:cNvSpPr>
          <p:nvPr/>
        </p:nvSpPr>
        <p:spPr bwMode="auto">
          <a:xfrm>
            <a:off x="8183563" y="5162551"/>
            <a:ext cx="576262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62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7" name="Text Box 75"/>
          <p:cNvSpPr txBox="1">
            <a:spLocks noChangeArrowheads="1"/>
          </p:cNvSpPr>
          <p:nvPr/>
        </p:nvSpPr>
        <p:spPr bwMode="auto">
          <a:xfrm>
            <a:off x="8975726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72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8" name="Text Box 76"/>
          <p:cNvSpPr txBox="1">
            <a:spLocks noChangeArrowheads="1"/>
          </p:cNvSpPr>
          <p:nvPr/>
        </p:nvSpPr>
        <p:spPr bwMode="auto">
          <a:xfrm>
            <a:off x="9623426" y="5162551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93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9" name="Text Box 77"/>
          <p:cNvSpPr txBox="1">
            <a:spLocks noChangeArrowheads="1"/>
          </p:cNvSpPr>
          <p:nvPr/>
        </p:nvSpPr>
        <p:spPr bwMode="auto">
          <a:xfrm>
            <a:off x="9613900" y="2668588"/>
            <a:ext cx="36988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0" name="Text Box 78"/>
          <p:cNvSpPr txBox="1">
            <a:spLocks noChangeArrowheads="1"/>
          </p:cNvSpPr>
          <p:nvPr/>
        </p:nvSpPr>
        <p:spPr bwMode="auto">
          <a:xfrm>
            <a:off x="2640014" y="5811838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1" name="Text Box 79"/>
          <p:cNvSpPr txBox="1">
            <a:spLocks noChangeArrowheads="1"/>
          </p:cNvSpPr>
          <p:nvPr/>
        </p:nvSpPr>
        <p:spPr bwMode="auto">
          <a:xfrm>
            <a:off x="3349625" y="5835651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2" name="Text Box 80"/>
          <p:cNvSpPr txBox="1">
            <a:spLocks noChangeArrowheads="1"/>
          </p:cNvSpPr>
          <p:nvPr/>
        </p:nvSpPr>
        <p:spPr bwMode="auto">
          <a:xfrm>
            <a:off x="4070350" y="5835651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3" name="Text Box 81"/>
          <p:cNvSpPr txBox="1">
            <a:spLocks noChangeArrowheads="1"/>
          </p:cNvSpPr>
          <p:nvPr/>
        </p:nvSpPr>
        <p:spPr bwMode="auto">
          <a:xfrm>
            <a:off x="3925889" y="2740026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4" name="Text Box 82"/>
          <p:cNvSpPr txBox="1">
            <a:spLocks noChangeArrowheads="1"/>
          </p:cNvSpPr>
          <p:nvPr/>
        </p:nvSpPr>
        <p:spPr bwMode="auto">
          <a:xfrm>
            <a:off x="4789489" y="5835651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5" name="Text Box 83"/>
          <p:cNvSpPr txBox="1">
            <a:spLocks noChangeArrowheads="1"/>
          </p:cNvSpPr>
          <p:nvPr/>
        </p:nvSpPr>
        <p:spPr bwMode="auto">
          <a:xfrm>
            <a:off x="5438775" y="5835651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6" name="Text Box 84"/>
          <p:cNvSpPr txBox="1">
            <a:spLocks noChangeArrowheads="1"/>
          </p:cNvSpPr>
          <p:nvPr/>
        </p:nvSpPr>
        <p:spPr bwMode="auto">
          <a:xfrm>
            <a:off x="2208213" y="3290887"/>
            <a:ext cx="8280400" cy="1244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for (j=m+1, k=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; 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&lt;=m &amp;&amp; j&lt;=n;  ++k) { 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if (SR[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].key &lt;= SR[j].key)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 TR[k] = SR[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++]; else TR[k] = SR[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503050405090304" pitchFamily="18" charset="0"/>
              </a:rPr>
              <a:t>j++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]; } 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47" name="Text Box 85"/>
          <p:cNvSpPr txBox="1">
            <a:spLocks noChangeArrowheads="1"/>
          </p:cNvSpPr>
          <p:nvPr/>
        </p:nvSpPr>
        <p:spPr bwMode="auto">
          <a:xfrm>
            <a:off x="10263189" y="2643188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8" name="Text Box 89"/>
          <p:cNvSpPr txBox="1">
            <a:spLocks noChangeArrowheads="1"/>
          </p:cNvSpPr>
          <p:nvPr/>
        </p:nvSpPr>
        <p:spPr bwMode="auto">
          <a:xfrm>
            <a:off x="1919288" y="914400"/>
            <a:ext cx="309721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归并示例演示    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4" grpId="0"/>
      <p:bldP spid="24" grpId="1"/>
      <p:bldP spid="25" grpId="0"/>
      <p:bldP spid="25" grpId="1"/>
      <p:bldP spid="26" grpId="0"/>
      <p:bldP spid="27" grpId="0"/>
      <p:bldP spid="27" grpId="1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4" grpId="0"/>
      <p:bldP spid="44" grpId="1"/>
      <p:bldP spid="45" grpId="0"/>
      <p:bldP spid="4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939D-09E0-4ABA-A508-CA940374ED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2"/>
          <p:cNvGraphicFramePr>
            <a:graphicFrameLocks noGrp="1"/>
          </p:cNvGraphicFramePr>
          <p:nvPr/>
        </p:nvGraphicFramePr>
        <p:xfrm>
          <a:off x="2422526" y="2046289"/>
          <a:ext cx="7777163" cy="519113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62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72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2351089" y="1531938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7537451" y="1557338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m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9553576" y="1557338"/>
            <a:ext cx="5746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Group 31"/>
          <p:cNvGraphicFramePr>
            <a:graphicFrameLocks noGrp="1"/>
          </p:cNvGraphicFramePr>
          <p:nvPr/>
        </p:nvGraphicFramePr>
        <p:xfrm>
          <a:off x="2495551" y="5143500"/>
          <a:ext cx="7777163" cy="459360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3762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Text Box 57"/>
          <p:cNvSpPr txBox="1">
            <a:spLocks noChangeArrowheads="1"/>
          </p:cNvSpPr>
          <p:nvPr/>
        </p:nvSpPr>
        <p:spPr bwMode="auto">
          <a:xfrm>
            <a:off x="2424114" y="4556126"/>
            <a:ext cx="7905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19" name="Text Box 58"/>
          <p:cNvSpPr txBox="1">
            <a:spLocks noChangeArrowheads="1"/>
          </p:cNvSpPr>
          <p:nvPr/>
        </p:nvSpPr>
        <p:spPr bwMode="auto">
          <a:xfrm>
            <a:off x="9553576" y="4556126"/>
            <a:ext cx="4302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Text Box 59"/>
          <p:cNvSpPr txBox="1">
            <a:spLocks noChangeArrowheads="1"/>
          </p:cNvSpPr>
          <p:nvPr/>
        </p:nvSpPr>
        <p:spPr bwMode="auto">
          <a:xfrm>
            <a:off x="1549401" y="1963738"/>
            <a:ext cx="8747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SR[]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Text Box 60"/>
          <p:cNvSpPr txBox="1">
            <a:spLocks noChangeArrowheads="1"/>
          </p:cNvSpPr>
          <p:nvPr/>
        </p:nvSpPr>
        <p:spPr bwMode="auto">
          <a:xfrm>
            <a:off x="1558925" y="5132389"/>
            <a:ext cx="8651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TR[]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Text Box 61"/>
          <p:cNvSpPr txBox="1">
            <a:spLocks noChangeArrowheads="1"/>
          </p:cNvSpPr>
          <p:nvPr/>
        </p:nvSpPr>
        <p:spPr bwMode="auto">
          <a:xfrm>
            <a:off x="2555875" y="2684464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Text Box 62"/>
          <p:cNvSpPr txBox="1">
            <a:spLocks noChangeArrowheads="1"/>
          </p:cNvSpPr>
          <p:nvPr/>
        </p:nvSpPr>
        <p:spPr bwMode="auto">
          <a:xfrm>
            <a:off x="8174039" y="2638426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Text Box 63"/>
          <p:cNvSpPr txBox="1">
            <a:spLocks noChangeArrowheads="1"/>
          </p:cNvSpPr>
          <p:nvPr/>
        </p:nvSpPr>
        <p:spPr bwMode="auto">
          <a:xfrm>
            <a:off x="2495551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08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Text Box 64"/>
          <p:cNvSpPr txBox="1">
            <a:spLocks noChangeArrowheads="1"/>
          </p:cNvSpPr>
          <p:nvPr/>
        </p:nvSpPr>
        <p:spPr bwMode="auto">
          <a:xfrm>
            <a:off x="3205164" y="2684464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Text Box 65"/>
          <p:cNvSpPr txBox="1">
            <a:spLocks noChangeArrowheads="1"/>
          </p:cNvSpPr>
          <p:nvPr/>
        </p:nvSpPr>
        <p:spPr bwMode="auto">
          <a:xfrm>
            <a:off x="8821739" y="2638426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Text Box 66"/>
          <p:cNvSpPr txBox="1">
            <a:spLocks noChangeArrowheads="1"/>
          </p:cNvSpPr>
          <p:nvPr/>
        </p:nvSpPr>
        <p:spPr bwMode="auto">
          <a:xfrm>
            <a:off x="3216276" y="5133976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16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Text Box 67"/>
          <p:cNvSpPr txBox="1">
            <a:spLocks noChangeArrowheads="1"/>
          </p:cNvSpPr>
          <p:nvPr/>
        </p:nvSpPr>
        <p:spPr bwMode="auto">
          <a:xfrm>
            <a:off x="4006851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21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Text Box 68"/>
          <p:cNvSpPr txBox="1">
            <a:spLocks noChangeArrowheads="1"/>
          </p:cNvSpPr>
          <p:nvPr/>
        </p:nvSpPr>
        <p:spPr bwMode="auto">
          <a:xfrm>
            <a:off x="4727576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22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0" name="Text Box 69"/>
          <p:cNvSpPr txBox="1">
            <a:spLocks noChangeArrowheads="1"/>
          </p:cNvSpPr>
          <p:nvPr/>
        </p:nvSpPr>
        <p:spPr bwMode="auto">
          <a:xfrm>
            <a:off x="5375276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23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1" name="Text Box 70"/>
          <p:cNvSpPr txBox="1">
            <a:spLocks noChangeArrowheads="1"/>
          </p:cNvSpPr>
          <p:nvPr/>
        </p:nvSpPr>
        <p:spPr bwMode="auto">
          <a:xfrm>
            <a:off x="6096001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25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6815138" y="5132389"/>
            <a:ext cx="576262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u="sng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25</a:t>
            </a:r>
            <a:endParaRPr kumimoji="1" lang="en-US" altLang="zh-CN" sz="2800" b="1" u="sng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3" name="Text Box 72"/>
          <p:cNvSpPr txBox="1">
            <a:spLocks noChangeArrowheads="1"/>
          </p:cNvSpPr>
          <p:nvPr/>
        </p:nvSpPr>
        <p:spPr bwMode="auto">
          <a:xfrm>
            <a:off x="7535863" y="5132389"/>
            <a:ext cx="576262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49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4" name="Text Box 73"/>
          <p:cNvSpPr txBox="1">
            <a:spLocks noChangeArrowheads="1"/>
          </p:cNvSpPr>
          <p:nvPr/>
        </p:nvSpPr>
        <p:spPr bwMode="auto">
          <a:xfrm>
            <a:off x="8183563" y="5132389"/>
            <a:ext cx="576262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62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5" name="Text Box 74"/>
          <p:cNvSpPr txBox="1">
            <a:spLocks noChangeArrowheads="1"/>
          </p:cNvSpPr>
          <p:nvPr/>
        </p:nvSpPr>
        <p:spPr bwMode="auto">
          <a:xfrm>
            <a:off x="8975726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72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6" name="Text Box 75"/>
          <p:cNvSpPr txBox="1">
            <a:spLocks noChangeArrowheads="1"/>
          </p:cNvSpPr>
          <p:nvPr/>
        </p:nvSpPr>
        <p:spPr bwMode="auto">
          <a:xfrm>
            <a:off x="9623426" y="5132389"/>
            <a:ext cx="57626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ea typeface="楷体_GB2312" pitchFamily="49" charset="-122"/>
              </a:rPr>
              <a:t>93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7" name="Text Box 76"/>
          <p:cNvSpPr txBox="1">
            <a:spLocks noChangeArrowheads="1"/>
          </p:cNvSpPr>
          <p:nvPr/>
        </p:nvSpPr>
        <p:spPr bwMode="auto">
          <a:xfrm>
            <a:off x="9613900" y="2638426"/>
            <a:ext cx="36988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8" name="Text Box 77"/>
          <p:cNvSpPr txBox="1">
            <a:spLocks noChangeArrowheads="1"/>
          </p:cNvSpPr>
          <p:nvPr/>
        </p:nvSpPr>
        <p:spPr bwMode="auto">
          <a:xfrm>
            <a:off x="2640014" y="5781676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9" name="Text Box 78"/>
          <p:cNvSpPr txBox="1">
            <a:spLocks noChangeArrowheads="1"/>
          </p:cNvSpPr>
          <p:nvPr/>
        </p:nvSpPr>
        <p:spPr bwMode="auto">
          <a:xfrm>
            <a:off x="3349625" y="5805489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0" name="Text Box 79"/>
          <p:cNvSpPr txBox="1">
            <a:spLocks noChangeArrowheads="1"/>
          </p:cNvSpPr>
          <p:nvPr/>
        </p:nvSpPr>
        <p:spPr bwMode="auto">
          <a:xfrm>
            <a:off x="4070350" y="5805489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1" name="Text Box 80"/>
          <p:cNvSpPr txBox="1">
            <a:spLocks noChangeArrowheads="1"/>
          </p:cNvSpPr>
          <p:nvPr/>
        </p:nvSpPr>
        <p:spPr bwMode="auto">
          <a:xfrm>
            <a:off x="3925889" y="2709864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2" name="Text Box 81"/>
          <p:cNvSpPr txBox="1">
            <a:spLocks noChangeArrowheads="1"/>
          </p:cNvSpPr>
          <p:nvPr/>
        </p:nvSpPr>
        <p:spPr bwMode="auto">
          <a:xfrm>
            <a:off x="4789489" y="5805489"/>
            <a:ext cx="369887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3" name="Text Box 82"/>
          <p:cNvSpPr txBox="1">
            <a:spLocks noChangeArrowheads="1"/>
          </p:cNvSpPr>
          <p:nvPr/>
        </p:nvSpPr>
        <p:spPr bwMode="auto">
          <a:xfrm>
            <a:off x="5438775" y="5805489"/>
            <a:ext cx="36988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k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4" name="Text Box 84"/>
          <p:cNvSpPr txBox="1">
            <a:spLocks noChangeArrowheads="1"/>
          </p:cNvSpPr>
          <p:nvPr/>
        </p:nvSpPr>
        <p:spPr bwMode="auto">
          <a:xfrm>
            <a:off x="10263189" y="2613026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5" name="Text Box 86"/>
          <p:cNvSpPr txBox="1">
            <a:spLocks noChangeArrowheads="1"/>
          </p:cNvSpPr>
          <p:nvPr/>
        </p:nvSpPr>
        <p:spPr bwMode="auto">
          <a:xfrm>
            <a:off x="1919288" y="884238"/>
            <a:ext cx="309721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归并示例演示    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46" name="Text Box 87"/>
          <p:cNvSpPr txBox="1">
            <a:spLocks noChangeArrowheads="1"/>
          </p:cNvSpPr>
          <p:nvPr/>
        </p:nvSpPr>
        <p:spPr bwMode="auto">
          <a:xfrm>
            <a:off x="2387601" y="3116264"/>
            <a:ext cx="7453313" cy="1628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if (i&lt;=m)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while (k&lt;=n &amp;&amp; i&lt;=m) TR[k++]=SR[i++];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if (j&lt;=n) 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while (k&lt;=n &amp;&amp;j &lt;=n) TR[k++]=SR[j++];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B4DA-0067-4ED5-9B88-F82CF21B288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752600" y="1132851"/>
            <a:ext cx="9601200" cy="49288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void Merge (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RcdType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SR[],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RcdType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TR[],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int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int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m,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int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n)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{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int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j,k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for (j=m+1, k=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;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&lt;=m &amp;&amp; j&lt;=n;  ++k) {   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 if (SR[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].key&lt;=SR[j].key) TR[k] = SR[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++];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 else TR[k] = SR[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j++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}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if (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&lt;=m)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 while (k&lt;=n &amp;&amp;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&lt;=m) TR[k++]=SR[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++];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if (j&lt;=n) 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     while (k&lt;=n &amp;&amp;j &lt;=n) TR[k++]=SR[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j++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];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503050405090304" pitchFamily="18" charset="0"/>
                <a:ea typeface="楷体_GB2312" pitchFamily="49" charset="-122"/>
              </a:rPr>
              <a:t> } // Merge 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AF9B1-AF41-48E4-B841-908059031BD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132013" y="1504950"/>
            <a:ext cx="79248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给定排序码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25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57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48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37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12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92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86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，写出二路归并排序过程。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992314" y="928688"/>
            <a:ext cx="44418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2-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路归并排序方法示例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15" name="Group 5"/>
          <p:cNvGraphicFramePr>
            <a:graphicFrameLocks noGrp="1"/>
          </p:cNvGraphicFramePr>
          <p:nvPr/>
        </p:nvGraphicFramePr>
        <p:xfrm>
          <a:off x="3665539" y="2800351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3366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993366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66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3366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2483216" y="2770188"/>
            <a:ext cx="681895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A[]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17" name="Group 24"/>
          <p:cNvGraphicFramePr>
            <a:graphicFrameLocks noGrp="1"/>
          </p:cNvGraphicFramePr>
          <p:nvPr/>
        </p:nvGraphicFramePr>
        <p:xfrm>
          <a:off x="3646489" y="3794126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Text Box 42"/>
          <p:cNvSpPr txBox="1">
            <a:spLocks noChangeArrowheads="1"/>
          </p:cNvSpPr>
          <p:nvPr/>
        </p:nvSpPr>
        <p:spPr bwMode="auto">
          <a:xfrm>
            <a:off x="2421404" y="3763963"/>
            <a:ext cx="661056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B[]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9" name="AutoShape 43"/>
          <p:cNvSpPr/>
          <p:nvPr/>
        </p:nvSpPr>
        <p:spPr bwMode="auto">
          <a:xfrm rot="5400000">
            <a:off x="3918744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0" name="AutoShape 44"/>
          <p:cNvSpPr/>
          <p:nvPr/>
        </p:nvSpPr>
        <p:spPr bwMode="auto">
          <a:xfrm rot="5400000">
            <a:off x="4545807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1" name="AutoShape 45"/>
          <p:cNvSpPr/>
          <p:nvPr/>
        </p:nvSpPr>
        <p:spPr bwMode="auto">
          <a:xfrm rot="5400000">
            <a:off x="5266532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2" name="AutoShape 46"/>
          <p:cNvSpPr/>
          <p:nvPr/>
        </p:nvSpPr>
        <p:spPr bwMode="auto">
          <a:xfrm rot="5400000">
            <a:off x="5987257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3" name="AutoShape 47"/>
          <p:cNvSpPr/>
          <p:nvPr/>
        </p:nvSpPr>
        <p:spPr bwMode="auto">
          <a:xfrm rot="5400000">
            <a:off x="6727032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4" name="AutoShape 48"/>
          <p:cNvSpPr/>
          <p:nvPr/>
        </p:nvSpPr>
        <p:spPr bwMode="auto">
          <a:xfrm rot="5400000">
            <a:off x="7427119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5" name="AutoShape 49"/>
          <p:cNvSpPr/>
          <p:nvPr/>
        </p:nvSpPr>
        <p:spPr bwMode="auto">
          <a:xfrm rot="5400000">
            <a:off x="8146257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6" name="AutoShape 50"/>
          <p:cNvSpPr/>
          <p:nvPr/>
        </p:nvSpPr>
        <p:spPr bwMode="auto">
          <a:xfrm rot="5400000">
            <a:off x="4222751" y="3318661"/>
            <a:ext cx="215900" cy="620726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7" name="AutoShape 51"/>
          <p:cNvSpPr/>
          <p:nvPr/>
        </p:nvSpPr>
        <p:spPr bwMode="auto">
          <a:xfrm rot="5400000">
            <a:off x="5662613" y="3318661"/>
            <a:ext cx="215900" cy="620726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8" name="AutoShape 52"/>
          <p:cNvSpPr/>
          <p:nvPr/>
        </p:nvSpPr>
        <p:spPr bwMode="auto">
          <a:xfrm rot="5400000">
            <a:off x="7031038" y="3318661"/>
            <a:ext cx="215900" cy="620726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29" name="AutoShape 53"/>
          <p:cNvSpPr/>
          <p:nvPr/>
        </p:nvSpPr>
        <p:spPr bwMode="auto">
          <a:xfrm rot="5400000">
            <a:off x="8095457" y="3340894"/>
            <a:ext cx="195263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30" name="Group 54"/>
          <p:cNvGraphicFramePr>
            <a:graphicFrameLocks noGrp="1"/>
          </p:cNvGraphicFramePr>
          <p:nvPr/>
        </p:nvGraphicFramePr>
        <p:xfrm>
          <a:off x="3665539" y="4873626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Text Box 72"/>
          <p:cNvSpPr txBox="1">
            <a:spLocks noChangeArrowheads="1"/>
          </p:cNvSpPr>
          <p:nvPr/>
        </p:nvSpPr>
        <p:spPr bwMode="auto">
          <a:xfrm>
            <a:off x="2483216" y="4843463"/>
            <a:ext cx="681895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A[]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2" name="Text Box 73"/>
          <p:cNvSpPr txBox="1">
            <a:spLocks noChangeArrowheads="1"/>
          </p:cNvSpPr>
          <p:nvPr/>
        </p:nvSpPr>
        <p:spPr bwMode="auto">
          <a:xfrm>
            <a:off x="8832850" y="3783013"/>
            <a:ext cx="1150938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一趟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3" name="Text Box 74"/>
          <p:cNvSpPr txBox="1">
            <a:spLocks noChangeArrowheads="1"/>
          </p:cNvSpPr>
          <p:nvPr/>
        </p:nvSpPr>
        <p:spPr bwMode="auto">
          <a:xfrm>
            <a:off x="8831263" y="4864101"/>
            <a:ext cx="1079500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二趟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4" name="AutoShape 75"/>
          <p:cNvSpPr/>
          <p:nvPr/>
        </p:nvSpPr>
        <p:spPr bwMode="auto">
          <a:xfrm rot="5400000">
            <a:off x="4931568" y="3617905"/>
            <a:ext cx="238127" cy="2060588"/>
          </a:xfrm>
          <a:prstGeom prst="leftBrace">
            <a:avLst>
              <a:gd name="adj1" fmla="val 102880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35" name="AutoShape 76"/>
          <p:cNvSpPr/>
          <p:nvPr/>
        </p:nvSpPr>
        <p:spPr bwMode="auto">
          <a:xfrm rot="5400000">
            <a:off x="7491805" y="3865956"/>
            <a:ext cx="227014" cy="1553375"/>
          </a:xfrm>
          <a:prstGeom prst="leftBrace">
            <a:avLst>
              <a:gd name="adj1" fmla="val 83395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36" name="Group 77"/>
          <p:cNvGraphicFramePr>
            <a:graphicFrameLocks noGrp="1"/>
          </p:cNvGraphicFramePr>
          <p:nvPr/>
        </p:nvGraphicFramePr>
        <p:xfrm>
          <a:off x="3722689" y="5881688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" name="Text Box 95"/>
          <p:cNvSpPr txBox="1">
            <a:spLocks noChangeArrowheads="1"/>
          </p:cNvSpPr>
          <p:nvPr/>
        </p:nvSpPr>
        <p:spPr bwMode="auto">
          <a:xfrm>
            <a:off x="2492841" y="5851526"/>
            <a:ext cx="661056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B[]</a:t>
            </a:r>
            <a:endParaRPr kumimoji="1"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8" name="Text Box 96"/>
          <p:cNvSpPr txBox="1">
            <a:spLocks noChangeArrowheads="1"/>
          </p:cNvSpPr>
          <p:nvPr/>
        </p:nvSpPr>
        <p:spPr bwMode="auto">
          <a:xfrm>
            <a:off x="8832851" y="5870576"/>
            <a:ext cx="1077913" cy="52540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三趟</a:t>
            </a:r>
            <a:endParaRPr kumimoji="1" lang="zh-CN" altLang="en-US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9" name="AutoShape 97"/>
          <p:cNvSpPr/>
          <p:nvPr/>
        </p:nvSpPr>
        <p:spPr bwMode="auto">
          <a:xfrm rot="5400000">
            <a:off x="6085681" y="3615534"/>
            <a:ext cx="325437" cy="4114799"/>
          </a:xfrm>
          <a:prstGeom prst="leftBrace">
            <a:avLst>
              <a:gd name="adj1" fmla="val 142035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sp>
        <p:nvSpPr>
          <p:cNvPr id="40" name="Oval 99"/>
          <p:cNvSpPr>
            <a:spLocks noChangeArrowheads="1"/>
          </p:cNvSpPr>
          <p:nvPr/>
        </p:nvSpPr>
        <p:spPr bwMode="auto">
          <a:xfrm>
            <a:off x="1524000" y="1447800"/>
            <a:ext cx="1143001" cy="519112"/>
          </a:xfrm>
          <a:prstGeom prst="ellipse">
            <a:avLst/>
          </a:prstGeom>
          <a:gradFill rotWithShape="0">
            <a:gsLst>
              <a:gs pos="0">
                <a:srgbClr val="99FF99">
                  <a:gamma/>
                  <a:shade val="65882"/>
                  <a:invGamma/>
                </a:srgbClr>
              </a:gs>
              <a:gs pos="50000">
                <a:srgbClr val="99FF99"/>
              </a:gs>
              <a:gs pos="100000">
                <a:srgbClr val="99FF99">
                  <a:gamma/>
                  <a:shade val="65882"/>
                  <a:invGamma/>
                </a:srgbClr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例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/>
      <p:bldP spid="32" grpId="0"/>
      <p:bldP spid="33" grpId="0"/>
      <p:bldP spid="34" grpId="0" animBg="1"/>
      <p:bldP spid="35" grpId="0" animBg="1"/>
      <p:bldP spid="37" grpId="0"/>
      <p:bldP spid="38" grpId="0"/>
      <p:bldP spid="3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18DD-F08E-41D0-8307-9C2CF551985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279650" y="2033588"/>
            <a:ext cx="7632700" cy="36814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        (1)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将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个记录看成是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个长度为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的有序子表；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(2) 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将两两相邻的有序子表进行归并，若子表数为奇数，则留下的一个子表直接进入下一次归并；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 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(3)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重复步骤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，直到归并成一个长度为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50305040509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503050405090304" pitchFamily="18" charset="0"/>
              </a:rPr>
              <a:t>的有序表。 </a:t>
            </a:r>
            <a:endParaRPr kumimoji="1" lang="zh-CN" altLang="en-US" sz="2800" b="1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92314" y="952501"/>
            <a:ext cx="44418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2-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路归并排序方法思想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18DD-F08E-41D0-8307-9C2CF551985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81100" y="1522376"/>
            <a:ext cx="10401300" cy="476822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838200" lvl="1" indent="-381000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算法的基本思想</a:t>
            </a:r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1238250" lvl="2" indent="-381000"/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分解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：将当前待排序的序列</a:t>
            </a:r>
            <a:r>
              <a:rPr lang="en-US" altLang="zh-CN" sz="2800" b="1" dirty="0">
                <a:latin typeface="Times New Roman" panose="02020503050405090304" pitchFamily="18" charset="0"/>
                <a:ea typeface="楷体_GB2312" pitchFamily="49" charset="-122"/>
              </a:rPr>
              <a:t>A[low], …, A[high]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一分为二，即求分裂点 </a:t>
            </a:r>
            <a:r>
              <a:rPr lang="en-US" altLang="zh-CN" sz="2800" b="1" dirty="0">
                <a:latin typeface="Times New Roman" panose="02020503050405090304" pitchFamily="18" charset="0"/>
                <a:ea typeface="楷体_GB2312" pitchFamily="49" charset="-122"/>
              </a:rPr>
              <a:t>mid = ( low + high ) / 2 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；</a:t>
            </a:r>
            <a:endParaRPr lang="zh-CN" altLang="en-US" sz="2800" b="1" dirty="0">
              <a:latin typeface="Times New Roman" panose="02020503050405090304" pitchFamily="18" charset="0"/>
              <a:ea typeface="楷体_GB2312" pitchFamily="49" charset="-122"/>
            </a:endParaRPr>
          </a:p>
          <a:p>
            <a:pPr marL="1238250" lvl="2" indent="-381000"/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求解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递归地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对序列 </a:t>
            </a:r>
            <a:r>
              <a:rPr lang="en-US" altLang="zh-CN" sz="2800" b="1" dirty="0">
                <a:latin typeface="Times New Roman" panose="02020503050405090304" pitchFamily="18" charset="0"/>
                <a:ea typeface="楷体_GB2312" pitchFamily="49" charset="-122"/>
              </a:rPr>
              <a:t>A[low], …, A[mid]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和</a:t>
            </a:r>
            <a:r>
              <a:rPr lang="en-US" altLang="zh-CN" sz="2800" b="1" dirty="0">
                <a:latin typeface="Times New Roman" panose="02020503050405090304" pitchFamily="18" charset="0"/>
                <a:ea typeface="楷体_GB2312" pitchFamily="49" charset="-122"/>
              </a:rPr>
              <a:t>A[mid+1], …, A[high]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进行归并排序；</a:t>
            </a:r>
            <a:endParaRPr lang="zh-CN" altLang="en-US" sz="2800" b="1" dirty="0">
              <a:latin typeface="Times New Roman" panose="02020503050405090304" pitchFamily="18" charset="0"/>
              <a:ea typeface="楷体_GB2312" pitchFamily="49" charset="-122"/>
            </a:endParaRPr>
          </a:p>
          <a:p>
            <a:pPr marL="1238250" lvl="2" indent="-381000"/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组合</a:t>
            </a:r>
            <a:r>
              <a:rPr lang="zh-CN" altLang="en-US" sz="2800" b="1" dirty="0">
                <a:latin typeface="Times New Roman" panose="02020503050405090304" pitchFamily="18" charset="0"/>
                <a:ea typeface="楷体_GB2312" pitchFamily="49" charset="-122"/>
              </a:rPr>
              <a:t>：将两个已排序子序列归并为一个有序序列。</a:t>
            </a:r>
            <a:endParaRPr lang="zh-CN" altLang="en-US" sz="2800" b="1" dirty="0">
              <a:latin typeface="Times New Roman" panose="02020503050405090304" pitchFamily="18" charset="0"/>
              <a:ea typeface="楷体_GB2312" pitchFamily="49" charset="-122"/>
            </a:endParaRPr>
          </a:p>
          <a:p>
            <a:pPr marL="838200" lvl="1" indent="-381000"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递归的终止条件</a:t>
            </a:r>
            <a:endParaRPr lang="zh-CN" altLang="en-US" sz="2800" b="1" dirty="0"/>
          </a:p>
          <a:p>
            <a:pPr marL="1238250" lvl="2" indent="-381000">
              <a:lnSpc>
                <a:spcPct val="90000"/>
              </a:lnSpc>
            </a:pPr>
            <a:r>
              <a:rPr lang="zh-CN" altLang="en-US" sz="2800" b="1" dirty="0"/>
              <a:t>是子序列长度为 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</a:t>
            </a:r>
            <a:br>
              <a:rPr lang="zh-CN" altLang="en-US" sz="2800" b="1" dirty="0"/>
            </a:br>
            <a:r>
              <a:rPr lang="zh-CN" altLang="en-US" sz="2800" b="1" dirty="0"/>
              <a:t>因为一个记录自然有序。</a:t>
            </a:r>
            <a:endParaRPr lang="zh-CN" altLang="en-US" sz="2800" b="1" dirty="0"/>
          </a:p>
          <a:p>
            <a:pPr marL="838200" lvl="1" indent="-381000"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算法实现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92314" y="952501"/>
            <a:ext cx="6008686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2-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路归并排序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递归（分治算法）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15" name="Group 5"/>
          <p:cNvGraphicFramePr>
            <a:graphicFrameLocks noGrp="1"/>
          </p:cNvGraphicFramePr>
          <p:nvPr/>
        </p:nvGraphicFramePr>
        <p:xfrm>
          <a:off x="7612063" y="1035843"/>
          <a:ext cx="2827337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18DD-F08E-41D0-8307-9C2CF551985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524000" y="1503364"/>
            <a:ext cx="9867900" cy="455485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void 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MergeSort</a:t>
            </a:r>
            <a:r>
              <a:rPr lang="en-US" altLang="zh-CN" sz="2800" b="1" dirty="0">
                <a:latin typeface="Times New Roman" panose="02020503050405090304" pitchFamily="18" charset="0"/>
              </a:rPr>
              <a:t> ( LIST A , LIST B , </a:t>
            </a:r>
            <a:r>
              <a:rPr lang="en-US" altLang="zh-CN" sz="2800" b="1" dirty="0" err="1">
                <a:latin typeface="Times New Roman" panose="02020503050405090304" pitchFamily="18" charset="0"/>
              </a:rPr>
              <a:t>int</a:t>
            </a:r>
            <a:r>
              <a:rPr lang="en-US" altLang="zh-CN" sz="2800" b="1" dirty="0">
                <a:latin typeface="Times New Roman" panose="02020503050405090304" pitchFamily="18" charset="0"/>
              </a:rPr>
              <a:t> low , </a:t>
            </a:r>
            <a:r>
              <a:rPr lang="en-US" altLang="zh-CN" sz="2800" b="1" dirty="0" err="1">
                <a:latin typeface="Times New Roman" panose="02020503050405090304" pitchFamily="18" charset="0"/>
              </a:rPr>
              <a:t>int</a:t>
            </a:r>
            <a:r>
              <a:rPr lang="en-US" altLang="zh-CN" sz="2800" b="1" dirty="0">
                <a:latin typeface="Times New Roman" panose="02020503050405090304" pitchFamily="18" charset="0"/>
              </a:rPr>
              <a:t> high )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/* </a:t>
            </a:r>
            <a:r>
              <a:rPr lang="zh-CN" altLang="en-US" sz="2800" b="1" dirty="0">
                <a:latin typeface="Times New Roman" panose="02020503050405090304" pitchFamily="18" charset="0"/>
              </a:rPr>
              <a:t>用分治法对</a:t>
            </a:r>
            <a:r>
              <a:rPr lang="en-US" altLang="zh-CN" sz="2800" b="1" dirty="0">
                <a:latin typeface="Times New Roman" panose="02020503050405090304" pitchFamily="18" charset="0"/>
              </a:rPr>
              <a:t>A[low], …, A[high]</a:t>
            </a:r>
            <a:r>
              <a:rPr lang="zh-CN" altLang="en-US" sz="2800" b="1" dirty="0">
                <a:latin typeface="Times New Roman" panose="02020503050405090304" pitchFamily="18" charset="0"/>
              </a:rPr>
              <a:t>进行二路归并 *</a:t>
            </a:r>
            <a:r>
              <a:rPr lang="en-US" altLang="zh-CN" sz="2800" b="1" dirty="0">
                <a:latin typeface="Times New Roman" panose="02020503050405090304" pitchFamily="18" charset="0"/>
              </a:rPr>
              <a:t>/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{    </a:t>
            </a:r>
            <a:r>
              <a:rPr lang="en-US" altLang="zh-CN" sz="2800" b="1" dirty="0" err="1">
                <a:latin typeface="Times New Roman" panose="02020503050405090304" pitchFamily="18" charset="0"/>
              </a:rPr>
              <a:t>int</a:t>
            </a:r>
            <a:r>
              <a:rPr lang="en-US" altLang="zh-CN" sz="2800" b="1" dirty="0">
                <a:latin typeface="Times New Roman" panose="02020503050405090304" pitchFamily="18" charset="0"/>
              </a:rPr>
              <a:t> mid = (</a:t>
            </a:r>
            <a:r>
              <a:rPr lang="en-US" altLang="zh-CN" sz="2800" b="1" dirty="0" err="1">
                <a:latin typeface="Times New Roman" panose="02020503050405090304" pitchFamily="18" charset="0"/>
              </a:rPr>
              <a:t>low+high</a:t>
            </a:r>
            <a:r>
              <a:rPr lang="en-US" altLang="zh-CN" sz="2800" b="1" dirty="0">
                <a:latin typeface="Times New Roman" panose="02020503050405090304" pitchFamily="18" charset="0"/>
              </a:rPr>
              <a:t>)/2 ; 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     if (low&lt;high){ /* </a:t>
            </a:r>
            <a:r>
              <a:rPr lang="zh-CN" altLang="en-US" sz="2800" b="1" dirty="0">
                <a:latin typeface="Times New Roman" panose="02020503050405090304" pitchFamily="18" charset="0"/>
              </a:rPr>
              <a:t>区间长度大于 </a:t>
            </a:r>
            <a:r>
              <a:rPr lang="en-US" altLang="zh-CN" sz="2800" b="1" dirty="0">
                <a:latin typeface="Times New Roman" panose="02020503050405090304" pitchFamily="18" charset="0"/>
              </a:rPr>
              <a:t>1 </a:t>
            </a:r>
            <a:r>
              <a:rPr lang="zh-CN" altLang="en-US" sz="2800" b="1" dirty="0">
                <a:latin typeface="Times New Roman" panose="02020503050405090304" pitchFamily="18" charset="0"/>
              </a:rPr>
              <a:t>，</a:t>
            </a:r>
            <a:r>
              <a:rPr lang="en-US" altLang="zh-CN" sz="2800" b="1" dirty="0">
                <a:latin typeface="Times New Roman" panose="02020503050405090304" pitchFamily="18" charset="0"/>
              </a:rPr>
              <a:t>high-low&gt;0 */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          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MergeSort</a:t>
            </a:r>
            <a:r>
              <a:rPr lang="en-US" altLang="zh-CN" sz="2800" b="1" dirty="0">
                <a:latin typeface="Times New Roman" panose="02020503050405090304" pitchFamily="18" charset="0"/>
              </a:rPr>
              <a:t> (A , B , low , mid) ;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          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503050405090304" pitchFamily="18" charset="0"/>
              </a:rPr>
              <a:t>MergeSort</a:t>
            </a:r>
            <a:r>
              <a:rPr lang="en-US" altLang="zh-CN" sz="2800" b="1" dirty="0">
                <a:latin typeface="Times New Roman" panose="02020503050405090304" pitchFamily="18" charset="0"/>
              </a:rPr>
              <a:t> (A , B , mid+1 , high) ;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  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Merge</a:t>
            </a:r>
            <a:r>
              <a:rPr lang="en-US" altLang="zh-CN" sz="2800" b="1" dirty="0">
                <a:latin typeface="Times New Roman" panose="02020503050405090304" pitchFamily="18" charset="0"/>
              </a:rPr>
              <a:t> (</a:t>
            </a:r>
            <a:r>
              <a:rPr lang="en-US" altLang="zh-CN" sz="2800" b="1" dirty="0">
                <a:latin typeface="Times New Roman" panose="02020503050405090304" pitchFamily="18" charset="0"/>
                <a:sym typeface="+mn-ea"/>
              </a:rPr>
              <a:t>A , B，</a:t>
            </a:r>
            <a:r>
              <a:rPr lang="en-US" altLang="zh-CN" sz="2800" b="1" dirty="0">
                <a:latin typeface="Times New Roman" panose="02020503050405090304" pitchFamily="18" charset="0"/>
              </a:rPr>
              <a:t>low , mid , </a:t>
            </a:r>
            <a:r>
              <a:rPr lang="en-US" altLang="zh-CN" sz="2800" b="1" dirty="0" err="1">
                <a:latin typeface="Times New Roman" panose="02020503050405090304" pitchFamily="18" charset="0"/>
              </a:rPr>
              <a:t>hight</a:t>
            </a:r>
            <a:r>
              <a:rPr lang="en-US" altLang="zh-CN" sz="2800" b="1" dirty="0">
                <a:latin typeface="Times New Roman" panose="02020503050405090304" pitchFamily="18" charset="0"/>
              </a:rPr>
              <a:t> ) ;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     }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marL="381000" indent="-3810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}/* </a:t>
            </a:r>
            <a:r>
              <a:rPr lang="en-US" altLang="zh-CN" sz="2800" b="1" dirty="0" err="1">
                <a:latin typeface="Times New Roman" panose="02020503050405090304" pitchFamily="18" charset="0"/>
              </a:rPr>
              <a:t>MergeSort</a:t>
            </a:r>
            <a:r>
              <a:rPr lang="en-US" altLang="zh-CN" sz="2800" b="1" dirty="0">
                <a:latin typeface="Times New Roman" panose="02020503050405090304" pitchFamily="18" charset="0"/>
              </a:rPr>
              <a:t> */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92314" y="952501"/>
            <a:ext cx="44418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 2-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路归并排序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503050405090304" pitchFamily="18" charset="0"/>
              </a:rPr>
              <a:t>递归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15" name="Group 5"/>
          <p:cNvGraphicFramePr>
            <a:graphicFrameLocks noGrp="1"/>
          </p:cNvGraphicFramePr>
          <p:nvPr/>
        </p:nvGraphicFramePr>
        <p:xfrm>
          <a:off x="7612063" y="1035843"/>
          <a:ext cx="2827337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15.5  </a:t>
            </a:r>
            <a:r>
              <a:rPr kumimoji="1" lang="zh-CN" altLang="en-US" sz="3200" b="1" dirty="0">
                <a:latin typeface="Arial" panose="020B0604020202090204" pitchFamily="34" charset="0"/>
                <a:ea typeface="宋体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15-96B8-4EAC-A6D2-154259AF05B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81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774826" y="1971676"/>
            <a:ext cx="7777163" cy="3895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(1)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稳定性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归并排序是稳定的排序方法。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(2)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时间复杂度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每趟归并所花时间比较移动都是</a:t>
            </a:r>
            <a:r>
              <a:rPr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；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归并趟数为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log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503050405090304" pitchFamily="18" charset="0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n;</a:t>
            </a:r>
            <a:endParaRPr lang="en-US" altLang="zh-CN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时间复杂度为</a:t>
            </a:r>
            <a:r>
              <a:rPr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</a:t>
            </a:r>
            <a:r>
              <a:rPr lang="en-US" altLang="zh-CN" sz="3200" b="1" u="sng" dirty="0" err="1">
                <a:solidFill>
                  <a:srgbClr val="FF3300"/>
                </a:solidFill>
                <a:latin typeface="Times New Roman" panose="02020503050405090304" pitchFamily="18" charset="0"/>
              </a:rPr>
              <a:t>nlogn</a:t>
            </a:r>
            <a:r>
              <a:rPr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(3)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空间复杂度是</a:t>
            </a:r>
            <a:r>
              <a:rPr lang="en-US" altLang="zh-CN" sz="3200" b="1" u="sng" dirty="0">
                <a:solidFill>
                  <a:srgbClr val="FF3300"/>
                </a:solidFill>
                <a:latin typeface="Times New Roman" panose="02020503050405090304" pitchFamily="18" charset="0"/>
              </a:rPr>
              <a:t>O(n)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92313" y="1035051"/>
            <a:ext cx="52562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503050405090304" pitchFamily="18" charset="0"/>
              </a:rPr>
              <a:t> 2-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503050405090304" pitchFamily="18" charset="0"/>
              </a:rPr>
              <a:t>路归并排序算法分析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8642</Words>
  <Application>WPS 文字</Application>
  <PresentationFormat>宽屏</PresentationFormat>
  <Paragraphs>1202</Paragraphs>
  <Slides>55</Slides>
  <Notes>54</Notes>
  <HiddenSlides>0</HiddenSlides>
  <MMClips>0</MMClips>
  <ScaleCrop>false</ScaleCrop>
  <HeadingPairs>
    <vt:vector size="8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55</vt:i4>
      </vt:variant>
    </vt:vector>
  </HeadingPairs>
  <TitlesOfParts>
    <vt:vector size="100" baseType="lpstr">
      <vt:lpstr>Arial</vt:lpstr>
      <vt:lpstr>宋体</vt:lpstr>
      <vt:lpstr>Wingdings</vt:lpstr>
      <vt:lpstr>Times New Roman</vt:lpstr>
      <vt:lpstr>汉仪书宋二KW</vt:lpstr>
      <vt:lpstr>华文行楷</vt:lpstr>
      <vt:lpstr>行楷-简</vt:lpstr>
      <vt:lpstr>楷体_GB2312</vt:lpstr>
      <vt:lpstr>宋体</vt:lpstr>
      <vt:lpstr>Franklin Gothic Book</vt:lpstr>
      <vt:lpstr>苹方-简</vt:lpstr>
      <vt:lpstr>Wingdings 2</vt:lpstr>
      <vt:lpstr>黑体</vt:lpstr>
      <vt:lpstr>汉仪中黑KW</vt:lpstr>
      <vt:lpstr>Calibri</vt:lpstr>
      <vt:lpstr>Helvetica Neue</vt:lpstr>
      <vt:lpstr>等线</vt:lpstr>
      <vt:lpstr>Calibri</vt:lpstr>
      <vt:lpstr>隶书</vt:lpstr>
      <vt:lpstr>汉仪楷体简</vt:lpstr>
      <vt:lpstr>微软雅黑</vt:lpstr>
      <vt:lpstr>汉仪旗黑</vt:lpstr>
      <vt:lpstr>Arial Unicode MS</vt:lpstr>
      <vt:lpstr>Symbol</vt:lpstr>
      <vt:lpstr>Monotype Sorts</vt:lpstr>
      <vt:lpstr>Helvetica</vt:lpstr>
      <vt:lpstr>Constantia</vt:lpstr>
      <vt:lpstr>宋体</vt:lpstr>
      <vt:lpstr>汉仪中等线KW</vt:lpstr>
      <vt:lpstr>报隶-简</vt:lpstr>
      <vt:lpstr>Kingsoft Sign</vt:lpstr>
      <vt:lpstr>Thonburi</vt:lpstr>
      <vt:lpstr>Monotype Sorts</vt:lpstr>
      <vt:lpstr>Symbol</vt:lpstr>
      <vt:lpstr>Wingdings</vt:lpstr>
      <vt:lpstr>Wingdings 2</vt:lpstr>
      <vt:lpstr>华文行楷</vt:lpstr>
      <vt:lpstr>楷体_GB2312</vt:lpstr>
      <vt:lpstr>等线</vt:lpstr>
      <vt:lpstr>隶书</vt:lpstr>
      <vt:lpstr>黑体</vt:lpstr>
      <vt:lpstr>Office 主题​​</vt:lpstr>
      <vt:lpstr>Equation.3</vt:lpstr>
      <vt:lpstr>Equation.3</vt:lpstr>
      <vt:lpstr>Equation.3</vt:lpstr>
      <vt:lpstr>PowerPoint 演示文稿</vt:lpstr>
      <vt:lpstr>《程序设计思维与实践》课程内容结构</vt:lpstr>
      <vt:lpstr>PowerPoint 演示文稿</vt:lpstr>
      <vt:lpstr>15.1  概述</vt:lpstr>
      <vt:lpstr>15.1  概述</vt:lpstr>
      <vt:lpstr>15.1  概述</vt:lpstr>
      <vt:lpstr>15.1  概述</vt:lpstr>
      <vt:lpstr>15.1  概述</vt:lpstr>
      <vt:lpstr>15.1  概述</vt:lpstr>
      <vt:lpstr>15.1  概述</vt:lpstr>
      <vt:lpstr>PowerPoint 演示文稿</vt:lpstr>
      <vt:lpstr>15.2 插入排序</vt:lpstr>
      <vt:lpstr>15.2 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15.2.1 直接插入排序</vt:lpstr>
      <vt:lpstr>15.2.2 折半插入排序</vt:lpstr>
      <vt:lpstr>PowerPoint 演示文稿</vt:lpstr>
      <vt:lpstr>15.3  交换排序</vt:lpstr>
      <vt:lpstr>15.3  交换排序</vt:lpstr>
      <vt:lpstr>15.3.1   起泡排序</vt:lpstr>
      <vt:lpstr>15.3.1  起泡排序</vt:lpstr>
      <vt:lpstr>15.3.1   起泡排序</vt:lpstr>
      <vt:lpstr>15.3.1   起泡排序</vt:lpstr>
      <vt:lpstr>15.3.1   起泡排序</vt:lpstr>
      <vt:lpstr>15.3.1   起泡排序</vt:lpstr>
      <vt:lpstr>PowerPoint 演示文稿</vt:lpstr>
      <vt:lpstr>15.1  概述</vt:lpstr>
      <vt:lpstr>15.4 选择排序</vt:lpstr>
      <vt:lpstr>15.4.1 简单选择排序</vt:lpstr>
      <vt:lpstr>15.4.1 简单选择排序</vt:lpstr>
      <vt:lpstr>15.4.1 简单选择排序</vt:lpstr>
      <vt:lpstr>15.4.1 简单选择排序</vt:lpstr>
      <vt:lpstr>15.4.1 简单选择排序</vt:lpstr>
      <vt:lpstr>PowerPoint 演示文稿</vt:lpstr>
      <vt:lpstr>15.5 归并</vt:lpstr>
      <vt:lpstr>15.5  归并排序</vt:lpstr>
      <vt:lpstr>15.5  归并排序</vt:lpstr>
      <vt:lpstr>15.5  归并排序</vt:lpstr>
      <vt:lpstr>15.5  归并排序</vt:lpstr>
      <vt:lpstr>15.5  归并排序</vt:lpstr>
      <vt:lpstr>15.5  归并排序</vt:lpstr>
      <vt:lpstr>15.5  归并排序</vt:lpstr>
      <vt:lpstr>15.5  归并排序</vt:lpstr>
      <vt:lpstr>15.5  归并排序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Structures</dc:title>
  <dc:creator>Haijun ZHANG</dc:creator>
  <cp:lastModifiedBy>AAADX</cp:lastModifiedBy>
  <cp:revision>693</cp:revision>
  <dcterms:created xsi:type="dcterms:W3CDTF">2025-11-24T08:23:14Z</dcterms:created>
  <dcterms:modified xsi:type="dcterms:W3CDTF">2025-11-24T08:23:14Z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105BB9A7AFF8963AB26922695D3BF4F6_42</vt:lpwstr>
  </property>
  <property fmtid="{D5CDD505-2E9C-101B-9397-08002B2CF9AE}" pid="3" name="KSOProductBuildVer">
    <vt:lpwstr>2052-12.1.22522.22522</vt:lpwstr>
  </property>
</Properties>
</file>