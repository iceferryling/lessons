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4"/>
  </p:notesMasterIdLst>
  <p:handoutMasterIdLst>
    <p:handoutMasterId r:id="rId55"/>
  </p:handoutMasterIdLst>
  <p:sldIdLst>
    <p:sldId id="1060" r:id="rId2"/>
    <p:sldId id="767" r:id="rId3"/>
    <p:sldId id="777" r:id="rId4"/>
    <p:sldId id="785" r:id="rId5"/>
    <p:sldId id="778" r:id="rId6"/>
    <p:sldId id="1179" r:id="rId7"/>
    <p:sldId id="755" r:id="rId8"/>
    <p:sldId id="757" r:id="rId9"/>
    <p:sldId id="1130" r:id="rId10"/>
    <p:sldId id="758" r:id="rId11"/>
    <p:sldId id="760" r:id="rId12"/>
    <p:sldId id="761" r:id="rId13"/>
    <p:sldId id="762" r:id="rId14"/>
    <p:sldId id="1153" r:id="rId15"/>
    <p:sldId id="1131" r:id="rId16"/>
    <p:sldId id="1132" r:id="rId17"/>
    <p:sldId id="1133" r:id="rId18"/>
    <p:sldId id="1154" r:id="rId19"/>
    <p:sldId id="1155" r:id="rId20"/>
    <p:sldId id="1156" r:id="rId21"/>
    <p:sldId id="1157" r:id="rId22"/>
    <p:sldId id="1159" r:id="rId23"/>
    <p:sldId id="1180" r:id="rId24"/>
    <p:sldId id="1158" r:id="rId25"/>
    <p:sldId id="1061" r:id="rId26"/>
    <p:sldId id="1062" r:id="rId27"/>
    <p:sldId id="1224" r:id="rId28"/>
    <p:sldId id="1063" r:id="rId29"/>
    <p:sldId id="1064" r:id="rId30"/>
    <p:sldId id="1065" r:id="rId31"/>
    <p:sldId id="1066" r:id="rId32"/>
    <p:sldId id="1226" r:id="rId33"/>
    <p:sldId id="1067" r:id="rId34"/>
    <p:sldId id="1068" r:id="rId35"/>
    <p:sldId id="1181" r:id="rId36"/>
    <p:sldId id="1160" r:id="rId37"/>
    <p:sldId id="1161" r:id="rId38"/>
    <p:sldId id="1163" r:id="rId39"/>
    <p:sldId id="1162" r:id="rId40"/>
    <p:sldId id="1164" r:id="rId41"/>
    <p:sldId id="1165" r:id="rId42"/>
    <p:sldId id="1167" r:id="rId43"/>
    <p:sldId id="1166" r:id="rId44"/>
    <p:sldId id="1168" r:id="rId45"/>
    <p:sldId id="1169" r:id="rId46"/>
    <p:sldId id="1170" r:id="rId47"/>
    <p:sldId id="1175" r:id="rId48"/>
    <p:sldId id="1174" r:id="rId49"/>
    <p:sldId id="1171" r:id="rId50"/>
    <p:sldId id="1177" r:id="rId51"/>
    <p:sldId id="1176" r:id="rId52"/>
    <p:sldId id="1178" r:id="rId53"/>
  </p:sldIdLst>
  <p:sldSz cx="12192000" cy="6858000"/>
  <p:notesSz cx="6757988"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96">
          <p15:clr>
            <a:srgbClr val="A4A3A4"/>
          </p15:clr>
        </p15:guide>
        <p15:guide id="2" pos="2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08" autoAdjust="0"/>
    <p:restoredTop sz="86408" autoAdjust="0"/>
  </p:normalViewPr>
  <p:slideViewPr>
    <p:cSldViewPr showGuides="1">
      <p:cViewPr varScale="1">
        <p:scale>
          <a:sx n="107" d="100"/>
          <a:sy n="107" d="100"/>
        </p:scale>
        <p:origin x="488" y="176"/>
      </p:cViewPr>
      <p:guideLst>
        <p:guide orient="horz" pos="2152"/>
        <p:guide pos="384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100" d="100"/>
        <a:sy n="100" d="100"/>
      </p:scale>
      <p:origin x="0" y="189912"/>
    </p:cViewPr>
  </p:sorterViewPr>
  <p:notesViewPr>
    <p:cSldViewPr>
      <p:cViewPr varScale="1">
        <p:scale>
          <a:sx n="62" d="100"/>
          <a:sy n="62" d="100"/>
        </p:scale>
        <p:origin x="-3474" y="-90"/>
      </p:cViewPr>
      <p:guideLst>
        <p:guide orient="horz" pos="3096"/>
        <p:guide pos="212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a:defRPr/>
            </a:pPr>
            <a:endParaRPr lang="en-US" altLang="zh-CN"/>
          </a:p>
        </p:txBody>
      </p:sp>
      <p:sp>
        <p:nvSpPr>
          <p:cNvPr id="123907" name="Rectangle 3"/>
          <p:cNvSpPr>
            <a:spLocks noGrp="1" noChangeArrowheads="1"/>
          </p:cNvSpPr>
          <p:nvPr>
            <p:ph type="dt" sz="quarter" idx="1"/>
          </p:nvPr>
        </p:nvSpPr>
        <p:spPr bwMode="auto">
          <a:xfrm>
            <a:off x="3829050" y="0"/>
            <a:ext cx="2928938" cy="493713"/>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a:defRPr/>
            </a:pPr>
            <a:endParaRPr lang="en-US" altLang="zh-CN"/>
          </a:p>
        </p:txBody>
      </p:sp>
      <p:sp>
        <p:nvSpPr>
          <p:cNvPr id="123908" name="Rectangle 4"/>
          <p:cNvSpPr>
            <a:spLocks noGrp="1" noChangeArrowheads="1"/>
          </p:cNvSpPr>
          <p:nvPr>
            <p:ph type="ftr" sz="quarter" idx="2"/>
          </p:nvPr>
        </p:nvSpPr>
        <p:spPr bwMode="auto">
          <a:xfrm>
            <a:off x="0" y="9372600"/>
            <a:ext cx="2928938" cy="493713"/>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a:defRPr/>
            </a:pPr>
            <a:endParaRPr lang="en-US" altLang="zh-CN"/>
          </a:p>
        </p:txBody>
      </p:sp>
      <p:sp>
        <p:nvSpPr>
          <p:cNvPr id="123909" name="Rectangle 5"/>
          <p:cNvSpPr>
            <a:spLocks noGrp="1" noChangeArrowheads="1"/>
          </p:cNvSpPr>
          <p:nvPr>
            <p:ph type="sldNum" sz="quarter" idx="3"/>
          </p:nvPr>
        </p:nvSpPr>
        <p:spPr bwMode="auto">
          <a:xfrm>
            <a:off x="3829050" y="9372600"/>
            <a:ext cx="2928938" cy="493713"/>
          </a:xfrm>
          <a:prstGeom prst="rect">
            <a:avLst/>
          </a:prstGeom>
          <a:noFill/>
          <a:ln w="9525">
            <a:noFill/>
            <a:miter lim="800000"/>
          </a:ln>
          <a:effectLst/>
        </p:spPr>
        <p:txBody>
          <a:bodyPr vert="horz" wrap="square" lIns="91422" tIns="45711" rIns="91422" bIns="45711" numCol="1" anchor="b" anchorCtr="0" compatLnSpc="1"/>
          <a:lstStyle>
            <a:lvl1pPr algn="r" eaLnBrk="1" hangingPunct="1">
              <a:defRPr sz="1200">
                <a:latin typeface="Times New Roman" panose="02020503050405090304" pitchFamily="18" charset="0"/>
              </a:defRPr>
            </a:lvl1pPr>
          </a:lstStyle>
          <a:p>
            <a:pPr>
              <a:defRPr/>
            </a:pPr>
            <a:fld id="{47B9CDB1-3280-EA44-92C9-2E225E86599A}"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1394" name="Rectangle 2"/>
          <p:cNvSpPr>
            <a:spLocks noGrp="1" noChangeArrowheads="1"/>
          </p:cNvSpPr>
          <p:nvPr>
            <p:ph type="hdr" sz="quarter"/>
          </p:nvPr>
        </p:nvSpPr>
        <p:spPr bwMode="auto">
          <a:xfrm>
            <a:off x="0" y="0"/>
            <a:ext cx="2895600" cy="457200"/>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a:defRPr/>
            </a:pPr>
            <a:endParaRPr lang="en-US" altLang="zh-CN"/>
          </a:p>
        </p:txBody>
      </p:sp>
      <p:sp>
        <p:nvSpPr>
          <p:cNvPr id="571395" name="Rectangle 3"/>
          <p:cNvSpPr>
            <a:spLocks noGrp="1" noChangeArrowheads="1"/>
          </p:cNvSpPr>
          <p:nvPr>
            <p:ph type="dt" idx="1"/>
          </p:nvPr>
        </p:nvSpPr>
        <p:spPr bwMode="auto">
          <a:xfrm>
            <a:off x="3808413" y="0"/>
            <a:ext cx="2971800" cy="457200"/>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139700" y="762000"/>
            <a:ext cx="6502400" cy="36576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1397" name="Rectangle 5"/>
          <p:cNvSpPr>
            <a:spLocks noGrp="1" noChangeArrowheads="1"/>
          </p:cNvSpPr>
          <p:nvPr>
            <p:ph type="body" sz="quarter" idx="3"/>
          </p:nvPr>
        </p:nvSpPr>
        <p:spPr bwMode="auto">
          <a:xfrm>
            <a:off x="914400" y="4724400"/>
            <a:ext cx="4951413" cy="4418013"/>
          </a:xfrm>
          <a:prstGeom prst="rect">
            <a:avLst/>
          </a:prstGeom>
          <a:noFill/>
          <a:ln w="9525">
            <a:noFill/>
            <a:miter lim="800000"/>
          </a:ln>
          <a:effectLst/>
        </p:spPr>
        <p:txBody>
          <a:bodyPr vert="horz" wrap="square" lIns="91422" tIns="45711" rIns="91422" bIns="45711"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71398" name="Rectangle 6"/>
          <p:cNvSpPr>
            <a:spLocks noGrp="1" noChangeArrowheads="1"/>
          </p:cNvSpPr>
          <p:nvPr>
            <p:ph type="ftr" sz="quarter" idx="4"/>
          </p:nvPr>
        </p:nvSpPr>
        <p:spPr bwMode="auto">
          <a:xfrm>
            <a:off x="0" y="9371013"/>
            <a:ext cx="2895600" cy="457200"/>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a:defRPr/>
            </a:pPr>
            <a:endParaRPr lang="en-US" altLang="zh-CN"/>
          </a:p>
        </p:txBody>
      </p:sp>
      <p:sp>
        <p:nvSpPr>
          <p:cNvPr id="571399" name="Rectangle 7"/>
          <p:cNvSpPr>
            <a:spLocks noGrp="1" noChangeArrowheads="1"/>
          </p:cNvSpPr>
          <p:nvPr>
            <p:ph type="sldNum" sz="quarter" idx="5"/>
          </p:nvPr>
        </p:nvSpPr>
        <p:spPr bwMode="auto">
          <a:xfrm>
            <a:off x="3808413" y="9371013"/>
            <a:ext cx="2971800" cy="457200"/>
          </a:xfrm>
          <a:prstGeom prst="rect">
            <a:avLst/>
          </a:prstGeom>
          <a:noFill/>
          <a:ln w="9525">
            <a:noFill/>
            <a:miter lim="800000"/>
          </a:ln>
          <a:effectLst/>
        </p:spPr>
        <p:txBody>
          <a:bodyPr vert="horz" wrap="square" lIns="91422" tIns="45711" rIns="91422" bIns="45711" numCol="1" anchor="b" anchorCtr="0" compatLnSpc="1"/>
          <a:lstStyle>
            <a:lvl1pPr algn="r" eaLnBrk="1" hangingPunct="1">
              <a:defRPr sz="1200">
                <a:latin typeface="Times New Roman" panose="02020503050405090304" pitchFamily="18" charset="0"/>
              </a:defRPr>
            </a:lvl1pPr>
          </a:lstStyle>
          <a:p>
            <a:pPr>
              <a:defRPr/>
            </a:pPr>
            <a:fld id="{B7974A86-2C03-D848-9699-F43BB68498BB}"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ChangeArrowheads="1" noTextEdit="1"/>
          </p:cNvSpPr>
          <p:nvPr>
            <p:ph type="sldImg"/>
          </p:nvPr>
        </p:nvSpPr>
        <p:spPr>
          <a:xfrm>
            <a:off x="88900" y="739775"/>
            <a:ext cx="6580188" cy="3702050"/>
          </a:xfrm>
        </p:spPr>
      </p:sp>
      <p:sp>
        <p:nvSpPr>
          <p:cNvPr id="22530" name="Rectangle 3"/>
          <p:cNvSpPr>
            <a:spLocks noGrp="1" noChangeArrowheads="1"/>
          </p:cNvSpPr>
          <p:nvPr>
            <p:ph type="body" idx="1"/>
          </p:nvPr>
        </p:nvSpPr>
        <p:spPr>
          <a:xfrm>
            <a:off x="677863" y="4686300"/>
            <a:ext cx="5405437" cy="4440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大家想一下，我们学习编程的目的是什么？是不是用计算机来帮我们解决一些生活中的世界问题啊。但是，对于同一个问题，不同的同学写出的代码也不尽相同。有些同学的代码效率高一些，运行时间短；有些同学的代码效率低一些，运行时间长。那么如何去衡量我们写的代码的效率呢？如何才能写出效率更高的代码呢？我们需要一套科学的工具来帮我们分析代码的效率。</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ChangeArrowheads="1" noTextEdit="1"/>
          </p:cNvSpPr>
          <p:nvPr>
            <p:ph type="sldImg" idx="4294967295"/>
          </p:nvPr>
        </p:nvSpPr>
        <p:spPr>
          <a:xfrm>
            <a:off x="139700" y="762000"/>
            <a:ext cx="6502400" cy="3657600"/>
          </a:xfrm>
        </p:spPr>
      </p:sp>
      <p:sp>
        <p:nvSpPr>
          <p:cNvPr id="74755" name="Notes Placeholder 2"/>
          <p:cNvSpPr>
            <a:spLocks noGrp="1" noChangeArrowheads="1"/>
          </p:cNvSpPr>
          <p:nvPr>
            <p:ph type="body" idx="4294967295"/>
          </p:nvPr>
        </p:nvSpPr>
        <p:spPr/>
        <p:txBody>
          <a:bodyPr/>
          <a:lstStyle/>
          <a:p>
            <a:r>
              <a:rPr lang="zh-CN" altLang="en-US">
                <a:latin typeface="Times New Roman" panose="02020503050405090304" pitchFamily="18" charset="0"/>
              </a:rPr>
              <a:t>编程中，算法是解决问题的核心。今天的课程中，我们会从算法的基本概念出发，带领大家逐步了解算法的分析方法，并通过实际应用的案例来帮助大家理解算法的作用。你可能会觉得算法是一个比较抽象的概念，但其实它与我们日常生活息息相关。比如说，当我们在超市结账时，收银员依次扫描每件商品的条形码，这就是顺序处理的一个简单算法。再比如，你想要找到某个字典中的单词，我们常常会采取折半查找的方式，快速缩小范围。</a:t>
            </a:r>
          </a:p>
        </p:txBody>
      </p:sp>
      <p:sp>
        <p:nvSpPr>
          <p:cNvPr id="747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t>2</a:t>
            </a:fld>
            <a:endParaRPr lang="zh-CN" altLang="en-US" sz="1800">
              <a:solidFill>
                <a:srgbClr val="000000"/>
              </a:solidFill>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idx="4294967295"/>
          </p:nvPr>
        </p:nvSpPr>
        <p:spPr>
          <a:xfrm>
            <a:off x="139700" y="762000"/>
            <a:ext cx="6502400" cy="3657600"/>
          </a:xfrm>
        </p:spPr>
      </p:sp>
      <p:sp>
        <p:nvSpPr>
          <p:cNvPr id="76803" name="文本占位符 2"/>
          <p:cNvSpPr>
            <a:spLocks noGrp="1" noChangeArrowheads="1"/>
          </p:cNvSpPr>
          <p:nvPr>
            <p:ph type="body" idx="4294967295"/>
          </p:nvPr>
        </p:nvSpPr>
        <p:spPr/>
        <p:txBody>
          <a:bodyPr/>
          <a:lstStyle/>
          <a:p>
            <a:endParaRPr lang="zh-CN" altLang="en-US" dirty="0">
              <a:latin typeface="Times New Roman" panose="0202050305040509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idx="4294967295"/>
          </p:nvPr>
        </p:nvSpPr>
        <p:spPr>
          <a:xfrm>
            <a:off x="139700" y="762000"/>
            <a:ext cx="6502400" cy="3657600"/>
          </a:xfrm>
        </p:spPr>
      </p:sp>
      <p:sp>
        <p:nvSpPr>
          <p:cNvPr id="78851" name="文本占位符 2"/>
          <p:cNvSpPr>
            <a:spLocks noGrp="1"/>
          </p:cNvSpPr>
          <p:nvPr>
            <p:ph type="body" idx="3"/>
          </p:nvPr>
        </p:nvSpPr>
        <p:spPr/>
        <p:txBody>
          <a:bodyPr/>
          <a:lstStyle/>
          <a:p>
            <a:r>
              <a:rPr lang="zh-CN" altLang="en-US" noProof="1">
                <a:latin typeface="Times New Roman" panose="02020503050405090304" pitchFamily="18" charset="0"/>
              </a:rPr>
              <a:t>现在我们来区分两个简单的概念“计算”和“算法”。一个算法可以看作是一个计算模型中机械地执行的计算步骤序列。我们可以把程序看作是计算机执行的一个计算。计算模型是什么呢，就是我们的计算机，或者说是我们计算机的理论原型“图灵机”。图灵被称为计算机之父，他的一生也是跌宕起伏的一生，有很多故事，感兴趣的同学，可以去看看图灵传。看上去“计算”跟我们前面讲的“算法”的定义很相似。但要注意，两者并非完全一致。我们可以把“算法”看作是一种特殊的计算。满足特定条件的计算才能称为算法。只有能在有限步内停止的计算才算是算法。</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idx="4294967295"/>
          </p:nvPr>
        </p:nvSpPr>
        <p:spPr>
          <a:xfrm>
            <a:off x="139700" y="762000"/>
            <a:ext cx="6502400" cy="3657600"/>
          </a:xfrm>
        </p:spPr>
      </p:sp>
      <p:sp>
        <p:nvSpPr>
          <p:cNvPr id="80899" name="文本占位符 2"/>
          <p:cNvSpPr>
            <a:spLocks noGrp="1" noChangeArrowheads="1"/>
          </p:cNvSpPr>
          <p:nvPr>
            <p:ph type="body" idx="4294967295"/>
          </p:nvPr>
        </p:nvSpPr>
        <p:spPr/>
        <p:txBody>
          <a:bodyPr/>
          <a:lstStyle/>
          <a:p>
            <a:endParaRPr lang="zh-CN" altLang="en-US">
              <a:latin typeface="Times New Roman" panose="0202050305040509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ChangeArrowheads="1" noTextEdit="1"/>
          </p:cNvSpPr>
          <p:nvPr>
            <p:ph type="sldImg" idx="4294967295"/>
          </p:nvPr>
        </p:nvSpPr>
        <p:spPr>
          <a:xfrm>
            <a:off x="139700" y="762000"/>
            <a:ext cx="6502400" cy="3657600"/>
          </a:xfrm>
        </p:spPr>
      </p:sp>
      <p:sp>
        <p:nvSpPr>
          <p:cNvPr id="74755" name="Notes Placeholder 2"/>
          <p:cNvSpPr>
            <a:spLocks noGrp="1" noChangeArrowheads="1"/>
          </p:cNvSpPr>
          <p:nvPr>
            <p:ph type="body" idx="4294967295"/>
          </p:nvPr>
        </p:nvSpPr>
        <p:spPr/>
        <p:txBody>
          <a:bodyPr/>
          <a:lstStyle/>
          <a:p>
            <a:endParaRPr lang="zh-CN" altLang="en-US">
              <a:latin typeface="Times New Roman" panose="02020503050405090304" pitchFamily="18" charset="0"/>
            </a:endParaRPr>
          </a:p>
        </p:txBody>
      </p:sp>
      <p:sp>
        <p:nvSpPr>
          <p:cNvPr id="747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t>6</a:t>
            </a:fld>
            <a:endParaRPr lang="zh-CN" altLang="en-US" sz="1800">
              <a:solidFill>
                <a:srgbClr val="000000"/>
              </a:solidFill>
              <a:latin typeface="Tahoma" panose="020B060403050404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ChangeArrowheads="1" noTextEdit="1"/>
          </p:cNvSpPr>
          <p:nvPr>
            <p:ph type="sldImg" idx="4294967295"/>
          </p:nvPr>
        </p:nvSpPr>
        <p:spPr>
          <a:xfrm>
            <a:off x="139700" y="762000"/>
            <a:ext cx="6502400" cy="3657600"/>
          </a:xfrm>
        </p:spPr>
      </p:sp>
      <p:sp>
        <p:nvSpPr>
          <p:cNvPr id="109571" name="文本占位符 2"/>
          <p:cNvSpPr>
            <a:spLocks noGrp="1" noChangeArrowheads="1"/>
          </p:cNvSpPr>
          <p:nvPr>
            <p:ph type="body" idx="4294967295"/>
          </p:nvPr>
        </p:nvSpPr>
        <p:spPr/>
        <p:txBody>
          <a:bodyPr/>
          <a:lstStyle/>
          <a:p>
            <a:r>
              <a:rPr lang="en-US" altLang="zh-CN">
                <a:latin typeface="Times New Roman" panose="02020503050405090304" pitchFamily="18" charset="0"/>
              </a:rPr>
              <a:t>一个算法是正确的，意味着它对每一个合法输入都能最终停止，并且产生正确的输出。这一点非常重要，因为如果一个算法在某些输入下无法停止，或者它停止了但输出了错误的结果，那么这个算法就不合格。举个例子，想象一下你设计了一个计算学生成绩的程序，它对大多数学生都能准确计算，但对某些学生的成绩却不断循环而无法给出答案，这就是一个不正确的算法。另一种情况是，算法能停止，但对部分学生的成绩计算错误，比如应得95分的学生被计算为85分，这同样表明算法不正确。</a:t>
            </a:r>
          </a:p>
          <a:p>
            <a:r>
              <a:rPr lang="en-US" altLang="zh-CN">
                <a:latin typeface="Times New Roman" panose="02020503050405090304" pitchFamily="18" charset="0"/>
              </a:rPr>
              <a:t>有一种特例，对于某一类特殊的问题，如果我们没有办法在有限时间内找到问题的最优解，那么这个时候如果你能写一个程序在短时间内给出一个还不错的解，也是种不错的选择。虽然，这种算法给出的不是最好的解，但是至少能有个办法来解决问问题。这种算法被称为‘近似算法’。近似算法属于算法中比较高深的内容，在这里我们就不做展开了。</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大家对程序的调试应该不陌生了。大家考虑一个问题是不是只要通过调试排除了程序中的bug，就可以证明我们的算法是正确的呢？有些同学可能会觉得只要我的程序通过了调试，能够对于题目里给出的测试用例给出正确的答案，就是正确的。但是实际上，程序调试并不等价于算法的正确性证明。为什么？因为调试是一个排除错误的过程，只能说明你的算法有问题，对于某个测试用例，不能给出正确结果。但是无法证明，算法对于所有的测试用例都能给出正确的结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p:cNvSpPr>
            <a:spLocks noGrp="1" noRot="1" noChangeAspect="1" noChangeArrowheads="1" noTextEdit="1"/>
          </p:cNvSpPr>
          <p:nvPr>
            <p:ph type="sldImg"/>
          </p:nvPr>
        </p:nvSpPr>
        <p:spPr>
          <a:xfrm>
            <a:off x="90488" y="739775"/>
            <a:ext cx="6580187" cy="3702050"/>
          </a:xfrm>
        </p:spPr>
      </p:sp>
      <p:sp>
        <p:nvSpPr>
          <p:cNvPr id="126978" name="Rectangle 3"/>
          <p:cNvSpPr>
            <a:spLocks noGrp="1" noChangeArrowheads="1"/>
          </p:cNvSpPr>
          <p:nvPr>
            <p:ph type="body" idx="1"/>
          </p:nvPr>
        </p:nvSpPr>
        <p:spPr>
          <a:xfrm>
            <a:off x="674688" y="4687888"/>
            <a:ext cx="5408612" cy="4438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482" tIns="47741" rIns="95482" bIns="47741"/>
          <a:lstStyle/>
          <a:p>
            <a:pPr marL="228600" indent="-228600"/>
            <a:r>
              <a:rPr lang="zh-CN" altLang="en-US">
                <a:latin typeface="Times New Roman" panose="02020503050405090304" pitchFamily="18" charset="0"/>
              </a:rPr>
              <a:t>调试在我们程序设计中也很重要。我们很难保证写一个程序能一遍通过，除了问题还是需要借助调试来帮我们排除问题的。这里我们给大家整理了一些常用的debug的手段，大家可以下课后了解一下，在实验课上实践一下。</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ChangeArrowheads="1" noTextEdit="1"/>
          </p:cNvSpPr>
          <p:nvPr>
            <p:ph type="sldImg" idx="4294967295"/>
          </p:nvPr>
        </p:nvSpPr>
        <p:spPr>
          <a:xfrm>
            <a:off x="139700" y="762000"/>
            <a:ext cx="6502400" cy="3657600"/>
          </a:xfrm>
        </p:spPr>
      </p:sp>
      <p:sp>
        <p:nvSpPr>
          <p:cNvPr id="113667" name="文本占位符 2"/>
          <p:cNvSpPr>
            <a:spLocks noGrp="1" noChangeArrowheads="1"/>
          </p:cNvSpPr>
          <p:nvPr>
            <p:ph type="body" idx="4294967295"/>
          </p:nvPr>
        </p:nvSpPr>
        <p:spPr/>
        <p:txBody>
          <a:bodyPr/>
          <a:lstStyle/>
          <a:p>
            <a:r>
              <a:rPr lang="zh-CN" altLang="en-US">
                <a:latin typeface="Times New Roman" panose="02020503050405090304" pitchFamily="18" charset="0"/>
              </a:rPr>
              <a:t>算法的正确性分析我们就讲到这里。现在我们重点来学习一下算法的复杂度分析。我们为什么要做算法的复杂度分析呢？其目的是了解预测算法对不同输入所需资源量。具体包括哪些资源呢？这些资源可以是我们的运行时间，也可以是我们的程序运行占用的空间（内存）。这些是我们最常分析的资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2000"/>
            <a:ext cx="6502400" cy="3657600"/>
          </a:xfrm>
        </p:spPr>
      </p:sp>
      <p:sp>
        <p:nvSpPr>
          <p:cNvPr id="3" name="备注占位符 2"/>
          <p:cNvSpPr>
            <a:spLocks noGrp="1"/>
          </p:cNvSpPr>
          <p:nvPr>
            <p:ph type="body" idx="1"/>
          </p:nvPr>
        </p:nvSpPr>
        <p:spPr/>
        <p:txBody>
          <a:bodyPr/>
          <a:lstStyle/>
          <a:p>
            <a:r>
              <a:rPr lang="zh-CN" altLang="en-US" dirty="0"/>
              <a:t>我们这堂课主要关注的还是运行时间这种资源。一般来说，时间的复杂度是一个跟输入相关的函数。时间复杂性是输入大小的函数。这里的输入大小就是我们前面提到的问题的规模。这里，我们是有个假设存在的，假设每一步的执行需要常数时间。实际上每步需要的时间量可能不同，比如我们做乘法和加法的复杂度是不一样的，显然乘法要复杂很多，运行时间也要多一些。但是，在时间复杂度分析中，我们忽略它们之间的时间差，只统计程序运行步数。所以，这里的时间复杂度不是一个精准的时间，只是一个对运行时间的估计。</a:t>
            </a:r>
          </a:p>
        </p:txBody>
      </p:sp>
      <p:sp>
        <p:nvSpPr>
          <p:cNvPr id="4" name="灯片编号占位符 3"/>
          <p:cNvSpPr>
            <a:spLocks noGrp="1"/>
          </p:cNvSpPr>
          <p:nvPr>
            <p:ph type="sldNum" sz="quarter" idx="5"/>
          </p:nvPr>
        </p:nvSpPr>
        <p:spPr/>
        <p:txBody>
          <a:bodyPr/>
          <a:lstStyle/>
          <a:p>
            <a:pPr>
              <a:defRPr/>
            </a:pPr>
            <a:fld id="{B7974A86-2C03-D848-9699-F43BB68498BB}" type="slidenum">
              <a:rPr lang="zh-CN" altLang="en-US" smtClean="0"/>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ChangeArrowheads="1" noTextEdit="1"/>
          </p:cNvSpPr>
          <p:nvPr>
            <p:ph type="sldImg" idx="4294967295"/>
          </p:nvPr>
        </p:nvSpPr>
        <p:spPr>
          <a:xfrm>
            <a:off x="139700" y="762000"/>
            <a:ext cx="6502400" cy="3657600"/>
          </a:xfrm>
        </p:spPr>
      </p:sp>
      <p:sp>
        <p:nvSpPr>
          <p:cNvPr id="118787" name="文本占位符 2"/>
          <p:cNvSpPr>
            <a:spLocks noGrp="1" noChangeArrowheads="1"/>
          </p:cNvSpPr>
          <p:nvPr>
            <p:ph type="body" idx="4294967295"/>
          </p:nvPr>
        </p:nvSpPr>
        <p:spPr/>
        <p:txBody>
          <a:bodyPr/>
          <a:lstStyle/>
          <a:p>
            <a:endParaRPr lang="zh-CN" altLang="en-US">
              <a:latin typeface="Times New Roman" panose="0202050305040509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我们做一个表格来统计一下主要函数（4-14行）中各个语句的执行次数。</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2000"/>
            <a:ext cx="6502400" cy="3657600"/>
          </a:xfrm>
        </p:spPr>
      </p:sp>
      <p:sp>
        <p:nvSpPr>
          <p:cNvPr id="3" name="备注占位符 2"/>
          <p:cNvSpPr>
            <a:spLocks noGrp="1"/>
          </p:cNvSpPr>
          <p:nvPr>
            <p:ph type="body" idx="1"/>
          </p:nvPr>
        </p:nvSpPr>
        <p:spPr/>
        <p:txBody>
          <a:bodyPr/>
          <a:lstStyle/>
          <a:p>
            <a:r>
              <a:rPr lang="zh-CN" altLang="en-US" dirty="0"/>
              <a:t>进一步的，对于任意一个天数（输入规模），我们可以将程序修改为通过键盘输入天数。</a:t>
            </a:r>
          </a:p>
          <a:p>
            <a:r>
              <a:rPr lang="zh-CN" altLang="en-US" dirty="0"/>
              <a:t>现在，对于天数n来说，我们重新统计每行代码的执行次数。</a:t>
            </a:r>
          </a:p>
        </p:txBody>
      </p:sp>
      <p:sp>
        <p:nvSpPr>
          <p:cNvPr id="4" name="灯片编号占位符 3"/>
          <p:cNvSpPr>
            <a:spLocks noGrp="1"/>
          </p:cNvSpPr>
          <p:nvPr>
            <p:ph type="sldNum" sz="quarter" idx="5"/>
          </p:nvPr>
        </p:nvSpPr>
        <p:spPr/>
        <p:txBody>
          <a:bodyPr/>
          <a:lstStyle/>
          <a:p>
            <a:pPr>
              <a:defRPr/>
            </a:pPr>
            <a:fld id="{B7974A86-2C03-D848-9699-F43BB68498BB}" type="slidenum">
              <a:rPr lang="zh-CN" altLang="en-US" smtClean="0"/>
              <a:t>16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既然并非精准运行时间，那么我们可以对算法的复杂度进行化简，只保留复杂度函数随时间的变化趋势即可。</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2000"/>
            <a:ext cx="6502400" cy="36576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7974A86-2C03-D848-9699-F43BB68498BB}" type="slidenum">
              <a:rPr lang="zh-CN" altLang="en-US" smtClean="0"/>
              <a:t>19</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ChangeArrowheads="1" noTextEdit="1"/>
          </p:cNvSpPr>
          <p:nvPr>
            <p:ph type="sldImg" idx="4294967295"/>
          </p:nvPr>
        </p:nvSpPr>
        <p:spPr>
          <a:xfrm>
            <a:off x="139700" y="762000"/>
            <a:ext cx="6502400" cy="3657600"/>
          </a:xfrm>
        </p:spPr>
      </p:sp>
      <p:sp>
        <p:nvSpPr>
          <p:cNvPr id="74755" name="Notes Placeholder 2"/>
          <p:cNvSpPr>
            <a:spLocks noGrp="1" noChangeArrowheads="1"/>
          </p:cNvSpPr>
          <p:nvPr>
            <p:ph type="body" idx="4294967295"/>
          </p:nvPr>
        </p:nvSpPr>
        <p:spPr/>
        <p:txBody>
          <a:bodyPr/>
          <a:lstStyle/>
          <a:p>
            <a:endParaRPr lang="zh-CN" altLang="en-US">
              <a:latin typeface="Times New Roman" panose="02020503050405090304" pitchFamily="18" charset="0"/>
            </a:endParaRPr>
          </a:p>
        </p:txBody>
      </p:sp>
      <p:sp>
        <p:nvSpPr>
          <p:cNvPr id="747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t>23</a:t>
            </a:fld>
            <a:endParaRPr lang="zh-CN" altLang="en-US" sz="1800">
              <a:solidFill>
                <a:srgbClr val="000000"/>
              </a:solidFill>
              <a:latin typeface="Tahoma" panose="020B060403050404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查找算法是计算机科学中最基本的算法之一，用于从数据集中查找一个特定元素。今天，我们将重点介绍两种常用的查找算法：顺序查找和折半查找。顺序查找，或称为线性查找，是最简单的查找方法。它从数据集的第一个元素开始，逐一检查每个元素，直到找到目标元素或遍历完所有元素。想象一下，你在一个长长的超市货架上寻找你最喜欢的饼干，你需要一包接一包地查看，直到找到为止。这个过程就类似于顺序查找。另一方面，折半查找，又称二分查找，要求数据已经排序。这种方法将数据集分为两半，根据中间元素与目标值的比较结果来决定接下来在哪一半中继续查找，从而每次查找都大幅减少搜索范围。这就像是在一本字典中查找单词，你会根据字典的中间页开始，然后根据需要向前或向后翻页，这样大大提高了查找效率。</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TextEdit="1"/>
          </p:cNvSpPr>
          <p:nvPr>
            <p:ph type="sldImg"/>
          </p:nvPr>
        </p:nvSpPr>
        <p:spPr>
          <a:xfrm>
            <a:off x="139700" y="762000"/>
            <a:ext cx="6502400" cy="3657600"/>
          </a:xfrm>
        </p:spPr>
      </p:sp>
      <p:sp>
        <p:nvSpPr>
          <p:cNvPr id="8601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503050405090304" pitchFamily="18" charset="0"/>
              </a:defRPr>
            </a:lvl1pPr>
            <a:lvl2pPr marL="742950" indent="-285750">
              <a:spcBef>
                <a:spcPct val="30000"/>
              </a:spcBef>
              <a:defRPr sz="1200">
                <a:solidFill>
                  <a:schemeClr val="tx1"/>
                </a:solidFill>
                <a:latin typeface="Times New Roman" panose="02020503050405090304" pitchFamily="18" charset="0"/>
              </a:defRPr>
            </a:lvl2pPr>
            <a:lvl3pPr marL="1143000" indent="-228600">
              <a:spcBef>
                <a:spcPct val="30000"/>
              </a:spcBef>
              <a:defRPr sz="1200">
                <a:solidFill>
                  <a:schemeClr val="tx1"/>
                </a:solidFill>
                <a:latin typeface="Times New Roman" panose="02020503050405090304" pitchFamily="18" charset="0"/>
              </a:defRPr>
            </a:lvl3pPr>
            <a:lvl4pPr marL="1600200" indent="-228600">
              <a:spcBef>
                <a:spcPct val="30000"/>
              </a:spcBef>
              <a:defRPr sz="1200">
                <a:solidFill>
                  <a:schemeClr val="tx1"/>
                </a:solidFill>
                <a:latin typeface="Times New Roman" panose="02020503050405090304" pitchFamily="18" charset="0"/>
              </a:defRPr>
            </a:lvl4pPr>
            <a:lvl5pPr marL="2057400" indent="-228600">
              <a:spcBef>
                <a:spcPct val="30000"/>
              </a:spcBef>
              <a:defRPr sz="1200">
                <a:solidFill>
                  <a:schemeClr val="tx1"/>
                </a:solidFill>
                <a:latin typeface="Times New Roman" panose="02020503050405090304" pitchFamily="18" charset="0"/>
              </a:defRPr>
            </a:lvl5pPr>
            <a:lvl6pPr marL="2514600" indent="-228600" eaLnBrk="0" fontAlgn="base" hangingPunct="0">
              <a:spcBef>
                <a:spcPct val="30000"/>
              </a:spcBef>
              <a:spcAft>
                <a:spcPct val="0"/>
              </a:spcAft>
              <a:defRPr sz="1200">
                <a:solidFill>
                  <a:schemeClr val="tx1"/>
                </a:solidFill>
                <a:latin typeface="Times New Roman" panose="02020503050405090304" pitchFamily="18" charset="0"/>
              </a:defRPr>
            </a:lvl6pPr>
            <a:lvl7pPr marL="2971800" indent="-228600" eaLnBrk="0" fontAlgn="base" hangingPunct="0">
              <a:spcBef>
                <a:spcPct val="30000"/>
              </a:spcBef>
              <a:spcAft>
                <a:spcPct val="0"/>
              </a:spcAft>
              <a:defRPr sz="1200">
                <a:solidFill>
                  <a:schemeClr val="tx1"/>
                </a:solidFill>
                <a:latin typeface="Times New Roman" panose="02020503050405090304" pitchFamily="18" charset="0"/>
              </a:defRPr>
            </a:lvl7pPr>
            <a:lvl8pPr marL="3429000" indent="-228600" eaLnBrk="0" fontAlgn="base" hangingPunct="0">
              <a:spcBef>
                <a:spcPct val="30000"/>
              </a:spcBef>
              <a:spcAft>
                <a:spcPct val="0"/>
              </a:spcAft>
              <a:defRPr sz="1200">
                <a:solidFill>
                  <a:schemeClr val="tx1"/>
                </a:solidFill>
                <a:latin typeface="Times New Roman" panose="02020503050405090304" pitchFamily="18" charset="0"/>
              </a:defRPr>
            </a:lvl8pPr>
            <a:lvl9pPr marL="3886200" indent="-228600" eaLnBrk="0" fontAlgn="base" hangingPunct="0">
              <a:spcBef>
                <a:spcPct val="30000"/>
              </a:spcBef>
              <a:spcAft>
                <a:spcPct val="0"/>
              </a:spcAft>
              <a:defRPr sz="1200">
                <a:solidFill>
                  <a:schemeClr val="tx1"/>
                </a:solidFill>
                <a:latin typeface="Times New Roman" panose="02020503050405090304" pitchFamily="18" charset="0"/>
              </a:defRPr>
            </a:lvl9pPr>
          </a:lstStyle>
          <a:p>
            <a:pPr>
              <a:spcBef>
                <a:spcPct val="0"/>
              </a:spcBef>
            </a:pPr>
            <a:fld id="{8C2C4257-E8AD-9949-93BC-0DC436AF4BF7}" type="slidenum">
              <a:rPr lang="zh-CN" altLang="en-US" smtClean="0">
                <a:ea typeface="宋体" pitchFamily="2" charset="-122"/>
              </a:rPr>
              <a:t>26</a:t>
            </a:fld>
            <a:endParaRPr lang="en-US" altLang="zh-CN">
              <a:ea typeface="宋体"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p:cNvSpPr>
            <a:spLocks noGrp="1" noRot="1" noChangeAspect="1" noTextEdit="1"/>
          </p:cNvSpPr>
          <p:nvPr>
            <p:ph type="sldImg"/>
          </p:nvPr>
        </p:nvSpPr>
        <p:spPr>
          <a:xfrm>
            <a:off x="139700" y="762000"/>
            <a:ext cx="6502400" cy="3657600"/>
          </a:xfrm>
        </p:spPr>
      </p:sp>
      <p:sp>
        <p:nvSpPr>
          <p:cNvPr id="8806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503050405090304" pitchFamily="18" charset="0"/>
              </a:defRPr>
            </a:lvl1pPr>
            <a:lvl2pPr marL="742950" indent="-285750">
              <a:spcBef>
                <a:spcPct val="30000"/>
              </a:spcBef>
              <a:defRPr sz="1200">
                <a:solidFill>
                  <a:schemeClr val="tx1"/>
                </a:solidFill>
                <a:latin typeface="Times New Roman" panose="02020503050405090304" pitchFamily="18" charset="0"/>
              </a:defRPr>
            </a:lvl2pPr>
            <a:lvl3pPr marL="1143000" indent="-228600">
              <a:spcBef>
                <a:spcPct val="30000"/>
              </a:spcBef>
              <a:defRPr sz="1200">
                <a:solidFill>
                  <a:schemeClr val="tx1"/>
                </a:solidFill>
                <a:latin typeface="Times New Roman" panose="02020503050405090304" pitchFamily="18" charset="0"/>
              </a:defRPr>
            </a:lvl3pPr>
            <a:lvl4pPr marL="1600200" indent="-228600">
              <a:spcBef>
                <a:spcPct val="30000"/>
              </a:spcBef>
              <a:defRPr sz="1200">
                <a:solidFill>
                  <a:schemeClr val="tx1"/>
                </a:solidFill>
                <a:latin typeface="Times New Roman" panose="02020503050405090304" pitchFamily="18" charset="0"/>
              </a:defRPr>
            </a:lvl4pPr>
            <a:lvl5pPr marL="2057400" indent="-228600">
              <a:spcBef>
                <a:spcPct val="30000"/>
              </a:spcBef>
              <a:defRPr sz="1200">
                <a:solidFill>
                  <a:schemeClr val="tx1"/>
                </a:solidFill>
                <a:latin typeface="Times New Roman" panose="02020503050405090304" pitchFamily="18" charset="0"/>
              </a:defRPr>
            </a:lvl5pPr>
            <a:lvl6pPr marL="2514600" indent="-228600" eaLnBrk="0" fontAlgn="base" hangingPunct="0">
              <a:spcBef>
                <a:spcPct val="30000"/>
              </a:spcBef>
              <a:spcAft>
                <a:spcPct val="0"/>
              </a:spcAft>
              <a:defRPr sz="1200">
                <a:solidFill>
                  <a:schemeClr val="tx1"/>
                </a:solidFill>
                <a:latin typeface="Times New Roman" panose="02020503050405090304" pitchFamily="18" charset="0"/>
              </a:defRPr>
            </a:lvl6pPr>
            <a:lvl7pPr marL="2971800" indent="-228600" eaLnBrk="0" fontAlgn="base" hangingPunct="0">
              <a:spcBef>
                <a:spcPct val="30000"/>
              </a:spcBef>
              <a:spcAft>
                <a:spcPct val="0"/>
              </a:spcAft>
              <a:defRPr sz="1200">
                <a:solidFill>
                  <a:schemeClr val="tx1"/>
                </a:solidFill>
                <a:latin typeface="Times New Roman" panose="02020503050405090304" pitchFamily="18" charset="0"/>
              </a:defRPr>
            </a:lvl7pPr>
            <a:lvl8pPr marL="3429000" indent="-228600" eaLnBrk="0" fontAlgn="base" hangingPunct="0">
              <a:spcBef>
                <a:spcPct val="30000"/>
              </a:spcBef>
              <a:spcAft>
                <a:spcPct val="0"/>
              </a:spcAft>
              <a:defRPr sz="1200">
                <a:solidFill>
                  <a:schemeClr val="tx1"/>
                </a:solidFill>
                <a:latin typeface="Times New Roman" panose="02020503050405090304" pitchFamily="18" charset="0"/>
              </a:defRPr>
            </a:lvl8pPr>
            <a:lvl9pPr marL="3886200" indent="-228600" eaLnBrk="0" fontAlgn="base" hangingPunct="0">
              <a:spcBef>
                <a:spcPct val="30000"/>
              </a:spcBef>
              <a:spcAft>
                <a:spcPct val="0"/>
              </a:spcAft>
              <a:defRPr sz="1200">
                <a:solidFill>
                  <a:schemeClr val="tx1"/>
                </a:solidFill>
                <a:latin typeface="Times New Roman" panose="02020503050405090304" pitchFamily="18" charset="0"/>
              </a:defRPr>
            </a:lvl9pPr>
          </a:lstStyle>
          <a:p>
            <a:pPr>
              <a:spcBef>
                <a:spcPct val="0"/>
              </a:spcBef>
            </a:pPr>
            <a:fld id="{72AA966D-161F-144E-BB55-8A35355B3AE4}" type="slidenum">
              <a:rPr lang="zh-CN" altLang="en-US" smtClean="0">
                <a:ea typeface="宋体" pitchFamily="2" charset="-122"/>
              </a:rPr>
              <a:t>28</a:t>
            </a:fld>
            <a:endParaRPr lang="en-US" altLang="zh-CN">
              <a:ea typeface="宋体"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幻灯片图像占位符 1"/>
          <p:cNvSpPr>
            <a:spLocks noGrp="1" noRot="1" noChangeAspect="1" noTextEdit="1"/>
          </p:cNvSpPr>
          <p:nvPr>
            <p:ph type="sldImg"/>
          </p:nvPr>
        </p:nvSpPr>
        <p:spPr>
          <a:xfrm>
            <a:off x="139700" y="762000"/>
            <a:ext cx="6502400" cy="3657600"/>
          </a:xfrm>
        </p:spPr>
      </p:sp>
      <p:sp>
        <p:nvSpPr>
          <p:cNvPr id="9011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5" name="灯片编号占位符 3"/>
          <p:cNvSpPr txBox="1">
            <a:spLocks noGrp="1"/>
          </p:cNvSpPr>
          <p:nvPr/>
        </p:nvSpPr>
        <p:spPr bwMode="auto">
          <a:xfrm>
            <a:off x="3808413" y="93710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nchor="b"/>
          <a:lstStyle>
            <a:lvl1pPr>
              <a:spcBef>
                <a:spcPct val="30000"/>
              </a:spcBef>
              <a:defRPr sz="1200">
                <a:solidFill>
                  <a:schemeClr val="tx1"/>
                </a:solidFill>
                <a:latin typeface="Times New Roman" panose="02020503050405090304" pitchFamily="18" charset="0"/>
              </a:defRPr>
            </a:lvl1pPr>
            <a:lvl2pPr marL="742950" indent="-285750">
              <a:spcBef>
                <a:spcPct val="30000"/>
              </a:spcBef>
              <a:defRPr sz="1200">
                <a:solidFill>
                  <a:schemeClr val="tx1"/>
                </a:solidFill>
                <a:latin typeface="Times New Roman" panose="02020503050405090304" pitchFamily="18" charset="0"/>
              </a:defRPr>
            </a:lvl2pPr>
            <a:lvl3pPr marL="1143000" indent="-228600">
              <a:spcBef>
                <a:spcPct val="30000"/>
              </a:spcBef>
              <a:defRPr sz="1200">
                <a:solidFill>
                  <a:schemeClr val="tx1"/>
                </a:solidFill>
                <a:latin typeface="Times New Roman" panose="02020503050405090304" pitchFamily="18" charset="0"/>
              </a:defRPr>
            </a:lvl3pPr>
            <a:lvl4pPr marL="1600200" indent="-228600">
              <a:spcBef>
                <a:spcPct val="30000"/>
              </a:spcBef>
              <a:defRPr sz="1200">
                <a:solidFill>
                  <a:schemeClr val="tx1"/>
                </a:solidFill>
                <a:latin typeface="Times New Roman" panose="02020503050405090304" pitchFamily="18" charset="0"/>
              </a:defRPr>
            </a:lvl4pPr>
            <a:lvl5pPr marL="2057400" indent="-228600">
              <a:spcBef>
                <a:spcPct val="30000"/>
              </a:spcBef>
              <a:defRPr sz="1200">
                <a:solidFill>
                  <a:schemeClr val="tx1"/>
                </a:solidFill>
                <a:latin typeface="Times New Roman" panose="02020503050405090304" pitchFamily="18" charset="0"/>
              </a:defRPr>
            </a:lvl5pPr>
            <a:lvl6pPr marL="2514600" indent="-228600" eaLnBrk="0" fontAlgn="base" hangingPunct="0">
              <a:spcBef>
                <a:spcPct val="30000"/>
              </a:spcBef>
              <a:spcAft>
                <a:spcPct val="0"/>
              </a:spcAft>
              <a:defRPr sz="1200">
                <a:solidFill>
                  <a:schemeClr val="tx1"/>
                </a:solidFill>
                <a:latin typeface="Times New Roman" panose="02020503050405090304" pitchFamily="18" charset="0"/>
              </a:defRPr>
            </a:lvl6pPr>
            <a:lvl7pPr marL="2971800" indent="-228600" eaLnBrk="0" fontAlgn="base" hangingPunct="0">
              <a:spcBef>
                <a:spcPct val="30000"/>
              </a:spcBef>
              <a:spcAft>
                <a:spcPct val="0"/>
              </a:spcAft>
              <a:defRPr sz="1200">
                <a:solidFill>
                  <a:schemeClr val="tx1"/>
                </a:solidFill>
                <a:latin typeface="Times New Roman" panose="02020503050405090304" pitchFamily="18" charset="0"/>
              </a:defRPr>
            </a:lvl7pPr>
            <a:lvl8pPr marL="3429000" indent="-228600" eaLnBrk="0" fontAlgn="base" hangingPunct="0">
              <a:spcBef>
                <a:spcPct val="30000"/>
              </a:spcBef>
              <a:spcAft>
                <a:spcPct val="0"/>
              </a:spcAft>
              <a:defRPr sz="1200">
                <a:solidFill>
                  <a:schemeClr val="tx1"/>
                </a:solidFill>
                <a:latin typeface="Times New Roman" panose="02020503050405090304" pitchFamily="18" charset="0"/>
              </a:defRPr>
            </a:lvl8pPr>
            <a:lvl9pPr marL="3886200" indent="-228600" eaLnBrk="0" fontAlgn="base" hangingPunct="0">
              <a:spcBef>
                <a:spcPct val="30000"/>
              </a:spcBef>
              <a:spcAft>
                <a:spcPct val="0"/>
              </a:spcAft>
              <a:defRPr sz="1200">
                <a:solidFill>
                  <a:schemeClr val="tx1"/>
                </a:solidFill>
                <a:latin typeface="Times New Roman" panose="02020503050405090304" pitchFamily="18" charset="0"/>
              </a:defRPr>
            </a:lvl9pPr>
          </a:lstStyle>
          <a:p>
            <a:pPr algn="r" eaLnBrk="1" hangingPunct="1">
              <a:spcBef>
                <a:spcPct val="0"/>
              </a:spcBef>
            </a:pPr>
            <a:fld id="{B0B31D9B-9AF2-0345-9B5D-0A62CC769297}" type="slidenum">
              <a:rPr lang="zh-CN" altLang="en-US"/>
              <a:t>29</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32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幻灯片图像占位符 1"/>
          <p:cNvSpPr>
            <a:spLocks noGrp="1" noRot="1" noChangeAspect="1" noTextEdit="1"/>
          </p:cNvSpPr>
          <p:nvPr>
            <p:ph type="sldImg"/>
          </p:nvPr>
        </p:nvSpPr>
        <p:spPr>
          <a:xfrm>
            <a:off x="139700" y="762000"/>
            <a:ext cx="6502400" cy="3657600"/>
          </a:xfrm>
        </p:spPr>
      </p:sp>
      <p:sp>
        <p:nvSpPr>
          <p:cNvPr id="12083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t>Here again</a:t>
            </a:r>
            <a:endParaRPr kumimoji="1" lang="zh-CN" altLang="en-US"/>
          </a:p>
        </p:txBody>
      </p:sp>
      <p:sp>
        <p:nvSpPr>
          <p:cNvPr id="120835"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fld id="{F4AB6F32-9AEF-0B46-B858-08BD96251781}" type="slidenum">
              <a:rPr lang="zh-CN" altLang="en-US" sz="1200" smtClean="0">
                <a:latin typeface="Times New Roman" panose="02020503050405090304" pitchFamily="18" charset="0"/>
              </a:rPr>
              <a:t>33</a:t>
            </a:fld>
            <a:endParaRPr lang="en-US" altLang="zh-CN" sz="1200">
              <a:latin typeface="Times New Roman" panose="0202050305040509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区间的重点我们是通过d = (high + low) / 2计算的。如果数组很大，low和high之和大于有符号整数的极限值（在limits.h中定义）就会发生数值溢出，使mid成为一个负数。为了防止溢出，我们可以修改计算中间值的方法，用减法代替加法mid = low + (high - low) / 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ChangeArrowheads="1" noTextEdit="1"/>
          </p:cNvSpPr>
          <p:nvPr>
            <p:ph type="sldImg" idx="4294967295"/>
          </p:nvPr>
        </p:nvSpPr>
        <p:spPr>
          <a:xfrm>
            <a:off x="139700" y="762000"/>
            <a:ext cx="6502400" cy="3657600"/>
          </a:xfrm>
        </p:spPr>
      </p:sp>
      <p:sp>
        <p:nvSpPr>
          <p:cNvPr id="74755" name="Notes Placeholder 2"/>
          <p:cNvSpPr>
            <a:spLocks noGrp="1" noChangeArrowheads="1"/>
          </p:cNvSpPr>
          <p:nvPr>
            <p:ph type="body" idx="4294967295"/>
          </p:nvPr>
        </p:nvSpPr>
        <p:spPr/>
        <p:txBody>
          <a:bodyPr/>
          <a:lstStyle/>
          <a:p>
            <a:endParaRPr lang="zh-CN" altLang="en-US">
              <a:latin typeface="Times New Roman" panose="02020503050405090304" pitchFamily="18" charset="0"/>
            </a:endParaRPr>
          </a:p>
        </p:txBody>
      </p:sp>
      <p:sp>
        <p:nvSpPr>
          <p:cNvPr id="747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t>35</a:t>
            </a:fld>
            <a:endParaRPr lang="zh-CN" altLang="en-US" sz="1800">
              <a:solidFill>
                <a:srgbClr val="000000"/>
              </a:solidFill>
              <a:latin typeface="Tahoma" panose="020B060403050404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首先要改造我们前面讲的二分查找算法，返回数组里第一个大于等于x的元素的位置。如果区间重点比我们要找的元素小，那么x在区间[mid+1,high]上；反之，x在[low,mid]上。在low=high的时候算法结束。Low或者high位置就是我们要找的位置。最后，我们还需要判断一种特殊情况，也即数组中所有的元素都比x小。这种情况下，有low=n-1，我们需要判断一下数组的第n-1个元素是不是大于等于x。如果是，那么n-1就是我们要找的位置；否则，说明数组里所有元素都比x小，那么我们应该在位置n上插入x。</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kumimoji="1"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6B3DE21-AFB9-F14F-B875-13235536560E}" type="slidenum">
              <a:rPr lang="en-US" altLang="zh-CN"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kumimoji="1"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7C4E558B-5425-6346-B896-72F904F12E77}" type="slidenum">
              <a:rPr lang="en-US" altLang="zh-CN"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A5870D6-F13F-B648-8D64-35DE9F65B698}" type="slidenum">
              <a:rPr lang="en-US" altLang="zh-CN"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F2C66083-CA50-7F4D-A942-8AD0B52A57CA}" type="slidenum">
              <a:rPr lang="en-US" altLang="zh-CN"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54D4E40E-ECE5-BC4F-A44A-B935FB69105A}" type="slidenum">
              <a:rPr lang="en-US" altLang="zh-CN"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kumimoji="1"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D9BE2C38-9B50-5746-8BFD-9F41E5738B08}" type="slidenum">
              <a:rPr lang="en-US" altLang="zh-CN" smtClean="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kumimoji="1"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E6B3DE21-AFB9-F14F-B875-13235536560E}" type="slidenum">
              <a:rPr lang="en-US" altLang="zh-CN"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9B8086DE-B831-764E-9B24-4374F57D4CAA}" type="slidenum">
              <a:rPr lang="en-US" altLang="zh-CN"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kumimoji="1"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E6B3DE21-AFB9-F14F-B875-13235536560E}" type="slidenum">
              <a:rPr lang="en-US" altLang="zh-CN"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kumimoji="1"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6B3DE21-AFB9-F14F-B875-13235536560E}" type="slidenum">
              <a:rPr lang="en-US" altLang="zh-CN"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kumimoji="1"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6B3DE21-AFB9-F14F-B875-13235536560E}" type="slidenum">
              <a:rPr lang="en-US" altLang="zh-CN" smtClean="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3" name="矩形 2"/>
          <p:cNvSpPr/>
          <p:nvPr/>
        </p:nvSpPr>
        <p:spPr>
          <a:xfrm>
            <a:off x="914400" y="3197226"/>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sz="1800"/>
          </a:p>
        </p:txBody>
      </p:sp>
      <p:sp>
        <p:nvSpPr>
          <p:cNvPr id="4" name="页脚占位符 4"/>
          <p:cNvSpPr txBox="1"/>
          <p:nvPr userDrawn="1"/>
        </p:nvSpPr>
        <p:spPr>
          <a:xfrm>
            <a:off x="2092570" y="6384926"/>
            <a:ext cx="4978400" cy="284163"/>
          </a:xfrm>
          <a:prstGeom prst="rect">
            <a:avLst/>
          </a:prstGeom>
        </p:spPr>
        <p:txBody>
          <a:bodyPr anchor="ctr"/>
          <a:lstStyle>
            <a:lvl1pPr eaLnBrk="0" hangingPunct="0">
              <a:defRPr sz="2000">
                <a:solidFill>
                  <a:schemeClr val="tx1"/>
                </a:solidFill>
                <a:latin typeface="Arial" panose="020B0604020202090204" pitchFamily="34" charset="0"/>
                <a:ea typeface="宋体" charset="0"/>
              </a:defRPr>
            </a:lvl1pPr>
            <a:lvl2pPr marL="742950" indent="-285750" eaLnBrk="0" hangingPunct="0">
              <a:defRPr sz="2000">
                <a:solidFill>
                  <a:schemeClr val="tx1"/>
                </a:solidFill>
                <a:latin typeface="Arial" panose="020B0604020202090204" pitchFamily="34" charset="0"/>
                <a:ea typeface="宋体" charset="0"/>
              </a:defRPr>
            </a:lvl2pPr>
            <a:lvl3pPr marL="1143000" indent="-228600" eaLnBrk="0" hangingPunct="0">
              <a:defRPr sz="2000">
                <a:solidFill>
                  <a:schemeClr val="tx1"/>
                </a:solidFill>
                <a:latin typeface="Arial" panose="020B0604020202090204" pitchFamily="34" charset="0"/>
                <a:ea typeface="宋体" charset="0"/>
              </a:defRPr>
            </a:lvl3pPr>
            <a:lvl4pPr marL="1600200" indent="-228600" eaLnBrk="0" hangingPunct="0">
              <a:defRPr sz="2000">
                <a:solidFill>
                  <a:schemeClr val="tx1"/>
                </a:solidFill>
                <a:latin typeface="Arial" panose="020B0604020202090204" pitchFamily="34" charset="0"/>
                <a:ea typeface="宋体" charset="0"/>
              </a:defRPr>
            </a:lvl4pPr>
            <a:lvl5pPr marL="2057400" indent="-228600" eaLnBrk="0" hangingPunct="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gn="r" eaLnBrk="1" hangingPunct="1">
              <a:lnSpc>
                <a:spcPct val="90000"/>
              </a:lnSpc>
              <a:spcBef>
                <a:spcPts val="590"/>
              </a:spcBef>
              <a:spcAft>
                <a:spcPts val="590"/>
              </a:spcAft>
              <a:buClr>
                <a:schemeClr val="tx2"/>
              </a:buClr>
              <a:buSzPct val="80000"/>
              <a:buFont typeface="Wingdings" panose="05000000000000000000" pitchFamily="2" charset="2"/>
              <a:buNone/>
              <a:defRPr/>
            </a:pPr>
            <a:r>
              <a:rPr lang="zh-CN" altLang="en-US" sz="1100">
                <a:solidFill>
                  <a:srgbClr val="636363"/>
                </a:solidFill>
              </a:rPr>
              <a:t>版权所有，违者必究</a:t>
            </a:r>
            <a:endParaRPr lang="en-US" altLang="zh-CN" sz="1100">
              <a:solidFill>
                <a:srgbClr val="636363"/>
              </a:solidFill>
            </a:endParaRPr>
          </a:p>
        </p:txBody>
      </p:sp>
      <p:sp>
        <p:nvSpPr>
          <p:cNvPr id="2" name="标题 1"/>
          <p:cNvSpPr>
            <a:spLocks noGrp="1"/>
          </p:cNvSpPr>
          <p:nvPr>
            <p:ph type="ctrTitle"/>
          </p:nvPr>
        </p:nvSpPr>
        <p:spPr>
          <a:xfrm>
            <a:off x="914400" y="1676401"/>
            <a:ext cx="10363200" cy="1538286"/>
          </a:xfrm>
        </p:spPr>
        <p:txBody>
          <a:bodyPr anchor="b"/>
          <a:lstStyle/>
          <a:p>
            <a:r>
              <a:rPr lang="zh-CN" altLang="en-US" dirty="0"/>
              <a:t>单击此处编辑母版标题样式</a:t>
            </a:r>
            <a:endParaRPr lang="en-US" dirty="0"/>
          </a:p>
        </p:txBody>
      </p:sp>
      <p:sp>
        <p:nvSpPr>
          <p:cNvPr id="5" name="日期占位符 3"/>
          <p:cNvSpPr>
            <a:spLocks noGrp="1"/>
          </p:cNvSpPr>
          <p:nvPr>
            <p:ph type="dt" sz="half" idx="10"/>
          </p:nvPr>
        </p:nvSpPr>
        <p:spPr>
          <a:xfrm>
            <a:off x="101600" y="6400801"/>
            <a:ext cx="4267200" cy="284163"/>
          </a:xfrm>
          <a:prstGeom prst="rect">
            <a:avLst/>
          </a:prstGeom>
        </p:spPr>
        <p:txBody>
          <a:bodyPr/>
          <a:lstStyle>
            <a:lvl1pPr eaLnBrk="0" hangingPunct="0">
              <a:lnSpc>
                <a:spcPct val="90000"/>
              </a:lnSpc>
              <a:spcBef>
                <a:spcPts val="590"/>
              </a:spcBef>
              <a:spcAft>
                <a:spcPts val="590"/>
              </a:spcAft>
              <a:buClr>
                <a:schemeClr val="tx2"/>
              </a:buClr>
              <a:buSzPct val="80000"/>
              <a:buFont typeface="Wingdings" panose="05000000000000000000" pitchFamily="2" charset="2"/>
              <a:buNone/>
              <a:defRPr>
                <a:latin typeface="Arial" panose="020B0604020202090204" pitchFamily="34" charset="0"/>
                <a:ea typeface="宋体" pitchFamily="2" charset="-122"/>
              </a:defRPr>
            </a:lvl1pPr>
          </a:lstStyle>
          <a:p>
            <a:pPr>
              <a:defRPr/>
            </a:pPr>
            <a:endParaRPr 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B9B3522-1099-1C4D-B359-CFCC8E56A907}" type="slidenum">
              <a:rPr lang="en-US" altLang="zh-CN"/>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空白">
    <p:spTree>
      <p:nvGrpSpPr>
        <p:cNvPr id="1" name=""/>
        <p:cNvGrpSpPr/>
        <p:nvPr/>
      </p:nvGrpSpPr>
      <p:grpSpPr>
        <a:xfrm>
          <a:off x="0" y="0"/>
          <a:ext cx="0" cy="0"/>
          <a:chOff x="0" y="0"/>
          <a:chExt cx="0" cy="0"/>
        </a:xfrm>
      </p:grpSpPr>
      <p:sp>
        <p:nvSpPr>
          <p:cNvPr id="6" name="页脚占位符 6"/>
          <p:cNvSpPr>
            <a:spLocks noGrp="1"/>
          </p:cNvSpPr>
          <p:nvPr userDrawn="1"/>
        </p:nvSpPr>
        <p:spPr>
          <a:xfrm>
            <a:off x="87924" y="6453189"/>
            <a:ext cx="2285817" cy="288925"/>
          </a:xfrm>
          <a:prstGeom prst="rect">
            <a:avLst/>
          </a:prstGeom>
        </p:spPr>
        <p:txBody>
          <a:bodyPr/>
          <a:lstStyle>
            <a:lvl1pPr eaLnBrk="0" hangingPunct="0">
              <a:defRPr sz="2000">
                <a:solidFill>
                  <a:schemeClr val="tx1"/>
                </a:solidFill>
                <a:latin typeface="Arial" panose="020B0604020202090204" pitchFamily="34" charset="0"/>
                <a:ea typeface="宋体" charset="0"/>
              </a:defRPr>
            </a:lvl1pPr>
            <a:lvl2pPr marL="742950" indent="-285750" eaLnBrk="0" hangingPunct="0">
              <a:defRPr sz="2000">
                <a:solidFill>
                  <a:schemeClr val="tx1"/>
                </a:solidFill>
                <a:latin typeface="Arial" panose="020B0604020202090204" pitchFamily="34" charset="0"/>
                <a:ea typeface="宋体" charset="0"/>
              </a:defRPr>
            </a:lvl2pPr>
            <a:lvl3pPr marL="1143000" indent="-228600" eaLnBrk="0" hangingPunct="0">
              <a:defRPr sz="2000">
                <a:solidFill>
                  <a:schemeClr val="tx1"/>
                </a:solidFill>
                <a:latin typeface="Arial" panose="020B0604020202090204" pitchFamily="34" charset="0"/>
                <a:ea typeface="宋体" charset="0"/>
              </a:defRPr>
            </a:lvl3pPr>
            <a:lvl4pPr marL="1600200" indent="-228600" eaLnBrk="0" hangingPunct="0">
              <a:defRPr sz="2000">
                <a:solidFill>
                  <a:schemeClr val="tx1"/>
                </a:solidFill>
                <a:latin typeface="Arial" panose="020B0604020202090204" pitchFamily="34" charset="0"/>
                <a:ea typeface="宋体" charset="0"/>
              </a:defRPr>
            </a:lvl4pPr>
            <a:lvl5pPr marL="2057400" indent="-228600" eaLnBrk="0" hangingPunct="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nSpc>
                <a:spcPct val="90000"/>
              </a:lnSpc>
              <a:buClr>
                <a:schemeClr val="tx2"/>
              </a:buClr>
              <a:buSzPct val="80000"/>
              <a:buFont typeface="Wingdings" panose="05000000000000000000" pitchFamily="2" charset="2"/>
              <a:buNone/>
              <a:defRPr/>
            </a:pPr>
            <a:r>
              <a:rPr lang="zh-CN" altLang="en-US" sz="1400" dirty="0">
                <a:solidFill>
                  <a:srgbClr val="663300"/>
                </a:solidFill>
                <a:ea typeface="黑体" charset="0"/>
                <a:cs typeface="Arial" panose="020B0604020202090204" pitchFamily="34" charset="0"/>
              </a:rPr>
              <a:t>程序设计思维与实践</a:t>
            </a:r>
            <a:endParaRPr lang="en-US" altLang="zh-CN" sz="1400" dirty="0">
              <a:solidFill>
                <a:srgbClr val="663300"/>
              </a:solidFill>
              <a:ea typeface="黑体" charset="0"/>
              <a:cs typeface="Arial" panose="020B0604020202090204" pitchFamily="34" charset="0"/>
            </a:endParaRPr>
          </a:p>
        </p:txBody>
      </p:sp>
      <p:sp>
        <p:nvSpPr>
          <p:cNvPr id="7" name="页脚占位符 6"/>
          <p:cNvSpPr>
            <a:spLocks noGrp="1"/>
          </p:cNvSpPr>
          <p:nvPr userDrawn="1"/>
        </p:nvSpPr>
        <p:spPr bwMode="auto">
          <a:xfrm>
            <a:off x="10615247" y="115888"/>
            <a:ext cx="1506415" cy="360362"/>
          </a:xfrm>
          <a:prstGeom prst="rect">
            <a:avLst/>
          </a:prstGeom>
          <a:noFill/>
          <a:ln w="9525">
            <a:noFill/>
            <a:miter lim="800000"/>
          </a:ln>
        </p:spPr>
        <p:txBody>
          <a:bodyPr/>
          <a:lstStyle>
            <a:lvl1pPr eaLnBrk="0" hangingPunct="0">
              <a:defRPr sz="2000">
                <a:solidFill>
                  <a:schemeClr val="tx1"/>
                </a:solidFill>
                <a:latin typeface="Arial" panose="020B0604020202090204" pitchFamily="34" charset="0"/>
                <a:ea typeface="宋体" charset="0"/>
              </a:defRPr>
            </a:lvl1pPr>
            <a:lvl2pPr marL="742950" indent="-285750" eaLnBrk="0" hangingPunct="0">
              <a:defRPr sz="2000">
                <a:solidFill>
                  <a:schemeClr val="tx1"/>
                </a:solidFill>
                <a:latin typeface="Arial" panose="020B0604020202090204" pitchFamily="34" charset="0"/>
                <a:ea typeface="宋体" charset="0"/>
              </a:defRPr>
            </a:lvl2pPr>
            <a:lvl3pPr marL="1143000" indent="-228600" eaLnBrk="0" hangingPunct="0">
              <a:defRPr sz="2000">
                <a:solidFill>
                  <a:schemeClr val="tx1"/>
                </a:solidFill>
                <a:latin typeface="Arial" panose="020B0604020202090204" pitchFamily="34" charset="0"/>
                <a:ea typeface="宋体" charset="0"/>
              </a:defRPr>
            </a:lvl3pPr>
            <a:lvl4pPr marL="1600200" indent="-228600" eaLnBrk="0" hangingPunct="0">
              <a:defRPr sz="2000">
                <a:solidFill>
                  <a:schemeClr val="tx1"/>
                </a:solidFill>
                <a:latin typeface="Arial" panose="020B0604020202090204" pitchFamily="34" charset="0"/>
                <a:ea typeface="宋体" charset="0"/>
              </a:defRPr>
            </a:lvl4pPr>
            <a:lvl5pPr marL="2057400" indent="-228600" eaLnBrk="0" hangingPunct="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nSpc>
                <a:spcPct val="90000"/>
              </a:lnSpc>
              <a:buClr>
                <a:schemeClr val="tx2"/>
              </a:buClr>
              <a:buSzPct val="80000"/>
              <a:buFont typeface="Wingdings" panose="05000000000000000000" pitchFamily="2" charset="2"/>
              <a:buNone/>
              <a:defRPr/>
            </a:pPr>
            <a:r>
              <a:rPr lang="zh-CN" altLang="en-US" sz="1400" dirty="0">
                <a:solidFill>
                  <a:srgbClr val="663300"/>
                </a:solidFill>
                <a:latin typeface="黑体" charset="0"/>
                <a:ea typeface="黑体" charset="0"/>
              </a:rPr>
              <a:t>算法初步</a:t>
            </a:r>
            <a:endParaRPr lang="en-US" altLang="zh-CN" sz="1400" dirty="0">
              <a:latin typeface="黑体" charset="0"/>
              <a:ea typeface="黑体" charset="0"/>
            </a:endParaRPr>
          </a:p>
          <a:p>
            <a:pPr>
              <a:lnSpc>
                <a:spcPct val="90000"/>
              </a:lnSpc>
              <a:buClr>
                <a:schemeClr val="tx2"/>
              </a:buClr>
              <a:buSzPct val="80000"/>
              <a:buFont typeface="Wingdings" panose="05000000000000000000" pitchFamily="2" charset="2"/>
              <a:buNone/>
              <a:defRPr/>
            </a:pPr>
            <a:endParaRPr lang="en-US" altLang="zh-CN" sz="2000" dirty="0">
              <a:latin typeface="楷体_GB2312" charset="0"/>
              <a:ea typeface="楷体_GB2312" charset="0"/>
            </a:endParaRPr>
          </a:p>
        </p:txBody>
      </p:sp>
      <p:sp>
        <p:nvSpPr>
          <p:cNvPr id="2" name="文本占位符 2"/>
          <p:cNvSpPr>
            <a:spLocks noGrp="1"/>
          </p:cNvSpPr>
          <p:nvPr>
            <p:ph idx="1"/>
          </p:nvPr>
        </p:nvSpPr>
        <p:spPr bwMode="auto">
          <a:xfrm>
            <a:off x="609600" y="1600200"/>
            <a:ext cx="10972800" cy="4686300"/>
          </a:xfrm>
          <a:prstGeom prst="rect">
            <a:avLst/>
          </a:prstGeom>
          <a:noFill/>
          <a:ln>
            <a:noFill/>
          </a:ln>
        </p:spPr>
        <p:txBody>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3" name="标题占位符 1"/>
          <p:cNvSpPr>
            <a:spLocks noGrp="1"/>
          </p:cNvSpPr>
          <p:nvPr>
            <p:ph type="title"/>
          </p:nvPr>
        </p:nvSpPr>
        <p:spPr bwMode="auto">
          <a:xfrm>
            <a:off x="609600" y="274638"/>
            <a:ext cx="10972800" cy="1143000"/>
          </a:xfrm>
          <a:prstGeom prst="rect">
            <a:avLst/>
          </a:prstGeom>
          <a:noFill/>
          <a:ln>
            <a:noFill/>
          </a:ln>
        </p:spPr>
        <p:txBody>
          <a:bodyPr/>
          <a:lstStyle/>
          <a:p>
            <a:pPr lvl="0"/>
            <a:r>
              <a:rPr lang="zh-CN" altLang="en-US" dirty="0"/>
              <a:t>单击此处编辑母版标题样式</a:t>
            </a:r>
          </a:p>
        </p:txBody>
      </p:sp>
      <p:sp>
        <p:nvSpPr>
          <p:cNvPr id="8" name="灯片编号占位符 5"/>
          <p:cNvSpPr>
            <a:spLocks noGrp="1"/>
          </p:cNvSpPr>
          <p:nvPr>
            <p:ph type="sldNum" sz="quarter" idx="10"/>
          </p:nvPr>
        </p:nvSpPr>
        <p:spPr>
          <a:xfrm>
            <a:off x="10793046" y="6381751"/>
            <a:ext cx="1219200" cy="284163"/>
          </a:xfrm>
        </p:spPr>
        <p:txBody>
          <a:bodyPr/>
          <a:lstStyle>
            <a:lvl1pPr>
              <a:defRPr/>
            </a:lvl1pPr>
          </a:lstStyle>
          <a:p>
            <a:pPr>
              <a:defRPr/>
            </a:pPr>
            <a:fld id="{C8D98E1D-7B5A-9646-9B81-7E432971A0A6}" type="slidenum">
              <a:rPr lang="en-US" altLang="zh-CN"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6B3DE21-AFB9-F14F-B875-13235536560E}" type="slidenum">
              <a:rPr lang="en-US" altLang="zh-CN" smtClean="0"/>
              <a:t>‹#›</a:t>
            </a:fld>
            <a:endParaRPr lang="zh-CN" altLang="en-US" dirty="0"/>
          </a:p>
        </p:txBody>
      </p:sp>
      <p:sp>
        <p:nvSpPr>
          <p:cNvPr id="7" name="页脚占位符 6"/>
          <p:cNvSpPr>
            <a:spLocks noGrp="1"/>
          </p:cNvSpPr>
          <p:nvPr userDrawn="1"/>
        </p:nvSpPr>
        <p:spPr>
          <a:xfrm>
            <a:off x="1" y="6453188"/>
            <a:ext cx="2639647" cy="404812"/>
          </a:xfrm>
          <a:prstGeom prst="rect">
            <a:avLst/>
          </a:prstGeom>
        </p:spPr>
        <p:txBody>
          <a:bodyPr/>
          <a:lstStyle>
            <a:lvl1pPr eaLnBrk="0" hangingPunct="0">
              <a:defRPr sz="2000">
                <a:solidFill>
                  <a:schemeClr val="tx1"/>
                </a:solidFill>
                <a:latin typeface="Arial" panose="020B0604020202090204" pitchFamily="34" charset="0"/>
                <a:ea typeface="宋体" charset="0"/>
              </a:defRPr>
            </a:lvl1pPr>
            <a:lvl2pPr marL="742950" indent="-285750" eaLnBrk="0" hangingPunct="0">
              <a:defRPr sz="2000">
                <a:solidFill>
                  <a:schemeClr val="tx1"/>
                </a:solidFill>
                <a:latin typeface="Arial" panose="020B0604020202090204" pitchFamily="34" charset="0"/>
                <a:ea typeface="宋体" charset="0"/>
              </a:defRPr>
            </a:lvl2pPr>
            <a:lvl3pPr marL="1143000" indent="-228600" eaLnBrk="0" hangingPunct="0">
              <a:defRPr sz="2000">
                <a:solidFill>
                  <a:schemeClr val="tx1"/>
                </a:solidFill>
                <a:latin typeface="Arial" panose="020B0604020202090204" pitchFamily="34" charset="0"/>
                <a:ea typeface="宋体" charset="0"/>
              </a:defRPr>
            </a:lvl3pPr>
            <a:lvl4pPr marL="1600200" indent="-228600" eaLnBrk="0" hangingPunct="0">
              <a:defRPr sz="2000">
                <a:solidFill>
                  <a:schemeClr val="tx1"/>
                </a:solidFill>
                <a:latin typeface="Arial" panose="020B0604020202090204" pitchFamily="34" charset="0"/>
                <a:ea typeface="宋体" charset="0"/>
              </a:defRPr>
            </a:lvl4pPr>
            <a:lvl5pPr marL="2057400" indent="-228600" eaLnBrk="0" hangingPunct="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nSpc>
                <a:spcPct val="90000"/>
              </a:lnSpc>
              <a:buClr>
                <a:schemeClr val="tx2"/>
              </a:buClr>
              <a:buSzPct val="80000"/>
              <a:buFont typeface="Wingdings" panose="05000000000000000000" pitchFamily="2" charset="2"/>
              <a:buNone/>
              <a:defRPr/>
            </a:pPr>
            <a:r>
              <a:rPr lang="zh-CN" altLang="en-US" sz="1400" dirty="0">
                <a:solidFill>
                  <a:srgbClr val="663300"/>
                </a:solidFill>
                <a:ea typeface="黑体" charset="0"/>
                <a:cs typeface="Arial" panose="020B0604020202090204" pitchFamily="34" charset="0"/>
              </a:rPr>
              <a:t>程序设计思维与实践</a:t>
            </a:r>
            <a:endParaRPr lang="en-US" altLang="zh-CN" sz="1400" dirty="0">
              <a:solidFill>
                <a:srgbClr val="663300"/>
              </a:solidFill>
              <a:ea typeface="黑体" charset="0"/>
              <a:cs typeface="Arial" panose="020B0604020202090204" pitchFamily="34" charset="0"/>
            </a:endParaRPr>
          </a:p>
        </p:txBody>
      </p:sp>
      <p:sp>
        <p:nvSpPr>
          <p:cNvPr id="8" name="页脚占位符 6"/>
          <p:cNvSpPr>
            <a:spLocks noGrp="1"/>
          </p:cNvSpPr>
          <p:nvPr userDrawn="1"/>
        </p:nvSpPr>
        <p:spPr>
          <a:xfrm>
            <a:off x="9730154" y="115888"/>
            <a:ext cx="2659185" cy="360362"/>
          </a:xfrm>
          <a:prstGeom prst="rect">
            <a:avLst/>
          </a:prstGeom>
        </p:spPr>
        <p:txBody>
          <a:bodyPr/>
          <a:lstStyle>
            <a:lvl1pPr eaLnBrk="0" hangingPunct="0">
              <a:defRPr sz="2000">
                <a:solidFill>
                  <a:schemeClr val="tx1"/>
                </a:solidFill>
                <a:latin typeface="Arial" panose="020B0604020202090204" pitchFamily="34" charset="0"/>
                <a:ea typeface="宋体" charset="0"/>
              </a:defRPr>
            </a:lvl1pPr>
            <a:lvl2pPr marL="742950" indent="-285750" eaLnBrk="0" hangingPunct="0">
              <a:defRPr sz="2000">
                <a:solidFill>
                  <a:schemeClr val="tx1"/>
                </a:solidFill>
                <a:latin typeface="Arial" panose="020B0604020202090204" pitchFamily="34" charset="0"/>
                <a:ea typeface="宋体" charset="0"/>
              </a:defRPr>
            </a:lvl2pPr>
            <a:lvl3pPr marL="1143000" indent="-228600" eaLnBrk="0" hangingPunct="0">
              <a:defRPr sz="2000">
                <a:solidFill>
                  <a:schemeClr val="tx1"/>
                </a:solidFill>
                <a:latin typeface="Arial" panose="020B0604020202090204" pitchFamily="34" charset="0"/>
                <a:ea typeface="宋体" charset="0"/>
              </a:defRPr>
            </a:lvl3pPr>
            <a:lvl4pPr marL="1600200" indent="-228600" eaLnBrk="0" hangingPunct="0">
              <a:defRPr sz="2000">
                <a:solidFill>
                  <a:schemeClr val="tx1"/>
                </a:solidFill>
                <a:latin typeface="Arial" panose="020B0604020202090204" pitchFamily="34" charset="0"/>
                <a:ea typeface="宋体" charset="0"/>
              </a:defRPr>
            </a:lvl4pPr>
            <a:lvl5pPr marL="2057400" indent="-228600" eaLnBrk="0" hangingPunct="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gn="ctr">
              <a:lnSpc>
                <a:spcPct val="90000"/>
              </a:lnSpc>
              <a:buClr>
                <a:schemeClr val="tx2"/>
              </a:buClr>
              <a:buSzPct val="80000"/>
              <a:buFont typeface="Wingdings" panose="05000000000000000000" pitchFamily="2" charset="2"/>
              <a:buNone/>
              <a:defRPr/>
            </a:pPr>
            <a:r>
              <a:rPr lang="zh-CN" altLang="en-US" sz="1400" dirty="0">
                <a:solidFill>
                  <a:srgbClr val="663300"/>
                </a:solidFill>
                <a:latin typeface="黑体" charset="0"/>
                <a:ea typeface="黑体" charset="0"/>
              </a:rPr>
              <a:t>算法初步</a:t>
            </a:r>
            <a:endParaRPr lang="en-US" altLang="zh-CN" sz="2000" dirty="0">
              <a:latin typeface="华文行楷" charset="0"/>
              <a:ea typeface="华文行楷" charset="0"/>
            </a:endParaRPr>
          </a:p>
          <a:p>
            <a:pPr>
              <a:lnSpc>
                <a:spcPct val="90000"/>
              </a:lnSpc>
              <a:buClr>
                <a:schemeClr val="tx2"/>
              </a:buClr>
              <a:buSzPct val="80000"/>
              <a:buFont typeface="Wingdings" panose="05000000000000000000" pitchFamily="2" charset="2"/>
              <a:buNone/>
              <a:defRPr/>
            </a:pPr>
            <a:endParaRPr lang="en-US" altLang="zh-CN" sz="2000" dirty="0">
              <a:latin typeface="楷体_GB2312" charset="0"/>
              <a:ea typeface="楷体_GB231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1"/>
          <p:cNvSpPr txBox="1">
            <a:spLocks noChangeArrowheads="1"/>
          </p:cNvSpPr>
          <p:nvPr/>
        </p:nvSpPr>
        <p:spPr bwMode="auto">
          <a:xfrm>
            <a:off x="2927350" y="3645025"/>
            <a:ext cx="612140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ts val="600"/>
              </a:spcBef>
              <a:spcAft>
                <a:spcPts val="590"/>
              </a:spcAft>
              <a:buClr>
                <a:srgbClr val="44546A"/>
              </a:buClr>
              <a:buSzPct val="80000"/>
              <a:buNone/>
              <a:defRPr/>
            </a:pPr>
            <a:r>
              <a:rPr lang="zh-CN" altLang="en-US" sz="2800" b="1" dirty="0">
                <a:solidFill>
                  <a:prstClr val="black"/>
                </a:solidFill>
                <a:latin typeface="+mn-lt"/>
                <a:cs typeface="+mn-ea"/>
                <a:sym typeface="+mn-lt"/>
              </a:rPr>
              <a:t>邓翔</a:t>
            </a:r>
          </a:p>
        </p:txBody>
      </p:sp>
      <p:pic>
        <p:nvPicPr>
          <p:cNvPr id="77828" name="Picture 4"/>
          <p:cNvPicPr>
            <a:picLocks noChangeAspect="1" noChangeArrowheads="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72000" contrast="86000"/>
                    </a14:imgEffect>
                    <a14:imgEffect>
                      <a14:colorTemperature colorTemp="7412"/>
                    </a14:imgEffect>
                    <a14:imgEffect>
                      <a14:saturation sat="164000"/>
                    </a14:imgEffect>
                    <a14:imgEffect>
                      <a14:sharpenSoften amount="69000"/>
                    </a14:imgEffect>
                  </a14:imgLayer>
                </a14:imgProps>
              </a:ext>
              <a:ext uri="{28A0092B-C50C-407E-A947-70E740481C1C}">
                <a14:useLocalDpi xmlns:a14="http://schemas.microsoft.com/office/drawing/2010/main" val="0"/>
              </a:ext>
            </a:extLst>
          </a:blip>
          <a:srcRect/>
          <a:stretch>
            <a:fillRect/>
          </a:stretch>
        </p:blipFill>
        <p:spPr bwMode="auto">
          <a:xfrm>
            <a:off x="3670300" y="589283"/>
            <a:ext cx="4635500" cy="8509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4"/>
          <p:cNvSpPr txBox="1">
            <a:spLocks noChangeArrowheads="1"/>
          </p:cNvSpPr>
          <p:nvPr/>
        </p:nvSpPr>
        <p:spPr bwMode="auto">
          <a:xfrm>
            <a:off x="1416050" y="1871244"/>
            <a:ext cx="9632950"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ts val="600"/>
              </a:spcBef>
              <a:spcAft>
                <a:spcPts val="590"/>
              </a:spcAft>
              <a:buSzPct val="80000"/>
              <a:buNone/>
            </a:pPr>
            <a:r>
              <a:rPr lang="zh-CN" altLang="en-US" sz="5400" dirty="0">
                <a:latin typeface="+mn-lt"/>
                <a:cs typeface="+mn-ea"/>
                <a:sym typeface="+mn-lt"/>
              </a:rPr>
              <a:t>数据遍历与搜索</a:t>
            </a:r>
          </a:p>
        </p:txBody>
      </p:sp>
    </p:spTree>
  </p:cSld>
  <p:clrMapOvr>
    <a:masterClrMapping/>
  </p:clrMapOvr>
  <p:transition>
    <p:newsfla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9"/>
          <p:cNvSpPr txBox="1">
            <a:spLocks noChangeArrowheads="1"/>
          </p:cNvSpPr>
          <p:nvPr/>
        </p:nvSpPr>
        <p:spPr bwMode="auto">
          <a:xfrm>
            <a:off x="4639734" y="1133125"/>
            <a:ext cx="2712156" cy="60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2755900" algn="l"/>
              </a:tabLst>
              <a:defRPr>
                <a:solidFill>
                  <a:schemeClr val="tx1"/>
                </a:solidFill>
                <a:latin typeface="Calibri" panose="020F0502020204030204" pitchFamily="34" charset="0"/>
                <a:ea typeface="宋体" pitchFamily="2" charset="-122"/>
                <a:cs typeface="宋体" pitchFamily="2" charset="-122"/>
              </a:defRPr>
            </a:lvl1pPr>
            <a:lvl2pPr marL="742950" indent="-285750">
              <a:tabLst>
                <a:tab pos="2755900" algn="l"/>
              </a:tabLst>
              <a:defRPr>
                <a:solidFill>
                  <a:schemeClr val="tx1"/>
                </a:solidFill>
                <a:latin typeface="Calibri" panose="020F0502020204030204" pitchFamily="34" charset="0"/>
                <a:ea typeface="宋体" pitchFamily="2" charset="-122"/>
              </a:defRPr>
            </a:lvl2pPr>
            <a:lvl3pPr marL="1143000" indent="-228600">
              <a:tabLst>
                <a:tab pos="2755900" algn="l"/>
              </a:tabLst>
              <a:defRPr>
                <a:solidFill>
                  <a:schemeClr val="tx1"/>
                </a:solidFill>
                <a:latin typeface="Calibri" panose="020F0502020204030204" pitchFamily="34" charset="0"/>
                <a:ea typeface="宋体" pitchFamily="2" charset="-122"/>
              </a:defRPr>
            </a:lvl3pPr>
            <a:lvl4pPr marL="1600200" indent="-228600">
              <a:tabLst>
                <a:tab pos="2755900" algn="l"/>
              </a:tabLst>
              <a:defRPr>
                <a:solidFill>
                  <a:schemeClr val="tx1"/>
                </a:solidFill>
                <a:latin typeface="Calibri" panose="020F0502020204030204" pitchFamily="34" charset="0"/>
                <a:ea typeface="宋体" pitchFamily="2" charset="-122"/>
              </a:defRPr>
            </a:lvl4pPr>
            <a:lvl5pPr marL="2057400" indent="-228600">
              <a:tabLst>
                <a:tab pos="2755900" algn="l"/>
              </a:tabLst>
              <a:defRPr>
                <a:solidFill>
                  <a:schemeClr val="tx1"/>
                </a:solidFill>
                <a:latin typeface="Calibri" panose="020F0502020204030204" pitchFamily="34" charset="0"/>
                <a:ea typeface="宋体" pitchFamily="2" charset="-122"/>
              </a:defRPr>
            </a:lvl5pPr>
            <a:lvl6pPr marL="25146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6pPr>
            <a:lvl7pPr marL="29718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7pPr>
            <a:lvl8pPr marL="34290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8pPr>
            <a:lvl9pPr marL="38862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9pPr>
          </a:lstStyle>
          <a:p>
            <a:pPr eaLnBrk="1" hangingPunct="1">
              <a:defRPr/>
            </a:pPr>
            <a:r>
              <a:rPr lang="zh-CN" altLang="en-US" sz="3910" b="1" dirty="0">
                <a:solidFill>
                  <a:srgbClr val="1F497D">
                    <a:lumMod val="60000"/>
                    <a:lumOff val="40000"/>
                  </a:srgbClr>
                </a:solidFill>
                <a:latin typeface="+mn-lt"/>
                <a:ea typeface="+mn-ea"/>
                <a:cs typeface="+mn-ea"/>
                <a:sym typeface="+mn-lt"/>
              </a:rPr>
              <a:t>本讲内容</a:t>
            </a:r>
          </a:p>
        </p:txBody>
      </p:sp>
      <p:sp>
        <p:nvSpPr>
          <p:cNvPr id="73734" name="TextBox 1"/>
          <p:cNvSpPr txBox="1">
            <a:spLocks noChangeArrowheads="1"/>
          </p:cNvSpPr>
          <p:nvPr/>
        </p:nvSpPr>
        <p:spPr bwMode="auto">
          <a:xfrm>
            <a:off x="2686756" y="2321278"/>
            <a:ext cx="7121878" cy="300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lvl="1">
              <a:spcBef>
                <a:spcPct val="0"/>
              </a:spcBef>
              <a:buFontTx/>
              <a:buNone/>
            </a:pPr>
            <a:r>
              <a:rPr lang="en-US" altLang="zh-CN" sz="3910" b="1" dirty="0">
                <a:solidFill>
                  <a:srgbClr val="000000"/>
                </a:solidFill>
                <a:latin typeface="+mn-lt"/>
                <a:ea typeface="+mn-ea"/>
                <a:cs typeface="+mn-ea"/>
                <a:sym typeface="+mn-lt"/>
              </a:rPr>
              <a:t>12.1 </a:t>
            </a:r>
            <a:r>
              <a:rPr lang="zh-CN" altLang="zh-CN" sz="3910" b="1" dirty="0">
                <a:solidFill>
                  <a:srgbClr val="000000"/>
                </a:solidFill>
                <a:latin typeface="+mn-lt"/>
                <a:ea typeface="+mn-ea"/>
                <a:cs typeface="+mn-ea"/>
                <a:sym typeface="+mn-lt"/>
              </a:rPr>
              <a:t>什么是算法？</a:t>
            </a:r>
          </a:p>
          <a:p>
            <a:pPr lvl="1">
              <a:spcBef>
                <a:spcPct val="0"/>
              </a:spcBef>
              <a:buFontTx/>
              <a:buNone/>
            </a:pPr>
            <a:r>
              <a:rPr lang="en-US" altLang="zh-CN" sz="3910" dirty="0">
                <a:solidFill>
                  <a:srgbClr val="000000"/>
                </a:solidFill>
                <a:latin typeface="+mn-lt"/>
                <a:ea typeface="+mn-ea"/>
                <a:cs typeface="+mn-ea"/>
                <a:sym typeface="+mn-lt"/>
              </a:rPr>
              <a:t>12.2 </a:t>
            </a:r>
            <a:r>
              <a:rPr lang="zh-CN" altLang="zh-CN" sz="3910" dirty="0">
                <a:solidFill>
                  <a:srgbClr val="000000"/>
                </a:solidFill>
                <a:latin typeface="+mn-lt"/>
                <a:ea typeface="+mn-ea"/>
                <a:cs typeface="+mn-ea"/>
                <a:sym typeface="+mn-lt"/>
              </a:rPr>
              <a:t>算法分析</a:t>
            </a:r>
          </a:p>
          <a:p>
            <a:pPr lvl="1">
              <a:spcBef>
                <a:spcPct val="0"/>
              </a:spcBef>
              <a:buFontTx/>
              <a:buNone/>
            </a:pPr>
            <a:r>
              <a:rPr lang="en-US" altLang="zh-CN" sz="3910" dirty="0">
                <a:solidFill>
                  <a:srgbClr val="000000"/>
                </a:solidFill>
                <a:latin typeface="+mn-lt"/>
                <a:ea typeface="+mn-ea"/>
                <a:cs typeface="+mn-ea"/>
                <a:sym typeface="+mn-lt"/>
              </a:rPr>
              <a:t>12.3 </a:t>
            </a:r>
            <a:r>
              <a:rPr lang="zh-CN" altLang="en-US" sz="3910" dirty="0">
                <a:solidFill>
                  <a:srgbClr val="000000"/>
                </a:solidFill>
                <a:latin typeface="+mn-lt"/>
                <a:ea typeface="+mn-ea"/>
                <a:cs typeface="+mn-ea"/>
                <a:sym typeface="+mn-lt"/>
              </a:rPr>
              <a:t>应用举例：查找算法</a:t>
            </a:r>
            <a:endParaRPr lang="en-US" altLang="zh-CN" sz="3910" dirty="0">
              <a:solidFill>
                <a:srgbClr val="000000"/>
              </a:solidFill>
              <a:latin typeface="+mn-lt"/>
              <a:ea typeface="+mn-ea"/>
              <a:cs typeface="+mn-ea"/>
              <a:sym typeface="+mn-lt"/>
            </a:endParaRPr>
          </a:p>
          <a:p>
            <a:pPr lvl="1">
              <a:spcBef>
                <a:spcPct val="0"/>
              </a:spcBef>
              <a:buFontTx/>
              <a:buNone/>
            </a:pPr>
            <a:r>
              <a:rPr lang="en-US" altLang="zh-CN" sz="3910" dirty="0">
                <a:solidFill>
                  <a:srgbClr val="000000"/>
                </a:solidFill>
                <a:latin typeface="+mn-lt"/>
                <a:ea typeface="+mn-ea"/>
                <a:cs typeface="+mn-ea"/>
                <a:sym typeface="+mn-lt"/>
              </a:rPr>
              <a:t>12.4 </a:t>
            </a:r>
            <a:r>
              <a:rPr lang="zh-CN" altLang="en-US" sz="3910" dirty="0">
                <a:solidFill>
                  <a:srgbClr val="000000"/>
                </a:solidFill>
                <a:latin typeface="+mn-lt"/>
                <a:ea typeface="+mn-ea"/>
                <a:cs typeface="+mn-ea"/>
                <a:sym typeface="+mn-lt"/>
              </a:rPr>
              <a:t>应用举例：数组修改</a:t>
            </a:r>
            <a:endParaRPr lang="zh-CN" altLang="zh-CN" sz="3910"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90" dirty="0">
              <a:solidFill>
                <a:srgbClr val="1A9EE9"/>
              </a:solidFill>
              <a:latin typeface="+mn-lt"/>
              <a:ea typeface="+mn-ea"/>
              <a:cs typeface="+mn-ea"/>
              <a:sym typeface="+mn-lt"/>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3" name="Rectangle 4"/>
          <p:cNvSpPr>
            <a:spLocks noChangeArrowheads="1"/>
          </p:cNvSpPr>
          <p:nvPr/>
        </p:nvSpPr>
        <p:spPr bwMode="auto">
          <a:xfrm>
            <a:off x="767408" y="434562"/>
            <a:ext cx="26468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cs typeface="+mn-ea"/>
                <a:sym typeface="+mn-lt"/>
              </a:rPr>
              <a:t>什么是算法？</a:t>
            </a:r>
          </a:p>
        </p:txBody>
      </p:sp>
      <p:sp>
        <p:nvSpPr>
          <p:cNvPr id="2" name="内容占位符 2"/>
          <p:cNvSpPr txBox="1"/>
          <p:nvPr/>
        </p:nvSpPr>
        <p:spPr>
          <a:xfrm>
            <a:off x="1271464" y="1412776"/>
            <a:ext cx="9577064" cy="4395612"/>
          </a:xfrm>
        </p:spPr>
        <p:txBody>
          <a:bodyPr/>
          <a:lstStyle>
            <a:lvl1pPr marL="186055" indent="-186055" algn="l" defTabSz="742950" rtl="0" eaLnBrk="1" latinLnBrk="0" hangingPunct="1">
              <a:lnSpc>
                <a:spcPct val="90000"/>
              </a:lnSpc>
              <a:spcBef>
                <a:spcPts val="815"/>
              </a:spcBef>
              <a:buFont typeface="Arial" panose="020B0604020202090204" pitchFamily="34" charset="0"/>
              <a:buChar char="•"/>
              <a:defRPr sz="2275" kern="1200">
                <a:solidFill>
                  <a:schemeClr val="tx1"/>
                </a:solidFill>
                <a:latin typeface="+mn-lt"/>
                <a:ea typeface="+mn-ea"/>
                <a:cs typeface="+mn-cs"/>
              </a:defRPr>
            </a:lvl1pPr>
            <a:lvl2pPr marL="557530" indent="-186055" algn="l" defTabSz="742950" rtl="0" eaLnBrk="1" latinLnBrk="0" hangingPunct="1">
              <a:lnSpc>
                <a:spcPct val="90000"/>
              </a:lnSpc>
              <a:spcBef>
                <a:spcPts val="405"/>
              </a:spcBef>
              <a:buFont typeface="Arial" panose="020B0604020202090204" pitchFamily="34" charset="0"/>
              <a:buChar char="•"/>
              <a:defRPr sz="1950" kern="1200">
                <a:solidFill>
                  <a:schemeClr val="tx1"/>
                </a:solidFill>
                <a:latin typeface="+mn-lt"/>
                <a:ea typeface="+mn-ea"/>
                <a:cs typeface="+mn-cs"/>
              </a:defRPr>
            </a:lvl2pPr>
            <a:lvl3pPr marL="929005" indent="-186055" algn="l" defTabSz="742950" rtl="0" eaLnBrk="1" latinLnBrk="0" hangingPunct="1">
              <a:lnSpc>
                <a:spcPct val="90000"/>
              </a:lnSpc>
              <a:spcBef>
                <a:spcPts val="405"/>
              </a:spcBef>
              <a:buFont typeface="Arial" panose="020B0604020202090204" pitchFamily="34" charset="0"/>
              <a:buChar char="•"/>
              <a:defRPr sz="1625" kern="1200">
                <a:solidFill>
                  <a:schemeClr val="tx1"/>
                </a:solidFill>
                <a:latin typeface="+mn-lt"/>
                <a:ea typeface="+mn-ea"/>
                <a:cs typeface="+mn-cs"/>
              </a:defRPr>
            </a:lvl3pPr>
            <a:lvl4pPr marL="130048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4pPr>
            <a:lvl5pPr marL="167195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5pPr>
            <a:lvl6pPr marL="204343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6pPr>
            <a:lvl7pPr marL="241490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7pPr>
            <a:lvl8pPr marL="278638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8pPr>
            <a:lvl9pPr marL="315785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9pPr>
          </a:lstStyle>
          <a:p>
            <a:pPr>
              <a:lnSpc>
                <a:spcPct val="100000"/>
              </a:lnSpc>
              <a:spcBef>
                <a:spcPts val="600"/>
              </a:spcBef>
              <a:spcAft>
                <a:spcPts val="600"/>
              </a:spcAft>
              <a:buFont typeface="Wingdings" panose="05000000000000000000" pitchFamily="2" charset="2"/>
              <a:buChar char="l"/>
              <a:defRPr/>
            </a:pPr>
            <a:r>
              <a:rPr kumimoji="1" lang="zh-CN" altLang="en-US" sz="2400" b="1" dirty="0">
                <a:cs typeface="+mn-ea"/>
                <a:sym typeface="+mn-lt"/>
              </a:rPr>
              <a:t>在数学和计算机科学之中，算法</a:t>
            </a:r>
            <a:r>
              <a:rPr kumimoji="1" lang="en-US" altLang="zh-CN" sz="2400" b="1" dirty="0">
                <a:cs typeface="+mn-ea"/>
                <a:sym typeface="+mn-lt"/>
              </a:rPr>
              <a:t>/</a:t>
            </a:r>
            <a:r>
              <a:rPr kumimoji="1" lang="zh-CN" altLang="en-US" sz="2400" b="1" dirty="0">
                <a:cs typeface="+mn-ea"/>
                <a:sym typeface="+mn-lt"/>
              </a:rPr>
              <a:t>算则法（</a:t>
            </a:r>
            <a:r>
              <a:rPr kumimoji="1" lang="en-US" altLang="zh-CN" sz="2400" b="1" dirty="0">
                <a:cs typeface="+mn-ea"/>
                <a:sym typeface="+mn-lt"/>
              </a:rPr>
              <a:t>Algorithm</a:t>
            </a:r>
            <a:r>
              <a:rPr kumimoji="1" lang="zh-CN" altLang="en-US" sz="2400" b="1" dirty="0">
                <a:cs typeface="+mn-ea"/>
                <a:sym typeface="+mn-lt"/>
              </a:rPr>
              <a:t>）为一个计算的具体步骤，常用于计算、数据处理和自动推理。</a:t>
            </a:r>
            <a:endParaRPr lang="en-US" altLang="zh-CN" sz="2400" dirty="0">
              <a:cs typeface="+mn-ea"/>
              <a:sym typeface="+mn-lt"/>
            </a:endParaRPr>
          </a:p>
          <a:p>
            <a:pPr>
              <a:lnSpc>
                <a:spcPct val="100000"/>
              </a:lnSpc>
              <a:spcBef>
                <a:spcPts val="600"/>
              </a:spcBef>
              <a:spcAft>
                <a:spcPts val="600"/>
              </a:spcAft>
              <a:buFont typeface="Wingdings" panose="05000000000000000000" pitchFamily="2" charset="2"/>
              <a:buChar char="l"/>
              <a:defRPr/>
            </a:pPr>
            <a:r>
              <a:rPr kumimoji="1" lang="zh-CN" altLang="en-US" sz="2400" b="1" dirty="0">
                <a:cs typeface="+mn-ea"/>
                <a:sym typeface="+mn-lt"/>
              </a:rPr>
              <a:t>常见的算法：</a:t>
            </a:r>
            <a:endParaRPr kumimoji="1" lang="en-US" altLang="zh-CN" sz="2400"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加减乘除四则运算</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一元二次方程求解</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数列求和</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计算三角形面积</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en-US" altLang="zh-CN" sz="2075" b="1" dirty="0">
                <a:cs typeface="+mn-ea"/>
                <a:sym typeface="+mn-lt"/>
              </a:rPr>
              <a:t> ……</a:t>
            </a:r>
          </a:p>
          <a:p>
            <a:pPr marL="0" indent="0">
              <a:lnSpc>
                <a:spcPct val="100000"/>
              </a:lnSpc>
              <a:spcBef>
                <a:spcPts val="600"/>
              </a:spcBef>
              <a:spcAft>
                <a:spcPts val="600"/>
              </a:spcAft>
              <a:buNone/>
              <a:defRPr/>
            </a:pPr>
            <a:endParaRPr kumimoji="1" lang="en-US" altLang="zh-CN" sz="2400" b="1" dirty="0">
              <a:cs typeface="+mn-ea"/>
              <a:sym typeface="+mn-lt"/>
            </a:endParaRPr>
          </a:p>
          <a:p>
            <a:pPr marL="0" indent="0">
              <a:lnSpc>
                <a:spcPct val="100000"/>
              </a:lnSpc>
              <a:spcBef>
                <a:spcPts val="600"/>
              </a:spcBef>
              <a:spcAft>
                <a:spcPts val="600"/>
              </a:spcAft>
              <a:buNone/>
              <a:defRPr/>
            </a:pPr>
            <a:endParaRPr kumimoji="1" lang="en-US" altLang="zh-CN" sz="2400" dirty="0">
              <a:cs typeface="+mn-ea"/>
              <a:sym typeface="+mn-lt"/>
            </a:endParaRPr>
          </a:p>
          <a:p>
            <a:pPr>
              <a:lnSpc>
                <a:spcPct val="100000"/>
              </a:lnSpc>
              <a:spcBef>
                <a:spcPts val="600"/>
              </a:spcBef>
              <a:spcAft>
                <a:spcPts val="600"/>
              </a:spcAft>
              <a:defRPr/>
            </a:pPr>
            <a:endParaRPr kumimoji="1" lang="en-US" altLang="zh-CN" sz="2400" dirty="0">
              <a:cs typeface="+mn-ea"/>
              <a:sym typeface="+mn-lt"/>
            </a:endParaRPr>
          </a:p>
          <a:p>
            <a:pPr>
              <a:lnSpc>
                <a:spcPct val="100000"/>
              </a:lnSpc>
              <a:spcBef>
                <a:spcPts val="600"/>
              </a:spcBef>
              <a:spcAft>
                <a:spcPts val="600"/>
              </a:spcAft>
              <a:buFont typeface="Wingdings" panose="05000000000000000000" pitchFamily="2" charset="2"/>
              <a:buChar char="l"/>
              <a:defRPr/>
            </a:pPr>
            <a:endParaRPr kumimoji="1" lang="zh-CN" altLang="en-US" sz="2400" dirty="0">
              <a:cs typeface="+mn-ea"/>
              <a:sym typeface="+mn-lt"/>
            </a:endParaRPr>
          </a:p>
        </p:txBody>
      </p:sp>
      <p:sp>
        <p:nvSpPr>
          <p:cNvPr id="4" name="灯片编号占位符 3"/>
          <p:cNvSpPr>
            <a:spLocks noGrp="1"/>
          </p:cNvSpPr>
          <p:nvPr>
            <p:ph type="sldNum" sz="quarter" idx="12"/>
          </p:nvPr>
        </p:nvSpPr>
        <p:spPr/>
        <p:txBody>
          <a:bodyPr/>
          <a:lstStyle/>
          <a:p>
            <a:pPr>
              <a:defRPr/>
            </a:pPr>
            <a:fld id="{E6B3DE21-AFB9-F14F-B875-13235536560E}" type="slidenum">
              <a:rPr lang="en-US" altLang="zh-CN" smtClean="0"/>
              <a:t>3</a:t>
            </a:fld>
            <a:endParaRPr lang="zh-CN" altLang="en-US"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内容占位符 2"/>
          <p:cNvSpPr>
            <a:spLocks noGrp="1"/>
          </p:cNvSpPr>
          <p:nvPr>
            <p:ph idx="4294967295"/>
          </p:nvPr>
        </p:nvSpPr>
        <p:spPr>
          <a:xfrm>
            <a:off x="1199456" y="1772816"/>
            <a:ext cx="9577388" cy="4395788"/>
          </a:xfrm>
        </p:spPr>
        <p:txBody>
          <a:bodyPr/>
          <a:lstStyle/>
          <a:p>
            <a:pPr lvl="1">
              <a:lnSpc>
                <a:spcPct val="100000"/>
              </a:lnSpc>
              <a:spcBef>
                <a:spcPts val="600"/>
              </a:spcBef>
              <a:spcAft>
                <a:spcPts val="600"/>
              </a:spcAft>
              <a:defRPr/>
            </a:pPr>
            <a:r>
              <a:rPr lang="zh-CN" altLang="en-US" sz="2400" b="1" dirty="0">
                <a:solidFill>
                  <a:schemeClr val="accent1"/>
                </a:solidFill>
                <a:cs typeface="+mn-ea"/>
                <a:sym typeface="+mn-lt"/>
              </a:rPr>
              <a:t>可由一个给定计算模型机械地执行的规则或计算步骤序列称为该计算模型的一个计算</a:t>
            </a:r>
            <a:endParaRPr lang="zh-CN" altLang="en-US" sz="2400" dirty="0">
              <a:cs typeface="+mn-ea"/>
              <a:sym typeface="+mn-lt"/>
            </a:endParaRPr>
          </a:p>
          <a:p>
            <a:pPr lvl="1">
              <a:lnSpc>
                <a:spcPct val="100000"/>
              </a:lnSpc>
              <a:spcBef>
                <a:spcPts val="600"/>
              </a:spcBef>
              <a:spcAft>
                <a:spcPts val="600"/>
              </a:spcAft>
              <a:defRPr/>
            </a:pPr>
            <a:r>
              <a:rPr lang="zh-CN" altLang="en-US" sz="2400" b="1" dirty="0">
                <a:solidFill>
                  <a:schemeClr val="hlink"/>
                </a:solidFill>
                <a:cs typeface="+mn-ea"/>
                <a:sym typeface="+mn-lt"/>
              </a:rPr>
              <a:t>注意</a:t>
            </a:r>
          </a:p>
          <a:p>
            <a:pPr lvl="2">
              <a:lnSpc>
                <a:spcPct val="100000"/>
              </a:lnSpc>
              <a:spcBef>
                <a:spcPts val="600"/>
              </a:spcBef>
              <a:spcAft>
                <a:spcPts val="600"/>
              </a:spcAft>
              <a:defRPr/>
            </a:pPr>
            <a:r>
              <a:rPr lang="zh-CN" altLang="en-US" sz="2400" b="1" dirty="0">
                <a:solidFill>
                  <a:schemeClr val="tx2"/>
                </a:solidFill>
                <a:cs typeface="+mn-ea"/>
                <a:sym typeface="+mn-lt"/>
              </a:rPr>
              <a:t>一个计算机程序是一个计算（计算模型是计算机）</a:t>
            </a:r>
          </a:p>
          <a:p>
            <a:pPr lvl="2">
              <a:lnSpc>
                <a:spcPct val="100000"/>
              </a:lnSpc>
              <a:spcBef>
                <a:spcPts val="600"/>
              </a:spcBef>
              <a:spcAft>
                <a:spcPts val="600"/>
              </a:spcAft>
              <a:defRPr/>
            </a:pPr>
            <a:r>
              <a:rPr lang="zh-CN" altLang="en-US" sz="2400" b="1" dirty="0">
                <a:solidFill>
                  <a:schemeClr val="tx2"/>
                </a:solidFill>
                <a:cs typeface="+mn-ea"/>
                <a:sym typeface="+mn-lt"/>
              </a:rPr>
              <a:t>计算可能永远不停止——不是算法</a:t>
            </a:r>
            <a:r>
              <a:rPr lang="zh-CN" altLang="en-US" sz="2400" dirty="0">
                <a:cs typeface="+mn-ea"/>
                <a:sym typeface="+mn-lt"/>
              </a:rPr>
              <a:t>。</a:t>
            </a:r>
            <a:endParaRPr kumimoji="1" lang="en-US" altLang="zh-CN" sz="2400" b="1" dirty="0">
              <a:solidFill>
                <a:schemeClr val="accent4"/>
              </a:solidFill>
              <a:cs typeface="+mn-ea"/>
              <a:sym typeface="+mn-lt"/>
            </a:endParaRPr>
          </a:p>
          <a:p>
            <a:pPr marL="0" indent="0">
              <a:lnSpc>
                <a:spcPct val="100000"/>
              </a:lnSpc>
              <a:spcBef>
                <a:spcPts val="600"/>
              </a:spcBef>
              <a:spcAft>
                <a:spcPts val="600"/>
              </a:spcAft>
              <a:buNone/>
              <a:defRPr/>
            </a:pPr>
            <a:endParaRPr kumimoji="1" lang="en-US" altLang="zh-CN" sz="2400" b="1" dirty="0">
              <a:solidFill>
                <a:schemeClr val="accent4"/>
              </a:solidFill>
              <a:cs typeface="+mn-ea"/>
              <a:sym typeface="+mn-lt"/>
            </a:endParaRPr>
          </a:p>
          <a:p>
            <a:pPr marL="0" indent="0">
              <a:lnSpc>
                <a:spcPct val="100000"/>
              </a:lnSpc>
              <a:spcBef>
                <a:spcPts val="600"/>
              </a:spcBef>
              <a:spcAft>
                <a:spcPts val="600"/>
              </a:spcAft>
              <a:buNone/>
              <a:defRPr/>
            </a:pPr>
            <a:endParaRPr kumimoji="1" lang="en-US" altLang="zh-CN" sz="2400" b="1" dirty="0">
              <a:solidFill>
                <a:schemeClr val="accent4"/>
              </a:solidFill>
              <a:cs typeface="+mn-ea"/>
              <a:sym typeface="+mn-lt"/>
            </a:endParaRPr>
          </a:p>
          <a:p>
            <a:pPr marL="0" indent="0">
              <a:lnSpc>
                <a:spcPct val="100000"/>
              </a:lnSpc>
              <a:spcBef>
                <a:spcPts val="600"/>
              </a:spcBef>
              <a:spcAft>
                <a:spcPts val="600"/>
              </a:spcAft>
              <a:buNone/>
              <a:defRPr/>
            </a:pPr>
            <a:endParaRPr kumimoji="1" lang="en-US" altLang="zh-CN" sz="2400" dirty="0">
              <a:cs typeface="+mn-ea"/>
              <a:sym typeface="+mn-lt"/>
            </a:endParaRPr>
          </a:p>
          <a:p>
            <a:pPr>
              <a:lnSpc>
                <a:spcPct val="100000"/>
              </a:lnSpc>
              <a:spcBef>
                <a:spcPts val="600"/>
              </a:spcBef>
              <a:spcAft>
                <a:spcPts val="600"/>
              </a:spcAft>
              <a:defRPr/>
            </a:pPr>
            <a:endParaRPr kumimoji="1" lang="en-US" altLang="zh-CN" sz="2400" dirty="0">
              <a:cs typeface="+mn-ea"/>
              <a:sym typeface="+mn-lt"/>
            </a:endParaRPr>
          </a:p>
          <a:p>
            <a:pPr>
              <a:lnSpc>
                <a:spcPct val="100000"/>
              </a:lnSpc>
              <a:spcBef>
                <a:spcPts val="600"/>
              </a:spcBef>
              <a:spcAft>
                <a:spcPts val="600"/>
              </a:spcAft>
              <a:buFont typeface="Wingdings" panose="05000000000000000000" pitchFamily="2" charset="2"/>
              <a:buChar char="l"/>
              <a:defRPr/>
            </a:pPr>
            <a:endParaRPr kumimoji="1" lang="zh-CN" altLang="en-US" sz="2400" dirty="0">
              <a:cs typeface="+mn-ea"/>
              <a:sym typeface="+mn-lt"/>
            </a:endParaRPr>
          </a:p>
        </p:txBody>
      </p:sp>
      <p:sp>
        <p:nvSpPr>
          <p:cNvPr id="77831" name="Rectangle 4"/>
          <p:cNvSpPr>
            <a:spLocks noChangeArrowheads="1"/>
          </p:cNvSpPr>
          <p:nvPr/>
        </p:nvSpPr>
        <p:spPr bwMode="auto">
          <a:xfrm>
            <a:off x="767408" y="548680"/>
            <a:ext cx="22365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algn="ctr" eaLnBrk="1" hangingPunct="1">
              <a:spcBef>
                <a:spcPct val="0"/>
              </a:spcBef>
              <a:buFontTx/>
              <a:buNone/>
            </a:pPr>
            <a:r>
              <a:rPr lang="zh-CN" altLang="en-US" b="1" dirty="0">
                <a:solidFill>
                  <a:srgbClr val="1A9EE9"/>
                </a:solidFill>
                <a:latin typeface="+mn-lt"/>
                <a:ea typeface="+mn-ea"/>
                <a:cs typeface="+mn-ea"/>
                <a:sym typeface="+mn-lt"/>
              </a:rPr>
              <a:t>计算的定义</a:t>
            </a:r>
          </a:p>
        </p:txBody>
      </p:sp>
      <p:sp>
        <p:nvSpPr>
          <p:cNvPr id="3" name="灯片编号占位符 2"/>
          <p:cNvSpPr>
            <a:spLocks noGrp="1"/>
          </p:cNvSpPr>
          <p:nvPr>
            <p:ph type="sldNum" sz="quarter" idx="12"/>
          </p:nvPr>
        </p:nvSpPr>
        <p:spPr/>
        <p:txBody>
          <a:bodyPr/>
          <a:lstStyle/>
          <a:p>
            <a:pPr>
              <a:defRPr/>
            </a:pPr>
            <a:fld id="{E6B3DE21-AFB9-F14F-B875-13235536560E}" type="slidenum">
              <a:rPr lang="en-US" altLang="zh-CN" smtClean="0"/>
              <a:t>4</a:t>
            </a:fld>
            <a:endParaRPr lang="zh-CN" altLang="en-US" dirty="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内容占位符 2"/>
          <p:cNvSpPr>
            <a:spLocks noGrp="1"/>
          </p:cNvSpPr>
          <p:nvPr>
            <p:ph idx="4294967295"/>
          </p:nvPr>
        </p:nvSpPr>
        <p:spPr>
          <a:xfrm>
            <a:off x="407368" y="1625600"/>
            <a:ext cx="8559800" cy="4395788"/>
          </a:xfrm>
        </p:spPr>
        <p:txBody>
          <a:bodyPr/>
          <a:lstStyle/>
          <a:p>
            <a:pPr marL="406400" lvl="1" indent="0">
              <a:lnSpc>
                <a:spcPct val="100000"/>
              </a:lnSpc>
              <a:spcBef>
                <a:spcPts val="600"/>
              </a:spcBef>
              <a:spcAft>
                <a:spcPts val="600"/>
              </a:spcAft>
              <a:buNone/>
              <a:defRPr/>
            </a:pPr>
            <a:r>
              <a:rPr lang="zh-CN" altLang="en-US" sz="2845" b="1" dirty="0">
                <a:solidFill>
                  <a:schemeClr val="accent1"/>
                </a:solidFill>
                <a:effectLst>
                  <a:outerShdw blurRad="38100" dist="38100" dir="2700000" algn="tl">
                    <a:srgbClr val="C0C0C0"/>
                  </a:outerShdw>
                </a:effectLst>
                <a:cs typeface="+mn-ea"/>
                <a:sym typeface="+mn-lt"/>
              </a:rPr>
              <a:t>算法是一个满足下列条件的计算：</a:t>
            </a:r>
            <a:r>
              <a:rPr lang="zh-CN" altLang="en-US" b="1" dirty="0">
                <a:effectLst>
                  <a:outerShdw blurRad="38100" dist="38100" dir="2700000" algn="tl">
                    <a:srgbClr val="C0C0C0"/>
                  </a:outerShdw>
                </a:effectLst>
                <a:cs typeface="+mn-ea"/>
                <a:sym typeface="+mn-lt"/>
              </a:rPr>
              <a:t> </a:t>
            </a:r>
            <a:endParaRPr lang="en-US" altLang="zh-CN" sz="2490" b="1" dirty="0">
              <a:effectLst>
                <a:outerShdw blurRad="38100" dist="38100" dir="2700000" algn="tl">
                  <a:srgbClr val="C0C0C0"/>
                </a:outerShdw>
              </a:effectLst>
              <a:cs typeface="+mn-ea"/>
              <a:sym typeface="+mn-lt"/>
            </a:endParaRPr>
          </a:p>
          <a:p>
            <a:pPr lvl="1">
              <a:lnSpc>
                <a:spcPct val="100000"/>
              </a:lnSpc>
              <a:spcBef>
                <a:spcPts val="600"/>
              </a:spcBef>
              <a:spcAft>
                <a:spcPts val="600"/>
              </a:spcAft>
              <a:defRPr/>
            </a:pPr>
            <a:r>
              <a:rPr lang="zh-CN" altLang="en-US" sz="2400" b="1" dirty="0">
                <a:effectLst>
                  <a:outerShdw blurRad="38100" dist="38100" dir="2700000" algn="tl">
                    <a:srgbClr val="C0C0C0"/>
                  </a:outerShdw>
                </a:effectLst>
                <a:cs typeface="+mn-ea"/>
                <a:sym typeface="+mn-lt"/>
              </a:rPr>
              <a:t>有穷性/终止性：有限步内必须停止，</a:t>
            </a:r>
          </a:p>
          <a:p>
            <a:pPr lvl="1">
              <a:lnSpc>
                <a:spcPct val="100000"/>
              </a:lnSpc>
              <a:spcBef>
                <a:spcPts val="600"/>
              </a:spcBef>
              <a:spcAft>
                <a:spcPts val="600"/>
              </a:spcAft>
              <a:defRPr/>
            </a:pPr>
            <a:r>
              <a:rPr lang="zh-CN" altLang="en-US" sz="2400" b="1" dirty="0">
                <a:effectLst>
                  <a:outerShdw blurRad="38100" dist="38100" dir="2700000" algn="tl">
                    <a:srgbClr val="C0C0C0"/>
                  </a:outerShdw>
                </a:effectLst>
                <a:cs typeface="+mn-ea"/>
                <a:sym typeface="+mn-lt"/>
              </a:rPr>
              <a:t>确定性：每一步都是严格定义和确定的动作，</a:t>
            </a:r>
          </a:p>
          <a:p>
            <a:pPr lvl="1">
              <a:lnSpc>
                <a:spcPct val="100000"/>
              </a:lnSpc>
              <a:spcBef>
                <a:spcPts val="600"/>
              </a:spcBef>
              <a:spcAft>
                <a:spcPts val="600"/>
              </a:spcAft>
              <a:defRPr/>
            </a:pPr>
            <a:r>
              <a:rPr lang="zh-CN" altLang="en-US" sz="2400" b="1" dirty="0">
                <a:effectLst>
                  <a:outerShdw blurRad="38100" dist="38100" dir="2700000" algn="tl">
                    <a:srgbClr val="C0C0C0"/>
                  </a:outerShdw>
                </a:effectLst>
                <a:cs typeface="+mn-ea"/>
                <a:sym typeface="+mn-lt"/>
              </a:rPr>
              <a:t>能行性：每一个动作都能够被精确地机械执行，</a:t>
            </a:r>
          </a:p>
          <a:p>
            <a:pPr lvl="1">
              <a:lnSpc>
                <a:spcPct val="100000"/>
              </a:lnSpc>
              <a:spcBef>
                <a:spcPts val="600"/>
              </a:spcBef>
              <a:spcAft>
                <a:spcPts val="600"/>
              </a:spcAft>
              <a:defRPr/>
            </a:pPr>
            <a:r>
              <a:rPr lang="zh-CN" altLang="en-US" sz="2400" b="1" dirty="0">
                <a:effectLst>
                  <a:outerShdw blurRad="38100" dist="38100" dir="2700000" algn="tl">
                    <a:srgbClr val="C0C0C0"/>
                  </a:outerShdw>
                </a:effectLst>
                <a:cs typeface="+mn-ea"/>
                <a:sym typeface="+mn-lt"/>
              </a:rPr>
              <a:t>输入：有一个满足给定约束条件的输入，</a:t>
            </a:r>
          </a:p>
          <a:p>
            <a:pPr lvl="1">
              <a:lnSpc>
                <a:spcPct val="100000"/>
              </a:lnSpc>
              <a:spcBef>
                <a:spcPts val="600"/>
              </a:spcBef>
              <a:spcAft>
                <a:spcPts val="600"/>
              </a:spcAft>
              <a:defRPr/>
            </a:pPr>
            <a:r>
              <a:rPr lang="zh-CN" altLang="en-US" sz="2400" b="1" dirty="0">
                <a:effectLst>
                  <a:outerShdw blurRad="38100" dist="38100" dir="2700000" algn="tl">
                    <a:srgbClr val="C0C0C0"/>
                  </a:outerShdw>
                </a:effectLst>
                <a:cs typeface="+mn-ea"/>
                <a:sym typeface="+mn-lt"/>
              </a:rPr>
              <a:t>输出：满足给定约束条件的结果。</a:t>
            </a:r>
          </a:p>
          <a:p>
            <a:pPr marL="406400" lvl="1" indent="0" algn="just">
              <a:lnSpc>
                <a:spcPct val="100000"/>
              </a:lnSpc>
              <a:spcBef>
                <a:spcPts val="600"/>
              </a:spcBef>
              <a:spcAft>
                <a:spcPts val="600"/>
              </a:spcAft>
              <a:buNone/>
              <a:defRPr/>
            </a:pPr>
            <a:endParaRPr lang="zh-CN" altLang="en-US" b="1" dirty="0">
              <a:solidFill>
                <a:schemeClr val="hlink"/>
              </a:solidFill>
              <a:effectLst>
                <a:outerShdw blurRad="38100" dist="38100" dir="2700000" algn="tl">
                  <a:srgbClr val="C0C0C0"/>
                </a:outerShdw>
              </a:effectLst>
              <a:cs typeface="+mn-ea"/>
              <a:sym typeface="+mn-lt"/>
            </a:endParaRPr>
          </a:p>
          <a:p>
            <a:pPr marL="406400" lvl="1" indent="0" algn="just">
              <a:lnSpc>
                <a:spcPct val="100000"/>
              </a:lnSpc>
              <a:spcBef>
                <a:spcPts val="600"/>
              </a:spcBef>
              <a:spcAft>
                <a:spcPts val="600"/>
              </a:spcAft>
              <a:defRPr/>
            </a:pPr>
            <a:endParaRPr lang="zh-CN" altLang="en-US" b="1" dirty="0">
              <a:solidFill>
                <a:schemeClr val="accent1"/>
              </a:solidFill>
              <a:effectLst>
                <a:outerShdw blurRad="38100" dist="38100" dir="2700000" algn="tl">
                  <a:srgbClr val="C0C0C0"/>
                </a:outerShdw>
              </a:effectLst>
              <a:cs typeface="+mn-ea"/>
              <a:sym typeface="+mn-lt"/>
            </a:endParaRPr>
          </a:p>
          <a:p>
            <a:pPr marL="0" indent="0">
              <a:lnSpc>
                <a:spcPct val="100000"/>
              </a:lnSpc>
              <a:spcBef>
                <a:spcPts val="600"/>
              </a:spcBef>
              <a:spcAft>
                <a:spcPts val="600"/>
              </a:spcAft>
              <a:buNone/>
              <a:defRPr/>
            </a:pPr>
            <a:endParaRPr lang="en-US" altLang="zh-CN" sz="1955" b="1" dirty="0">
              <a:solidFill>
                <a:srgbClr val="8064A2"/>
              </a:solidFill>
              <a:cs typeface="+mn-ea"/>
              <a:sym typeface="+mn-lt"/>
            </a:endParaRPr>
          </a:p>
          <a:p>
            <a:pPr marL="0" indent="0">
              <a:lnSpc>
                <a:spcPct val="100000"/>
              </a:lnSpc>
              <a:spcBef>
                <a:spcPts val="600"/>
              </a:spcBef>
              <a:spcAft>
                <a:spcPts val="600"/>
              </a:spcAft>
              <a:buNone/>
              <a:defRPr/>
            </a:pPr>
            <a:endParaRPr lang="en-US" altLang="zh-CN" sz="1955" b="1" dirty="0">
              <a:solidFill>
                <a:srgbClr val="8064A2"/>
              </a:solidFill>
              <a:cs typeface="+mn-ea"/>
              <a:sym typeface="+mn-lt"/>
            </a:endParaRPr>
          </a:p>
          <a:p>
            <a:pPr marL="0" indent="0">
              <a:lnSpc>
                <a:spcPct val="100000"/>
              </a:lnSpc>
              <a:spcBef>
                <a:spcPts val="600"/>
              </a:spcBef>
              <a:spcAft>
                <a:spcPts val="600"/>
              </a:spcAft>
              <a:buNone/>
              <a:defRPr/>
            </a:pPr>
            <a:endParaRPr lang="en-US" altLang="zh-CN" sz="1600" dirty="0">
              <a:cs typeface="+mn-ea"/>
              <a:sym typeface="+mn-lt"/>
            </a:endParaRPr>
          </a:p>
          <a:p>
            <a:pPr marL="0" indent="0">
              <a:lnSpc>
                <a:spcPct val="100000"/>
              </a:lnSpc>
              <a:spcBef>
                <a:spcPts val="600"/>
              </a:spcBef>
              <a:spcAft>
                <a:spcPts val="600"/>
              </a:spcAft>
              <a:defRPr/>
            </a:pPr>
            <a:endParaRPr lang="en-US" altLang="zh-CN" sz="1600" dirty="0">
              <a:cs typeface="+mn-ea"/>
              <a:sym typeface="+mn-lt"/>
            </a:endParaRPr>
          </a:p>
          <a:p>
            <a:pPr marL="0" indent="0">
              <a:lnSpc>
                <a:spcPct val="100000"/>
              </a:lnSpc>
              <a:spcBef>
                <a:spcPts val="600"/>
              </a:spcBef>
              <a:spcAft>
                <a:spcPts val="600"/>
              </a:spcAft>
              <a:buFont typeface="Wingdings" panose="05000000000000000000" pitchFamily="2" charset="2"/>
              <a:buChar char="l"/>
              <a:defRPr/>
            </a:pPr>
            <a:endParaRPr lang="zh-CN" altLang="en-US" sz="1600" dirty="0">
              <a:cs typeface="+mn-ea"/>
              <a:sym typeface="+mn-lt"/>
            </a:endParaRPr>
          </a:p>
        </p:txBody>
      </p:sp>
      <p:sp>
        <p:nvSpPr>
          <p:cNvPr id="79879" name="Rectangle 4"/>
          <p:cNvSpPr>
            <a:spLocks noChangeArrowheads="1"/>
          </p:cNvSpPr>
          <p:nvPr/>
        </p:nvSpPr>
        <p:spPr bwMode="auto">
          <a:xfrm>
            <a:off x="911424" y="541024"/>
            <a:ext cx="22365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algn="ctr" eaLnBrk="1" hangingPunct="1">
              <a:spcBef>
                <a:spcPct val="0"/>
              </a:spcBef>
              <a:buFontTx/>
              <a:buNone/>
            </a:pPr>
            <a:r>
              <a:rPr lang="zh-CN" altLang="en-US" b="1" dirty="0">
                <a:solidFill>
                  <a:srgbClr val="1A9EE9"/>
                </a:solidFill>
                <a:latin typeface="+mn-lt"/>
                <a:ea typeface="+mn-ea"/>
                <a:cs typeface="+mn-ea"/>
                <a:sym typeface="+mn-lt"/>
              </a:rPr>
              <a:t>算法的定义</a:t>
            </a:r>
          </a:p>
        </p:txBody>
      </p:sp>
      <p:pic>
        <p:nvPicPr>
          <p:cNvPr id="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200" y="1625600"/>
            <a:ext cx="2590258" cy="3314576"/>
          </a:xfrm>
          <a:prstGeom prst="rect">
            <a:avLst/>
          </a:prstGeom>
          <a:noFill/>
          <a:ln w="57150" cmpd="thickThin">
            <a:solidFill>
              <a:srgbClr val="000080"/>
            </a:solidFill>
            <a:miter lim="800000"/>
            <a:headEnd/>
            <a:tailEnd/>
          </a:ln>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pPr>
              <a:defRPr/>
            </a:pPr>
            <a:fld id="{E6B3DE21-AFB9-F14F-B875-13235536560E}" type="slidenum">
              <a:rPr lang="en-US" altLang="zh-CN" smtClean="0"/>
              <a:t>5</a:t>
            </a:fld>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9"/>
          <p:cNvSpPr txBox="1">
            <a:spLocks noChangeArrowheads="1"/>
          </p:cNvSpPr>
          <p:nvPr/>
        </p:nvSpPr>
        <p:spPr bwMode="auto">
          <a:xfrm>
            <a:off x="4639734" y="1133125"/>
            <a:ext cx="2712156" cy="60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2755900" algn="l"/>
              </a:tabLst>
              <a:defRPr>
                <a:solidFill>
                  <a:schemeClr val="tx1"/>
                </a:solidFill>
                <a:latin typeface="Calibri" panose="020F0502020204030204" pitchFamily="34" charset="0"/>
                <a:ea typeface="宋体" pitchFamily="2" charset="-122"/>
                <a:cs typeface="宋体" pitchFamily="2" charset="-122"/>
              </a:defRPr>
            </a:lvl1pPr>
            <a:lvl2pPr marL="742950" indent="-285750">
              <a:tabLst>
                <a:tab pos="2755900" algn="l"/>
              </a:tabLst>
              <a:defRPr>
                <a:solidFill>
                  <a:schemeClr val="tx1"/>
                </a:solidFill>
                <a:latin typeface="Calibri" panose="020F0502020204030204" pitchFamily="34" charset="0"/>
                <a:ea typeface="宋体" pitchFamily="2" charset="-122"/>
              </a:defRPr>
            </a:lvl2pPr>
            <a:lvl3pPr marL="1143000" indent="-228600">
              <a:tabLst>
                <a:tab pos="2755900" algn="l"/>
              </a:tabLst>
              <a:defRPr>
                <a:solidFill>
                  <a:schemeClr val="tx1"/>
                </a:solidFill>
                <a:latin typeface="Calibri" panose="020F0502020204030204" pitchFamily="34" charset="0"/>
                <a:ea typeface="宋体" pitchFamily="2" charset="-122"/>
              </a:defRPr>
            </a:lvl3pPr>
            <a:lvl4pPr marL="1600200" indent="-228600">
              <a:tabLst>
                <a:tab pos="2755900" algn="l"/>
              </a:tabLst>
              <a:defRPr>
                <a:solidFill>
                  <a:schemeClr val="tx1"/>
                </a:solidFill>
                <a:latin typeface="Calibri" panose="020F0502020204030204" pitchFamily="34" charset="0"/>
                <a:ea typeface="宋体" pitchFamily="2" charset="-122"/>
              </a:defRPr>
            </a:lvl4pPr>
            <a:lvl5pPr marL="2057400" indent="-228600">
              <a:tabLst>
                <a:tab pos="2755900" algn="l"/>
              </a:tabLst>
              <a:defRPr>
                <a:solidFill>
                  <a:schemeClr val="tx1"/>
                </a:solidFill>
                <a:latin typeface="Calibri" panose="020F0502020204030204" pitchFamily="34" charset="0"/>
                <a:ea typeface="宋体" pitchFamily="2" charset="-122"/>
              </a:defRPr>
            </a:lvl5pPr>
            <a:lvl6pPr marL="25146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6pPr>
            <a:lvl7pPr marL="29718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7pPr>
            <a:lvl8pPr marL="34290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8pPr>
            <a:lvl9pPr marL="38862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9pPr>
          </a:lstStyle>
          <a:p>
            <a:pPr eaLnBrk="1" hangingPunct="1">
              <a:defRPr/>
            </a:pPr>
            <a:r>
              <a:rPr lang="zh-CN" altLang="en-US" sz="3910" b="1" dirty="0">
                <a:solidFill>
                  <a:srgbClr val="1F497D">
                    <a:lumMod val="60000"/>
                    <a:lumOff val="40000"/>
                  </a:srgbClr>
                </a:solidFill>
                <a:latin typeface="+mn-lt"/>
                <a:ea typeface="+mn-ea"/>
                <a:cs typeface="+mn-ea"/>
                <a:sym typeface="+mn-lt"/>
              </a:rPr>
              <a:t>本讲内容</a:t>
            </a:r>
          </a:p>
        </p:txBody>
      </p:sp>
      <p:sp>
        <p:nvSpPr>
          <p:cNvPr id="73734" name="TextBox 1"/>
          <p:cNvSpPr txBox="1">
            <a:spLocks noChangeArrowheads="1"/>
          </p:cNvSpPr>
          <p:nvPr/>
        </p:nvSpPr>
        <p:spPr bwMode="auto">
          <a:xfrm>
            <a:off x="2686756" y="2321278"/>
            <a:ext cx="7121878" cy="300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lvl="1">
              <a:spcBef>
                <a:spcPct val="0"/>
              </a:spcBef>
              <a:buFontTx/>
              <a:buNone/>
            </a:pPr>
            <a:r>
              <a:rPr lang="en-US" altLang="zh-CN" sz="3910" dirty="0">
                <a:solidFill>
                  <a:srgbClr val="000000"/>
                </a:solidFill>
                <a:latin typeface="+mn-lt"/>
                <a:ea typeface="+mn-ea"/>
                <a:cs typeface="+mn-ea"/>
                <a:sym typeface="+mn-lt"/>
              </a:rPr>
              <a:t>12.1 </a:t>
            </a:r>
            <a:r>
              <a:rPr lang="zh-CN" altLang="zh-CN" sz="3910" dirty="0">
                <a:solidFill>
                  <a:srgbClr val="000000"/>
                </a:solidFill>
                <a:latin typeface="+mn-lt"/>
                <a:ea typeface="+mn-ea"/>
                <a:cs typeface="+mn-ea"/>
                <a:sym typeface="+mn-lt"/>
              </a:rPr>
              <a:t>什么是算法？</a:t>
            </a:r>
          </a:p>
          <a:p>
            <a:pPr lvl="1">
              <a:spcBef>
                <a:spcPct val="0"/>
              </a:spcBef>
              <a:buFontTx/>
              <a:buNone/>
            </a:pPr>
            <a:r>
              <a:rPr lang="en-US" altLang="zh-CN" sz="3910" b="1" dirty="0">
                <a:solidFill>
                  <a:srgbClr val="000000"/>
                </a:solidFill>
                <a:latin typeface="+mn-lt"/>
                <a:ea typeface="+mn-ea"/>
                <a:cs typeface="+mn-ea"/>
                <a:sym typeface="+mn-lt"/>
              </a:rPr>
              <a:t>12.2 </a:t>
            </a:r>
            <a:r>
              <a:rPr lang="zh-CN" altLang="zh-CN" sz="3910" b="1" dirty="0">
                <a:solidFill>
                  <a:srgbClr val="000000"/>
                </a:solidFill>
                <a:latin typeface="+mn-lt"/>
                <a:ea typeface="+mn-ea"/>
                <a:cs typeface="+mn-ea"/>
                <a:sym typeface="+mn-lt"/>
              </a:rPr>
              <a:t>算法分析</a:t>
            </a:r>
          </a:p>
          <a:p>
            <a:pPr lvl="1">
              <a:spcBef>
                <a:spcPct val="0"/>
              </a:spcBef>
              <a:buFontTx/>
              <a:buNone/>
            </a:pPr>
            <a:r>
              <a:rPr lang="en-US" altLang="zh-CN" sz="3910" dirty="0">
                <a:solidFill>
                  <a:srgbClr val="000000"/>
                </a:solidFill>
                <a:latin typeface="+mn-lt"/>
                <a:ea typeface="+mn-ea"/>
                <a:cs typeface="+mn-ea"/>
                <a:sym typeface="+mn-lt"/>
              </a:rPr>
              <a:t>12.3 </a:t>
            </a:r>
            <a:r>
              <a:rPr lang="zh-CN" altLang="en-US" sz="3910" dirty="0">
                <a:solidFill>
                  <a:srgbClr val="000000"/>
                </a:solidFill>
                <a:latin typeface="+mn-lt"/>
                <a:ea typeface="+mn-ea"/>
                <a:cs typeface="+mn-ea"/>
                <a:sym typeface="+mn-lt"/>
              </a:rPr>
              <a:t>应用举例：查找算法</a:t>
            </a:r>
            <a:endParaRPr lang="en-US" altLang="zh-CN" sz="3910" dirty="0">
              <a:solidFill>
                <a:srgbClr val="000000"/>
              </a:solidFill>
              <a:latin typeface="+mn-lt"/>
              <a:ea typeface="+mn-ea"/>
              <a:cs typeface="+mn-ea"/>
              <a:sym typeface="+mn-lt"/>
            </a:endParaRPr>
          </a:p>
          <a:p>
            <a:pPr lvl="1">
              <a:spcBef>
                <a:spcPct val="0"/>
              </a:spcBef>
              <a:buFontTx/>
              <a:buNone/>
            </a:pPr>
            <a:r>
              <a:rPr lang="en-US" altLang="zh-CN" sz="3910" dirty="0">
                <a:solidFill>
                  <a:srgbClr val="000000"/>
                </a:solidFill>
                <a:latin typeface="+mn-lt"/>
                <a:ea typeface="+mn-ea"/>
                <a:cs typeface="+mn-ea"/>
                <a:sym typeface="+mn-lt"/>
              </a:rPr>
              <a:t>12.4 </a:t>
            </a:r>
            <a:r>
              <a:rPr lang="zh-CN" altLang="en-US" sz="3910" dirty="0">
                <a:solidFill>
                  <a:srgbClr val="000000"/>
                </a:solidFill>
                <a:latin typeface="+mn-lt"/>
                <a:ea typeface="+mn-ea"/>
                <a:cs typeface="+mn-ea"/>
                <a:sym typeface="+mn-lt"/>
              </a:rPr>
              <a:t>应用举例：数组修改</a:t>
            </a:r>
            <a:endParaRPr lang="zh-CN" altLang="zh-CN" sz="3910"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90" dirty="0">
              <a:solidFill>
                <a:srgbClr val="1A9EE9"/>
              </a:solidFill>
              <a:latin typeface="+mn-lt"/>
              <a:ea typeface="+mn-ea"/>
              <a:cs typeface="+mn-ea"/>
              <a:sym typeface="+mn-lt"/>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8739" name="Rectangle 3"/>
          <p:cNvSpPr>
            <a:spLocks noGrp="1" noChangeArrowheads="1"/>
          </p:cNvSpPr>
          <p:nvPr>
            <p:ph idx="4294967295"/>
          </p:nvPr>
        </p:nvSpPr>
        <p:spPr>
          <a:xfrm>
            <a:off x="1703512" y="1268760"/>
            <a:ext cx="8467725" cy="4741862"/>
          </a:xfrm>
        </p:spPr>
        <p:txBody>
          <a:bodyPr/>
          <a:lstStyle/>
          <a:p>
            <a:pPr algn="just">
              <a:lnSpc>
                <a:spcPct val="100000"/>
              </a:lnSpc>
              <a:spcBef>
                <a:spcPts val="600"/>
              </a:spcBef>
              <a:spcAft>
                <a:spcPts val="600"/>
              </a:spcAft>
            </a:pPr>
            <a:r>
              <a:rPr lang="zh-CN" altLang="en-US" sz="2800" b="1" dirty="0">
                <a:cs typeface="+mn-ea"/>
                <a:sym typeface="+mn-lt"/>
              </a:rPr>
              <a:t>算法正确性</a:t>
            </a:r>
            <a:endParaRPr lang="en-US" altLang="zh-CN" sz="2800" b="1" dirty="0">
              <a:cs typeface="+mn-ea"/>
              <a:sym typeface="+mn-lt"/>
            </a:endParaRPr>
          </a:p>
          <a:p>
            <a:pPr lvl="1" algn="just">
              <a:lnSpc>
                <a:spcPct val="100000"/>
              </a:lnSpc>
              <a:spcBef>
                <a:spcPts val="600"/>
              </a:spcBef>
              <a:spcAft>
                <a:spcPts val="600"/>
              </a:spcAft>
            </a:pPr>
            <a:r>
              <a:rPr lang="zh-CN" altLang="en-US" sz="2400" b="1" dirty="0">
                <a:solidFill>
                  <a:schemeClr val="accent1"/>
                </a:solidFill>
                <a:cs typeface="+mn-ea"/>
                <a:sym typeface="+mn-lt"/>
              </a:rPr>
              <a:t>一个算法是正确的，如果它对于每一个输入都最终停止,而且产生正确的输出。</a:t>
            </a:r>
          </a:p>
          <a:p>
            <a:pPr lvl="1" algn="just">
              <a:lnSpc>
                <a:spcPct val="100000"/>
              </a:lnSpc>
              <a:spcBef>
                <a:spcPts val="600"/>
              </a:spcBef>
              <a:spcAft>
                <a:spcPts val="600"/>
              </a:spcAft>
            </a:pPr>
            <a:r>
              <a:rPr lang="zh-CN" altLang="en-US" sz="2400" b="1" dirty="0">
                <a:solidFill>
                  <a:schemeClr val="hlink"/>
                </a:solidFill>
                <a:cs typeface="+mn-ea"/>
                <a:sym typeface="+mn-lt"/>
              </a:rPr>
              <a:t>不正确算法</a:t>
            </a:r>
            <a:r>
              <a:rPr lang="en-US" altLang="zh-CN" sz="2400" b="1" dirty="0">
                <a:solidFill>
                  <a:schemeClr val="hlink"/>
                </a:solidFill>
                <a:cs typeface="+mn-ea"/>
                <a:sym typeface="+mn-lt"/>
              </a:rPr>
              <a:t>：</a:t>
            </a:r>
          </a:p>
          <a:p>
            <a:pPr marL="812800" lvl="2" indent="0" algn="just">
              <a:lnSpc>
                <a:spcPct val="100000"/>
              </a:lnSpc>
              <a:spcBef>
                <a:spcPts val="600"/>
              </a:spcBef>
              <a:spcAft>
                <a:spcPts val="600"/>
              </a:spcAft>
              <a:buNone/>
            </a:pPr>
            <a:r>
              <a:rPr lang="zh-CN" altLang="en-US" sz="2490" b="1" dirty="0">
                <a:solidFill>
                  <a:schemeClr val="tx2"/>
                </a:solidFill>
                <a:cs typeface="+mn-ea"/>
                <a:sym typeface="+mn-lt"/>
              </a:rPr>
              <a:t>①不停止(在某个输入上)</a:t>
            </a:r>
          </a:p>
          <a:p>
            <a:pPr marL="812800" lvl="2" indent="0" algn="just">
              <a:lnSpc>
                <a:spcPct val="100000"/>
              </a:lnSpc>
              <a:spcBef>
                <a:spcPts val="600"/>
              </a:spcBef>
              <a:spcAft>
                <a:spcPts val="600"/>
              </a:spcAft>
              <a:buNone/>
            </a:pPr>
            <a:r>
              <a:rPr lang="zh-CN" altLang="en-US" sz="2490" b="1" dirty="0">
                <a:solidFill>
                  <a:schemeClr val="tx2"/>
                </a:solidFill>
                <a:cs typeface="+mn-ea"/>
                <a:sym typeface="+mn-lt"/>
              </a:rPr>
              <a:t>②对所有输入都停止，但对某输入产生不正确结果</a:t>
            </a:r>
          </a:p>
          <a:p>
            <a:pPr lvl="1" algn="just">
              <a:lnSpc>
                <a:spcPct val="100000"/>
              </a:lnSpc>
              <a:spcBef>
                <a:spcPts val="600"/>
              </a:spcBef>
              <a:spcAft>
                <a:spcPts val="600"/>
              </a:spcAft>
            </a:pPr>
            <a:r>
              <a:rPr lang="zh-CN" altLang="en-US" sz="2400" b="1" dirty="0">
                <a:solidFill>
                  <a:schemeClr val="hlink"/>
                </a:solidFill>
                <a:cs typeface="+mn-ea"/>
                <a:sym typeface="+mn-lt"/>
              </a:rPr>
              <a:t>近似算法：</a:t>
            </a:r>
          </a:p>
          <a:p>
            <a:pPr marL="812800" lvl="2" indent="0" algn="just">
              <a:lnSpc>
                <a:spcPct val="100000"/>
              </a:lnSpc>
              <a:spcBef>
                <a:spcPts val="600"/>
              </a:spcBef>
              <a:spcAft>
                <a:spcPts val="600"/>
              </a:spcAft>
              <a:buNone/>
            </a:pPr>
            <a:r>
              <a:rPr lang="zh-CN" altLang="en-US" sz="2490" b="1" dirty="0">
                <a:solidFill>
                  <a:schemeClr val="tx2"/>
                </a:solidFill>
                <a:cs typeface="+mn-ea"/>
                <a:sym typeface="+mn-lt"/>
              </a:rPr>
              <a:t>①对所有输入都停止</a:t>
            </a:r>
          </a:p>
          <a:p>
            <a:pPr marL="812800" lvl="2" indent="0" algn="just">
              <a:lnSpc>
                <a:spcPct val="100000"/>
              </a:lnSpc>
              <a:spcBef>
                <a:spcPts val="600"/>
              </a:spcBef>
              <a:spcAft>
                <a:spcPts val="600"/>
              </a:spcAft>
              <a:buNone/>
            </a:pPr>
            <a:r>
              <a:rPr lang="zh-CN" altLang="en-US" sz="2490" b="1" dirty="0">
                <a:solidFill>
                  <a:schemeClr val="tx2"/>
                </a:solidFill>
                <a:cs typeface="+mn-ea"/>
                <a:sym typeface="+mn-lt"/>
              </a:rPr>
              <a:t>②产生近似正确的解或产生不多的不正确解</a:t>
            </a:r>
          </a:p>
        </p:txBody>
      </p:sp>
      <p:sp>
        <p:nvSpPr>
          <p:cNvPr id="108547" name="Rectangle 4"/>
          <p:cNvSpPr>
            <a:spLocks noChangeArrowheads="1"/>
          </p:cNvSpPr>
          <p:nvPr/>
        </p:nvSpPr>
        <p:spPr bwMode="auto">
          <a:xfrm>
            <a:off x="1055440" y="404664"/>
            <a:ext cx="34676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cs typeface="+mn-ea"/>
                <a:sym typeface="+mn-lt"/>
              </a:rPr>
              <a:t>算法的正确性分析</a:t>
            </a:r>
          </a:p>
        </p:txBody>
      </p:sp>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7</a:t>
            </a:fld>
            <a:endParaRPr lang="zh-CN" altLang="en-US" dirty="0"/>
          </a:p>
        </p:txBody>
      </p:sp>
    </p:spTree>
  </p:cSld>
  <p:clrMapOvr>
    <a:overrideClrMapping bg1="lt1" tx1="dk1" bg2="lt2" tx2="dk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8739">
                                            <p:txEl>
                                              <p:pRg st="2" end="2"/>
                                            </p:txEl>
                                          </p:spTgt>
                                        </p:tgtEl>
                                        <p:attrNameLst>
                                          <p:attrName>style.visibility</p:attrName>
                                        </p:attrNameLst>
                                      </p:cBhvr>
                                      <p:to>
                                        <p:strVal val="visible"/>
                                      </p:to>
                                    </p:set>
                                    <p:anim calcmode="lin" valueType="num">
                                      <p:cBhvr additive="base">
                                        <p:cTn id="7" dur="500" fill="hold"/>
                                        <p:tgtEl>
                                          <p:spTgt spid="62873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873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8739">
                                            <p:txEl>
                                              <p:pRg st="3" end="3"/>
                                            </p:txEl>
                                          </p:spTgt>
                                        </p:tgtEl>
                                        <p:attrNameLst>
                                          <p:attrName>style.visibility</p:attrName>
                                        </p:attrNameLst>
                                      </p:cBhvr>
                                      <p:to>
                                        <p:strVal val="visible"/>
                                      </p:to>
                                    </p:set>
                                    <p:anim calcmode="lin" valueType="num">
                                      <p:cBhvr additive="base">
                                        <p:cTn id="11" dur="500" fill="hold"/>
                                        <p:tgtEl>
                                          <p:spTgt spid="62873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873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8739">
                                            <p:txEl>
                                              <p:pRg st="4" end="4"/>
                                            </p:txEl>
                                          </p:spTgt>
                                        </p:tgtEl>
                                        <p:attrNameLst>
                                          <p:attrName>style.visibility</p:attrName>
                                        </p:attrNameLst>
                                      </p:cBhvr>
                                      <p:to>
                                        <p:strVal val="visible"/>
                                      </p:to>
                                    </p:set>
                                    <p:anim calcmode="lin" valueType="num">
                                      <p:cBhvr additive="base">
                                        <p:cTn id="15" dur="500" fill="hold"/>
                                        <p:tgtEl>
                                          <p:spTgt spid="62873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87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28739">
                                            <p:txEl>
                                              <p:pRg st="5" end="5"/>
                                            </p:txEl>
                                          </p:spTgt>
                                        </p:tgtEl>
                                        <p:attrNameLst>
                                          <p:attrName>style.visibility</p:attrName>
                                        </p:attrNameLst>
                                      </p:cBhvr>
                                      <p:to>
                                        <p:strVal val="visible"/>
                                      </p:to>
                                    </p:set>
                                    <p:anim calcmode="lin" valueType="num">
                                      <p:cBhvr additive="base">
                                        <p:cTn id="21" dur="500" fill="hold"/>
                                        <p:tgtEl>
                                          <p:spTgt spid="628739">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28739">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28739">
                                            <p:txEl>
                                              <p:pRg st="6" end="6"/>
                                            </p:txEl>
                                          </p:spTgt>
                                        </p:tgtEl>
                                        <p:attrNameLst>
                                          <p:attrName>style.visibility</p:attrName>
                                        </p:attrNameLst>
                                      </p:cBhvr>
                                      <p:to>
                                        <p:strVal val="visible"/>
                                      </p:to>
                                    </p:set>
                                    <p:anim calcmode="lin" valueType="num">
                                      <p:cBhvr additive="base">
                                        <p:cTn id="25" dur="500" fill="hold"/>
                                        <p:tgtEl>
                                          <p:spTgt spid="628739">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8739">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28739">
                                            <p:txEl>
                                              <p:pRg st="7" end="7"/>
                                            </p:txEl>
                                          </p:spTgt>
                                        </p:tgtEl>
                                        <p:attrNameLst>
                                          <p:attrName>style.visibility</p:attrName>
                                        </p:attrNameLst>
                                      </p:cBhvr>
                                      <p:to>
                                        <p:strVal val="visible"/>
                                      </p:to>
                                    </p:set>
                                    <p:anim calcmode="lin" valueType="num">
                                      <p:cBhvr additive="base">
                                        <p:cTn id="29" dur="500" fill="hold"/>
                                        <p:tgtEl>
                                          <p:spTgt spid="628739">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287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0787" name="Rectangle 3"/>
              <p:cNvSpPr>
                <a:spLocks noGrp="1" noChangeArrowheads="1"/>
              </p:cNvSpPr>
              <p:nvPr>
                <p:ph idx="4294967295"/>
              </p:nvPr>
            </p:nvSpPr>
            <p:spPr>
              <a:xfrm>
                <a:off x="1775520" y="1412776"/>
                <a:ext cx="8923338" cy="4552950"/>
              </a:xfrm>
            </p:spPr>
            <p:txBody>
              <a:bodyPr/>
              <a:lstStyle/>
              <a:p>
                <a:pPr marL="0" indent="0" algn="just">
                  <a:lnSpc>
                    <a:spcPct val="100000"/>
                  </a:lnSpc>
                  <a:spcBef>
                    <a:spcPts val="600"/>
                  </a:spcBef>
                  <a:spcAft>
                    <a:spcPts val="600"/>
                  </a:spcAft>
                  <a:buNone/>
                </a:pPr>
                <a:r>
                  <a:rPr lang="zh-CN" altLang="en-US" sz="3200" b="1" dirty="0">
                    <a:cs typeface="+mn-ea"/>
                    <a:sym typeface="+mn-lt"/>
                  </a:rPr>
                  <a:t>算法正确性证明（不做要求，后续课程学习）</a:t>
                </a:r>
              </a:p>
              <a:p>
                <a:pPr lvl="1" algn="just">
                  <a:lnSpc>
                    <a:spcPct val="100000"/>
                  </a:lnSpc>
                  <a:spcBef>
                    <a:spcPts val="600"/>
                  </a:spcBef>
                  <a:spcAft>
                    <a:spcPts val="600"/>
                  </a:spcAft>
                </a:pPr>
                <a:r>
                  <a:rPr lang="zh-CN" altLang="en-US" sz="2845" b="1" dirty="0">
                    <a:solidFill>
                      <a:schemeClr val="accent1"/>
                    </a:solidFill>
                    <a:cs typeface="+mn-ea"/>
                    <a:sym typeface="+mn-lt"/>
                  </a:rPr>
                  <a:t>证明算法对所有输入都停止</a:t>
                </a:r>
              </a:p>
              <a:p>
                <a:pPr lvl="1" algn="just">
                  <a:lnSpc>
                    <a:spcPct val="100000"/>
                  </a:lnSpc>
                  <a:spcBef>
                    <a:spcPts val="600"/>
                  </a:spcBef>
                  <a:spcAft>
                    <a:spcPts val="600"/>
                  </a:spcAft>
                </a:pPr>
                <a:r>
                  <a:rPr lang="zh-CN" altLang="en-US" sz="2845" b="1" dirty="0">
                    <a:solidFill>
                      <a:schemeClr val="accent1"/>
                    </a:solidFill>
                    <a:cs typeface="+mn-ea"/>
                    <a:sym typeface="+mn-lt"/>
                  </a:rPr>
                  <a:t>证明对每个输入都产生正确结果</a:t>
                </a:r>
              </a:p>
              <a:p>
                <a:pPr marL="0" indent="0" algn="just">
                  <a:lnSpc>
                    <a:spcPct val="100000"/>
                  </a:lnSpc>
                  <a:spcBef>
                    <a:spcPts val="600"/>
                  </a:spcBef>
                  <a:spcAft>
                    <a:spcPts val="600"/>
                  </a:spcAft>
                  <a:buNone/>
                </a:pPr>
                <a:r>
                  <a:rPr lang="zh-CN" altLang="en-US" sz="3200" b="1" dirty="0">
                    <a:solidFill>
                      <a:srgbClr val="7030A0"/>
                    </a:solidFill>
                    <a:cs typeface="+mn-ea"/>
                    <a:sym typeface="+mn-lt"/>
                  </a:rPr>
                  <a:t>调试程序</a:t>
                </a:r>
                <a14:m>
                  <m:oMath xmlns:m="http://schemas.openxmlformats.org/officeDocument/2006/math">
                    <m:r>
                      <a:rPr lang="zh-CN" altLang="en-US" sz="3200" b="1" i="1" dirty="0">
                        <a:solidFill>
                          <a:srgbClr val="7030A0"/>
                        </a:solidFill>
                        <a:latin typeface="Cambria Math" panose="02040503050406030204" pitchFamily="18" charset="0"/>
                        <a:cs typeface="+mn-ea"/>
                        <a:sym typeface="+mn-lt"/>
                      </a:rPr>
                      <m:t>≠</m:t>
                    </m:r>
                  </m:oMath>
                </a14:m>
                <a:r>
                  <a:rPr lang="zh-CN" altLang="en-US" sz="3200" b="1" dirty="0">
                    <a:solidFill>
                      <a:srgbClr val="7030A0"/>
                    </a:solidFill>
                    <a:cs typeface="+mn-ea"/>
                    <a:sym typeface="+mn-lt"/>
                  </a:rPr>
                  <a:t>程序正确性证明</a:t>
                </a:r>
                <a:r>
                  <a:rPr lang="en-US" altLang="zh-CN" sz="3200" b="1" dirty="0">
                    <a:solidFill>
                      <a:srgbClr val="7030A0"/>
                    </a:solidFill>
                    <a:cs typeface="+mn-ea"/>
                    <a:sym typeface="+mn-lt"/>
                  </a:rPr>
                  <a:t>:</a:t>
                </a:r>
              </a:p>
              <a:p>
                <a:pPr lvl="1">
                  <a:lnSpc>
                    <a:spcPct val="100000"/>
                  </a:lnSpc>
                  <a:spcBef>
                    <a:spcPts val="600"/>
                  </a:spcBef>
                  <a:spcAft>
                    <a:spcPts val="600"/>
                  </a:spcAft>
                </a:pPr>
                <a:r>
                  <a:rPr lang="zh-CN" altLang="en-US" sz="2845" b="1" dirty="0">
                    <a:solidFill>
                      <a:srgbClr val="FF0000"/>
                    </a:solidFill>
                    <a:cs typeface="+mn-ea"/>
                    <a:sym typeface="+mn-lt"/>
                  </a:rPr>
                  <a:t> 程序调试只能证明程序有错，</a:t>
                </a:r>
              </a:p>
              <a:p>
                <a:pPr lvl="1">
                  <a:lnSpc>
                    <a:spcPct val="100000"/>
                  </a:lnSpc>
                  <a:spcBef>
                    <a:spcPts val="600"/>
                  </a:spcBef>
                  <a:spcAft>
                    <a:spcPts val="600"/>
                  </a:spcAft>
                </a:pPr>
                <a:r>
                  <a:rPr lang="zh-CN" altLang="en-US" sz="2845" b="1" dirty="0">
                    <a:solidFill>
                      <a:srgbClr val="FF0000"/>
                    </a:solidFill>
                    <a:cs typeface="+mn-ea"/>
                    <a:sym typeface="+mn-lt"/>
                  </a:rPr>
                  <a:t> 不能证明程序无错误</a:t>
                </a:r>
                <a:r>
                  <a:rPr lang="en-US" altLang="zh-CN" sz="2845" b="1" dirty="0">
                    <a:solidFill>
                      <a:srgbClr val="FF0000"/>
                    </a:solidFill>
                    <a:cs typeface="+mn-ea"/>
                    <a:sym typeface="+mn-lt"/>
                  </a:rPr>
                  <a:t>!</a:t>
                </a:r>
                <a:r>
                  <a:rPr lang="en-US" altLang="zh-CN" sz="3200" b="1" dirty="0">
                    <a:solidFill>
                      <a:srgbClr val="FF0000"/>
                    </a:solidFill>
                    <a:cs typeface="+mn-ea"/>
                    <a:sym typeface="+mn-lt"/>
                  </a:rPr>
                  <a:t> </a:t>
                </a:r>
                <a:endParaRPr lang="en-US" altLang="zh-CN" dirty="0">
                  <a:solidFill>
                    <a:srgbClr val="FF0000"/>
                  </a:solidFill>
                  <a:cs typeface="+mn-ea"/>
                  <a:sym typeface="+mn-lt"/>
                </a:endParaRPr>
              </a:p>
            </p:txBody>
          </p:sp>
        </mc:Choice>
        <mc:Fallback xmlns="">
          <p:sp>
            <p:nvSpPr>
              <p:cNvPr id="630787" name="Rectangle 3"/>
              <p:cNvSpPr>
                <a:spLocks noRot="1" noChangeAspect="1" noMove="1" noResize="1" noEditPoints="1" noAdjustHandles="1" noChangeArrowheads="1" noChangeShapeType="1" noTextEdit="1"/>
              </p:cNvSpPr>
              <p:nvPr>
                <p:ph idx="4294967295"/>
              </p:nvPr>
            </p:nvSpPr>
            <p:spPr>
              <a:xfrm>
                <a:off x="1775520" y="1412776"/>
                <a:ext cx="8923338" cy="4552950"/>
              </a:xfrm>
              <a:blipFill rotWithShape="1">
                <a:blip r:embed="rId3"/>
                <a:stretch>
                  <a:fillRect l="-1" t="-12" r="4" b="12"/>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8</a:t>
            </a:fld>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0787">
                                            <p:txEl>
                                              <p:pRg st="3" end="3"/>
                                            </p:txEl>
                                          </p:spTgt>
                                        </p:tgtEl>
                                        <p:attrNameLst>
                                          <p:attrName>style.visibility</p:attrName>
                                        </p:attrNameLst>
                                      </p:cBhvr>
                                      <p:to>
                                        <p:strVal val="visible"/>
                                      </p:to>
                                    </p:set>
                                    <p:anim calcmode="lin" valueType="num">
                                      <p:cBhvr additive="base">
                                        <p:cTn id="7" dur="500" fill="hold"/>
                                        <p:tgtEl>
                                          <p:spTgt spid="63078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078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0787">
                                            <p:txEl>
                                              <p:pRg st="4" end="4"/>
                                            </p:txEl>
                                          </p:spTgt>
                                        </p:tgtEl>
                                        <p:attrNameLst>
                                          <p:attrName>style.visibility</p:attrName>
                                        </p:attrNameLst>
                                      </p:cBhvr>
                                      <p:to>
                                        <p:strVal val="visible"/>
                                      </p:to>
                                    </p:set>
                                    <p:anim calcmode="lin" valueType="num">
                                      <p:cBhvr additive="base">
                                        <p:cTn id="11" dur="500" fill="hold"/>
                                        <p:tgtEl>
                                          <p:spTgt spid="63078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078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30787">
                                            <p:txEl>
                                              <p:pRg st="5" end="5"/>
                                            </p:txEl>
                                          </p:spTgt>
                                        </p:tgtEl>
                                        <p:attrNameLst>
                                          <p:attrName>style.visibility</p:attrName>
                                        </p:attrNameLst>
                                      </p:cBhvr>
                                      <p:to>
                                        <p:strVal val="visible"/>
                                      </p:to>
                                    </p:set>
                                    <p:anim calcmode="lin" valueType="num">
                                      <p:cBhvr additive="base">
                                        <p:cTn id="15" dur="500" fill="hold"/>
                                        <p:tgtEl>
                                          <p:spTgt spid="630787">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307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3" name="Rectangle 2"/>
          <p:cNvSpPr>
            <a:spLocks noGrp="1" noChangeArrowheads="1"/>
          </p:cNvSpPr>
          <p:nvPr>
            <p:ph type="title"/>
          </p:nvPr>
        </p:nvSpPr>
        <p:spPr>
          <a:xfrm>
            <a:off x="839416" y="188641"/>
            <a:ext cx="10515600" cy="1008112"/>
          </a:xfrm>
        </p:spPr>
        <p:txBody>
          <a:bodyPr/>
          <a:lstStyle/>
          <a:p>
            <a:pPr defTabSz="457200">
              <a:lnSpc>
                <a:spcPct val="50000"/>
              </a:lnSpc>
              <a:spcBef>
                <a:spcPts val="600"/>
              </a:spcBef>
              <a:spcAft>
                <a:spcPts val="600"/>
              </a:spcAft>
            </a:pPr>
            <a:r>
              <a:rPr lang="zh-CN" altLang="en-US" sz="3200" b="1" dirty="0">
                <a:solidFill>
                  <a:srgbClr val="1A9EE9"/>
                </a:solidFill>
                <a:latin typeface="+mn-lt"/>
                <a:ea typeface="+mn-ea"/>
                <a:cs typeface="+mn-ea"/>
                <a:sym typeface="+mn-lt"/>
              </a:rPr>
              <a:t>程序调试的基本方法</a:t>
            </a:r>
            <a:endParaRPr lang="en-US" altLang="zh-CN" sz="3200" b="1" dirty="0">
              <a:solidFill>
                <a:srgbClr val="1A9EE9"/>
              </a:solidFill>
              <a:latin typeface="+mn-lt"/>
              <a:ea typeface="+mn-ea"/>
              <a:cs typeface="+mn-ea"/>
              <a:sym typeface="+mn-lt"/>
            </a:endParaRPr>
          </a:p>
        </p:txBody>
      </p:sp>
      <p:sp>
        <p:nvSpPr>
          <p:cNvPr id="4" name="Rectangle 3"/>
          <p:cNvSpPr txBox="1">
            <a:spLocks noChangeArrowheads="1"/>
          </p:cNvSpPr>
          <p:nvPr/>
        </p:nvSpPr>
        <p:spPr bwMode="auto">
          <a:xfrm>
            <a:off x="1585913" y="1341438"/>
            <a:ext cx="9047162"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50000"/>
              <a:buFont typeface="Wingdings" panose="05000000000000000000" pitchFamily="2" charset="2"/>
              <a:buChar char="n"/>
              <a:defRPr sz="3200">
                <a:solidFill>
                  <a:schemeClr val="tx1"/>
                </a:solidFill>
                <a:latin typeface="黑体" charset="0"/>
                <a:ea typeface="黑体" charset="0"/>
                <a:cs typeface="Arial" panose="020B0604020202090204" pitchFamily="34" charset="0"/>
              </a:defRPr>
            </a:lvl1pPr>
            <a:lvl2pPr marL="742950" indent="-285750">
              <a:spcBef>
                <a:spcPct val="20000"/>
              </a:spcBef>
              <a:buClr>
                <a:schemeClr val="tx2"/>
              </a:buClr>
              <a:buSzPct val="50000"/>
              <a:buFont typeface="Wingdings 2" panose="05020102010507070707" pitchFamily="2" charset="2"/>
              <a:buChar char="Þ"/>
              <a:defRPr sz="2800">
                <a:solidFill>
                  <a:srgbClr val="333399"/>
                </a:solidFill>
                <a:latin typeface="黑体" charset="0"/>
                <a:ea typeface="黑体" charset="0"/>
                <a:cs typeface="Arial" panose="020B0604020202090204" pitchFamily="34" charset="0"/>
              </a:defRPr>
            </a:lvl2pPr>
            <a:lvl3pPr marL="1143000" indent="-228600">
              <a:spcBef>
                <a:spcPct val="20000"/>
              </a:spcBef>
              <a:buClr>
                <a:schemeClr val="tx2"/>
              </a:buClr>
              <a:buSzPct val="50000"/>
              <a:buFont typeface="Wingdings 2" panose="05020102010507070707" pitchFamily="2" charset="2"/>
              <a:buChar char=""/>
              <a:defRPr sz="2400">
                <a:solidFill>
                  <a:srgbClr val="3333CC"/>
                </a:solidFill>
                <a:latin typeface="黑体" charset="0"/>
                <a:ea typeface="黑体" charset="0"/>
                <a:cs typeface="Arial" panose="020B0604020202090204" pitchFamily="34" charset="0"/>
              </a:defRPr>
            </a:lvl3pPr>
            <a:lvl4pPr marL="1600200" indent="-228600">
              <a:spcBef>
                <a:spcPct val="20000"/>
              </a:spcBef>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4pPr>
            <a:lvl5pPr marL="2057400" indent="-228600">
              <a:spcBef>
                <a:spcPct val="20000"/>
              </a:spcBef>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5pPr>
            <a:lvl6pPr marL="25146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6pPr>
            <a:lvl7pPr marL="29718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7pPr>
            <a:lvl8pPr marL="34290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8pPr>
            <a:lvl9pPr marL="38862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9pPr>
          </a:lstStyle>
          <a:p>
            <a:pPr>
              <a:lnSpc>
                <a:spcPct val="120000"/>
              </a:lnSpc>
              <a:spcBef>
                <a:spcPts val="500"/>
              </a:spcBef>
            </a:pPr>
            <a:r>
              <a:rPr lang="zh-CN" altLang="en-US" sz="2800" dirty="0">
                <a:latin typeface="+mn-lt"/>
                <a:ea typeface="+mn-ea"/>
                <a:cs typeface="+mn-ea"/>
                <a:sym typeface="+mn-lt"/>
              </a:rPr>
              <a:t>利用调试工具</a:t>
            </a:r>
          </a:p>
          <a:p>
            <a:pPr lvl="1">
              <a:lnSpc>
                <a:spcPct val="120000"/>
              </a:lnSpc>
              <a:spcBef>
                <a:spcPts val="500"/>
              </a:spcBef>
            </a:pPr>
            <a:r>
              <a:rPr lang="zh-CN" altLang="en-US" sz="2400" dirty="0">
                <a:latin typeface="+mn-lt"/>
                <a:ea typeface="+mn-ea"/>
                <a:cs typeface="+mn-ea"/>
                <a:sym typeface="+mn-lt"/>
              </a:rPr>
              <a:t>单步运行，逐条语句跟踪，观察变量值的变化</a:t>
            </a:r>
          </a:p>
          <a:p>
            <a:pPr lvl="1">
              <a:lnSpc>
                <a:spcPct val="120000"/>
              </a:lnSpc>
              <a:spcBef>
                <a:spcPts val="500"/>
              </a:spcBef>
            </a:pPr>
            <a:r>
              <a:rPr lang="zh-CN" altLang="en-US" sz="2400" dirty="0">
                <a:latin typeface="+mn-lt"/>
                <a:ea typeface="+mn-ea"/>
                <a:cs typeface="+mn-ea"/>
                <a:sym typeface="+mn-lt"/>
              </a:rPr>
              <a:t>世界上最好的调试工具是那些有经验的人</a:t>
            </a:r>
          </a:p>
          <a:p>
            <a:pPr>
              <a:lnSpc>
                <a:spcPct val="120000"/>
              </a:lnSpc>
              <a:spcBef>
                <a:spcPts val="500"/>
              </a:spcBef>
            </a:pPr>
            <a:r>
              <a:rPr lang="zh-CN" altLang="en-US" sz="2800" dirty="0">
                <a:latin typeface="+mn-lt"/>
                <a:ea typeface="+mn-ea"/>
                <a:cs typeface="+mn-ea"/>
                <a:sym typeface="+mn-lt"/>
              </a:rPr>
              <a:t>调试的基本方法</a:t>
            </a:r>
          </a:p>
          <a:p>
            <a:pPr lvl="1">
              <a:lnSpc>
                <a:spcPct val="120000"/>
              </a:lnSpc>
              <a:spcBef>
                <a:spcPts val="500"/>
              </a:spcBef>
            </a:pPr>
            <a:r>
              <a:rPr lang="zh-CN" altLang="en-US" sz="2400" dirty="0">
                <a:latin typeface="+mn-lt"/>
                <a:ea typeface="+mn-ea"/>
                <a:cs typeface="+mn-ea"/>
                <a:sym typeface="+mn-lt"/>
              </a:rPr>
              <a:t>粗分细找，定位大致的范围</a:t>
            </a:r>
          </a:p>
          <a:p>
            <a:pPr lvl="2">
              <a:lnSpc>
                <a:spcPct val="120000"/>
              </a:lnSpc>
              <a:spcBef>
                <a:spcPts val="500"/>
              </a:spcBef>
              <a:buFont typeface="Monotype Sorts" charset="2"/>
              <a:buChar char="—"/>
            </a:pPr>
            <a:r>
              <a:rPr lang="zh-CN" altLang="en-US" sz="2000" dirty="0">
                <a:latin typeface="+mn-lt"/>
                <a:ea typeface="+mn-ea"/>
                <a:cs typeface="+mn-ea"/>
                <a:sym typeface="+mn-lt"/>
              </a:rPr>
              <a:t>归纳、推理、二分、排除</a:t>
            </a:r>
          </a:p>
          <a:p>
            <a:pPr lvl="1">
              <a:lnSpc>
                <a:spcPct val="120000"/>
              </a:lnSpc>
              <a:spcBef>
                <a:spcPts val="500"/>
              </a:spcBef>
            </a:pPr>
            <a:r>
              <a:rPr lang="zh-CN" altLang="en-US" sz="2400" dirty="0">
                <a:latin typeface="+mn-lt"/>
                <a:ea typeface="+mn-ea"/>
                <a:cs typeface="+mn-ea"/>
                <a:sym typeface="+mn-lt"/>
              </a:rPr>
              <a:t>用注释切掉一些代码，减少有关的代码区域</a:t>
            </a:r>
          </a:p>
          <a:p>
            <a:pPr lvl="2">
              <a:lnSpc>
                <a:spcPct val="120000"/>
              </a:lnSpc>
              <a:spcBef>
                <a:spcPts val="500"/>
              </a:spcBef>
              <a:buFont typeface="Monotype Sorts" charset="2"/>
              <a:buChar char="—"/>
            </a:pPr>
            <a:r>
              <a:rPr lang="zh-CN" altLang="en-US" sz="2000" dirty="0">
                <a:latin typeface="+mn-lt"/>
                <a:ea typeface="+mn-ea"/>
                <a:cs typeface="+mn-ea"/>
                <a:sym typeface="+mn-lt"/>
              </a:rPr>
              <a:t>调试无误后再打开注释，即采用分治策略将问题局部化</a:t>
            </a:r>
          </a:p>
          <a:p>
            <a:pPr lvl="1">
              <a:lnSpc>
                <a:spcPct val="120000"/>
              </a:lnSpc>
              <a:spcBef>
                <a:spcPts val="500"/>
              </a:spcBef>
            </a:pPr>
            <a:r>
              <a:rPr lang="zh-CN" altLang="en-US" sz="2400" dirty="0">
                <a:latin typeface="+mn-lt"/>
                <a:ea typeface="+mn-ea"/>
                <a:cs typeface="+mn-ea"/>
                <a:sym typeface="+mn-lt"/>
              </a:rPr>
              <a:t>缩减输入数据，设法找到能导致失败的最小输入</a:t>
            </a:r>
          </a:p>
          <a:p>
            <a:pPr lvl="1">
              <a:lnSpc>
                <a:spcPct val="120000"/>
              </a:lnSpc>
              <a:spcBef>
                <a:spcPts val="500"/>
              </a:spcBef>
            </a:pPr>
            <a:r>
              <a:rPr lang="zh-CN" altLang="en-US" sz="2400" dirty="0">
                <a:latin typeface="+mn-lt"/>
                <a:ea typeface="+mn-ea"/>
                <a:cs typeface="+mn-ea"/>
                <a:sym typeface="+mn-lt"/>
              </a:rPr>
              <a:t>插入打印语句，观看中间输出结果</a:t>
            </a:r>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9</a:t>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p:cTn id="7"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 calcmode="lin" valueType="num">
                                      <p:cBhvr>
                                        <p:cTn id="14"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p:cTn id="21"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4">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 calcmode="lin" valueType="num">
                                      <p:cBhvr>
                                        <p:cTn id="28"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 calcmode="lin" valueType="num">
                                      <p:cBhvr>
                                        <p:cTn id="35" dur="500" fill="hold"/>
                                        <p:tgtEl>
                                          <p:spTgt spid="4">
                                            <p:txEl>
                                              <p:pRg st="5" end="5"/>
                                            </p:txEl>
                                          </p:spTgt>
                                        </p:tgtEl>
                                        <p:attrNameLst>
                                          <p:attrName>ppt_w</p:attrName>
                                        </p:attrNameLst>
                                      </p:cBhvr>
                                      <p:tavLst>
                                        <p:tav tm="0">
                                          <p:val>
                                            <p:fltVal val="0"/>
                                          </p:val>
                                        </p:tav>
                                        <p:tav tm="100000">
                                          <p:val>
                                            <p:strVal val="#ppt_w"/>
                                          </p:val>
                                        </p:tav>
                                      </p:tavLst>
                                    </p:anim>
                                    <p:anim calcmode="lin" valueType="num">
                                      <p:cBhvr>
                                        <p:cTn id="36" dur="5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37" dur="500"/>
                                        <p:tgtEl>
                                          <p:spTgt spid="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 calcmode="lin" valueType="num">
                                      <p:cBhvr>
                                        <p:cTn id="42" dur="500" fill="hold"/>
                                        <p:tgtEl>
                                          <p:spTgt spid="4">
                                            <p:txEl>
                                              <p:pRg st="6" end="6"/>
                                            </p:txEl>
                                          </p:spTgt>
                                        </p:tgtEl>
                                        <p:attrNameLst>
                                          <p:attrName>ppt_w</p:attrName>
                                        </p:attrNameLst>
                                      </p:cBhvr>
                                      <p:tavLst>
                                        <p:tav tm="0">
                                          <p:val>
                                            <p:fltVal val="0"/>
                                          </p:val>
                                        </p:tav>
                                        <p:tav tm="100000">
                                          <p:val>
                                            <p:strVal val="#ppt_w"/>
                                          </p:val>
                                        </p:tav>
                                      </p:tavLst>
                                    </p:anim>
                                    <p:anim calcmode="lin" valueType="num">
                                      <p:cBhvr>
                                        <p:cTn id="43" dur="500" fill="hold"/>
                                        <p:tgtEl>
                                          <p:spTgt spid="4">
                                            <p:txEl>
                                              <p:pRg st="6" end="6"/>
                                            </p:txEl>
                                          </p:spTgt>
                                        </p:tgtEl>
                                        <p:attrNameLst>
                                          <p:attrName>ppt_h</p:attrName>
                                        </p:attrNameLst>
                                      </p:cBhvr>
                                      <p:tavLst>
                                        <p:tav tm="0">
                                          <p:val>
                                            <p:fltVal val="0"/>
                                          </p:val>
                                        </p:tav>
                                        <p:tav tm="100000">
                                          <p:val>
                                            <p:strVal val="#ppt_h"/>
                                          </p:val>
                                        </p:tav>
                                      </p:tavLst>
                                    </p:anim>
                                    <p:animEffect transition="in" filter="fade">
                                      <p:cBhvr>
                                        <p:cTn id="44" dur="500"/>
                                        <p:tgtEl>
                                          <p:spTgt spid="4">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p:cTn id="49" dur="500" fill="hold"/>
                                        <p:tgtEl>
                                          <p:spTgt spid="4">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4">
                                            <p:txEl>
                                              <p:pRg st="7" end="7"/>
                                            </p:txEl>
                                          </p:spTgt>
                                        </p:tgtEl>
                                        <p:attrNameLst>
                                          <p:attrName>ppt_h</p:attrName>
                                        </p:attrNameLst>
                                      </p:cBhvr>
                                      <p:tavLst>
                                        <p:tav tm="0">
                                          <p:val>
                                            <p:fltVal val="0"/>
                                          </p:val>
                                        </p:tav>
                                        <p:tav tm="100000">
                                          <p:val>
                                            <p:strVal val="#ppt_h"/>
                                          </p:val>
                                        </p:tav>
                                      </p:tavLst>
                                    </p:anim>
                                    <p:animEffect transition="in" filter="fade">
                                      <p:cBhvr>
                                        <p:cTn id="51" dur="500"/>
                                        <p:tgtEl>
                                          <p:spTgt spid="4">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4">
                                            <p:txEl>
                                              <p:pRg st="8" end="8"/>
                                            </p:txEl>
                                          </p:spTgt>
                                        </p:tgtEl>
                                        <p:attrNameLst>
                                          <p:attrName>style.visibility</p:attrName>
                                        </p:attrNameLst>
                                      </p:cBhvr>
                                      <p:to>
                                        <p:strVal val="visible"/>
                                      </p:to>
                                    </p:set>
                                    <p:anim calcmode="lin" valueType="num">
                                      <p:cBhvr>
                                        <p:cTn id="56" dur="500" fill="hold"/>
                                        <p:tgtEl>
                                          <p:spTgt spid="4">
                                            <p:txEl>
                                              <p:pRg st="8" end="8"/>
                                            </p:txEl>
                                          </p:spTgt>
                                        </p:tgtEl>
                                        <p:attrNameLst>
                                          <p:attrName>ppt_w</p:attrName>
                                        </p:attrNameLst>
                                      </p:cBhvr>
                                      <p:tavLst>
                                        <p:tav tm="0">
                                          <p:val>
                                            <p:fltVal val="0"/>
                                          </p:val>
                                        </p:tav>
                                        <p:tav tm="100000">
                                          <p:val>
                                            <p:strVal val="#ppt_w"/>
                                          </p:val>
                                        </p:tav>
                                      </p:tavLst>
                                    </p:anim>
                                    <p:anim calcmode="lin" valueType="num">
                                      <p:cBhvr>
                                        <p:cTn id="57" dur="500" fill="hold"/>
                                        <p:tgtEl>
                                          <p:spTgt spid="4">
                                            <p:txEl>
                                              <p:pRg st="8" end="8"/>
                                            </p:txEl>
                                          </p:spTgt>
                                        </p:tgtEl>
                                        <p:attrNameLst>
                                          <p:attrName>ppt_h</p:attrName>
                                        </p:attrNameLst>
                                      </p:cBhvr>
                                      <p:tavLst>
                                        <p:tav tm="0">
                                          <p:val>
                                            <p:fltVal val="0"/>
                                          </p:val>
                                        </p:tav>
                                        <p:tav tm="100000">
                                          <p:val>
                                            <p:strVal val="#ppt_h"/>
                                          </p:val>
                                        </p:tav>
                                      </p:tavLst>
                                    </p:anim>
                                    <p:animEffect transition="in" filter="fade">
                                      <p:cBhvr>
                                        <p:cTn id="58" dur="500"/>
                                        <p:tgtEl>
                                          <p:spTgt spid="4">
                                            <p:txEl>
                                              <p:pRg st="8" end="8"/>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4">
                                            <p:txEl>
                                              <p:pRg st="9" end="9"/>
                                            </p:txEl>
                                          </p:spTgt>
                                        </p:tgtEl>
                                        <p:attrNameLst>
                                          <p:attrName>style.visibility</p:attrName>
                                        </p:attrNameLst>
                                      </p:cBhvr>
                                      <p:to>
                                        <p:strVal val="visible"/>
                                      </p:to>
                                    </p:set>
                                    <p:anim calcmode="lin" valueType="num">
                                      <p:cBhvr>
                                        <p:cTn id="63" dur="500" fill="hold"/>
                                        <p:tgtEl>
                                          <p:spTgt spid="4">
                                            <p:txEl>
                                              <p:pRg st="9" end="9"/>
                                            </p:txEl>
                                          </p:spTgt>
                                        </p:tgtEl>
                                        <p:attrNameLst>
                                          <p:attrName>ppt_w</p:attrName>
                                        </p:attrNameLst>
                                      </p:cBhvr>
                                      <p:tavLst>
                                        <p:tav tm="0">
                                          <p:val>
                                            <p:fltVal val="0"/>
                                          </p:val>
                                        </p:tav>
                                        <p:tav tm="100000">
                                          <p:val>
                                            <p:strVal val="#ppt_w"/>
                                          </p:val>
                                        </p:tav>
                                      </p:tavLst>
                                    </p:anim>
                                    <p:anim calcmode="lin" valueType="num">
                                      <p:cBhvr>
                                        <p:cTn id="64" dur="500" fill="hold"/>
                                        <p:tgtEl>
                                          <p:spTgt spid="4">
                                            <p:txEl>
                                              <p:pRg st="9" end="9"/>
                                            </p:txEl>
                                          </p:spTgt>
                                        </p:tgtEl>
                                        <p:attrNameLst>
                                          <p:attrName>ppt_h</p:attrName>
                                        </p:attrNameLst>
                                      </p:cBhvr>
                                      <p:tavLst>
                                        <p:tav tm="0">
                                          <p:val>
                                            <p:fltVal val="0"/>
                                          </p:val>
                                        </p:tav>
                                        <p:tav tm="100000">
                                          <p:val>
                                            <p:strVal val="#ppt_h"/>
                                          </p:val>
                                        </p:tav>
                                      </p:tavLst>
                                    </p:anim>
                                    <p:animEffect transition="in" filter="fade">
                                      <p:cBhvr>
                                        <p:cTn id="65"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1" name="Rectangle 3"/>
          <p:cNvSpPr>
            <a:spLocks noGrp="1" noChangeArrowheads="1"/>
          </p:cNvSpPr>
          <p:nvPr>
            <p:ph idx="4294967295"/>
          </p:nvPr>
        </p:nvSpPr>
        <p:spPr>
          <a:xfrm>
            <a:off x="1847528" y="1412776"/>
            <a:ext cx="7824787" cy="49688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914400">
              <a:lnSpc>
                <a:spcPct val="100000"/>
              </a:lnSpc>
              <a:spcBef>
                <a:spcPts val="600"/>
              </a:spcBef>
              <a:spcAft>
                <a:spcPts val="600"/>
              </a:spcAft>
              <a:buClr>
                <a:schemeClr val="tx2"/>
              </a:buClr>
              <a:buSzPct val="50000"/>
              <a:buFont typeface="Wingdings" panose="05000000000000000000" pitchFamily="2" charset="2"/>
              <a:buChar char="n"/>
            </a:pPr>
            <a:r>
              <a:rPr lang="zh-CN" altLang="en-US" sz="2800" dirty="0">
                <a:cs typeface="+mn-ea"/>
                <a:sym typeface="+mn-lt"/>
              </a:rPr>
              <a:t>目的：</a:t>
            </a:r>
          </a:p>
          <a:p>
            <a:pPr marL="742950" lvl="1" indent="-285750" defTabSz="914400">
              <a:lnSpc>
                <a:spcPct val="100000"/>
              </a:lnSpc>
              <a:spcBef>
                <a:spcPts val="600"/>
              </a:spcBef>
              <a:spcAft>
                <a:spcPts val="600"/>
              </a:spcAft>
              <a:buClr>
                <a:schemeClr val="tx2"/>
              </a:buClr>
              <a:buSzPct val="50000"/>
              <a:buFont typeface="Wingdings 2" panose="05020102010507070707" pitchFamily="2" charset="2"/>
              <a:buChar char="Þ"/>
            </a:pPr>
            <a:r>
              <a:rPr lang="zh-CN" altLang="en-US" sz="2400" dirty="0">
                <a:solidFill>
                  <a:srgbClr val="333399"/>
                </a:solidFill>
                <a:cs typeface="+mn-ea"/>
                <a:sym typeface="+mn-lt"/>
              </a:rPr>
              <a:t>预测算法对不同输入所需资源量</a:t>
            </a:r>
          </a:p>
          <a:p>
            <a:pPr marL="342900" indent="-342900" defTabSz="914400">
              <a:lnSpc>
                <a:spcPct val="100000"/>
              </a:lnSpc>
              <a:spcBef>
                <a:spcPts val="600"/>
              </a:spcBef>
              <a:spcAft>
                <a:spcPts val="600"/>
              </a:spcAft>
              <a:buClr>
                <a:schemeClr val="tx2"/>
              </a:buClr>
              <a:buSzPct val="50000"/>
              <a:buFont typeface="Wingdings" panose="05000000000000000000" pitchFamily="2" charset="2"/>
              <a:buChar char="n"/>
            </a:pPr>
            <a:r>
              <a:rPr lang="zh-CN" altLang="en-US" sz="2800" dirty="0">
                <a:cs typeface="+mn-ea"/>
                <a:sym typeface="+mn-lt"/>
              </a:rPr>
              <a:t>复杂性测度：</a:t>
            </a:r>
          </a:p>
          <a:p>
            <a:pPr marL="742950" lvl="1" indent="-285750" defTabSz="914400">
              <a:lnSpc>
                <a:spcPct val="100000"/>
              </a:lnSpc>
              <a:spcBef>
                <a:spcPts val="600"/>
              </a:spcBef>
              <a:spcAft>
                <a:spcPts val="600"/>
              </a:spcAft>
              <a:buClr>
                <a:schemeClr val="tx2"/>
              </a:buClr>
              <a:buSzPct val="50000"/>
              <a:buFont typeface="Wingdings 2" panose="05020102010507070707" pitchFamily="2" charset="2"/>
              <a:buChar char="Þ"/>
            </a:pPr>
            <a:r>
              <a:rPr lang="zh-CN" altLang="en-US" sz="2400" dirty="0">
                <a:solidFill>
                  <a:srgbClr val="333399"/>
                </a:solidFill>
                <a:cs typeface="+mn-ea"/>
                <a:sym typeface="+mn-lt"/>
              </a:rPr>
              <a:t>时间，空间， </a:t>
            </a:r>
            <a:r>
              <a:rPr lang="en-US" altLang="zh-CN" sz="2400" dirty="0">
                <a:solidFill>
                  <a:srgbClr val="333399"/>
                </a:solidFill>
                <a:cs typeface="+mn-ea"/>
                <a:sym typeface="+mn-lt"/>
              </a:rPr>
              <a:t>I/O</a:t>
            </a:r>
            <a:r>
              <a:rPr lang="zh-CN" altLang="en-US" sz="2400" dirty="0">
                <a:solidFill>
                  <a:srgbClr val="333399"/>
                </a:solidFill>
                <a:cs typeface="+mn-ea"/>
                <a:sym typeface="+mn-lt"/>
              </a:rPr>
              <a:t>等</a:t>
            </a:r>
            <a:r>
              <a:rPr lang="en-US" altLang="zh-CN" sz="2400" dirty="0">
                <a:solidFill>
                  <a:srgbClr val="333399"/>
                </a:solidFill>
                <a:cs typeface="+mn-ea"/>
                <a:sym typeface="+mn-lt"/>
              </a:rPr>
              <a:t>,</a:t>
            </a:r>
            <a:r>
              <a:rPr lang="zh-CN" altLang="en-US" sz="2400" dirty="0">
                <a:solidFill>
                  <a:srgbClr val="333399"/>
                </a:solidFill>
                <a:cs typeface="+mn-ea"/>
                <a:sym typeface="+mn-lt"/>
              </a:rPr>
              <a:t> 是输入大小的函数</a:t>
            </a:r>
            <a:endParaRPr lang="en-US" altLang="zh-CN" sz="2400" dirty="0">
              <a:solidFill>
                <a:srgbClr val="333399"/>
              </a:solidFill>
              <a:cs typeface="+mn-ea"/>
              <a:sym typeface="+mn-lt"/>
            </a:endParaRPr>
          </a:p>
          <a:p>
            <a:pPr marL="342900" indent="-342900" defTabSz="914400">
              <a:lnSpc>
                <a:spcPct val="100000"/>
              </a:lnSpc>
              <a:spcBef>
                <a:spcPts val="600"/>
              </a:spcBef>
              <a:spcAft>
                <a:spcPts val="600"/>
              </a:spcAft>
              <a:buClr>
                <a:schemeClr val="tx2"/>
              </a:buClr>
              <a:buSzPct val="50000"/>
              <a:buFont typeface="Wingdings" panose="05000000000000000000" pitchFamily="2" charset="2"/>
              <a:buChar char="n"/>
            </a:pPr>
            <a:r>
              <a:rPr lang="zh-CN" altLang="en-US" sz="2800" dirty="0">
                <a:cs typeface="+mn-ea"/>
                <a:sym typeface="+mn-lt"/>
              </a:rPr>
              <a:t>用途：</a:t>
            </a:r>
          </a:p>
          <a:p>
            <a:pPr marL="742950" lvl="1" indent="-285750" defTabSz="914400">
              <a:lnSpc>
                <a:spcPct val="100000"/>
              </a:lnSpc>
              <a:spcBef>
                <a:spcPts val="600"/>
              </a:spcBef>
              <a:spcAft>
                <a:spcPts val="600"/>
              </a:spcAft>
              <a:buClr>
                <a:schemeClr val="tx2"/>
              </a:buClr>
              <a:buSzPct val="50000"/>
              <a:buFont typeface="Wingdings 2" panose="05020102010507070707" pitchFamily="2" charset="2"/>
              <a:buChar char="Þ"/>
            </a:pPr>
            <a:r>
              <a:rPr lang="zh-CN" altLang="en-US" sz="2400" dirty="0">
                <a:solidFill>
                  <a:srgbClr val="333399"/>
                </a:solidFill>
                <a:cs typeface="+mn-ea"/>
                <a:sym typeface="+mn-lt"/>
              </a:rPr>
              <a:t>为求解一个问题选择最佳算法、最佳设备</a:t>
            </a:r>
          </a:p>
        </p:txBody>
      </p:sp>
      <p:sp>
        <p:nvSpPr>
          <p:cNvPr id="112643" name="Rectangle 4"/>
          <p:cNvSpPr>
            <a:spLocks noChangeArrowheads="1"/>
          </p:cNvSpPr>
          <p:nvPr/>
        </p:nvSpPr>
        <p:spPr bwMode="auto">
          <a:xfrm>
            <a:off x="983432" y="620688"/>
            <a:ext cx="3480440" cy="368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50000"/>
              </a:lnSpc>
              <a:spcBef>
                <a:spcPts val="600"/>
              </a:spcBef>
              <a:spcAft>
                <a:spcPts val="600"/>
              </a:spcAft>
            </a:pPr>
            <a:r>
              <a:rPr lang="zh-CN" altLang="en-US" sz="3200" b="1" dirty="0">
                <a:solidFill>
                  <a:srgbClr val="1A9EE9"/>
                </a:solidFill>
                <a:cs typeface="+mn-ea"/>
                <a:sym typeface="+mn-lt"/>
              </a:rPr>
              <a:t>算法的复杂性分析</a:t>
            </a:r>
          </a:p>
        </p:txBody>
      </p:sp>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10</a:t>
            </a:fld>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1811">
                                            <p:txEl>
                                              <p:pRg st="0" end="0"/>
                                            </p:txEl>
                                          </p:spTgt>
                                        </p:tgtEl>
                                        <p:attrNameLst>
                                          <p:attrName>style.visibility</p:attrName>
                                        </p:attrNameLst>
                                      </p:cBhvr>
                                      <p:to>
                                        <p:strVal val="visible"/>
                                      </p:to>
                                    </p:set>
                                    <p:anim calcmode="lin" valueType="num">
                                      <p:cBhvr additive="base">
                                        <p:cTn id="7" dur="500" fill="hold"/>
                                        <p:tgtEl>
                                          <p:spTgt spid="631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18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1811">
                                            <p:txEl>
                                              <p:pRg st="1" end="1"/>
                                            </p:txEl>
                                          </p:spTgt>
                                        </p:tgtEl>
                                        <p:attrNameLst>
                                          <p:attrName>style.visibility</p:attrName>
                                        </p:attrNameLst>
                                      </p:cBhvr>
                                      <p:to>
                                        <p:strVal val="visible"/>
                                      </p:to>
                                    </p:set>
                                    <p:anim calcmode="lin" valueType="num">
                                      <p:cBhvr additive="base">
                                        <p:cTn id="11" dur="500" fill="hold"/>
                                        <p:tgtEl>
                                          <p:spTgt spid="6318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18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1811">
                                            <p:txEl>
                                              <p:pRg st="2" end="2"/>
                                            </p:txEl>
                                          </p:spTgt>
                                        </p:tgtEl>
                                        <p:attrNameLst>
                                          <p:attrName>style.visibility</p:attrName>
                                        </p:attrNameLst>
                                      </p:cBhvr>
                                      <p:to>
                                        <p:strVal val="visible"/>
                                      </p:to>
                                    </p:set>
                                    <p:anim calcmode="lin" valueType="num">
                                      <p:cBhvr additive="base">
                                        <p:cTn id="17" dur="500" fill="hold"/>
                                        <p:tgtEl>
                                          <p:spTgt spid="6318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318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31811">
                                            <p:txEl>
                                              <p:pRg st="3" end="3"/>
                                            </p:txEl>
                                          </p:spTgt>
                                        </p:tgtEl>
                                        <p:attrNameLst>
                                          <p:attrName>style.visibility</p:attrName>
                                        </p:attrNameLst>
                                      </p:cBhvr>
                                      <p:to>
                                        <p:strVal val="visible"/>
                                      </p:to>
                                    </p:set>
                                    <p:anim calcmode="lin" valueType="num">
                                      <p:cBhvr additive="base">
                                        <p:cTn id="21" dur="500" fill="hold"/>
                                        <p:tgtEl>
                                          <p:spTgt spid="6318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18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31811">
                                            <p:txEl>
                                              <p:pRg st="4" end="4"/>
                                            </p:txEl>
                                          </p:spTgt>
                                        </p:tgtEl>
                                        <p:attrNameLst>
                                          <p:attrName>style.visibility</p:attrName>
                                        </p:attrNameLst>
                                      </p:cBhvr>
                                      <p:to>
                                        <p:strVal val="visible"/>
                                      </p:to>
                                    </p:set>
                                    <p:anim calcmode="lin" valueType="num">
                                      <p:cBhvr additive="base">
                                        <p:cTn id="27" dur="500" fill="hold"/>
                                        <p:tgtEl>
                                          <p:spTgt spid="63181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3181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31811">
                                            <p:txEl>
                                              <p:pRg st="5" end="5"/>
                                            </p:txEl>
                                          </p:spTgt>
                                        </p:tgtEl>
                                        <p:attrNameLst>
                                          <p:attrName>style.visibility</p:attrName>
                                        </p:attrNameLst>
                                      </p:cBhvr>
                                      <p:to>
                                        <p:strVal val="visible"/>
                                      </p:to>
                                    </p:set>
                                    <p:anim calcmode="lin" valueType="num">
                                      <p:cBhvr additive="base">
                                        <p:cTn id="31" dur="500" fill="hold"/>
                                        <p:tgtEl>
                                          <p:spTgt spid="6318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318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9" name="Rectangle 3"/>
          <p:cNvSpPr>
            <a:spLocks noGrp="1" noChangeArrowheads="1"/>
          </p:cNvSpPr>
          <p:nvPr>
            <p:ph idx="4294967295"/>
          </p:nvPr>
        </p:nvSpPr>
        <p:spPr>
          <a:xfrm>
            <a:off x="1199456" y="1340768"/>
            <a:ext cx="7772400" cy="3960812"/>
          </a:xfrm>
        </p:spPr>
        <p:txBody>
          <a:bodyPr>
            <a:normAutofit/>
          </a:bodyPr>
          <a:lstStyle/>
          <a:p>
            <a:pPr>
              <a:lnSpc>
                <a:spcPct val="100000"/>
              </a:lnSpc>
              <a:spcBef>
                <a:spcPts val="600"/>
              </a:spcBef>
              <a:spcAft>
                <a:spcPts val="600"/>
              </a:spcAft>
              <a:defRPr/>
            </a:pPr>
            <a:r>
              <a:rPr lang="zh-CN" altLang="en-US" sz="2800" b="1" dirty="0">
                <a:cs typeface="+mn-ea"/>
                <a:sym typeface="+mn-lt"/>
              </a:rPr>
              <a:t>时间复杂性</a:t>
            </a:r>
          </a:p>
          <a:p>
            <a:pPr lvl="1">
              <a:lnSpc>
                <a:spcPct val="100000"/>
              </a:lnSpc>
              <a:spcBef>
                <a:spcPts val="600"/>
              </a:spcBef>
              <a:spcAft>
                <a:spcPts val="600"/>
              </a:spcAft>
              <a:defRPr/>
            </a:pPr>
            <a:r>
              <a:rPr lang="zh-CN" altLang="en-US" sz="2400" b="1" dirty="0">
                <a:solidFill>
                  <a:schemeClr val="accent1"/>
                </a:solidFill>
                <a:cs typeface="+mn-ea"/>
                <a:sym typeface="+mn-lt"/>
              </a:rPr>
              <a:t>一个算法对特定输入的时间复杂性是该算法对该输入产生结果需要的原子操作或“步”数</a:t>
            </a:r>
          </a:p>
          <a:p>
            <a:pPr>
              <a:lnSpc>
                <a:spcPct val="100000"/>
              </a:lnSpc>
              <a:spcBef>
                <a:spcPts val="600"/>
              </a:spcBef>
              <a:spcAft>
                <a:spcPts val="600"/>
              </a:spcAft>
              <a:defRPr/>
            </a:pPr>
            <a:r>
              <a:rPr lang="zh-CN" altLang="en-US" sz="2800" b="1" dirty="0">
                <a:cs typeface="+mn-ea"/>
                <a:sym typeface="+mn-lt"/>
              </a:rPr>
              <a:t>注意</a:t>
            </a:r>
          </a:p>
          <a:p>
            <a:pPr lvl="1">
              <a:lnSpc>
                <a:spcPct val="100000"/>
              </a:lnSpc>
              <a:spcBef>
                <a:spcPts val="600"/>
              </a:spcBef>
              <a:spcAft>
                <a:spcPts val="600"/>
              </a:spcAft>
              <a:defRPr/>
            </a:pPr>
            <a:r>
              <a:rPr lang="zh-CN" altLang="en-US" sz="2400" b="1" dirty="0">
                <a:solidFill>
                  <a:schemeClr val="tx2"/>
                </a:solidFill>
                <a:cs typeface="+mn-ea"/>
                <a:sym typeface="+mn-lt"/>
              </a:rPr>
              <a:t>时间复杂性是输入大小的函数。</a:t>
            </a:r>
          </a:p>
          <a:p>
            <a:pPr lvl="1">
              <a:lnSpc>
                <a:spcPct val="100000"/>
              </a:lnSpc>
              <a:spcBef>
                <a:spcPts val="600"/>
              </a:spcBef>
              <a:spcAft>
                <a:spcPts val="600"/>
              </a:spcAft>
              <a:defRPr/>
            </a:pPr>
            <a:r>
              <a:rPr lang="zh-CN" altLang="en-US" sz="2400" b="1" dirty="0">
                <a:solidFill>
                  <a:schemeClr val="tx2"/>
                </a:solidFill>
                <a:cs typeface="+mn-ea"/>
                <a:sym typeface="+mn-lt"/>
              </a:rPr>
              <a:t>我们假设每一步的执行需要常数时间，实际上每步需要的时间量可能不同</a:t>
            </a:r>
            <a:r>
              <a:rPr lang="zh-CN" altLang="en-US" sz="2400" b="1" dirty="0">
                <a:solidFill>
                  <a:schemeClr val="tx2"/>
                </a:solidFill>
                <a:effectLst>
                  <a:outerShdw blurRad="38100" dist="38100" dir="2700000" algn="tl">
                    <a:srgbClr val="C0C0C0"/>
                  </a:outerShdw>
                </a:effectLst>
                <a:cs typeface="+mn-ea"/>
                <a:sym typeface="+mn-lt"/>
              </a:rPr>
              <a:t>。</a:t>
            </a:r>
            <a:endParaRPr lang="en-US" altLang="zh-CN" sz="2400" b="1" dirty="0">
              <a:solidFill>
                <a:schemeClr val="tx2"/>
              </a:solidFill>
              <a:effectLst>
                <a:outerShdw blurRad="38100" dist="38100" dir="2700000" algn="tl">
                  <a:srgbClr val="C0C0C0"/>
                </a:outerShdw>
              </a:effectLst>
              <a:cs typeface="+mn-ea"/>
              <a:sym typeface="+mn-lt"/>
            </a:endParaRPr>
          </a:p>
        </p:txBody>
      </p:sp>
      <p:sp>
        <p:nvSpPr>
          <p:cNvPr id="115715" name="Rectangle 4"/>
          <p:cNvSpPr>
            <a:spLocks noChangeArrowheads="1"/>
          </p:cNvSpPr>
          <p:nvPr/>
        </p:nvSpPr>
        <p:spPr bwMode="auto">
          <a:xfrm>
            <a:off x="911424" y="438953"/>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cs typeface="+mn-ea"/>
                <a:sym typeface="+mn-lt"/>
              </a:rPr>
              <a:t>算法复杂性分析的度量</a:t>
            </a:r>
          </a:p>
        </p:txBody>
      </p:sp>
      <p:pic>
        <p:nvPicPr>
          <p:cNvPr id="3" name="图片 2"/>
          <p:cNvPicPr>
            <a:picLocks noChangeAspect="1"/>
          </p:cNvPicPr>
          <p:nvPr/>
        </p:nvPicPr>
        <p:blipFill>
          <a:blip r:embed="rId3"/>
          <a:stretch>
            <a:fillRect/>
          </a:stretch>
        </p:blipFill>
        <p:spPr>
          <a:xfrm>
            <a:off x="6744072" y="4941169"/>
            <a:ext cx="1324820" cy="1114053"/>
          </a:xfrm>
          <a:prstGeom prst="rect">
            <a:avLst/>
          </a:prstGeom>
        </p:spPr>
      </p:pic>
      <p:pic>
        <p:nvPicPr>
          <p:cNvPr id="5" name="图片 4"/>
          <p:cNvPicPr>
            <a:picLocks noChangeAspect="1"/>
          </p:cNvPicPr>
          <p:nvPr/>
        </p:nvPicPr>
        <p:blipFill>
          <a:blip r:embed="rId4"/>
          <a:stretch>
            <a:fillRect/>
          </a:stretch>
        </p:blipFill>
        <p:spPr>
          <a:xfrm>
            <a:off x="8472264" y="4725144"/>
            <a:ext cx="2050184" cy="1663202"/>
          </a:xfrm>
          <a:prstGeom prst="rect">
            <a:avLst/>
          </a:prstGeom>
        </p:spPr>
      </p:pic>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11</a:t>
            </a:fld>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33859">
                                            <p:txEl>
                                              <p:pRg st="2" end="2"/>
                                            </p:txEl>
                                          </p:spTgt>
                                        </p:tgtEl>
                                        <p:attrNameLst>
                                          <p:attrName>style.visibility</p:attrName>
                                        </p:attrNameLst>
                                      </p:cBhvr>
                                      <p:to>
                                        <p:strVal val="visible"/>
                                      </p:to>
                                    </p:set>
                                    <p:anim calcmode="lin" valueType="num">
                                      <p:cBhvr additive="base">
                                        <p:cTn id="7" dur="500" fill="hold"/>
                                        <p:tgtEl>
                                          <p:spTgt spid="633859">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38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33859">
                                            <p:txEl>
                                              <p:pRg st="3" end="3"/>
                                            </p:txEl>
                                          </p:spTgt>
                                        </p:tgtEl>
                                        <p:attrNameLst>
                                          <p:attrName>style.visibility</p:attrName>
                                        </p:attrNameLst>
                                      </p:cBhvr>
                                      <p:to>
                                        <p:strVal val="visible"/>
                                      </p:to>
                                    </p:set>
                                    <p:anim calcmode="lin" valueType="num">
                                      <p:cBhvr additive="base">
                                        <p:cTn id="13" dur="500" fill="hold"/>
                                        <p:tgtEl>
                                          <p:spTgt spid="63385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38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33859">
                                            <p:txEl>
                                              <p:pRg st="4" end="4"/>
                                            </p:txEl>
                                          </p:spTgt>
                                        </p:tgtEl>
                                        <p:attrNameLst>
                                          <p:attrName>style.visibility</p:attrName>
                                        </p:attrNameLst>
                                      </p:cBhvr>
                                      <p:to>
                                        <p:strVal val="visible"/>
                                      </p:to>
                                    </p:set>
                                    <p:anim calcmode="lin" valueType="num">
                                      <p:cBhvr additive="base">
                                        <p:cTn id="19" dur="500" fill="hold"/>
                                        <p:tgtEl>
                                          <p:spTgt spid="63385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38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noChangeArrowheads="1"/>
          </p:cNvSpPr>
          <p:nvPr>
            <p:ph idx="4294967295"/>
          </p:nvPr>
        </p:nvSpPr>
        <p:spPr>
          <a:xfrm>
            <a:off x="1343472" y="1916832"/>
            <a:ext cx="7772400" cy="1895475"/>
          </a:xfrm>
        </p:spPr>
        <p:txBody>
          <a:bodyPr/>
          <a:lstStyle/>
          <a:p>
            <a:pPr algn="just">
              <a:lnSpc>
                <a:spcPct val="100000"/>
              </a:lnSpc>
              <a:spcBef>
                <a:spcPts val="600"/>
              </a:spcBef>
              <a:spcAft>
                <a:spcPts val="600"/>
              </a:spcAft>
            </a:pPr>
            <a:r>
              <a:rPr lang="zh-CN" altLang="en-US" sz="2800" b="1" dirty="0">
                <a:cs typeface="+mn-ea"/>
                <a:sym typeface="+mn-lt"/>
              </a:rPr>
              <a:t>空间复杂性</a:t>
            </a:r>
          </a:p>
          <a:p>
            <a:pPr lvl="1" algn="just">
              <a:lnSpc>
                <a:spcPct val="100000"/>
              </a:lnSpc>
              <a:spcBef>
                <a:spcPts val="600"/>
              </a:spcBef>
              <a:spcAft>
                <a:spcPts val="600"/>
              </a:spcAft>
            </a:pPr>
            <a:r>
              <a:rPr lang="zh-CN" altLang="en-US" sz="2400" b="1" dirty="0">
                <a:solidFill>
                  <a:schemeClr val="accent1"/>
                </a:solidFill>
                <a:cs typeface="+mn-ea"/>
                <a:sym typeface="+mn-lt"/>
              </a:rPr>
              <a:t>一个算法对特定输入的空间复杂性是该算法对该输入产生结果所需要的存储空间大小</a:t>
            </a:r>
            <a:r>
              <a:rPr lang="zh-CN" altLang="en-US" sz="2845" b="1" dirty="0">
                <a:solidFill>
                  <a:schemeClr val="accent1"/>
                </a:solidFill>
                <a:cs typeface="+mn-ea"/>
                <a:sym typeface="+mn-lt"/>
              </a:rPr>
              <a:t>。</a:t>
            </a:r>
          </a:p>
        </p:txBody>
      </p:sp>
      <p:sp>
        <p:nvSpPr>
          <p:cNvPr id="116739" name="Rectangle 4"/>
          <p:cNvSpPr>
            <a:spLocks noChangeArrowheads="1"/>
          </p:cNvSpPr>
          <p:nvPr/>
        </p:nvSpPr>
        <p:spPr bwMode="auto">
          <a:xfrm>
            <a:off x="695400" y="548680"/>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cs typeface="+mn-ea"/>
                <a:sym typeface="+mn-lt"/>
              </a:rPr>
              <a:t>算法复杂性分析的度量</a:t>
            </a:r>
          </a:p>
        </p:txBody>
      </p:sp>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12</a:t>
            </a:fld>
            <a:endParaRPr lang="zh-CN" altLang="en-US"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5907" name="Rectangle 3"/>
              <p:cNvSpPr>
                <a:spLocks noGrp="1" noChangeArrowheads="1"/>
              </p:cNvSpPr>
              <p:nvPr>
                <p:ph idx="4294967295"/>
              </p:nvPr>
            </p:nvSpPr>
            <p:spPr>
              <a:xfrm>
                <a:off x="1151458" y="1186309"/>
                <a:ext cx="9504363" cy="5111750"/>
              </a:xfrm>
            </p:spPr>
            <p:txBody>
              <a:bodyPr>
                <a:normAutofit fontScale="92500" lnSpcReduction="20000"/>
              </a:bodyPr>
              <a:lstStyle/>
              <a:p>
                <a:pPr marL="0" indent="0" algn="just">
                  <a:lnSpc>
                    <a:spcPct val="135000"/>
                  </a:lnSpc>
                  <a:spcBef>
                    <a:spcPts val="600"/>
                  </a:spcBef>
                  <a:spcAft>
                    <a:spcPts val="600"/>
                  </a:spcAft>
                  <a:buNone/>
                </a:pPr>
                <a:r>
                  <a:rPr lang="zh-CN" altLang="en-US" sz="2400" b="1" dirty="0">
                    <a:latin typeface="黑体" panose="02010609060101010101" pitchFamily="49" charset="-122"/>
                    <a:ea typeface="黑体" panose="02010609060101010101" pitchFamily="49" charset="-122"/>
                  </a:rPr>
                  <a:t>如何来度量算法的复杂性：</a:t>
                </a:r>
                <a:endParaRPr lang="en-US" altLang="zh-CN" sz="2400" b="1" dirty="0">
                  <a:latin typeface="黑体" panose="02010609060101010101" pitchFamily="49" charset="-122"/>
                  <a:ea typeface="黑体" panose="02010609060101010101" pitchFamily="49" charset="-122"/>
                </a:endParaRPr>
              </a:p>
              <a:p>
                <a:pPr lvl="1" algn="just">
                  <a:lnSpc>
                    <a:spcPct val="135000"/>
                  </a:lnSpc>
                  <a:spcBef>
                    <a:spcPts val="600"/>
                  </a:spcBef>
                  <a:spcAft>
                    <a:spcPts val="600"/>
                  </a:spcAft>
                </a:pPr>
                <a:r>
                  <a:rPr lang="zh-CN" altLang="en-US" sz="2000" b="1" dirty="0">
                    <a:latin typeface="黑体" panose="02010609060101010101" pitchFamily="49" charset="-122"/>
                    <a:ea typeface="黑体" panose="02010609060101010101" pitchFamily="49" charset="-122"/>
                  </a:rPr>
                  <a:t>时间复杂性：统计程序执行过程中总共执行了多少条语句。</a:t>
                </a:r>
                <a:endParaRPr lang="en-US" altLang="zh-CN" sz="2000" b="1" dirty="0">
                  <a:latin typeface="黑体" panose="02010609060101010101" pitchFamily="49" charset="-122"/>
                  <a:ea typeface="黑体" panose="02010609060101010101" pitchFamily="49" charset="-122"/>
                </a:endParaRPr>
              </a:p>
              <a:p>
                <a:pPr lvl="1" algn="just">
                  <a:lnSpc>
                    <a:spcPct val="135000"/>
                  </a:lnSpc>
                  <a:spcBef>
                    <a:spcPts val="600"/>
                  </a:spcBef>
                  <a:spcAft>
                    <a:spcPts val="600"/>
                  </a:spcAft>
                </a:pPr>
                <a:r>
                  <a:rPr lang="zh-CN" altLang="en-US" sz="2000" b="1" dirty="0">
                    <a:latin typeface="黑体" panose="02010609060101010101" pitchFamily="49" charset="-122"/>
                    <a:ea typeface="黑体" panose="02010609060101010101" pitchFamily="49" charset="-122"/>
                  </a:rPr>
                  <a:t>空间复杂性：统计程序执行过程中最多占用多少空间。</a:t>
                </a:r>
                <a:endParaRPr lang="en-US" altLang="zh-CN" sz="2000" b="1" dirty="0">
                  <a:latin typeface="黑体" panose="02010609060101010101" pitchFamily="49" charset="-122"/>
                  <a:ea typeface="黑体" panose="02010609060101010101" pitchFamily="49" charset="-122"/>
                </a:endParaRPr>
              </a:p>
              <a:p>
                <a:pPr marL="0" indent="0" algn="just">
                  <a:lnSpc>
                    <a:spcPct val="135000"/>
                  </a:lnSpc>
                  <a:spcBef>
                    <a:spcPts val="600"/>
                  </a:spcBef>
                  <a:spcAft>
                    <a:spcPts val="600"/>
                  </a:spcAft>
                  <a:buNone/>
                </a:pPr>
                <a:r>
                  <a:rPr lang="zh-CN" altLang="en-US" sz="2400" b="1" dirty="0">
                    <a:latin typeface="黑体" panose="02010609060101010101" pitchFamily="49" charset="-122"/>
                    <a:ea typeface="黑体" panose="02010609060101010101" pitchFamily="49" charset="-122"/>
                  </a:rPr>
                  <a:t>一个算法的输入可以是多种多样的</a:t>
                </a:r>
                <a:endParaRPr lang="en-US" altLang="zh-CN" sz="2400" b="1" dirty="0">
                  <a:latin typeface="黑体" panose="02010609060101010101" pitchFamily="49" charset="-122"/>
                  <a:ea typeface="黑体" panose="02010609060101010101" pitchFamily="49" charset="-122"/>
                </a:endParaRPr>
              </a:p>
              <a:p>
                <a:pPr marL="0" indent="0" algn="just">
                  <a:lnSpc>
                    <a:spcPct val="135000"/>
                  </a:lnSpc>
                  <a:spcBef>
                    <a:spcPts val="600"/>
                  </a:spcBef>
                  <a:spcAft>
                    <a:spcPts val="600"/>
                  </a:spcAft>
                  <a:buNone/>
                </a:pPr>
                <a:endParaRPr lang="en-US" altLang="zh-CN" sz="2400" b="1" dirty="0">
                  <a:latin typeface="黑体" panose="02010609060101010101" pitchFamily="49" charset="-122"/>
                  <a:ea typeface="黑体" panose="02010609060101010101" pitchFamily="49" charset="-122"/>
                </a:endParaRPr>
              </a:p>
              <a:p>
                <a:pPr algn="just">
                  <a:lnSpc>
                    <a:spcPct val="135000"/>
                  </a:lnSpc>
                  <a:spcBef>
                    <a:spcPts val="600"/>
                  </a:spcBef>
                  <a:spcAft>
                    <a:spcPts val="600"/>
                  </a:spcAft>
                </a:pPr>
                <a:endParaRPr lang="en-US" altLang="zh-CN" sz="2400" b="1" dirty="0">
                  <a:latin typeface="黑体" panose="02010609060101010101" pitchFamily="49" charset="-122"/>
                  <a:ea typeface="黑体" panose="02010609060101010101" pitchFamily="49" charset="-122"/>
                </a:endParaRPr>
              </a:p>
              <a:p>
                <a:pPr algn="just">
                  <a:lnSpc>
                    <a:spcPct val="135000"/>
                  </a:lnSpc>
                  <a:spcBef>
                    <a:spcPts val="600"/>
                  </a:spcBef>
                  <a:spcAft>
                    <a:spcPts val="600"/>
                  </a:spcAft>
                </a:pPr>
                <a:r>
                  <a:rPr lang="zh-CN" altLang="en-US" sz="2400" b="1" dirty="0">
                    <a:solidFill>
                      <a:srgbClr val="FF0000"/>
                    </a:solidFill>
                    <a:latin typeface="黑体" panose="02010609060101010101" pitchFamily="49" charset="-122"/>
                    <a:ea typeface="黑体" panose="02010609060101010101" pitchFamily="49" charset="-122"/>
                  </a:rPr>
                  <a:t>最坏复杂性</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100</a:t>
                </a:r>
              </a:p>
              <a:p>
                <a:pPr algn="just">
                  <a:lnSpc>
                    <a:spcPct val="135000"/>
                  </a:lnSpc>
                  <a:spcBef>
                    <a:spcPts val="600"/>
                  </a:spcBef>
                  <a:spcAft>
                    <a:spcPts val="600"/>
                  </a:spcAft>
                </a:pPr>
                <a:r>
                  <a:rPr lang="zh-CN" altLang="en-US" sz="2400" b="1" dirty="0">
                    <a:latin typeface="黑体" panose="02010609060101010101" pitchFamily="49" charset="-122"/>
                    <a:ea typeface="黑体" panose="02010609060101010101" pitchFamily="49" charset="-122"/>
                  </a:rPr>
                  <a:t>最小复杂性：</a:t>
                </a:r>
                <a:r>
                  <a:rPr lang="en-US" altLang="zh-CN" sz="2400" b="1" dirty="0">
                    <a:latin typeface="黑体" panose="02010609060101010101" pitchFamily="49" charset="-122"/>
                    <a:ea typeface="黑体" panose="02010609060101010101" pitchFamily="49" charset="-122"/>
                  </a:rPr>
                  <a:t>10</a:t>
                </a:r>
                <a:endParaRPr lang="zh-CN" altLang="en-US" sz="2400" b="1" dirty="0">
                  <a:latin typeface="黑体" panose="02010609060101010101" pitchFamily="49" charset="-122"/>
                  <a:ea typeface="黑体" panose="02010609060101010101" pitchFamily="49" charset="-122"/>
                </a:endParaRPr>
              </a:p>
              <a:p>
                <a:pPr algn="just">
                  <a:lnSpc>
                    <a:spcPct val="135000"/>
                  </a:lnSpc>
                  <a:spcBef>
                    <a:spcPts val="600"/>
                  </a:spcBef>
                  <a:spcAft>
                    <a:spcPts val="600"/>
                  </a:spcAft>
                </a:pPr>
                <a:r>
                  <a:rPr lang="zh-CN" altLang="en-US" sz="2400" b="1" dirty="0">
                    <a:solidFill>
                      <a:srgbClr val="FF0000"/>
                    </a:solidFill>
                    <a:latin typeface="黑体" panose="02010609060101010101" pitchFamily="49" charset="-122"/>
                    <a:ea typeface="黑体" panose="02010609060101010101" pitchFamily="49" charset="-122"/>
                  </a:rPr>
                  <a:t>平均复杂性</a:t>
                </a:r>
                <a:r>
                  <a:rPr lang="zh-CN" altLang="en-US" sz="2400" b="1" dirty="0">
                    <a:latin typeface="黑体" panose="02010609060101010101" pitchFamily="49" charset="-122"/>
                    <a:ea typeface="黑体" panose="02010609060101010101" pitchFamily="49" charset="-122"/>
                    <a:sym typeface="Wingdings" panose="05000000000000000000" pitchFamily="2" charset="2"/>
                  </a:rPr>
                  <a:t>：</a:t>
                </a:r>
                <a14:m>
                  <m:oMath xmlns:m="http://schemas.openxmlformats.org/officeDocument/2006/math">
                    <m:f>
                      <m:fPr>
                        <m:ctrlPr>
                          <a:rPr lang="en-US" altLang="zh-CN" sz="2400" b="1" i="1" dirty="0">
                            <a:latin typeface="Cambria Math" panose="02040503050406030204" pitchFamily="18" charset="0"/>
                            <a:ea typeface="黑体" panose="02010609060101010101" pitchFamily="49" charset="-122"/>
                            <a:sym typeface="Wingdings" panose="05000000000000000000" pitchFamily="2" charset="2"/>
                          </a:rPr>
                        </m:ctrlPr>
                      </m:fPr>
                      <m:num>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𝟏𝟎</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𝟐𝟎</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𝟑𝟎</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𝟏𝟎𝟎</m:t>
                        </m:r>
                      </m:num>
                      <m:den>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𝟒</m:t>
                        </m:r>
                      </m:den>
                    </m:f>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𝟖𝟎</m:t>
                    </m:r>
                  </m:oMath>
                </a14:m>
                <a:endParaRPr lang="zh-CN" altLang="en-US" sz="2400" b="1" dirty="0">
                  <a:latin typeface="黑体" panose="02010609060101010101" pitchFamily="49" charset="-122"/>
                  <a:ea typeface="黑体" panose="02010609060101010101" pitchFamily="49" charset="-122"/>
                </a:endParaRPr>
              </a:p>
            </p:txBody>
          </p:sp>
        </mc:Choice>
        <mc:Fallback xmlns="">
          <p:sp>
            <p:nvSpPr>
              <p:cNvPr id="635907" name="Rectangle 3"/>
              <p:cNvSpPr>
                <a:spLocks noRot="1" noChangeAspect="1" noMove="1" noResize="1" noEditPoints="1" noAdjustHandles="1" noChangeArrowheads="1" noChangeShapeType="1" noTextEdit="1"/>
              </p:cNvSpPr>
              <p:nvPr>
                <p:ph idx="4294967295"/>
              </p:nvPr>
            </p:nvSpPr>
            <p:spPr>
              <a:xfrm>
                <a:off x="1151458" y="1186309"/>
                <a:ext cx="9504363" cy="5111750"/>
              </a:xfrm>
              <a:blipFill rotWithShape="1">
                <a:blip r:embed="rId3"/>
                <a:stretch>
                  <a:fillRect l="-2" t="-3" r="5" b="3"/>
                </a:stretch>
              </a:blipFill>
            </p:spPr>
            <p:txBody>
              <a:bodyPr/>
              <a:lstStyle/>
              <a:p>
                <a:r>
                  <a:rPr lang="zh-CN" altLang="en-US">
                    <a:noFill/>
                  </a:rPr>
                  <a:t> </a:t>
                </a:r>
              </a:p>
            </p:txBody>
          </p:sp>
        </mc:Fallback>
      </mc:AlternateContent>
      <p:sp>
        <p:nvSpPr>
          <p:cNvPr id="117765" name="Rectangle 4"/>
          <p:cNvSpPr>
            <a:spLocks noChangeArrowheads="1"/>
          </p:cNvSpPr>
          <p:nvPr/>
        </p:nvSpPr>
        <p:spPr bwMode="auto">
          <a:xfrm>
            <a:off x="623392" y="332656"/>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latin typeface="微软雅黑" charset="-122"/>
                <a:ea typeface="微软雅黑" charset="-122"/>
              </a:rPr>
              <a:t>算法复杂性分析的度量</a:t>
            </a:r>
          </a:p>
        </p:txBody>
      </p:sp>
      <p:graphicFrame>
        <p:nvGraphicFramePr>
          <p:cNvPr id="2" name="表格 1"/>
          <p:cNvGraphicFramePr>
            <a:graphicFrameLocks noGrp="1"/>
          </p:cNvGraphicFramePr>
          <p:nvPr/>
        </p:nvGraphicFramePr>
        <p:xfrm>
          <a:off x="2855640" y="3284984"/>
          <a:ext cx="6096000" cy="91440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r>
                        <a:rPr lang="zh-CN" altLang="en-US" sz="2400" dirty="0"/>
                        <a:t>输入</a:t>
                      </a:r>
                      <a:r>
                        <a:rPr lang="en-US" altLang="zh-CN" sz="2400" dirty="0"/>
                        <a:t>1</a:t>
                      </a:r>
                      <a:endParaRPr lang="zh-CN" altLang="en-US" sz="2400" dirty="0"/>
                    </a:p>
                  </a:txBody>
                  <a:tcPr/>
                </a:tc>
                <a:tc>
                  <a:txBody>
                    <a:bodyPr/>
                    <a:lstStyle/>
                    <a:p>
                      <a:r>
                        <a:rPr lang="zh-CN" altLang="en-US" sz="2400" dirty="0"/>
                        <a:t>输入</a:t>
                      </a:r>
                      <a:r>
                        <a:rPr lang="en-US" altLang="zh-CN" sz="2400" dirty="0"/>
                        <a:t>2</a:t>
                      </a:r>
                      <a:endParaRPr lang="zh-CN" altLang="en-US" sz="2400" dirty="0"/>
                    </a:p>
                  </a:txBody>
                  <a:tcPr/>
                </a:tc>
                <a:tc>
                  <a:txBody>
                    <a:bodyPr/>
                    <a:lstStyle/>
                    <a:p>
                      <a:r>
                        <a:rPr lang="zh-CN" altLang="en-US" sz="2400" dirty="0"/>
                        <a:t>输入</a:t>
                      </a:r>
                      <a:r>
                        <a:rPr lang="en-US" altLang="zh-CN" sz="2400" dirty="0"/>
                        <a:t>3</a:t>
                      </a:r>
                      <a:endParaRPr lang="zh-CN" altLang="en-US" sz="2400" dirty="0"/>
                    </a:p>
                  </a:txBody>
                  <a:tcPr/>
                </a:tc>
                <a:tc>
                  <a:txBody>
                    <a:bodyPr/>
                    <a:lstStyle/>
                    <a:p>
                      <a:r>
                        <a:rPr lang="zh-CN" altLang="en-US" sz="2400" dirty="0"/>
                        <a:t>输入</a:t>
                      </a:r>
                      <a:r>
                        <a:rPr lang="en-US" altLang="zh-CN" sz="2400" dirty="0"/>
                        <a:t>4</a:t>
                      </a:r>
                      <a:endParaRPr lang="zh-CN" altLang="en-US" sz="2400" dirty="0"/>
                    </a:p>
                  </a:txBody>
                  <a:tcPr/>
                </a:tc>
                <a:extLst>
                  <a:ext uri="{0D108BD9-81ED-4DB2-BD59-A6C34878D82A}">
                    <a16:rowId xmlns:a16="http://schemas.microsoft.com/office/drawing/2014/main" val="10000"/>
                  </a:ext>
                </a:extLst>
              </a:tr>
              <a:tr h="320536">
                <a:tc>
                  <a:txBody>
                    <a:bodyPr/>
                    <a:lstStyle/>
                    <a:p>
                      <a:r>
                        <a:rPr lang="en-US" altLang="zh-CN" sz="2400" dirty="0"/>
                        <a:t>10</a:t>
                      </a:r>
                      <a:endParaRPr lang="zh-CN" altLang="en-US" sz="2400" dirty="0"/>
                    </a:p>
                  </a:txBody>
                  <a:tcPr/>
                </a:tc>
                <a:tc>
                  <a:txBody>
                    <a:bodyPr/>
                    <a:lstStyle/>
                    <a:p>
                      <a:r>
                        <a:rPr lang="en-US" altLang="zh-CN" sz="2400" dirty="0"/>
                        <a:t>20</a:t>
                      </a:r>
                      <a:endParaRPr lang="zh-CN" altLang="en-US" sz="2400" dirty="0"/>
                    </a:p>
                  </a:txBody>
                  <a:tcPr/>
                </a:tc>
                <a:tc>
                  <a:txBody>
                    <a:bodyPr/>
                    <a:lstStyle/>
                    <a:p>
                      <a:r>
                        <a:rPr lang="en-US" altLang="zh-CN" sz="2400" dirty="0"/>
                        <a:t>30</a:t>
                      </a:r>
                      <a:endParaRPr lang="zh-CN" altLang="en-US" sz="2400" dirty="0"/>
                    </a:p>
                  </a:txBody>
                  <a:tcPr/>
                </a:tc>
                <a:tc>
                  <a:txBody>
                    <a:bodyPr/>
                    <a:lstStyle/>
                    <a:p>
                      <a:r>
                        <a:rPr lang="en-US" altLang="zh-CN" sz="2400" dirty="0"/>
                        <a:t>100</a:t>
                      </a:r>
                      <a:endParaRPr lang="zh-CN" altLang="en-US" sz="2400" dirty="0"/>
                    </a:p>
                  </a:txBody>
                  <a:tcPr/>
                </a:tc>
                <a:extLst>
                  <a:ext uri="{0D108BD9-81ED-4DB2-BD59-A6C34878D82A}">
                    <a16:rowId xmlns:a16="http://schemas.microsoft.com/office/drawing/2014/main" val="10001"/>
                  </a:ext>
                </a:extLst>
              </a:tr>
            </a:tbl>
          </a:graphicData>
        </a:graphic>
      </p:graphicFrame>
      <p:sp>
        <p:nvSpPr>
          <p:cNvPr id="3" name="灯片编号占位符 2"/>
          <p:cNvSpPr>
            <a:spLocks noGrp="1"/>
          </p:cNvSpPr>
          <p:nvPr>
            <p:ph type="sldNum" sz="quarter" idx="12"/>
          </p:nvPr>
        </p:nvSpPr>
        <p:spPr/>
        <p:txBody>
          <a:bodyPr/>
          <a:lstStyle/>
          <a:p>
            <a:pPr>
              <a:defRPr/>
            </a:pPr>
            <a:fld id="{E6B3DE21-AFB9-F14F-B875-13235536560E}" type="slidenum">
              <a:rPr lang="en-US" altLang="zh-CN" smtClean="0"/>
              <a:t>13</a:t>
            </a:fld>
            <a:endParaRPr lang="zh-CN" altLang="en-US" dirty="0"/>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idx="1"/>
          </p:nvPr>
        </p:nvSpPr>
        <p:spPr>
          <a:xfrm>
            <a:off x="767408" y="1268760"/>
            <a:ext cx="9282112" cy="4805362"/>
          </a:xfrm>
        </p:spPr>
        <p:txBody>
          <a:bodyPr/>
          <a:lstStyle/>
          <a:p>
            <a:pPr>
              <a:lnSpc>
                <a:spcPct val="110000"/>
              </a:lnSpc>
              <a:spcBef>
                <a:spcPct val="0"/>
              </a:spcBef>
              <a:spcAft>
                <a:spcPct val="0"/>
              </a:spcAft>
            </a:pPr>
            <a:r>
              <a:rPr lang="zh-CN" altLang="en-US" dirty="0">
                <a:latin typeface="Times New Roman" panose="02020503050405090304" pitchFamily="18" charset="0"/>
                <a:ea typeface="黑体" charset="0"/>
                <a:cs typeface="Arial" panose="020B0604020202090204" pitchFamily="34" charset="0"/>
              </a:rPr>
              <a:t>陌生人给富翁的钱 </a:t>
            </a:r>
            <a:r>
              <a:rPr lang="en-US" altLang="zh-CN" dirty="0">
                <a:latin typeface="Times New Roman" panose="02020503050405090304" pitchFamily="18" charset="0"/>
                <a:ea typeface="黑体" charset="0"/>
                <a:cs typeface="Arial" panose="020B0604020202090204" pitchFamily="34" charset="0"/>
              </a:rPr>
              <a:t>(</a:t>
            </a:r>
            <a:r>
              <a:rPr lang="en-US" altLang="zh-CN" dirty="0">
                <a:solidFill>
                  <a:srgbClr val="FF0000"/>
                </a:solidFill>
                <a:latin typeface="Times New Roman" panose="02020503050405090304" pitchFamily="18" charset="0"/>
                <a:ea typeface="黑体" charset="0"/>
                <a:cs typeface="Arial" panose="020B0604020202090204" pitchFamily="34" charset="0"/>
              </a:rPr>
              <a:t>t</a:t>
            </a:r>
            <a:r>
              <a:rPr lang="en-US" altLang="zh-CN" dirty="0">
                <a:latin typeface="Times New Roman" panose="02020503050405090304" pitchFamily="18" charset="0"/>
                <a:ea typeface="黑体" charset="0"/>
                <a:cs typeface="Arial" panose="020B0604020202090204" pitchFamily="34" charset="0"/>
              </a:rPr>
              <a:t>)</a:t>
            </a:r>
            <a:endParaRPr lang="en-US" altLang="zh-CN" dirty="0">
              <a:solidFill>
                <a:srgbClr val="FF0000"/>
              </a:solidFill>
              <a:latin typeface="Times New Roman" panose="02020503050405090304" pitchFamily="18" charset="0"/>
              <a:ea typeface="黑体" charset="0"/>
              <a:cs typeface="Arial" panose="020B0604020202090204" pitchFamily="34" charset="0"/>
            </a:endParaRPr>
          </a:p>
          <a:p>
            <a:pPr lvl="1">
              <a:lnSpc>
                <a:spcPct val="110000"/>
              </a:lnSpc>
              <a:spcBef>
                <a:spcPct val="0"/>
              </a:spcBef>
              <a:spcAft>
                <a:spcPct val="0"/>
              </a:spcAft>
            </a:pPr>
            <a:r>
              <a:rPr lang="zh-CN" altLang="en-US" dirty="0">
                <a:solidFill>
                  <a:srgbClr val="FF0000"/>
                </a:solidFill>
                <a:latin typeface="Times New Roman" panose="02020503050405090304" pitchFamily="18" charset="0"/>
                <a:ea typeface="黑体" charset="0"/>
                <a:cs typeface="Arial" panose="020B0604020202090204" pitchFamily="34" charset="0"/>
              </a:rPr>
              <a:t>初始值 ：</a:t>
            </a:r>
            <a:r>
              <a:rPr lang="en-US" altLang="zh-CN" dirty="0">
                <a:solidFill>
                  <a:srgbClr val="FF0000"/>
                </a:solidFill>
                <a:latin typeface="Times New Roman" panose="02020503050405090304" pitchFamily="18" charset="0"/>
                <a:ea typeface="黑体" charset="0"/>
                <a:cs typeface="Arial" panose="020B0604020202090204" pitchFamily="34" charset="0"/>
              </a:rPr>
              <a:t>t =0</a:t>
            </a:r>
          </a:p>
          <a:p>
            <a:pPr lvl="1">
              <a:lnSpc>
                <a:spcPct val="110000"/>
              </a:lnSpc>
              <a:spcBef>
                <a:spcPct val="0"/>
              </a:spcBef>
              <a:spcAft>
                <a:spcPct val="0"/>
              </a:spcAft>
            </a:pPr>
            <a:r>
              <a:rPr lang="zh-CN" altLang="en-US" dirty="0">
                <a:solidFill>
                  <a:srgbClr val="FF0000"/>
                </a:solidFill>
                <a:latin typeface="Times New Roman" panose="02020503050405090304" pitchFamily="18" charset="0"/>
                <a:ea typeface="黑体" charset="0"/>
                <a:cs typeface="Arial" panose="020B0604020202090204" pitchFamily="34" charset="0"/>
              </a:rPr>
              <a:t>递推公式：</a:t>
            </a:r>
            <a:r>
              <a:rPr lang="en-US" altLang="zh-CN" dirty="0">
                <a:solidFill>
                  <a:srgbClr val="FF0000"/>
                </a:solidFill>
                <a:latin typeface="Times New Roman" panose="02020503050405090304" pitchFamily="18" charset="0"/>
                <a:ea typeface="黑体" charset="0"/>
                <a:cs typeface="Arial" panose="020B0604020202090204" pitchFamily="34" charset="0"/>
              </a:rPr>
              <a:t>t = t + 100000</a:t>
            </a:r>
          </a:p>
          <a:p>
            <a:pPr>
              <a:lnSpc>
                <a:spcPct val="110000"/>
              </a:lnSpc>
              <a:spcBef>
                <a:spcPct val="0"/>
              </a:spcBef>
              <a:spcAft>
                <a:spcPct val="0"/>
              </a:spcAft>
            </a:pPr>
            <a:r>
              <a:rPr lang="zh-CN" altLang="en-US" dirty="0">
                <a:latin typeface="Arial" panose="020B0604020202090204" pitchFamily="34" charset="0"/>
                <a:ea typeface="黑体" charset="0"/>
                <a:cs typeface="Arial" panose="020B0604020202090204" pitchFamily="34" charset="0"/>
              </a:rPr>
              <a:t>富翁给陌生人的钱 </a:t>
            </a:r>
            <a:r>
              <a:rPr lang="en-US" altLang="zh-CN" dirty="0">
                <a:latin typeface="Arial" panose="020B0604020202090204" pitchFamily="34" charset="0"/>
                <a:ea typeface="黑体" charset="0"/>
                <a:cs typeface="Arial" panose="020B0604020202090204" pitchFamily="34" charset="0"/>
              </a:rPr>
              <a:t>(</a:t>
            </a:r>
            <a:r>
              <a:rPr lang="en-US" altLang="zh-CN" dirty="0">
                <a:solidFill>
                  <a:srgbClr val="FF0000"/>
                </a:solidFill>
                <a:latin typeface="Times New Roman" panose="02020503050405090304" pitchFamily="18" charset="0"/>
                <a:ea typeface="黑体" charset="0"/>
                <a:cs typeface="Arial" panose="020B0604020202090204" pitchFamily="34" charset="0"/>
              </a:rPr>
              <a:t>s</a:t>
            </a:r>
            <a:r>
              <a:rPr lang="en-US" altLang="zh-CN" dirty="0">
                <a:latin typeface="Arial" panose="020B0604020202090204" pitchFamily="34" charset="0"/>
                <a:ea typeface="黑体" charset="0"/>
                <a:cs typeface="Arial" panose="020B0604020202090204" pitchFamily="34" charset="0"/>
              </a:rPr>
              <a:t>)</a:t>
            </a:r>
          </a:p>
          <a:p>
            <a:pPr lvl="1">
              <a:lnSpc>
                <a:spcPct val="110000"/>
              </a:lnSpc>
              <a:spcBef>
                <a:spcPct val="0"/>
              </a:spcBef>
              <a:spcAft>
                <a:spcPct val="0"/>
              </a:spcAft>
            </a:pPr>
            <a:r>
              <a:rPr lang="zh-CN" altLang="en-US" dirty="0">
                <a:solidFill>
                  <a:srgbClr val="FF0000"/>
                </a:solidFill>
                <a:latin typeface="Times New Roman" panose="02020503050405090304" pitchFamily="18" charset="0"/>
                <a:ea typeface="黑体" charset="0"/>
                <a:cs typeface="Arial" panose="020B0604020202090204" pitchFamily="34" charset="0"/>
              </a:rPr>
              <a:t>初始值：</a:t>
            </a:r>
            <a:r>
              <a:rPr lang="en-US" altLang="zh-CN" dirty="0">
                <a:solidFill>
                  <a:srgbClr val="FF0000"/>
                </a:solidFill>
                <a:latin typeface="Times New Roman" panose="02020503050405090304" pitchFamily="18" charset="0"/>
                <a:ea typeface="黑体" charset="0"/>
                <a:cs typeface="Arial" panose="020B0604020202090204" pitchFamily="34" charset="0"/>
              </a:rPr>
              <a:t>s = 0</a:t>
            </a:r>
          </a:p>
          <a:p>
            <a:pPr lvl="1">
              <a:lnSpc>
                <a:spcPct val="110000"/>
              </a:lnSpc>
              <a:spcBef>
                <a:spcPct val="0"/>
              </a:spcBef>
              <a:spcAft>
                <a:spcPct val="0"/>
              </a:spcAft>
            </a:pPr>
            <a:r>
              <a:rPr lang="zh-CN" altLang="en-US" dirty="0">
                <a:solidFill>
                  <a:srgbClr val="FF0000"/>
                </a:solidFill>
                <a:latin typeface="Times New Roman" panose="02020503050405090304" pitchFamily="18" charset="0"/>
                <a:ea typeface="黑体" charset="0"/>
                <a:cs typeface="Arial" panose="020B0604020202090204" pitchFamily="34" charset="0"/>
              </a:rPr>
              <a:t>递推公式：</a:t>
            </a:r>
            <a:r>
              <a:rPr lang="en-US" altLang="zh-CN" dirty="0">
                <a:solidFill>
                  <a:srgbClr val="FF0000"/>
                </a:solidFill>
                <a:latin typeface="Times New Roman" panose="02020503050405090304" pitchFamily="18" charset="0"/>
                <a:ea typeface="黑体" charset="0"/>
                <a:cs typeface="Arial" panose="020B0604020202090204" pitchFamily="34" charset="0"/>
              </a:rPr>
              <a:t>s = s + </a:t>
            </a:r>
            <a:r>
              <a:rPr lang="zh-CN" altLang="en-US" dirty="0">
                <a:solidFill>
                  <a:srgbClr val="FF0000"/>
                </a:solidFill>
                <a:latin typeface="Times New Roman" panose="02020503050405090304" pitchFamily="18" charset="0"/>
                <a:ea typeface="黑体" charset="0"/>
                <a:cs typeface="Arial" panose="020B0604020202090204" pitchFamily="34" charset="0"/>
              </a:rPr>
              <a:t>某天给钱数 </a:t>
            </a:r>
            <a:r>
              <a:rPr lang="en-US" altLang="zh-CN" dirty="0">
                <a:solidFill>
                  <a:srgbClr val="FF0000"/>
                </a:solidFill>
                <a:latin typeface="Times New Roman" panose="02020503050405090304" pitchFamily="18" charset="0"/>
                <a:ea typeface="黑体" charset="0"/>
                <a:cs typeface="Arial" panose="020B0604020202090204" pitchFamily="34" charset="0"/>
              </a:rPr>
              <a:t>(a)</a:t>
            </a:r>
          </a:p>
          <a:p>
            <a:pPr lvl="1">
              <a:lnSpc>
                <a:spcPct val="110000"/>
              </a:lnSpc>
              <a:spcBef>
                <a:spcPct val="0"/>
              </a:spcBef>
              <a:spcAft>
                <a:spcPct val="0"/>
              </a:spcAft>
            </a:pPr>
            <a:endParaRPr lang="en-US" altLang="zh-CN" dirty="0">
              <a:latin typeface="Arial" panose="020B0604020202090204" pitchFamily="34" charset="0"/>
              <a:ea typeface="黑体" charset="0"/>
              <a:cs typeface="Arial" panose="020B0604020202090204" pitchFamily="34" charset="0"/>
            </a:endParaRPr>
          </a:p>
        </p:txBody>
      </p:sp>
      <p:sp>
        <p:nvSpPr>
          <p:cNvPr id="98306" name="标题 1"/>
          <p:cNvSpPr txBox="1"/>
          <p:nvPr/>
        </p:nvSpPr>
        <p:spPr bwMode="auto">
          <a:xfrm>
            <a:off x="1762126" y="476251"/>
            <a:ext cx="88233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黑体" charset="0"/>
                <a:ea typeface="黑体" charset="0"/>
                <a:cs typeface="Arial" panose="020B0604020202090204" pitchFamily="34" charset="0"/>
              </a:defRPr>
            </a:lvl1pPr>
            <a:lvl2pPr marL="742950" indent="-285750">
              <a:spcBef>
                <a:spcPct val="20000"/>
              </a:spcBef>
              <a:buClr>
                <a:schemeClr val="tx2"/>
              </a:buClr>
              <a:buSzPct val="50000"/>
              <a:buFont typeface="Wingdings 2" panose="05020102010507070707" pitchFamily="2" charset="2"/>
              <a:buChar char="Þ"/>
              <a:defRPr sz="2800">
                <a:solidFill>
                  <a:srgbClr val="333399"/>
                </a:solidFill>
                <a:latin typeface="黑体" charset="0"/>
                <a:ea typeface="黑体" charset="0"/>
                <a:cs typeface="Arial" panose="020B0604020202090204" pitchFamily="34" charset="0"/>
              </a:defRPr>
            </a:lvl2pPr>
            <a:lvl3pPr marL="1143000" indent="-228600">
              <a:spcBef>
                <a:spcPct val="20000"/>
              </a:spcBef>
              <a:buClr>
                <a:schemeClr val="tx2"/>
              </a:buClr>
              <a:buSzPct val="50000"/>
              <a:buFont typeface="Wingdings 2" panose="05020102010507070707" pitchFamily="2" charset="2"/>
              <a:buChar char=""/>
              <a:defRPr sz="2400">
                <a:solidFill>
                  <a:srgbClr val="3333CC"/>
                </a:solidFill>
                <a:latin typeface="黑体" charset="0"/>
                <a:ea typeface="黑体" charset="0"/>
                <a:cs typeface="Arial" panose="020B0604020202090204" pitchFamily="34" charset="0"/>
              </a:defRPr>
            </a:lvl3pPr>
            <a:lvl4pPr marL="1600200" indent="-228600">
              <a:spcBef>
                <a:spcPct val="20000"/>
              </a:spcBef>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4pPr>
            <a:lvl5pPr marL="2057400" indent="-228600">
              <a:spcBef>
                <a:spcPct val="20000"/>
              </a:spcBef>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5pPr>
            <a:lvl6pPr marL="25146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6pPr>
            <a:lvl7pPr marL="29718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7pPr>
            <a:lvl8pPr marL="34290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8pPr>
            <a:lvl9pPr marL="38862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9pPr>
          </a:lstStyle>
          <a:p>
            <a:pPr algn="ctr">
              <a:lnSpc>
                <a:spcPct val="85000"/>
              </a:lnSpc>
              <a:spcBef>
                <a:spcPts val="590"/>
              </a:spcBef>
              <a:spcAft>
                <a:spcPts val="590"/>
              </a:spcAft>
              <a:buSzPct val="80000"/>
              <a:buNone/>
            </a:pPr>
            <a:r>
              <a:rPr lang="en-US" altLang="zh-CN" sz="4000" dirty="0">
                <a:latin typeface="Arial" panose="020B0604020202090204" pitchFamily="34" charset="0"/>
                <a:ea typeface="微软雅黑" charset="0"/>
              </a:rPr>
              <a:t>【</a:t>
            </a:r>
            <a:r>
              <a:rPr lang="zh-CN" altLang="en-US" sz="4000" dirty="0">
                <a:latin typeface="Arial" panose="020B0604020202090204" pitchFamily="34" charset="0"/>
                <a:ea typeface="微软雅黑" charset="0"/>
              </a:rPr>
              <a:t>例</a:t>
            </a:r>
            <a:r>
              <a:rPr lang="en-US" altLang="zh-CN" sz="4000" dirty="0">
                <a:latin typeface="Arial" panose="020B0604020202090204" pitchFamily="34" charset="0"/>
                <a:ea typeface="微软雅黑" charset="0"/>
              </a:rPr>
              <a:t>】</a:t>
            </a:r>
            <a:r>
              <a:rPr lang="zh-CN" altLang="en-US" sz="4000" dirty="0">
                <a:latin typeface="Arial" panose="020B0604020202090204" pitchFamily="34" charset="0"/>
                <a:ea typeface="微软雅黑" charset="0"/>
              </a:rPr>
              <a:t>换钱游戏</a:t>
            </a:r>
          </a:p>
        </p:txBody>
      </p:sp>
      <p:sp>
        <p:nvSpPr>
          <p:cNvPr id="2" name="下箭头 1"/>
          <p:cNvSpPr/>
          <p:nvPr/>
        </p:nvSpPr>
        <p:spPr>
          <a:xfrm>
            <a:off x="5087143" y="4175126"/>
            <a:ext cx="288925"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90"/>
              </a:spcBef>
              <a:spcAft>
                <a:spcPts val="590"/>
              </a:spcAft>
              <a:buClr>
                <a:schemeClr val="tx2"/>
              </a:buClr>
              <a:buSzPct val="80000"/>
              <a:defRPr/>
            </a:pPr>
            <a:endParaRPr lang="en-US"/>
          </a:p>
        </p:txBody>
      </p:sp>
      <p:sp>
        <p:nvSpPr>
          <p:cNvPr id="7" name="内容占位符 2"/>
          <p:cNvSpPr txBox="1"/>
          <p:nvPr/>
        </p:nvSpPr>
        <p:spPr bwMode="auto">
          <a:xfrm>
            <a:off x="3791744" y="4879127"/>
            <a:ext cx="28797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黑体" charset="0"/>
                <a:ea typeface="黑体" charset="0"/>
                <a:cs typeface="Arial" panose="020B0604020202090204" pitchFamily="34" charset="0"/>
              </a:defRPr>
            </a:lvl1pPr>
            <a:lvl2pPr marL="742950" indent="-285750">
              <a:spcBef>
                <a:spcPct val="20000"/>
              </a:spcBef>
              <a:buClr>
                <a:schemeClr val="tx2"/>
              </a:buClr>
              <a:buSzPct val="50000"/>
              <a:buFont typeface="Wingdings 2" panose="05020102010507070707" pitchFamily="2" charset="2"/>
              <a:buChar char="Þ"/>
              <a:defRPr sz="2800">
                <a:solidFill>
                  <a:srgbClr val="333399"/>
                </a:solidFill>
                <a:latin typeface="黑体" charset="0"/>
                <a:ea typeface="黑体" charset="0"/>
                <a:cs typeface="Arial" panose="020B0604020202090204" pitchFamily="34" charset="0"/>
              </a:defRPr>
            </a:lvl2pPr>
            <a:lvl3pPr marL="1143000" indent="-228600">
              <a:spcBef>
                <a:spcPct val="20000"/>
              </a:spcBef>
              <a:buClr>
                <a:schemeClr val="tx2"/>
              </a:buClr>
              <a:buSzPct val="50000"/>
              <a:buFont typeface="Wingdings 2" panose="05020102010507070707" pitchFamily="2" charset="2"/>
              <a:buChar char=""/>
              <a:defRPr sz="2400">
                <a:solidFill>
                  <a:srgbClr val="3333CC"/>
                </a:solidFill>
                <a:latin typeface="黑体" charset="0"/>
                <a:ea typeface="黑体" charset="0"/>
                <a:cs typeface="Arial" panose="020B0604020202090204" pitchFamily="34" charset="0"/>
              </a:defRPr>
            </a:lvl3pPr>
            <a:lvl4pPr marL="1600200" indent="-228600">
              <a:spcBef>
                <a:spcPct val="20000"/>
              </a:spcBef>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4pPr>
            <a:lvl5pPr marL="2057400" indent="-228600">
              <a:spcBef>
                <a:spcPct val="20000"/>
              </a:spcBef>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5pPr>
            <a:lvl6pPr marL="25146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6pPr>
            <a:lvl7pPr marL="29718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7pPr>
            <a:lvl8pPr marL="34290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8pPr>
            <a:lvl9pPr marL="3886200" indent="-228600" eaLnBrk="0" fontAlgn="base" hangingPunct="0">
              <a:spcBef>
                <a:spcPct val="20000"/>
              </a:spcBef>
              <a:spcAft>
                <a:spcPct val="0"/>
              </a:spcAft>
              <a:buClr>
                <a:schemeClr val="tx2"/>
              </a:buClr>
              <a:buSzPct val="50000"/>
              <a:buFont typeface="Wingdings 2" panose="05020102010507070707" pitchFamily="2" charset="2"/>
              <a:buChar char=""/>
              <a:defRPr sz="2000">
                <a:solidFill>
                  <a:schemeClr val="tx1"/>
                </a:solidFill>
                <a:latin typeface="黑体" charset="0"/>
                <a:ea typeface="黑体" charset="0"/>
                <a:cs typeface="Arial" panose="020B0604020202090204" pitchFamily="34" charset="0"/>
              </a:defRPr>
            </a:lvl9pPr>
          </a:lstStyle>
          <a:p>
            <a:pPr>
              <a:lnSpc>
                <a:spcPct val="90000"/>
              </a:lnSpc>
              <a:spcBef>
                <a:spcPts val="400"/>
              </a:spcBef>
              <a:buNone/>
            </a:pPr>
            <a:r>
              <a:rPr lang="zh-CN" altLang="en-US" sz="2400">
                <a:latin typeface="Times New Roman" panose="02020503050405090304" pitchFamily="18" charset="0"/>
              </a:rPr>
              <a:t>初始值：</a:t>
            </a:r>
            <a:r>
              <a:rPr lang="en-US" altLang="zh-CN" sz="2400">
                <a:latin typeface="Times New Roman" panose="02020503050405090304" pitchFamily="18" charset="0"/>
              </a:rPr>
              <a:t>a = 0.01</a:t>
            </a:r>
          </a:p>
          <a:p>
            <a:pPr>
              <a:lnSpc>
                <a:spcPct val="90000"/>
              </a:lnSpc>
              <a:spcBef>
                <a:spcPts val="400"/>
              </a:spcBef>
              <a:buNone/>
            </a:pPr>
            <a:r>
              <a:rPr lang="zh-CN" altLang="en-US" sz="2400">
                <a:latin typeface="Times New Roman" panose="02020503050405090304" pitchFamily="18" charset="0"/>
              </a:rPr>
              <a:t>递推公式：</a:t>
            </a:r>
            <a:r>
              <a:rPr lang="en-US" altLang="zh-CN" sz="2400">
                <a:latin typeface="Times New Roman" panose="02020503050405090304" pitchFamily="18" charset="0"/>
              </a:rPr>
              <a:t>a = a * 2</a:t>
            </a:r>
            <a:endParaRPr lang="en-US" altLang="en-US" sz="2400">
              <a:latin typeface="Times New Roman" panose="02020503050405090304" pitchFamily="18" charset="0"/>
              <a:ea typeface="宋体" charset="0"/>
              <a:cs typeface="Times New Roman" panose="02020503050405090304" pitchFamily="18" charset="0"/>
            </a:endParaRPr>
          </a:p>
        </p:txBody>
      </p:sp>
      <p:pic>
        <p:nvPicPr>
          <p:cNvPr id="98310" name="图片 9" descr="Image3.jpg"/>
          <p:cNvPicPr>
            <a:picLocks noChangeAspect="1"/>
          </p:cNvPicPr>
          <p:nvPr/>
        </p:nvPicPr>
        <p:blipFill>
          <a:blip r:embed="rId3">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9625013" y="2205039"/>
            <a:ext cx="1008062"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pPr>
              <a:defRPr/>
            </a:pPr>
            <a:fld id="{7C4E558B-5425-6346-B896-72F904F12E77}" type="slidenum">
              <a:rPr lang="en-US" altLang="zh-CN" smtClean="0"/>
              <a:t>14</a:t>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7826">
                                            <p:txEl>
                                              <p:pRg st="1" end="1"/>
                                            </p:txEl>
                                          </p:spTgt>
                                        </p:tgtEl>
                                        <p:attrNameLst>
                                          <p:attrName>style.visibility</p:attrName>
                                        </p:attrNameLst>
                                      </p:cBhvr>
                                      <p:to>
                                        <p:strVal val="visible"/>
                                      </p:to>
                                    </p:set>
                                    <p:animEffect transition="in" filter="wipe(left)">
                                      <p:cBhvr>
                                        <p:cTn id="7" dur="500"/>
                                        <p:tgtEl>
                                          <p:spTgt spid="7782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77826">
                                            <p:txEl>
                                              <p:pRg st="2" end="2"/>
                                            </p:txEl>
                                          </p:spTgt>
                                        </p:tgtEl>
                                        <p:attrNameLst>
                                          <p:attrName>style.visibility</p:attrName>
                                        </p:attrNameLst>
                                      </p:cBhvr>
                                      <p:to>
                                        <p:strVal val="visible"/>
                                      </p:to>
                                    </p:set>
                                    <p:animEffect transition="in" filter="wipe(left)">
                                      <p:cBhvr>
                                        <p:cTn id="10" dur="500"/>
                                        <p:tgtEl>
                                          <p:spTgt spid="7782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77826">
                                            <p:txEl>
                                              <p:pRg st="4" end="4"/>
                                            </p:txEl>
                                          </p:spTgt>
                                        </p:tgtEl>
                                        <p:attrNameLst>
                                          <p:attrName>style.visibility</p:attrName>
                                        </p:attrNameLst>
                                      </p:cBhvr>
                                      <p:to>
                                        <p:strVal val="visible"/>
                                      </p:to>
                                    </p:set>
                                    <p:animEffect transition="in" filter="wipe(left)">
                                      <p:cBhvr>
                                        <p:cTn id="19" dur="500"/>
                                        <p:tgtEl>
                                          <p:spTgt spid="77826">
                                            <p:txEl>
                                              <p:pRg st="4" end="4"/>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77826">
                                            <p:txEl>
                                              <p:pRg st="5" end="5"/>
                                            </p:txEl>
                                          </p:spTgt>
                                        </p:tgtEl>
                                        <p:attrNameLst>
                                          <p:attrName>style.visibility</p:attrName>
                                        </p:attrNameLst>
                                      </p:cBhvr>
                                      <p:to>
                                        <p:strVal val="visible"/>
                                      </p:to>
                                    </p:set>
                                    <p:animEffect transition="in" filter="wipe(left)">
                                      <p:cBhvr>
                                        <p:cTn id="22" dur="500"/>
                                        <p:tgtEl>
                                          <p:spTgt spid="7782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847528" y="620688"/>
            <a:ext cx="9282112" cy="4805362"/>
          </a:xfrm>
          <a:prstGeom prst="rect">
            <a:avLst/>
          </a:prstGeom>
        </p:spPr>
        <p:txBody>
          <a:bodyPr>
            <a:normAutofit fontScale="85000" lnSpcReduction="20000"/>
          </a:bodyPr>
          <a:lstStyle>
            <a:lvl1pPr marL="186055" indent="-186055" algn="l" defTabSz="742950" rtl="0" eaLnBrk="1" latinLnBrk="0" hangingPunct="1">
              <a:lnSpc>
                <a:spcPct val="90000"/>
              </a:lnSpc>
              <a:spcBef>
                <a:spcPts val="815"/>
              </a:spcBef>
              <a:buFont typeface="Arial" panose="020B0604020202090204" pitchFamily="34" charset="0"/>
              <a:buChar char="•"/>
              <a:defRPr sz="2275" kern="1200">
                <a:solidFill>
                  <a:schemeClr val="tx1"/>
                </a:solidFill>
                <a:latin typeface="+mn-lt"/>
                <a:ea typeface="+mn-ea"/>
                <a:cs typeface="+mn-cs"/>
              </a:defRPr>
            </a:lvl1pPr>
            <a:lvl2pPr marL="557530" indent="-186055" algn="l" defTabSz="742950" rtl="0" eaLnBrk="1" latinLnBrk="0" hangingPunct="1">
              <a:lnSpc>
                <a:spcPct val="90000"/>
              </a:lnSpc>
              <a:spcBef>
                <a:spcPts val="405"/>
              </a:spcBef>
              <a:buFont typeface="Arial" panose="020B0604020202090204" pitchFamily="34" charset="0"/>
              <a:buChar char="•"/>
              <a:defRPr sz="1950" kern="1200">
                <a:solidFill>
                  <a:schemeClr val="tx1"/>
                </a:solidFill>
                <a:latin typeface="+mn-lt"/>
                <a:ea typeface="+mn-ea"/>
                <a:cs typeface="+mn-cs"/>
              </a:defRPr>
            </a:lvl2pPr>
            <a:lvl3pPr marL="929005" indent="-186055" algn="l" defTabSz="742950" rtl="0" eaLnBrk="1" latinLnBrk="0" hangingPunct="1">
              <a:lnSpc>
                <a:spcPct val="90000"/>
              </a:lnSpc>
              <a:spcBef>
                <a:spcPts val="405"/>
              </a:spcBef>
              <a:buFont typeface="Arial" panose="020B0604020202090204" pitchFamily="34" charset="0"/>
              <a:buChar char="•"/>
              <a:defRPr sz="1625" kern="1200">
                <a:solidFill>
                  <a:schemeClr val="tx1"/>
                </a:solidFill>
                <a:latin typeface="+mn-lt"/>
                <a:ea typeface="+mn-ea"/>
                <a:cs typeface="+mn-cs"/>
              </a:defRPr>
            </a:lvl3pPr>
            <a:lvl4pPr marL="130048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4pPr>
            <a:lvl5pPr marL="167195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5pPr>
            <a:lvl6pPr marL="204343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6pPr>
            <a:lvl7pPr marL="241490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7pPr>
            <a:lvl8pPr marL="278638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8pPr>
            <a:lvl9pPr marL="315785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9pPr>
          </a:lstStyle>
          <a:p>
            <a:pPr>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  </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b="1" dirty="0">
                <a:solidFill>
                  <a:srgbClr val="006699"/>
                </a:solidFill>
                <a:highlight>
                  <a:srgbClr val="F8F8F8"/>
                </a:highlight>
                <a:latin typeface="Consolas" panose="020B0609020204030204" pitchFamily="49" charset="0"/>
              </a:rPr>
              <a:t>void</a:t>
            </a:r>
            <a:r>
              <a:rPr lang="en-US" altLang="zh-CN" dirty="0">
                <a:solidFill>
                  <a:srgbClr val="000000"/>
                </a:solidFill>
                <a:highlight>
                  <a:srgbClr val="F8F8F8"/>
                </a:highlight>
                <a:latin typeface="Consolas" panose="020B0609020204030204" pitchFamily="49" charset="0"/>
              </a:rPr>
              <a:t> main()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float</a:t>
            </a:r>
            <a:r>
              <a:rPr lang="en-US" altLang="zh-CN" dirty="0">
                <a:solidFill>
                  <a:srgbClr val="000000"/>
                </a:solidFill>
                <a:highlight>
                  <a:srgbClr val="FFFFFF"/>
                </a:highlight>
                <a:latin typeface="Consolas" panose="020B0609020204030204" pitchFamily="49" charset="0"/>
              </a:rPr>
              <a:t>  money, sum_money1, sum_money2;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sum_money1=0.0;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sum_money2=0.0;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初始值*</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money=0.01;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&lt;=30;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次，判断条件执行</a:t>
            </a:r>
            <a:r>
              <a:rPr lang="en-US" altLang="zh-CN" dirty="0">
                <a:solidFill>
                  <a:srgbClr val="000000"/>
                </a:solidFill>
                <a:highlight>
                  <a:srgbClr val="FFFFFF"/>
                </a:highlight>
                <a:latin typeface="Consolas" panose="020B0609020204030204" pitchFamily="49" charset="0"/>
              </a:rPr>
              <a:t>31</a:t>
            </a:r>
            <a:r>
              <a:rPr lang="zh-CN" altLang="en-US" dirty="0">
                <a:solidFill>
                  <a:srgbClr val="000000"/>
                </a:solidFill>
                <a:highlight>
                  <a:srgbClr val="FFFFFF"/>
                </a:highlight>
                <a:latin typeface="Consolas" panose="020B0609020204030204" pitchFamily="49" charset="0"/>
              </a:rPr>
              <a:t>次，</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30</a:t>
            </a:r>
            <a:r>
              <a:rPr lang="zh-CN" altLang="en-US" dirty="0">
                <a:solidFill>
                  <a:srgbClr val="000000"/>
                </a:solidFill>
                <a:highlight>
                  <a:srgbClr val="FFFFFF"/>
                </a:highlight>
                <a:latin typeface="Consolas" panose="020B0609020204030204" pitchFamily="49" charset="0"/>
              </a:rPr>
              <a:t>次</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sum_money1+=100000.0;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计算陌生人给富翁的钱*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sum_money2+=money;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计算富翁给陌生人的钱*</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money=money*2;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富翁每天给陌生人的钱*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marL="0" lvl="1" indent="0">
              <a:spcBef>
                <a:spcPts val="400"/>
              </a:spcBef>
              <a:spcAft>
                <a:spcPct val="0"/>
              </a:spcAft>
              <a:buNone/>
            </a:pPr>
            <a:endParaRPr lang="en-US" altLang="zh-CN" sz="2000" b="1" dirty="0">
              <a:latin typeface="Courier New" panose="02070409020205090404" charset="0"/>
              <a:ea typeface="黑体" charset="0"/>
              <a:cs typeface="Arial" panose="020B0604020202090204" pitchFamily="34" charset="0"/>
            </a:endParaRPr>
          </a:p>
        </p:txBody>
      </p:sp>
      <p:graphicFrame>
        <p:nvGraphicFramePr>
          <p:cNvPr id="3" name="表格 2"/>
          <p:cNvGraphicFramePr>
            <a:graphicFrameLocks noGrp="1"/>
          </p:cNvGraphicFramePr>
          <p:nvPr/>
        </p:nvGraphicFramePr>
        <p:xfrm>
          <a:off x="2927648" y="5229200"/>
          <a:ext cx="5943600" cy="741680"/>
        </p:xfrm>
        <a:graphic>
          <a:graphicData uri="http://schemas.openxmlformats.org/drawingml/2006/table">
            <a:tbl>
              <a:tblPr firstRow="1" bandRow="1">
                <a:tableStyleId>{5940675A-B579-460E-94D1-54222C63F5DA}</a:tableStyleId>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660400">
                  <a:extLst>
                    <a:ext uri="{9D8B030D-6E8A-4147-A177-3AD203B41FA5}">
                      <a16:colId xmlns:a16="http://schemas.microsoft.com/office/drawing/2014/main" val="20004"/>
                    </a:ext>
                  </a:extLst>
                </a:gridCol>
                <a:gridCol w="660400">
                  <a:extLst>
                    <a:ext uri="{9D8B030D-6E8A-4147-A177-3AD203B41FA5}">
                      <a16:colId xmlns:a16="http://schemas.microsoft.com/office/drawing/2014/main" val="20005"/>
                    </a:ext>
                  </a:extLst>
                </a:gridCol>
                <a:gridCol w="660400">
                  <a:extLst>
                    <a:ext uri="{9D8B030D-6E8A-4147-A177-3AD203B41FA5}">
                      <a16:colId xmlns:a16="http://schemas.microsoft.com/office/drawing/2014/main" val="20006"/>
                    </a:ext>
                  </a:extLst>
                </a:gridCol>
                <a:gridCol w="660400">
                  <a:extLst>
                    <a:ext uri="{9D8B030D-6E8A-4147-A177-3AD203B41FA5}">
                      <a16:colId xmlns:a16="http://schemas.microsoft.com/office/drawing/2014/main" val="20007"/>
                    </a:ext>
                  </a:extLst>
                </a:gridCol>
                <a:gridCol w="660400">
                  <a:extLst>
                    <a:ext uri="{9D8B030D-6E8A-4147-A177-3AD203B41FA5}">
                      <a16:colId xmlns:a16="http://schemas.microsoft.com/office/drawing/2014/main" val="20008"/>
                    </a:ext>
                  </a:extLst>
                </a:gridCol>
              </a:tblGrid>
              <a:tr h="370840">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11</a:t>
                      </a:r>
                      <a:endParaRPr lang="zh-CN" altLang="en-US" dirty="0"/>
                    </a:p>
                  </a:txBody>
                  <a:tcPr/>
                </a:tc>
                <a:tc>
                  <a:txBody>
                    <a:bodyPr/>
                    <a:lstStyle/>
                    <a:p>
                      <a:r>
                        <a:rPr lang="en-US" altLang="zh-CN" dirty="0"/>
                        <a:t>12</a:t>
                      </a:r>
                      <a:endParaRPr lang="zh-CN" altLang="en-US" dirty="0"/>
                    </a:p>
                  </a:txBody>
                  <a:tcPr/>
                </a:tc>
                <a:tc>
                  <a:txBody>
                    <a:bodyPr/>
                    <a:lstStyle/>
                    <a:p>
                      <a:r>
                        <a:rPr lang="en-US" altLang="zh-CN" dirty="0"/>
                        <a:t>13</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62</a:t>
                      </a:r>
                      <a:endParaRPr lang="zh-CN" altLang="en-US" dirty="0"/>
                    </a:p>
                  </a:txBody>
                  <a:tcPr/>
                </a:tc>
                <a:tc>
                  <a:txBody>
                    <a:bodyPr/>
                    <a:lstStyle/>
                    <a:p>
                      <a:r>
                        <a:rPr lang="en-US" altLang="zh-CN" dirty="0"/>
                        <a:t>30</a:t>
                      </a:r>
                      <a:endParaRPr lang="zh-CN" altLang="en-US" dirty="0"/>
                    </a:p>
                  </a:txBody>
                  <a:tcPr/>
                </a:tc>
                <a:tc>
                  <a:txBody>
                    <a:bodyPr/>
                    <a:lstStyle/>
                    <a:p>
                      <a:r>
                        <a:rPr lang="en-US" altLang="zh-CN" dirty="0"/>
                        <a:t>30</a:t>
                      </a:r>
                      <a:endParaRPr lang="zh-CN" altLang="en-US" dirty="0"/>
                    </a:p>
                  </a:txBody>
                  <a:tcPr/>
                </a:tc>
                <a:tc>
                  <a:txBody>
                    <a:bodyPr/>
                    <a:lstStyle/>
                    <a:p>
                      <a:r>
                        <a:rPr lang="en-US" altLang="zh-CN" dirty="0"/>
                        <a:t>30</a:t>
                      </a:r>
                      <a:endParaRPr lang="zh-CN" altLang="en-US" dirty="0"/>
                    </a:p>
                  </a:txBody>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4" name="文本框 3"/>
              <p:cNvSpPr txBox="1"/>
              <p:nvPr/>
            </p:nvSpPr>
            <p:spPr>
              <a:xfrm>
                <a:off x="3431705" y="6165304"/>
                <a:ext cx="5085303" cy="369332"/>
              </a:xfrm>
              <a:prstGeom prst="rect">
                <a:avLst/>
              </a:prstGeom>
              <a:noFill/>
            </p:spPr>
            <p:txBody>
              <a:bodyPr wrap="none" rtlCol="0">
                <a:spAutoFit/>
              </a:bodyPr>
              <a:lstStyle/>
              <a:p>
                <a14:m>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=1+1+1+1+1+62+30+30+30=</m:t>
                    </m:r>
                  </m:oMath>
                </a14:m>
                <a:r>
                  <a:rPr lang="en-US" altLang="zh-CN" dirty="0"/>
                  <a:t>157</a:t>
                </a:r>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3431705" y="6165304"/>
                <a:ext cx="5085303" cy="369332"/>
              </a:xfrm>
              <a:prstGeom prst="rect">
                <a:avLst/>
              </a:prstGeom>
              <a:blipFill rotWithShape="1">
                <a:blip r:embed="rId3"/>
                <a:stretch>
                  <a:fillRect l="-3" t="-24" r="8" b="132"/>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pPr>
              <a:defRPr/>
            </a:pPr>
            <a:fld id="{E6B3DE21-AFB9-F14F-B875-13235536560E}" type="slidenum">
              <a:rPr lang="en-US" altLang="zh-CN" smtClean="0"/>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271464" y="404664"/>
            <a:ext cx="9777536" cy="5256584"/>
          </a:xfrm>
          <a:prstGeom prst="rect">
            <a:avLst/>
          </a:prstGeom>
        </p:spPr>
        <p:txBody>
          <a:bodyPr>
            <a:normAutofit fontScale="85000" lnSpcReduction="20000"/>
          </a:bodyPr>
          <a:lstStyle>
            <a:lvl1pPr marL="186055" indent="-186055" algn="l" defTabSz="742950" rtl="0" eaLnBrk="1" latinLnBrk="0" hangingPunct="1">
              <a:lnSpc>
                <a:spcPct val="90000"/>
              </a:lnSpc>
              <a:spcBef>
                <a:spcPts val="815"/>
              </a:spcBef>
              <a:buFont typeface="Arial" panose="020B0604020202090204" pitchFamily="34" charset="0"/>
              <a:buChar char="•"/>
              <a:defRPr sz="2275" kern="1200">
                <a:solidFill>
                  <a:schemeClr val="tx1"/>
                </a:solidFill>
                <a:latin typeface="+mn-lt"/>
                <a:ea typeface="+mn-ea"/>
                <a:cs typeface="+mn-cs"/>
              </a:defRPr>
            </a:lvl1pPr>
            <a:lvl2pPr marL="557530" indent="-186055" algn="l" defTabSz="742950" rtl="0" eaLnBrk="1" latinLnBrk="0" hangingPunct="1">
              <a:lnSpc>
                <a:spcPct val="90000"/>
              </a:lnSpc>
              <a:spcBef>
                <a:spcPts val="405"/>
              </a:spcBef>
              <a:buFont typeface="Arial" panose="020B0604020202090204" pitchFamily="34" charset="0"/>
              <a:buChar char="•"/>
              <a:defRPr sz="1950" kern="1200">
                <a:solidFill>
                  <a:schemeClr val="tx1"/>
                </a:solidFill>
                <a:latin typeface="+mn-lt"/>
                <a:ea typeface="+mn-ea"/>
                <a:cs typeface="+mn-cs"/>
              </a:defRPr>
            </a:lvl2pPr>
            <a:lvl3pPr marL="929005" indent="-186055" algn="l" defTabSz="742950" rtl="0" eaLnBrk="1" latinLnBrk="0" hangingPunct="1">
              <a:lnSpc>
                <a:spcPct val="90000"/>
              </a:lnSpc>
              <a:spcBef>
                <a:spcPts val="405"/>
              </a:spcBef>
              <a:buFont typeface="Arial" panose="020B0604020202090204" pitchFamily="34" charset="0"/>
              <a:buChar char="•"/>
              <a:defRPr sz="1625" kern="1200">
                <a:solidFill>
                  <a:schemeClr val="tx1"/>
                </a:solidFill>
                <a:latin typeface="+mn-lt"/>
                <a:ea typeface="+mn-ea"/>
                <a:cs typeface="+mn-cs"/>
              </a:defRPr>
            </a:lvl3pPr>
            <a:lvl4pPr marL="130048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4pPr>
            <a:lvl5pPr marL="167195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5pPr>
            <a:lvl6pPr marL="204343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6pPr>
            <a:lvl7pPr marL="241490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7pPr>
            <a:lvl8pPr marL="2786380"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8pPr>
            <a:lvl9pPr marL="3157855" indent="-186055" algn="l" defTabSz="742950" rtl="0" eaLnBrk="1" latinLnBrk="0" hangingPunct="1">
              <a:lnSpc>
                <a:spcPct val="90000"/>
              </a:lnSpc>
              <a:spcBef>
                <a:spcPts val="405"/>
              </a:spcBef>
              <a:buFont typeface="Arial" panose="020B0604020202090204" pitchFamily="34" charset="0"/>
              <a:buChar char="•"/>
              <a:defRPr sz="1465" kern="1200">
                <a:solidFill>
                  <a:schemeClr val="tx1"/>
                </a:solidFill>
                <a:latin typeface="+mn-lt"/>
                <a:ea typeface="+mn-ea"/>
                <a:cs typeface="+mn-cs"/>
              </a:defRPr>
            </a:lvl9pPr>
          </a:lstStyle>
          <a:p>
            <a:pPr>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  </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b="1" dirty="0">
                <a:solidFill>
                  <a:srgbClr val="006699"/>
                </a:solidFill>
                <a:highlight>
                  <a:srgbClr val="F8F8F8"/>
                </a:highlight>
                <a:latin typeface="Consolas" panose="020B0609020204030204" pitchFamily="49" charset="0"/>
              </a:rPr>
              <a:t>void</a:t>
            </a:r>
            <a:r>
              <a:rPr lang="en-US" altLang="zh-CN" dirty="0">
                <a:solidFill>
                  <a:srgbClr val="000000"/>
                </a:solidFill>
                <a:highlight>
                  <a:srgbClr val="F8F8F8"/>
                </a:highlight>
                <a:latin typeface="Consolas" panose="020B0609020204030204" pitchFamily="49" charset="0"/>
              </a:rPr>
              <a:t> main()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float</a:t>
            </a:r>
            <a:r>
              <a:rPr lang="en-US" altLang="zh-CN" dirty="0">
                <a:solidFill>
                  <a:srgbClr val="000000"/>
                </a:solidFill>
                <a:highlight>
                  <a:srgbClr val="FFFFFF"/>
                </a:highlight>
                <a:latin typeface="Consolas" panose="020B0609020204030204" pitchFamily="49" charset="0"/>
              </a:rPr>
              <a:t>  money, sum_money1, sum_money2,</a:t>
            </a: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n;</a:t>
            </a:r>
          </a:p>
          <a:p>
            <a:pPr>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scanf</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d”,&amp;n</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sum_money1=0.0;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sum_money2=0.0;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初始值*</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money=0.01;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&lt;=n;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次，判断条件执行</a:t>
            </a:r>
            <a:r>
              <a:rPr lang="en-US" altLang="zh-CN" dirty="0">
                <a:solidFill>
                  <a:srgbClr val="000000"/>
                </a:solidFill>
                <a:highlight>
                  <a:srgbClr val="FFFFFF"/>
                </a:highlight>
                <a:latin typeface="Consolas" panose="020B0609020204030204" pitchFamily="49" charset="0"/>
              </a:rPr>
              <a:t>n+1</a:t>
            </a:r>
            <a:r>
              <a:rPr lang="zh-CN" altLang="en-US" dirty="0">
                <a:solidFill>
                  <a:srgbClr val="000000"/>
                </a:solidFill>
                <a:highlight>
                  <a:srgbClr val="FFFFFF"/>
                </a:highlight>
                <a:latin typeface="Consolas" panose="020B0609020204030204" pitchFamily="49" charset="0"/>
              </a:rPr>
              <a:t>次，</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n</a:t>
            </a:r>
            <a:r>
              <a:rPr lang="zh-CN" altLang="en-US" dirty="0">
                <a:solidFill>
                  <a:srgbClr val="000000"/>
                </a:solidFill>
                <a:highlight>
                  <a:srgbClr val="FFFFFF"/>
                </a:highlight>
                <a:latin typeface="Consolas" panose="020B0609020204030204" pitchFamily="49" charset="0"/>
              </a:rPr>
              <a:t>次</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sum_money1+=100000.0;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计算陌生人给富翁的钱*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sum_money2+=money;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计算富翁给陌生人的钱*</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money=money*2;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富翁每天给陌生人的钱*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marL="0" lvl="1" indent="0">
              <a:spcBef>
                <a:spcPts val="400"/>
              </a:spcBef>
              <a:spcAft>
                <a:spcPct val="0"/>
              </a:spcAft>
              <a:buNone/>
            </a:pPr>
            <a:endParaRPr lang="en-US" altLang="zh-CN" sz="2000" b="1" dirty="0">
              <a:latin typeface="Courier New" panose="02070409020205090404" charset="0"/>
              <a:ea typeface="黑体" charset="0"/>
              <a:cs typeface="Arial" panose="020B0604020202090204" pitchFamily="34" charset="0"/>
            </a:endParaRPr>
          </a:p>
        </p:txBody>
      </p:sp>
      <p:graphicFrame>
        <p:nvGraphicFramePr>
          <p:cNvPr id="3" name="表格 2"/>
          <p:cNvGraphicFramePr>
            <a:graphicFrameLocks noGrp="1"/>
          </p:cNvGraphicFramePr>
          <p:nvPr/>
        </p:nvGraphicFramePr>
        <p:xfrm>
          <a:off x="2927648" y="5373216"/>
          <a:ext cx="5832650" cy="1061328"/>
        </p:xfrm>
        <a:graphic>
          <a:graphicData uri="http://schemas.openxmlformats.org/drawingml/2006/table">
            <a:tbl>
              <a:tblPr firstRow="1" bandRow="1">
                <a:tableStyleId>{5940675A-B579-460E-94D1-54222C63F5DA}</a:tableStyleId>
              </a:tblPr>
              <a:tblGrid>
                <a:gridCol w="583265">
                  <a:extLst>
                    <a:ext uri="{9D8B030D-6E8A-4147-A177-3AD203B41FA5}">
                      <a16:colId xmlns:a16="http://schemas.microsoft.com/office/drawing/2014/main" val="20000"/>
                    </a:ext>
                  </a:extLst>
                </a:gridCol>
                <a:gridCol w="583265">
                  <a:extLst>
                    <a:ext uri="{9D8B030D-6E8A-4147-A177-3AD203B41FA5}">
                      <a16:colId xmlns:a16="http://schemas.microsoft.com/office/drawing/2014/main" val="20001"/>
                    </a:ext>
                  </a:extLst>
                </a:gridCol>
                <a:gridCol w="583265">
                  <a:extLst>
                    <a:ext uri="{9D8B030D-6E8A-4147-A177-3AD203B41FA5}">
                      <a16:colId xmlns:a16="http://schemas.microsoft.com/office/drawing/2014/main" val="20002"/>
                    </a:ext>
                  </a:extLst>
                </a:gridCol>
                <a:gridCol w="583265">
                  <a:extLst>
                    <a:ext uri="{9D8B030D-6E8A-4147-A177-3AD203B41FA5}">
                      <a16:colId xmlns:a16="http://schemas.microsoft.com/office/drawing/2014/main" val="20003"/>
                    </a:ext>
                  </a:extLst>
                </a:gridCol>
                <a:gridCol w="583265">
                  <a:extLst>
                    <a:ext uri="{9D8B030D-6E8A-4147-A177-3AD203B41FA5}">
                      <a16:colId xmlns:a16="http://schemas.microsoft.com/office/drawing/2014/main" val="20004"/>
                    </a:ext>
                  </a:extLst>
                </a:gridCol>
                <a:gridCol w="583265">
                  <a:extLst>
                    <a:ext uri="{9D8B030D-6E8A-4147-A177-3AD203B41FA5}">
                      <a16:colId xmlns:a16="http://schemas.microsoft.com/office/drawing/2014/main" val="20005"/>
                    </a:ext>
                  </a:extLst>
                </a:gridCol>
                <a:gridCol w="583265">
                  <a:extLst>
                    <a:ext uri="{9D8B030D-6E8A-4147-A177-3AD203B41FA5}">
                      <a16:colId xmlns:a16="http://schemas.microsoft.com/office/drawing/2014/main" val="20006"/>
                    </a:ext>
                  </a:extLst>
                </a:gridCol>
                <a:gridCol w="583265">
                  <a:extLst>
                    <a:ext uri="{9D8B030D-6E8A-4147-A177-3AD203B41FA5}">
                      <a16:colId xmlns:a16="http://schemas.microsoft.com/office/drawing/2014/main" val="20007"/>
                    </a:ext>
                  </a:extLst>
                </a:gridCol>
                <a:gridCol w="583265">
                  <a:extLst>
                    <a:ext uri="{9D8B030D-6E8A-4147-A177-3AD203B41FA5}">
                      <a16:colId xmlns:a16="http://schemas.microsoft.com/office/drawing/2014/main" val="20008"/>
                    </a:ext>
                  </a:extLst>
                </a:gridCol>
                <a:gridCol w="583265">
                  <a:extLst>
                    <a:ext uri="{9D8B030D-6E8A-4147-A177-3AD203B41FA5}">
                      <a16:colId xmlns:a16="http://schemas.microsoft.com/office/drawing/2014/main" val="20009"/>
                    </a:ext>
                  </a:extLst>
                </a:gridCol>
              </a:tblGrid>
              <a:tr h="421248">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endParaRPr lang="zh-CN" altLang="en-US" dirty="0"/>
                    </a:p>
                  </a:txBody>
                  <a:tcPr/>
                </a:tc>
                <a:tc>
                  <a:txBody>
                    <a:bodyPr/>
                    <a:lstStyle/>
                    <a:p>
                      <a:r>
                        <a:rPr lang="en-US" altLang="zh-CN" dirty="0"/>
                        <a:t>12</a:t>
                      </a:r>
                      <a:endParaRPr lang="zh-CN" altLang="en-US" dirty="0"/>
                    </a:p>
                  </a:txBody>
                  <a:tcPr/>
                </a:tc>
                <a:tc>
                  <a:txBody>
                    <a:bodyPr/>
                    <a:lstStyle/>
                    <a:p>
                      <a:r>
                        <a:rPr lang="en-US" altLang="zh-CN" dirty="0"/>
                        <a:t>13</a:t>
                      </a:r>
                      <a:endParaRPr lang="zh-CN" altLang="en-US" dirty="0"/>
                    </a:p>
                  </a:txBody>
                  <a:tcPr/>
                </a:tc>
                <a:tc>
                  <a:txBody>
                    <a:bodyPr/>
                    <a:lstStyle/>
                    <a:p>
                      <a:r>
                        <a:rPr lang="en-US" altLang="zh-CN" dirty="0"/>
                        <a:t>14</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2n+2</a:t>
                      </a:r>
                      <a:endParaRPr lang="zh-CN" altLang="en-US" dirty="0"/>
                    </a:p>
                  </a:txBody>
                  <a:tcPr/>
                </a:tc>
                <a:tc>
                  <a:txBody>
                    <a:bodyPr/>
                    <a:lstStyle/>
                    <a:p>
                      <a:r>
                        <a:rPr lang="en-US" altLang="zh-CN" dirty="0"/>
                        <a:t>n</a:t>
                      </a:r>
                      <a:endParaRPr lang="zh-CN" altLang="en-US" dirty="0"/>
                    </a:p>
                  </a:txBody>
                  <a:tcPr/>
                </a:tc>
                <a:tc>
                  <a:txBody>
                    <a:bodyPr/>
                    <a:lstStyle/>
                    <a:p>
                      <a:r>
                        <a:rPr lang="en-US" altLang="zh-CN" dirty="0"/>
                        <a:t>n</a:t>
                      </a:r>
                      <a:endParaRPr lang="zh-CN" altLang="en-US" dirty="0"/>
                    </a:p>
                  </a:txBody>
                  <a:tcPr/>
                </a:tc>
                <a:tc>
                  <a:txBody>
                    <a:bodyPr/>
                    <a:lstStyle/>
                    <a:p>
                      <a:r>
                        <a:rPr lang="en-US" altLang="zh-CN" dirty="0"/>
                        <a:t>n</a:t>
                      </a:r>
                      <a:endParaRPr lang="zh-CN" altLang="en-US" dirty="0"/>
                    </a:p>
                  </a:txBody>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4" name="文本框 3"/>
              <p:cNvSpPr txBox="1"/>
              <p:nvPr/>
            </p:nvSpPr>
            <p:spPr>
              <a:xfrm>
                <a:off x="2902771" y="6268670"/>
                <a:ext cx="597965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=1+1+1+1+1+1+2</m:t>
                      </m:r>
                      <m:r>
                        <a:rPr lang="en-US" altLang="zh-CN" i="1">
                          <a:latin typeface="Cambria Math" panose="02040503050406030204" pitchFamily="18" charset="0"/>
                        </a:rPr>
                        <m:t>𝑛</m:t>
                      </m:r>
                      <m:r>
                        <a:rPr lang="en-US" altLang="zh-CN" i="1">
                          <a:latin typeface="Cambria Math" panose="02040503050406030204" pitchFamily="18" charset="0"/>
                        </a:rPr>
                        <m:t>+2+</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a:latin typeface="Cambria Math" panose="02040503050406030204" pitchFamily="18" charset="0"/>
                        </a:rPr>
                        <m:t>5</m:t>
                      </m:r>
                      <m:r>
                        <m:rPr>
                          <m:sty m:val="p"/>
                        </m:rPr>
                        <a:rPr lang="en-US" altLang="zh-CN">
                          <a:latin typeface="Cambria Math" panose="02040503050406030204" pitchFamily="18" charset="0"/>
                        </a:rPr>
                        <m:t>n</m:t>
                      </m:r>
                      <m:r>
                        <a:rPr lang="en-US" altLang="zh-CN">
                          <a:latin typeface="Cambria Math" panose="02040503050406030204" pitchFamily="18" charset="0"/>
                        </a:rPr>
                        <m:t>+8</m:t>
                      </m:r>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2902771" y="6268670"/>
                <a:ext cx="5979650" cy="369332"/>
              </a:xfrm>
              <a:prstGeom prst="rect">
                <a:avLst/>
              </a:prstGeom>
              <a:blipFill rotWithShape="1">
                <a:blip r:embed="rId3"/>
                <a:stretch>
                  <a:fillRect l="-3" t="-158" r="1" b="94"/>
                </a:stretch>
              </a:blipFill>
            </p:spPr>
            <p:txBody>
              <a:bodyPr/>
              <a:lstStyle/>
              <a:p>
                <a:r>
                  <a:rPr lang="zh-CN" altLang="en-US">
                    <a:noFill/>
                  </a:rPr>
                  <a:t> </a:t>
                </a:r>
              </a:p>
            </p:txBody>
          </p:sp>
        </mc:Fallback>
      </mc:AlternateContent>
      <p:sp>
        <p:nvSpPr>
          <p:cNvPr id="8" name="灯片编号占位符 7"/>
          <p:cNvSpPr>
            <a:spLocks noGrp="1"/>
          </p:cNvSpPr>
          <p:nvPr>
            <p:ph type="sldNum" sz="quarter" idx="12"/>
          </p:nvPr>
        </p:nvSpPr>
        <p:spPr/>
        <p:txBody>
          <a:bodyPr/>
          <a:lstStyle/>
          <a:p>
            <a:pPr>
              <a:defRPr/>
            </a:pPr>
            <a:fld id="{E6B3DE21-AFB9-F14F-B875-13235536560E}" type="slidenum">
              <a:rPr lang="en-US" altLang="zh-CN" smtClean="0"/>
              <a:t>16</a:t>
            </a:fld>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767408" y="251207"/>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latin typeface="微软雅黑" charset="-122"/>
                <a:ea typeface="微软雅黑" charset="-122"/>
              </a:rPr>
              <a:t>算法复杂性分析的度量</a:t>
            </a:r>
          </a:p>
        </p:txBody>
      </p:sp>
      <mc:AlternateContent xmlns:mc="http://schemas.openxmlformats.org/markup-compatibility/2006" xmlns:a14="http://schemas.microsoft.com/office/drawing/2010/main">
        <mc:Choice Requires="a14">
          <p:sp>
            <p:nvSpPr>
              <p:cNvPr id="6" name="文本框 5"/>
              <p:cNvSpPr txBox="1"/>
              <p:nvPr/>
            </p:nvSpPr>
            <p:spPr>
              <a:xfrm>
                <a:off x="1271464" y="1052736"/>
                <a:ext cx="10081120" cy="5232202"/>
              </a:xfrm>
              <a:prstGeom prst="rect">
                <a:avLst/>
              </a:prstGeom>
              <a:noFill/>
            </p:spPr>
            <p:txBody>
              <a:bodyPr wrap="square" rtlCol="0">
                <a:spAutoFit/>
              </a:bodyPr>
              <a:lstStyle/>
              <a:p>
                <a:pPr marL="342900" indent="-342900">
                  <a:spcBef>
                    <a:spcPts val="600"/>
                  </a:spcBef>
                  <a:spcAft>
                    <a:spcPts val="600"/>
                  </a:spcAft>
                  <a:buFont typeface="Arial" panose="020B0604020202090204" pitchFamily="34" charset="0"/>
                  <a:buChar char="•"/>
                </a:pPr>
                <a:r>
                  <a:rPr lang="zh-CN" altLang="en-US" sz="2400" dirty="0"/>
                  <a:t>思考：</a:t>
                </a:r>
                <a:endParaRPr lang="en-US" altLang="zh-CN" sz="2400" dirty="0"/>
              </a:p>
              <a:p>
                <a:pPr lvl="1">
                  <a:spcBef>
                    <a:spcPts val="600"/>
                  </a:spcBef>
                  <a:spcAft>
                    <a:spcPts val="600"/>
                  </a:spcAft>
                </a:pPr>
                <a:r>
                  <a:rPr lang="zh-CN" altLang="en-US" sz="2400" dirty="0"/>
                  <a:t>如果一个算法的复杂度为</a:t>
                </a:r>
                <a14:m>
                  <m:oMath xmlns:m="http://schemas.openxmlformats.org/officeDocument/2006/math">
                    <m:r>
                      <a:rPr lang="en-US" altLang="zh-CN" sz="2400" i="1">
                        <a:latin typeface="Cambria Math" panose="02040503050406030204" pitchFamily="18" charset="0"/>
                      </a:rPr>
                      <m:t>7</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+4</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+3</m:t>
                    </m:r>
                    <m:r>
                      <a:rPr lang="en-US" altLang="zh-CN" sz="2400" i="1">
                        <a:latin typeface="Cambria Math" panose="02040503050406030204" pitchFamily="18" charset="0"/>
                      </a:rPr>
                      <m:t>𝑛</m:t>
                    </m:r>
                    <m:r>
                      <a:rPr lang="en-US" altLang="zh-CN" sz="2400" i="1">
                        <a:latin typeface="Cambria Math" panose="02040503050406030204" pitchFamily="18" charset="0"/>
                      </a:rPr>
                      <m:t>+1</m:t>
                    </m:r>
                  </m:oMath>
                </a14:m>
                <a:r>
                  <a:rPr lang="zh-CN" altLang="en-US" sz="2400" dirty="0"/>
                  <a:t>，我们需要保留时间复杂度函数中的每一项吗？</a:t>
                </a:r>
                <a:endParaRPr lang="en-US" altLang="zh-CN" sz="2400" dirty="0"/>
              </a:p>
              <a:p>
                <a:pPr marL="342900" indent="-342900">
                  <a:spcBef>
                    <a:spcPts val="600"/>
                  </a:spcBef>
                  <a:spcAft>
                    <a:spcPts val="600"/>
                  </a:spcAft>
                  <a:buFont typeface="Arial" panose="020B0604020202090204" pitchFamily="34" charset="0"/>
                  <a:buChar char="•"/>
                </a:pPr>
                <a:r>
                  <a:rPr lang="zh-CN" altLang="en-US" sz="2400" dirty="0"/>
                  <a:t>算法的时间复杂度其实并非精准估计运行时间：</a:t>
                </a:r>
                <a:endParaRPr lang="en-US" altLang="zh-CN" sz="2400" dirty="0"/>
              </a:p>
              <a:p>
                <a:pPr lvl="1">
                  <a:spcBef>
                    <a:spcPts val="600"/>
                  </a:spcBef>
                  <a:spcAft>
                    <a:spcPts val="600"/>
                  </a:spcAft>
                </a:pPr>
                <a:r>
                  <a:rPr lang="zh-CN" altLang="en-US" sz="2400" dirty="0"/>
                  <a:t>同一个程序在不同的机器（手机、电脑、超级电脑）上的运行时间差别很大，算法的时间复杂度分析主要关注算法的运行时间随时间变化的趋势。</a:t>
                </a:r>
                <a:endParaRPr lang="en-US" altLang="zh-CN" sz="2400" dirty="0"/>
              </a:p>
              <a:p>
                <a:pPr marL="342900" indent="-342900">
                  <a:spcBef>
                    <a:spcPts val="600"/>
                  </a:spcBef>
                  <a:spcAft>
                    <a:spcPts val="600"/>
                  </a:spcAft>
                  <a:buFont typeface="Arial" panose="020B0604020202090204" pitchFamily="34" charset="0"/>
                  <a:buChar char="•"/>
                </a:pPr>
                <a:r>
                  <a:rPr lang="zh-CN" altLang="en-US" sz="2400" dirty="0">
                    <a:latin typeface="+mn-ea"/>
                  </a:rPr>
                  <a:t>化简：</a:t>
                </a:r>
                <a:endParaRPr lang="en-US" altLang="zh-CN" sz="2400" dirty="0">
                  <a:latin typeface="+mn-ea"/>
                </a:endParaRPr>
              </a:p>
              <a:p>
                <a:pPr marL="742950" lvl="1" indent="-285750">
                  <a:spcBef>
                    <a:spcPts val="600"/>
                  </a:spcBef>
                  <a:spcAft>
                    <a:spcPts val="600"/>
                  </a:spcAft>
                  <a:buFont typeface="Arial" panose="020B0604020202090204" pitchFamily="34" charset="0"/>
                  <a:buChar char="•"/>
                </a:pPr>
                <a:r>
                  <a:rPr lang="zh-CN" altLang="en-US" sz="2400" dirty="0">
                    <a:latin typeface="+mn-ea"/>
                    <a:cs typeface="Times New Roman" panose="02020503050405090304" pitchFamily="18" charset="0"/>
                  </a:rPr>
                  <a:t>输入规模非常大</a:t>
                </a:r>
                <a:endParaRPr lang="en-US" altLang="zh-CN" sz="2400" dirty="0">
                  <a:latin typeface="+mn-ea"/>
                  <a:cs typeface="Times New Roman" panose="02020503050405090304" pitchFamily="18" charset="0"/>
                </a:endParaRPr>
              </a:p>
              <a:p>
                <a:pPr marL="742950" lvl="1" indent="-285750">
                  <a:spcBef>
                    <a:spcPts val="600"/>
                  </a:spcBef>
                  <a:spcAft>
                    <a:spcPts val="600"/>
                  </a:spcAft>
                  <a:buFont typeface="Arial" panose="020B0604020202090204" pitchFamily="34" charset="0"/>
                  <a:buChar char="•"/>
                </a:pPr>
                <a:r>
                  <a:rPr lang="zh-CN" altLang="en-US" sz="2400" dirty="0">
                    <a:latin typeface="+mn-ea"/>
                    <a:cs typeface="Times New Roman" panose="02020503050405090304" pitchFamily="18" charset="0"/>
                  </a:rPr>
                  <a:t>忽略低阶项和常系数</a:t>
                </a:r>
                <a:endParaRPr lang="en-US" altLang="zh-CN" sz="2400" dirty="0">
                  <a:latin typeface="+mn-ea"/>
                  <a:cs typeface="Times New Roman" panose="02020503050405090304" pitchFamily="18" charset="0"/>
                </a:endParaRPr>
              </a:p>
              <a:p>
                <a:pPr marL="742950" lvl="1" indent="-285750">
                  <a:spcBef>
                    <a:spcPts val="600"/>
                  </a:spcBef>
                  <a:spcAft>
                    <a:spcPts val="600"/>
                  </a:spcAft>
                  <a:buFont typeface="Arial" panose="020B0604020202090204" pitchFamily="34" charset="0"/>
                  <a:buChar char="•"/>
                </a:pPr>
                <a:r>
                  <a:rPr lang="zh-CN" altLang="en-US" sz="2400" dirty="0">
                    <a:latin typeface="+mn-ea"/>
                    <a:cs typeface="Times New Roman" panose="02020503050405090304" pitchFamily="18" charset="0"/>
                  </a:rPr>
                  <a:t>只考虑最高阶</a:t>
                </a:r>
                <a:endParaRPr lang="en-US" altLang="zh-CN" sz="2400" dirty="0">
                  <a:latin typeface="+mn-ea"/>
                  <a:cs typeface="Times New Roman" panose="020205030504050903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271464" y="1052736"/>
                <a:ext cx="10081120" cy="5232202"/>
              </a:xfrm>
              <a:prstGeom prst="rect">
                <a:avLst/>
              </a:prstGeom>
              <a:blipFill rotWithShape="1">
                <a:blip r:embed="rId3"/>
                <a:stretch>
                  <a:fillRect l="-2" t="-10" r="1" b="7"/>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pPr>
              <a:defRPr/>
            </a:pPr>
            <a:fld id="{E6B3DE21-AFB9-F14F-B875-13235536560E}" type="slidenum">
              <a:rPr lang="en-US" altLang="zh-CN" smtClean="0"/>
              <a:t>17</a:t>
            </a:fld>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911424" y="260648"/>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latin typeface="微软雅黑" charset="-122"/>
                <a:ea typeface="微软雅黑" charset="-122"/>
              </a:rPr>
              <a:t>算法复杂性分析的度量</a:t>
            </a:r>
          </a:p>
        </p:txBody>
      </p:sp>
      <mc:AlternateContent xmlns:mc="http://schemas.openxmlformats.org/markup-compatibility/2006" xmlns:a14="http://schemas.microsoft.com/office/drawing/2010/main">
        <mc:Choice Requires="a14">
          <p:sp>
            <p:nvSpPr>
              <p:cNvPr id="6" name="文本框 5"/>
              <p:cNvSpPr txBox="1"/>
              <p:nvPr/>
            </p:nvSpPr>
            <p:spPr>
              <a:xfrm>
                <a:off x="1343472" y="1067447"/>
                <a:ext cx="7848872" cy="907941"/>
              </a:xfrm>
              <a:prstGeom prst="rect">
                <a:avLst/>
              </a:prstGeom>
              <a:noFill/>
            </p:spPr>
            <p:txBody>
              <a:bodyPr wrap="square" rtlCol="0">
                <a:spAutoFit/>
              </a:bodyPr>
              <a:lstStyle/>
              <a:p>
                <a:pPr>
                  <a:spcBef>
                    <a:spcPts val="600"/>
                  </a:spcBef>
                </a:pPr>
                <a14:m>
                  <m:oMath xmlns:m="http://schemas.openxmlformats.org/officeDocument/2006/math">
                    <m:r>
                      <a:rPr lang="en-US" altLang="zh-CN" sz="2400" i="1" dirty="0">
                        <a:latin typeface="Cambria Math" panose="02040503050406030204" pitchFamily="18" charset="0"/>
                      </a:rPr>
                      <m:t>𝑇</m:t>
                    </m:r>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r>
                      <a:rPr lang="en-US" altLang="zh-CN" sz="2400" i="1" dirty="0">
                        <a:latin typeface="Cambria Math" panose="02040503050406030204" pitchFamily="18" charset="0"/>
                      </a:rPr>
                      <m:t>)=7</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+4</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+3</m:t>
                    </m:r>
                    <m:r>
                      <a:rPr lang="en-US" altLang="zh-CN" sz="2400" i="1">
                        <a:latin typeface="Cambria Math" panose="02040503050406030204" pitchFamily="18" charset="0"/>
                      </a:rPr>
                      <m:t>𝑛</m:t>
                    </m:r>
                    <m:r>
                      <a:rPr lang="en-US" altLang="zh-CN" sz="2400" i="1">
                        <a:latin typeface="Cambria Math" panose="02040503050406030204" pitchFamily="18" charset="0"/>
                      </a:rPr>
                      <m:t>+1</m:t>
                    </m:r>
                  </m:oMath>
                </a14:m>
                <a:r>
                  <a:rPr lang="zh-CN" altLang="en-US" sz="2400" dirty="0">
                    <a:latin typeface="+mn-ea"/>
                    <a:cs typeface="Times New Roman" panose="02020503050405090304" pitchFamily="18" charset="0"/>
                  </a:rPr>
                  <a:t>化简为</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oMath>
                </a14:m>
                <a:endParaRPr lang="en-US" altLang="zh-CN" sz="2400" dirty="0">
                  <a:latin typeface="+mn-ea"/>
                  <a:cs typeface="Times New Roman" panose="02020503050405090304" pitchFamily="18" charset="0"/>
                </a:endParaRPr>
              </a:p>
              <a:p>
                <a:pPr>
                  <a:spcBef>
                    <a:spcPts val="600"/>
                  </a:spcBef>
                </a:pPr>
                <a14:m>
                  <m:oMath xmlns:m="http://schemas.openxmlformats.org/officeDocument/2006/math">
                    <m:r>
                      <a:rPr lang="en-US" altLang="zh-CN" sz="2400" i="1" dirty="0">
                        <a:latin typeface="Cambria Math" panose="02040503050406030204" pitchFamily="18" charset="0"/>
                      </a:rPr>
                      <m:t>𝑇</m:t>
                    </m:r>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r>
                      <a:rPr lang="en-US" altLang="zh-CN" sz="2400" i="1" dirty="0">
                        <a:latin typeface="Cambria Math" panose="02040503050406030204" pitchFamily="18" charset="0"/>
                      </a:rPr>
                      <m:t>)=3</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+2</m:t>
                    </m:r>
                    <m:r>
                      <a:rPr lang="en-US" altLang="zh-CN" sz="2400" i="1">
                        <a:latin typeface="Cambria Math" panose="02040503050406030204" pitchFamily="18" charset="0"/>
                      </a:rPr>
                      <m:t>𝑛</m:t>
                    </m:r>
                    <m:r>
                      <a:rPr lang="en-US" altLang="zh-CN" sz="2400" i="1">
                        <a:latin typeface="Cambria Math" panose="02040503050406030204" pitchFamily="18" charset="0"/>
                      </a:rPr>
                      <m:t>+4</m:t>
                    </m:r>
                  </m:oMath>
                </a14:m>
                <a:r>
                  <a:rPr lang="zh-CN" altLang="en-US" sz="2400" dirty="0">
                    <a:latin typeface="+mn-ea"/>
                    <a:cs typeface="Times New Roman" panose="02020503050405090304" pitchFamily="18" charset="0"/>
                  </a:rPr>
                  <a:t>也可以化简为</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oMath>
                </a14:m>
                <a:endParaRPr lang="en-US" altLang="zh-CN" sz="2400" dirty="0">
                  <a:latin typeface="+mn-ea"/>
                  <a:cs typeface="Times New Roman" panose="020205030504050903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343472" y="1067447"/>
                <a:ext cx="7848872" cy="907941"/>
              </a:xfrm>
              <a:prstGeom prst="rect">
                <a:avLst/>
              </a:prstGeom>
              <a:blipFill rotWithShape="1">
                <a:blip r:embed="rId3"/>
                <a:stretch>
                  <a:fillRect l="-6" t="-1" r="1" b="-78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1419067" y="2181402"/>
                <a:ext cx="9073006" cy="3592137"/>
              </a:xfrm>
              <a:prstGeom prst="rect">
                <a:avLst/>
              </a:prstGeom>
              <a:noFill/>
            </p:spPr>
            <p:txBody>
              <a:bodyPr wrap="square" rtlCol="0">
                <a:spAutoFit/>
              </a:bodyPr>
              <a:lstStyle/>
              <a:p>
                <a:pPr>
                  <a:spcBef>
                    <a:spcPts val="600"/>
                  </a:spcBef>
                  <a:spcAft>
                    <a:spcPts val="600"/>
                  </a:spcAft>
                </a:pPr>
                <a:r>
                  <a:rPr lang="zh-CN" altLang="en-US" sz="2400" dirty="0"/>
                  <a:t>那么，</a:t>
                </a:r>
                <a:r>
                  <a:rPr lang="zh-CN" altLang="en-US" sz="2400" dirty="0">
                    <a:solidFill>
                      <a:srgbClr val="FF0000"/>
                    </a:solidFill>
                  </a:rPr>
                  <a:t>所有的可以化简为</a:t>
                </a:r>
                <a14:m>
                  <m:oMath xmlns:m="http://schemas.openxmlformats.org/officeDocument/2006/math">
                    <m:sSup>
                      <m:sSupPr>
                        <m:ctrlPr>
                          <a:rPr lang="en-US" altLang="zh-CN" sz="2400" i="1">
                            <a:solidFill>
                              <a:srgbClr val="FF0000"/>
                            </a:solidFill>
                            <a:latin typeface="Cambria Math" panose="02040503050406030204" pitchFamily="18" charset="0"/>
                          </a:rPr>
                        </m:ctrlPr>
                      </m:sSupPr>
                      <m:e>
                        <m:r>
                          <a:rPr lang="en-US" altLang="zh-CN" sz="2400" i="1">
                            <a:solidFill>
                              <a:srgbClr val="FF0000"/>
                            </a:solidFill>
                            <a:latin typeface="Cambria Math" panose="02040503050406030204" pitchFamily="18" charset="0"/>
                          </a:rPr>
                          <m:t>𝑛</m:t>
                        </m:r>
                      </m:e>
                      <m:sup>
                        <m:r>
                          <a:rPr lang="en-US" altLang="zh-CN" sz="2400" i="1">
                            <a:solidFill>
                              <a:srgbClr val="FF0000"/>
                            </a:solidFill>
                            <a:latin typeface="Cambria Math" panose="02040503050406030204" pitchFamily="18" charset="0"/>
                          </a:rPr>
                          <m:t>3</m:t>
                        </m:r>
                      </m:sup>
                    </m:sSup>
                  </m:oMath>
                </a14:m>
                <a:r>
                  <a:rPr lang="zh-CN" altLang="en-US" sz="2400" dirty="0">
                    <a:solidFill>
                      <a:srgbClr val="FF0000"/>
                    </a:solidFill>
                  </a:rPr>
                  <a:t>的时间复杂度函数就构成了一个集合，我们把这个集合叫做阶</a:t>
                </a:r>
                <a:r>
                  <a:rPr lang="zh-CN" altLang="en-US" sz="2400" dirty="0"/>
                  <a:t>，记作</a:t>
                </a:r>
                <a14:m>
                  <m:oMath xmlns:m="http://schemas.openxmlformats.org/officeDocument/2006/math">
                    <m:r>
                      <m:rPr>
                        <m:nor/>
                      </m:rPr>
                      <a:rPr lang="en-US" altLang="zh-CN" sz="2400" dirty="0">
                        <a:solidFill>
                          <a:srgbClr val="0000FF"/>
                        </a:solidFill>
                        <a:latin typeface="Times New Roman" panose="02020503050405090304" pitchFamily="18" charset="0"/>
                        <a:ea typeface="楷体" panose="02010609060101010101" pitchFamily="49" charset="-122"/>
                        <a:cs typeface="Times New Roman" panose="02020503050405090304" pitchFamily="18" charset="0"/>
                        <a:sym typeface="Symbol" panose="05050102010706020507" pitchFamily="18" charset="2"/>
                      </a:rPr>
                      <m:t></m:t>
                    </m:r>
                    <m:d>
                      <m:dPr>
                        <m:ctrlP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ctrlPr>
                      </m:dPr>
                      <m:e>
                        <m:sSup>
                          <m:sSupPr>
                            <m:ctrlP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ctrlPr>
                          </m:sSupPr>
                          <m:e>
                            <m: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t>𝑛</m:t>
                            </m:r>
                          </m:e>
                          <m:sup>
                            <m: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t>3</m:t>
                            </m:r>
                          </m:sup>
                        </m:sSup>
                      </m:e>
                    </m:d>
                    <m:r>
                      <a:rPr kumimoji="1" lang="zh-CN" altLang="en-US"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t>。</m:t>
                    </m:r>
                  </m:oMath>
                </a14:m>
                <a:endParaRPr lang="en-US" altLang="zh-CN" sz="2400" dirty="0"/>
              </a:p>
              <a:p>
                <a:pPr>
                  <a:spcBef>
                    <a:spcPts val="600"/>
                  </a:spcBef>
                  <a:spcAft>
                    <a:spcPts val="600"/>
                  </a:spcAft>
                </a:pPr>
                <a:r>
                  <a:rPr lang="zh-CN" altLang="en-US" sz="2400" dirty="0"/>
                  <a:t>有些时候，时间复杂度函数不好化简</a:t>
                </a:r>
                <a14:m>
                  <m:oMath xmlns:m="http://schemas.openxmlformats.org/officeDocument/2006/math">
                    <m:r>
                      <a:rPr lang="en-US" altLang="zh-CN" sz="2400" i="1" dirty="0">
                        <a:latin typeface="Cambria Math" panose="02040503050406030204" pitchFamily="18" charset="0"/>
                      </a:rPr>
                      <m:t>𝑇</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r>
                      <a:rPr lang="en-US" altLang="zh-CN"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func>
                          <m:funcPr>
                            <m:ctrlPr>
                              <a:rPr lang="en-US" altLang="zh-CN" sz="2400" i="1" dirty="0">
                                <a:latin typeface="Cambria Math" panose="02040503050406030204" pitchFamily="18" charset="0"/>
                              </a:rPr>
                            </m:ctrlPr>
                          </m:funcPr>
                          <m:fName>
                            <m:r>
                              <m:rPr>
                                <m:sty m:val="p"/>
                              </m:rPr>
                              <a:rPr lang="en-US" altLang="zh-CN" sz="2400" dirty="0">
                                <a:latin typeface="Cambria Math" panose="02040503050406030204" pitchFamily="18" charset="0"/>
                              </a:rPr>
                              <m:t>sin</m:t>
                            </m:r>
                          </m:fName>
                          <m:e>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e>
                        </m:func>
                      </m:sup>
                    </m:sSup>
                  </m:oMath>
                </a14:m>
                <a:r>
                  <a:rPr lang="zh-CN" altLang="en-US" sz="2400" dirty="0"/>
                  <a:t>，怎么办？</a:t>
                </a:r>
                <a:endParaRPr lang="en-US" altLang="zh-CN" sz="2400" dirty="0"/>
              </a:p>
              <a:p>
                <a:pPr>
                  <a:spcBef>
                    <a:spcPts val="600"/>
                  </a:spcBef>
                  <a:spcAft>
                    <a:spcPts val="600"/>
                  </a:spcAft>
                </a:pPr>
                <a:r>
                  <a:rPr lang="zh-CN" altLang="en-US" sz="2400" dirty="0"/>
                  <a:t>引入</a:t>
                </a:r>
                <a:r>
                  <a:rPr lang="en-US" altLang="zh-CN" sz="2400" dirty="0"/>
                  <a:t>O</a:t>
                </a:r>
                <a:r>
                  <a:rPr lang="zh-CN" altLang="en-US" sz="2400" dirty="0"/>
                  <a:t>记号：当前时间复杂度函数的上界</a:t>
                </a:r>
                <a:endParaRPr lang="en-US" altLang="zh-CN" sz="2400" dirty="0"/>
              </a:p>
              <a:p>
                <a:pPr>
                  <a:spcBef>
                    <a:spcPts val="600"/>
                  </a:spcBef>
                  <a:spcAft>
                    <a:spcPts val="600"/>
                  </a:spcAft>
                </a:pPr>
                <a:r>
                  <a:rPr lang="zh-CN" altLang="en-US" sz="2400" dirty="0"/>
                  <a:t>例如：</a:t>
                </a:r>
                <a14:m>
                  <m:oMath xmlns:m="http://schemas.openxmlformats.org/officeDocument/2006/math">
                    <m:r>
                      <a:rPr lang="en-US" altLang="zh-CN" sz="2400" i="1" dirty="0">
                        <a:latin typeface="Cambria Math" panose="02040503050406030204" pitchFamily="18" charset="0"/>
                      </a:rPr>
                      <m:t>𝑇</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r>
                      <a:rPr lang="en-US" altLang="zh-CN"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func>
                          <m:funcPr>
                            <m:ctrlPr>
                              <a:rPr lang="en-US" altLang="zh-CN" sz="2400" i="1" dirty="0">
                                <a:latin typeface="Cambria Math" panose="02040503050406030204" pitchFamily="18" charset="0"/>
                              </a:rPr>
                            </m:ctrlPr>
                          </m:funcPr>
                          <m:fName>
                            <m:r>
                              <m:rPr>
                                <m:sty m:val="p"/>
                              </m:rPr>
                              <a:rPr lang="en-US" altLang="zh-CN" sz="2400" dirty="0">
                                <a:latin typeface="Cambria Math" panose="02040503050406030204" pitchFamily="18" charset="0"/>
                              </a:rPr>
                              <m:t>sin</m:t>
                            </m:r>
                          </m:fName>
                          <m:e>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e>
                        </m:func>
                      </m:sup>
                    </m:sSup>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oMath>
                </a14:m>
                <a:r>
                  <a:rPr lang="zh-CN" altLang="en-US" sz="2400" dirty="0"/>
                  <a:t>，</a:t>
                </a:r>
                <a14:m>
                  <m:oMath xmlns:m="http://schemas.openxmlformats.org/officeDocument/2006/math">
                    <m:r>
                      <a:rPr lang="en-US" altLang="zh-CN" sz="2400" i="1" dirty="0">
                        <a:latin typeface="Cambria Math" panose="02040503050406030204" pitchFamily="18" charset="0"/>
                      </a:rPr>
                      <m:t>𝑇</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oMath>
                </a14:m>
                <a:r>
                  <a:rPr lang="en-US" altLang="zh-CN" sz="2400" dirty="0"/>
                  <a:t>=O(n)</a:t>
                </a:r>
              </a:p>
              <a:p>
                <a:pPr>
                  <a:spcBef>
                    <a:spcPts val="600"/>
                  </a:spcBef>
                  <a:spcAft>
                    <a:spcPts val="600"/>
                  </a:spcAft>
                </a:pPr>
                <a14:m>
                  <m:oMath xmlns:m="http://schemas.openxmlformats.org/officeDocument/2006/math">
                    <m:r>
                      <a:rPr lang="en-US" altLang="zh-CN" sz="2400" i="1">
                        <a:latin typeface="Cambria Math" panose="02040503050406030204" pitchFamily="18" charset="0"/>
                      </a:rPr>
                      <m:t>7</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+4</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+3</m:t>
                    </m:r>
                    <m:r>
                      <a:rPr lang="en-US" altLang="zh-CN" sz="2400" i="1">
                        <a:latin typeface="Cambria Math" panose="02040503050406030204" pitchFamily="18" charset="0"/>
                      </a:rPr>
                      <m:t>𝑛</m:t>
                    </m:r>
                    <m:r>
                      <a:rPr lang="en-US" altLang="zh-CN" sz="2400" i="1">
                        <a:latin typeface="Cambria Math" panose="02040503050406030204" pitchFamily="18" charset="0"/>
                      </a:rPr>
                      <m:t>+1≤8</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dirty="0">
                        <a:latin typeface="Cambria Math" panose="02040503050406030204" pitchFamily="18" charset="0"/>
                      </a:rPr>
                      <m:t>= </m:t>
                    </m:r>
                    <m:r>
                      <a:rPr lang="en-US" altLang="zh-CN" sz="2400" i="1" dirty="0">
                        <a:latin typeface="Cambria Math" panose="02040503050406030204" pitchFamily="18" charset="0"/>
                      </a:rPr>
                      <m:t>𝑂</m:t>
                    </m:r>
                    <m:r>
                      <a:rPr lang="en-US" altLang="zh-CN"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r>
                      <a:rPr lang="en-US" altLang="zh-CN" sz="2400" i="1" dirty="0">
                        <a:latin typeface="Cambria Math" panose="02040503050406030204" pitchFamily="18" charset="0"/>
                      </a:rPr>
                      <m:t>)</m:t>
                    </m:r>
                  </m:oMath>
                </a14:m>
                <a:r>
                  <a:rPr lang="en-US" altLang="zh-CN" sz="2400" dirty="0"/>
                  <a:t> </a:t>
                </a:r>
              </a:p>
              <a:p>
                <a:pPr>
                  <a:spcBef>
                    <a:spcPts val="600"/>
                  </a:spcBef>
                  <a:spcAft>
                    <a:spcPts val="600"/>
                  </a:spcAft>
                </a:pPr>
                <a14:m>
                  <m:oMath xmlns:m="http://schemas.openxmlformats.org/officeDocument/2006/math">
                    <m:r>
                      <a:rPr lang="en-US" altLang="zh-CN" sz="2400" i="1" dirty="0">
                        <a:latin typeface="Cambria Math" panose="02040503050406030204" pitchFamily="18" charset="0"/>
                      </a:rPr>
                      <m:t>3</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r>
                      <a:rPr lang="en-US" altLang="zh-CN" sz="2400" i="1" dirty="0">
                        <a:latin typeface="Cambria Math" panose="02040503050406030204" pitchFamily="18" charset="0"/>
                      </a:rPr>
                      <m:t>+2</m:t>
                    </m:r>
                    <m:r>
                      <a:rPr lang="en-US" altLang="zh-CN" sz="2400" i="1" dirty="0">
                        <a:latin typeface="Cambria Math" panose="02040503050406030204" pitchFamily="18" charset="0"/>
                      </a:rPr>
                      <m:t>𝑛</m:t>
                    </m:r>
                    <m:r>
                      <a:rPr lang="en-US" altLang="zh-CN" sz="2400" i="1" dirty="0">
                        <a:latin typeface="Cambria Math" panose="02040503050406030204" pitchFamily="18" charset="0"/>
                      </a:rPr>
                      <m:t>+4 ≤4</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r>
                      <a:rPr lang="en-US" altLang="zh-CN" sz="2400" i="1" dirty="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rPr>
                        </m:ctrlPr>
                      </m:dPr>
                      <m:e>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e>
                    </m:d>
                  </m:oMath>
                </a14:m>
                <a:r>
                  <a:rPr lang="en-US" altLang="zh-CN" sz="2400" dirty="0"/>
                  <a:t> </a:t>
                </a:r>
              </a:p>
            </p:txBody>
          </p:sp>
        </mc:Choice>
        <mc:Fallback xmlns="">
          <p:sp>
            <p:nvSpPr>
              <p:cNvPr id="2" name="文本框 1"/>
              <p:cNvSpPr txBox="1">
                <a:spLocks noRot="1" noChangeAspect="1" noMove="1" noResize="1" noEditPoints="1" noAdjustHandles="1" noChangeArrowheads="1" noChangeShapeType="1" noTextEdit="1"/>
              </p:cNvSpPr>
              <p:nvPr/>
            </p:nvSpPr>
            <p:spPr>
              <a:xfrm>
                <a:off x="1419067" y="2181402"/>
                <a:ext cx="9073006" cy="3592137"/>
              </a:xfrm>
              <a:prstGeom prst="rect">
                <a:avLst/>
              </a:prstGeom>
              <a:blipFill rotWithShape="1">
                <a:blip r:embed="rId4"/>
                <a:stretch>
                  <a:fillRect l="-5" t="-5" r="7" b="-53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446846" y="5877197"/>
                <a:ext cx="9019915" cy="471732"/>
              </a:xfrm>
              <a:prstGeom prst="rect">
                <a:avLst/>
              </a:prstGeom>
              <a:noFill/>
            </p:spPr>
            <p:txBody>
              <a:bodyPr wrap="square">
                <a:spAutoFit/>
              </a:bodyPr>
              <a:lstStyle/>
              <a:p>
                <a:pPr lvl="1">
                  <a:lnSpc>
                    <a:spcPct val="90000"/>
                  </a:lnSpc>
                </a:pPr>
                <a:r>
                  <a:rPr lang="zh-CN" altLang="en-US" sz="2400" dirty="0">
                    <a:latin typeface="黑体" panose="02010609060101010101" pitchFamily="49" charset="-122"/>
                    <a:ea typeface="黑体" panose="02010609060101010101" pitchFamily="49" charset="-122"/>
                    <a:cs typeface="Times New Roman" panose="02020503050405090304" pitchFamily="18" charset="0"/>
                    <a:sym typeface="Symbol" panose="05050102010706020507" pitchFamily="18" charset="2"/>
                  </a:rPr>
                  <a:t>常</a:t>
                </a:r>
                <a:r>
                  <a:rPr lang="zh-CN" altLang="en-US" sz="2400" dirty="0">
                    <a:sym typeface="Symbol" panose="05050102010706020507" pitchFamily="18" charset="2"/>
                  </a:rPr>
                  <a:t>见</a:t>
                </a:r>
                <a14:m>
                  <m:oMath xmlns:m="http://schemas.openxmlformats.org/officeDocument/2006/math">
                    <m:r>
                      <a:rPr lang="zh-CN" altLang="en-US" sz="2400" dirty="0">
                        <a:latin typeface="Cambria Math" panose="02040503050406030204" pitchFamily="18" charset="0"/>
                        <a:sym typeface="Symbol" panose="05050102010706020507" pitchFamily="18" charset="2"/>
                      </a:rPr>
                      <m:t>的阶：</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a:rPr lang="en-US" altLang="zh-CN" sz="2400">
                            <a:latin typeface="Cambria Math" panose="02040503050406030204" pitchFamily="18" charset="0"/>
                          </a:rPr>
                          <m:t>1</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m:rPr>
                            <m:sty m:val="p"/>
                          </m:rPr>
                          <a:rPr lang="en-US" altLang="zh-CN" sz="2400">
                            <a:latin typeface="Cambria Math" panose="02040503050406030204" pitchFamily="18" charset="0"/>
                          </a:rPr>
                          <m:t>lg</m:t>
                        </m:r>
                        <m:r>
                          <a:rPr lang="en-US" altLang="zh-CN" sz="2400">
                            <a:latin typeface="Cambria Math" panose="02040503050406030204" pitchFamily="18" charset="0"/>
                          </a:rPr>
                          <m:t> </m:t>
                        </m:r>
                        <m:r>
                          <a:rPr lang="en-US" altLang="zh-CN" sz="2400">
                            <a:latin typeface="Cambria Math" panose="02040503050406030204" pitchFamily="18" charset="0"/>
                          </a:rPr>
                          <m:t>𝑛</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a:rPr lang="en-US" altLang="zh-CN" sz="2400" dirty="0">
                            <a:latin typeface="Cambria Math" panose="02040503050406030204" pitchFamily="18" charset="0"/>
                            <a:sym typeface="Symbol" panose="05050102010706020507" pitchFamily="18" charset="2"/>
                          </a:rPr>
                          <m:t>𝑛</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a:rPr lang="en-US" altLang="zh-CN" sz="2400" dirty="0">
                            <a:latin typeface="Cambria Math" panose="02040503050406030204" pitchFamily="18" charset="0"/>
                            <a:sym typeface="Symbol" panose="05050102010706020507" pitchFamily="18" charset="2"/>
                          </a:rPr>
                          <m:t>𝑛</m:t>
                        </m:r>
                        <m:r>
                          <m:rPr>
                            <m:sty m:val="p"/>
                          </m:rPr>
                          <a:rPr lang="en-US" altLang="zh-CN" sz="2400">
                            <a:latin typeface="Cambria Math" panose="02040503050406030204" pitchFamily="18" charset="0"/>
                          </a:rPr>
                          <m:t>lg</m:t>
                        </m:r>
                        <m:r>
                          <a:rPr lang="en-US" altLang="zh-CN" sz="2400">
                            <a:latin typeface="Cambria Math" panose="02040503050406030204" pitchFamily="18" charset="0"/>
                          </a:rPr>
                          <m:t> </m:t>
                        </m:r>
                        <m:r>
                          <a:rPr lang="en-US" altLang="zh-CN" sz="2400">
                            <a:latin typeface="Cambria Math" panose="02040503050406030204" pitchFamily="18" charset="0"/>
                          </a:rPr>
                          <m:t>𝑛</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sSup>
                          <m:sSupPr>
                            <m:ctrlPr>
                              <a:rPr lang="en-US" altLang="zh-CN" sz="2400" i="1" dirty="0">
                                <a:latin typeface="Cambria Math" panose="02040503050406030204" pitchFamily="18" charset="0"/>
                                <a:sym typeface="Symbol" panose="05050102010706020507" pitchFamily="18" charset="2"/>
                              </a:rPr>
                            </m:ctrlPr>
                          </m:sSupPr>
                          <m:e>
                            <m:r>
                              <a:rPr lang="en-US" altLang="zh-CN" sz="2400" dirty="0">
                                <a:latin typeface="Cambria Math" panose="02040503050406030204" pitchFamily="18" charset="0"/>
                                <a:sym typeface="Symbol" panose="05050102010706020507" pitchFamily="18" charset="2"/>
                              </a:rPr>
                              <m:t>𝑛</m:t>
                            </m:r>
                          </m:e>
                          <m:sup>
                            <m:r>
                              <a:rPr lang="en-US" altLang="zh-CN" sz="2400" dirty="0">
                                <a:latin typeface="Cambria Math" panose="02040503050406030204" pitchFamily="18" charset="0"/>
                                <a:sym typeface="Symbol" panose="05050102010706020507" pitchFamily="18" charset="2"/>
                              </a:rPr>
                              <m:t>2</m:t>
                            </m:r>
                          </m:sup>
                        </m:sSup>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sSup>
                          <m:sSupPr>
                            <m:ctrlPr>
                              <a:rPr lang="en-US" altLang="zh-CN" sz="2400" i="1" dirty="0">
                                <a:latin typeface="Cambria Math" panose="02040503050406030204" pitchFamily="18" charset="0"/>
                                <a:sym typeface="Symbol" panose="05050102010706020507" pitchFamily="18" charset="2"/>
                              </a:rPr>
                            </m:ctrlPr>
                          </m:sSupPr>
                          <m:e>
                            <m:r>
                              <a:rPr lang="en-US" altLang="zh-CN" sz="2400" dirty="0">
                                <a:latin typeface="Cambria Math" panose="02040503050406030204" pitchFamily="18" charset="0"/>
                                <a:sym typeface="Symbol" panose="05050102010706020507" pitchFamily="18" charset="2"/>
                              </a:rPr>
                              <m:t>𝑛</m:t>
                            </m:r>
                          </m:e>
                          <m:sup>
                            <m:r>
                              <a:rPr lang="en-US" altLang="zh-CN" sz="2400" dirty="0">
                                <a:latin typeface="Cambria Math" panose="02040503050406030204" pitchFamily="18" charset="0"/>
                                <a:sym typeface="Symbol" panose="05050102010706020507" pitchFamily="18" charset="2"/>
                              </a:rPr>
                              <m:t>3</m:t>
                            </m:r>
                          </m:sup>
                        </m:sSup>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sSup>
                          <m:sSupPr>
                            <m:ctrlPr>
                              <a:rPr lang="en-US" altLang="zh-CN" sz="2400" i="1" dirty="0">
                                <a:latin typeface="Cambria Math" panose="02040503050406030204" pitchFamily="18" charset="0"/>
                                <a:sym typeface="Symbol" panose="05050102010706020507" pitchFamily="18" charset="2"/>
                              </a:rPr>
                            </m:ctrlPr>
                          </m:sSupPr>
                          <m:e>
                            <m:r>
                              <a:rPr lang="en-US" altLang="zh-CN" sz="2400" dirty="0">
                                <a:latin typeface="Cambria Math" panose="02040503050406030204" pitchFamily="18" charset="0"/>
                                <a:sym typeface="Symbol" panose="05050102010706020507" pitchFamily="18" charset="2"/>
                              </a:rPr>
                              <m:t>2</m:t>
                            </m:r>
                          </m:e>
                          <m:sup>
                            <m:r>
                              <a:rPr lang="en-US" altLang="zh-CN" sz="2400" dirty="0">
                                <a:latin typeface="Cambria Math" panose="02040503050406030204" pitchFamily="18" charset="0"/>
                                <a:sym typeface="Symbol" panose="05050102010706020507" pitchFamily="18" charset="2"/>
                              </a:rPr>
                              <m:t>𝑛</m:t>
                            </m:r>
                          </m:sup>
                        </m:sSup>
                      </m:e>
                    </m:d>
                  </m:oMath>
                </a14:m>
                <a:endParaRPr lang="en-US" altLang="zh-CN" sz="2400" dirty="0">
                  <a:sym typeface="Symbol" panose="05050102010706020507" pitchFamily="18" charset="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446846" y="5877197"/>
                <a:ext cx="9019915" cy="471732"/>
              </a:xfrm>
              <a:prstGeom prst="rect">
                <a:avLst/>
              </a:prstGeom>
              <a:blipFill rotWithShape="1">
                <a:blip r:embed="rId5"/>
                <a:stretch>
                  <a:fillRect l="-4" t="-58" r="1" b="42"/>
                </a:stretch>
              </a:blipFill>
            </p:spPr>
            <p:txBody>
              <a:bodyPr/>
              <a:lstStyle/>
              <a:p>
                <a:r>
                  <a:rPr lang="zh-CN" altLang="en-US">
                    <a:noFill/>
                  </a:rPr>
                  <a:t> </a:t>
                </a:r>
              </a:p>
            </p:txBody>
          </p:sp>
        </mc:Fallback>
      </mc:AlternateContent>
      <p:sp>
        <p:nvSpPr>
          <p:cNvPr id="7" name="灯片编号占位符 6"/>
          <p:cNvSpPr>
            <a:spLocks noGrp="1"/>
          </p:cNvSpPr>
          <p:nvPr>
            <p:ph type="sldNum" sz="quarter" idx="12"/>
          </p:nvPr>
        </p:nvSpPr>
        <p:spPr/>
        <p:txBody>
          <a:bodyPr/>
          <a:lstStyle/>
          <a:p>
            <a:pPr>
              <a:defRPr/>
            </a:pPr>
            <a:fld id="{E6B3DE21-AFB9-F14F-B875-13235536560E}" type="slidenum">
              <a:rPr lang="en-US" altLang="zh-CN" smtClean="0"/>
              <a:t>18</a:t>
            </a:fld>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1180" y="3264471"/>
            <a:ext cx="5043412" cy="2168525"/>
          </a:xfrm>
          <a:prstGeom prst="rect">
            <a:avLst/>
          </a:prstGeom>
          <a:noFill/>
        </p:spPr>
        <p:txBody>
          <a:bodyPr wrap="square">
            <a:spAutoFit/>
          </a:bodyPr>
          <a:lstStyle/>
          <a:p>
            <a:pPr algn="l">
              <a:lnSpc>
                <a:spcPct val="150000"/>
              </a:lnSpc>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1;  </a:t>
            </a:r>
            <a:endParaRPr lang="en-US"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sym typeface="+mn-ea"/>
              </a:rPr>
              <a:t> j</a:t>
            </a:r>
            <a:r>
              <a:rPr lang="en-US" altLang="zh-CN" dirty="0">
                <a:solidFill>
                  <a:srgbClr val="000000"/>
                </a:solidFill>
                <a:highlight>
                  <a:srgbClr val="F8F8F8"/>
                </a:highlight>
                <a:latin typeface="Consolas" panose="020B0609020204030204" pitchFamily="49" charset="0"/>
              </a:rPr>
              <a:t> = 2;  </a:t>
            </a:r>
            <a:endParaRPr lang="en-US"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en-US" altLang="zh-CN" dirty="0">
                <a:solidFill>
                  <a:srgbClr val="000000"/>
                </a:solidFill>
                <a:highlight>
                  <a:srgbClr val="F8F8F8"/>
                </a:highlight>
                <a:latin typeface="Times New Roman Regular" panose="02020503050405090304" charset="0"/>
                <a:cs typeface="Times New Roman Regular" panose="02020503050405090304" charset="0"/>
                <a:sym typeface="+mn-ea"/>
              </a:rPr>
              <a:t>j</a:t>
            </a:r>
            <a:r>
              <a:rPr lang="en-US" altLang="zh-CN" dirty="0" err="1">
                <a:solidFill>
                  <a:srgbClr val="000000"/>
                </a:solidFill>
                <a:highlight>
                  <a:srgbClr val="F8F8F8"/>
                </a:highlight>
                <a:latin typeface="Consolas" panose="020B0609020204030204" pitchFamily="49" charset="0"/>
              </a:rPr>
              <a:t>++</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m =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j;  </a:t>
            </a:r>
            <a:endParaRPr lang="en-US" altLang="zh-CN" dirty="0">
              <a:solidFill>
                <a:srgbClr val="5C5C5C"/>
              </a:solidFill>
              <a:highlight>
                <a:srgbClr val="FFFFFF"/>
              </a:highlight>
              <a:latin typeface="Consolas" panose="020B0609020204030204" pitchFamily="49" charset="0"/>
            </a:endParaRPr>
          </a:p>
        </p:txBody>
      </p:sp>
      <mc:AlternateContent xmlns:mc="http://schemas.openxmlformats.org/markup-compatibility/2006" xmlns:a14="http://schemas.microsoft.com/office/drawing/2010/main">
        <mc:Choice Requires="a14">
          <p:sp>
            <p:nvSpPr>
              <p:cNvPr id="5" name="文本框 4"/>
              <p:cNvSpPr txBox="1"/>
              <p:nvPr/>
            </p:nvSpPr>
            <p:spPr>
              <a:xfrm>
                <a:off x="1775520" y="2628797"/>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a:rPr lang="en-US" altLang="zh-CN">
                            <a:latin typeface="Cambria Math" panose="02040503050406030204" pitchFamily="18" charset="0"/>
                          </a:rPr>
                          <m:t>1</m:t>
                        </m:r>
                      </m:e>
                    </m:d>
                  </m:oMath>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1775520" y="2628797"/>
                <a:ext cx="5043412" cy="369332"/>
              </a:xfrm>
              <a:prstGeom prst="rect">
                <a:avLst/>
              </a:prstGeom>
              <a:blipFill rotWithShape="1">
                <a:blip r:embed="rId3"/>
                <a:stretch>
                  <a:fillRect l="-1" t="-144" r="6" b="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775842" y="2577302"/>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m:rPr>
                            <m:sty m:val="p"/>
                          </m:rPr>
                          <a:rPr lang="en-US" altLang="zh-CN" i="1" dirty="0">
                            <a:latin typeface="Cambria Math" panose="02040503050406030204" pitchFamily="18" charset="0"/>
                            <a:sym typeface="Symbol" panose="05050102010706020507" pitchFamily="18" charset="2"/>
                          </a:rPr>
                          <m:t>l</m:t>
                        </m:r>
                        <m:r>
                          <a:rPr lang="en-US" altLang="zh-CN" i="1" dirty="0">
                            <a:latin typeface="Cambria Math" panose="02040503050406030204" pitchFamily="18" charset="0"/>
                            <a:sym typeface="Symbol" panose="05050102010706020507" pitchFamily="18" charset="2"/>
                          </a:rPr>
                          <m:t>𝑔𝑛</m:t>
                        </m:r>
                      </m:e>
                    </m:d>
                  </m:oMath>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5775842" y="2577302"/>
                <a:ext cx="5043412" cy="369332"/>
              </a:xfrm>
              <a:prstGeom prst="rect">
                <a:avLst/>
              </a:prstGeom>
              <a:blipFill rotWithShape="1">
                <a:blip r:embed="rId4"/>
                <a:stretch>
                  <a:fillRect l="-10" t="-128" r="2" b="63"/>
                </a:stretch>
              </a:blipFill>
            </p:spPr>
            <p:txBody>
              <a:bodyPr/>
              <a:lstStyle/>
              <a:p>
                <a:r>
                  <a:rPr lang="zh-CN" altLang="en-US">
                    <a:noFill/>
                  </a:rPr>
                  <a:t> </a:t>
                </a:r>
              </a:p>
            </p:txBody>
          </p:sp>
        </mc:Fallback>
      </mc:AlternateContent>
      <p:sp>
        <p:nvSpPr>
          <p:cNvPr id="8" name="文本框 7"/>
          <p:cNvSpPr txBox="1"/>
          <p:nvPr/>
        </p:nvSpPr>
        <p:spPr>
          <a:xfrm>
            <a:off x="5879976" y="3212976"/>
            <a:ext cx="5043412" cy="2168525"/>
          </a:xfrm>
          <a:prstGeom prst="rect">
            <a:avLst/>
          </a:prstGeom>
          <a:noFill/>
        </p:spPr>
        <p:txBody>
          <a:bodyPr wrap="square">
            <a:spAutoFit/>
          </a:bodyPr>
          <a:lstStyle/>
          <a:p>
            <a:pPr algn="l">
              <a:lnSpc>
                <a:spcPct val="150000"/>
              </a:lnSpc>
              <a:buFont typeface="+mj-lt"/>
              <a:buAutoNum type="arabicPeriod"/>
            </a:pPr>
            <a:r>
              <a:rPr lang="nn-NO" altLang="zh-CN" b="1" dirty="0">
                <a:solidFill>
                  <a:srgbClr val="2E8B57"/>
                </a:solidFill>
                <a:highlight>
                  <a:srgbClr val="FFFFFF"/>
                </a:highlight>
                <a:latin typeface="Consolas" panose="020B0609020204030204" pitchFamily="49" charset="0"/>
              </a:rPr>
              <a:t>int</a:t>
            </a:r>
            <a:r>
              <a:rPr lang="nn-NO" altLang="zh-CN" dirty="0">
                <a:solidFill>
                  <a:srgbClr val="000000"/>
                </a:solidFill>
                <a:highlight>
                  <a:srgbClr val="FFFFFF"/>
                </a:highlight>
                <a:latin typeface="Consolas" panose="020B0609020204030204" pitchFamily="49" charset="0"/>
              </a:rPr>
              <a:t> i = 1;  </a:t>
            </a:r>
            <a:endParaRPr lang="nn-NO"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nn-NO" altLang="zh-CN" b="1" dirty="0">
                <a:solidFill>
                  <a:srgbClr val="006699"/>
                </a:solidFill>
                <a:highlight>
                  <a:srgbClr val="F8F8F8"/>
                </a:highlight>
                <a:latin typeface="Consolas" panose="020B0609020204030204" pitchFamily="49" charset="0"/>
              </a:rPr>
              <a:t>while</a:t>
            </a:r>
            <a:r>
              <a:rPr lang="nn-NO" altLang="zh-CN" dirty="0">
                <a:solidFill>
                  <a:srgbClr val="000000"/>
                </a:solidFill>
                <a:highlight>
                  <a:srgbClr val="F8F8F8"/>
                </a:highlight>
                <a:latin typeface="Consolas" panose="020B0609020204030204" pitchFamily="49" charset="0"/>
              </a:rPr>
              <a:t>(i&lt;n)  </a:t>
            </a:r>
            <a:endParaRPr lang="nn-NO"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nn-NO" altLang="zh-CN" dirty="0">
                <a:solidFill>
                  <a:srgbClr val="000000"/>
                </a:solidFill>
                <a:highlight>
                  <a:srgbClr val="FFFFFF"/>
                </a:highlight>
                <a:latin typeface="Consolas" panose="020B0609020204030204" pitchFamily="49" charset="0"/>
              </a:rPr>
              <a:t>{  </a:t>
            </a:r>
            <a:endParaRPr lang="nn-NO"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nn-NO" altLang="zh-CN" dirty="0">
                <a:solidFill>
                  <a:srgbClr val="000000"/>
                </a:solidFill>
                <a:highlight>
                  <a:srgbClr val="F8F8F8"/>
                </a:highlight>
                <a:latin typeface="Consolas" panose="020B0609020204030204" pitchFamily="49" charset="0"/>
              </a:rPr>
              <a:t>    i = i * 2;  </a:t>
            </a:r>
            <a:endParaRPr lang="nn-NO"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nn-NO" altLang="zh-CN" dirty="0">
                <a:solidFill>
                  <a:srgbClr val="000000"/>
                </a:solidFill>
                <a:highlight>
                  <a:srgbClr val="FFFFFF"/>
                </a:highlight>
                <a:latin typeface="Consolas" panose="020B0609020204030204" pitchFamily="49" charset="0"/>
              </a:rPr>
              <a:t>}  </a:t>
            </a:r>
            <a:endParaRPr lang="nn-NO" altLang="zh-CN" dirty="0">
              <a:solidFill>
                <a:srgbClr val="5C5C5C"/>
              </a:solidFill>
              <a:highlight>
                <a:srgbClr val="FFFFFF"/>
              </a:highlight>
              <a:latin typeface="Consolas" panose="020B0609020204030204" pitchFamily="49" charset="0"/>
            </a:endParaRPr>
          </a:p>
        </p:txBody>
      </p:sp>
      <p:sp>
        <p:nvSpPr>
          <p:cNvPr id="9" name="Rectangle 4"/>
          <p:cNvSpPr>
            <a:spLocks noChangeArrowheads="1"/>
          </p:cNvSpPr>
          <p:nvPr/>
        </p:nvSpPr>
        <p:spPr bwMode="auto">
          <a:xfrm>
            <a:off x="623392" y="548680"/>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latin typeface="微软雅黑" charset="-122"/>
                <a:ea typeface="微软雅黑" charset="-122"/>
              </a:rPr>
              <a:t>算法复杂性分析的度量</a:t>
            </a:r>
          </a:p>
        </p:txBody>
      </p:sp>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19</a:t>
            </a:fld>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2033606" y="1704361"/>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m:rPr>
                            <m:sty m:val="p"/>
                          </m:rPr>
                          <a:rPr lang="en-US" altLang="zh-CN">
                            <a:latin typeface="Cambria Math" panose="02040503050406030204" pitchFamily="18" charset="0"/>
                          </a:rPr>
                          <m:t>n</m:t>
                        </m:r>
                      </m:e>
                    </m:d>
                  </m:oMath>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033606" y="1704361"/>
                <a:ext cx="5043412" cy="369332"/>
              </a:xfrm>
              <a:prstGeom prst="rect">
                <a:avLst/>
              </a:prstGeom>
              <a:blipFill rotWithShape="1">
                <a:blip r:embed="rId2"/>
                <a:stretch>
                  <a:fillRect l="-7" t="-6" r="11" b="1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6384032" y="1700808"/>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a:rPr lang="en-US" altLang="zh-CN" i="1" dirty="0">
                            <a:latin typeface="Cambria Math" panose="02040503050406030204" pitchFamily="18" charset="0"/>
                            <a:sym typeface="Symbol" panose="05050102010706020507" pitchFamily="18" charset="2"/>
                          </a:rPr>
                          <m:t>𝑛</m:t>
                        </m:r>
                        <m:r>
                          <m:rPr>
                            <m:sty m:val="p"/>
                          </m:rPr>
                          <a:rPr lang="en-US" altLang="zh-CN" i="1" dirty="0">
                            <a:latin typeface="Cambria Math" panose="02040503050406030204" pitchFamily="18" charset="0"/>
                            <a:sym typeface="Symbol" panose="05050102010706020507" pitchFamily="18" charset="2"/>
                          </a:rPr>
                          <m:t>l</m:t>
                        </m:r>
                        <m:r>
                          <a:rPr lang="en-US" altLang="zh-CN" i="1" dirty="0">
                            <a:latin typeface="Cambria Math" panose="02040503050406030204" pitchFamily="18" charset="0"/>
                            <a:sym typeface="Symbol" panose="05050102010706020507" pitchFamily="18" charset="2"/>
                          </a:rPr>
                          <m:t>𝑔𝑛</m:t>
                        </m:r>
                      </m:e>
                    </m:d>
                  </m:oMath>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6384032" y="1700808"/>
                <a:ext cx="5043412" cy="369332"/>
              </a:xfrm>
              <a:prstGeom prst="rect">
                <a:avLst/>
              </a:prstGeom>
              <a:blipFill rotWithShape="1">
                <a:blip r:embed="rId3"/>
                <a:stretch>
                  <a:fillRect l="-7" t="-75" r="12" b="11"/>
                </a:stretch>
              </a:blipFill>
            </p:spPr>
            <p:txBody>
              <a:bodyPr/>
              <a:lstStyle/>
              <a:p>
                <a:r>
                  <a:rPr lang="zh-CN" altLang="en-US">
                    <a:noFill/>
                  </a:rPr>
                  <a:t> </a:t>
                </a:r>
              </a:p>
            </p:txBody>
          </p:sp>
        </mc:Fallback>
      </mc:AlternateContent>
      <p:sp>
        <p:nvSpPr>
          <p:cNvPr id="4" name="文本框 3"/>
          <p:cNvSpPr txBox="1"/>
          <p:nvPr/>
        </p:nvSpPr>
        <p:spPr>
          <a:xfrm>
            <a:off x="2063552" y="2548217"/>
            <a:ext cx="5043412" cy="2168525"/>
          </a:xfrm>
          <a:prstGeom prst="rect">
            <a:avLst/>
          </a:prstGeom>
          <a:noFill/>
        </p:spPr>
        <p:txBody>
          <a:bodyPr wrap="square">
            <a:spAutoFit/>
          </a:bodyPr>
          <a:lstStyle/>
          <a:p>
            <a:pPr algn="l">
              <a:lnSpc>
                <a:spcPct val="150000"/>
              </a:lnSpc>
              <a:buFont typeface="+mj-lt"/>
              <a:buAutoNum type="arabicPeriod"/>
            </a:pPr>
            <a:r>
              <a:rPr lang="nn-NO" altLang="zh-CN" b="1" dirty="0">
                <a:solidFill>
                  <a:srgbClr val="006699"/>
                </a:solidFill>
                <a:highlight>
                  <a:srgbClr val="FFFFFF"/>
                </a:highlight>
                <a:latin typeface="Consolas" panose="020B0609020204030204" pitchFamily="49" charset="0"/>
              </a:rPr>
              <a:t>for</a:t>
            </a:r>
            <a:r>
              <a:rPr lang="nn-NO" altLang="zh-CN" dirty="0">
                <a:solidFill>
                  <a:srgbClr val="000000"/>
                </a:solidFill>
                <a:highlight>
                  <a:srgbClr val="FFFFFF"/>
                </a:highlight>
                <a:latin typeface="Consolas" panose="020B0609020204030204" pitchFamily="49" charset="0"/>
              </a:rPr>
              <a:t>(i=1; i&lt;=n; ++i)  </a:t>
            </a:r>
            <a:endParaRPr lang="nn-NO"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nn-NO" altLang="zh-CN" dirty="0">
                <a:solidFill>
                  <a:srgbClr val="000000"/>
                </a:solidFill>
                <a:highlight>
                  <a:srgbClr val="F8F8F8"/>
                </a:highlight>
                <a:latin typeface="Consolas" panose="020B0609020204030204" pitchFamily="49" charset="0"/>
              </a:rPr>
              <a:t>{  </a:t>
            </a:r>
            <a:endParaRPr lang="nn-NO"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nn-NO" altLang="zh-CN" dirty="0">
                <a:solidFill>
                  <a:srgbClr val="000000"/>
                </a:solidFill>
                <a:highlight>
                  <a:srgbClr val="FFFFFF"/>
                </a:highlight>
                <a:latin typeface="Consolas" panose="020B0609020204030204" pitchFamily="49" charset="0"/>
              </a:rPr>
              <a:t>   j = i;  </a:t>
            </a:r>
            <a:endParaRPr lang="nn-NO"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nn-NO" altLang="zh-CN" dirty="0">
                <a:solidFill>
                  <a:srgbClr val="000000"/>
                </a:solidFill>
                <a:highlight>
                  <a:srgbClr val="F8F8F8"/>
                </a:highlight>
                <a:latin typeface="Consolas" panose="020B0609020204030204" pitchFamily="49" charset="0"/>
              </a:rPr>
              <a:t>   j++;  </a:t>
            </a:r>
            <a:endParaRPr lang="nn-NO"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nn-NO" altLang="zh-CN" dirty="0">
                <a:solidFill>
                  <a:srgbClr val="000000"/>
                </a:solidFill>
                <a:highlight>
                  <a:srgbClr val="FFFFFF"/>
                </a:highlight>
                <a:latin typeface="Consolas" panose="020B0609020204030204" pitchFamily="49" charset="0"/>
              </a:rPr>
              <a:t>}  </a:t>
            </a:r>
            <a:endParaRPr lang="nn-NO" altLang="zh-CN" dirty="0">
              <a:solidFill>
                <a:srgbClr val="5C5C5C"/>
              </a:solidFill>
              <a:highlight>
                <a:srgbClr val="FFFFFF"/>
              </a:highlight>
              <a:latin typeface="Consolas" panose="020B0609020204030204" pitchFamily="49" charset="0"/>
            </a:endParaRPr>
          </a:p>
        </p:txBody>
      </p:sp>
      <p:sp>
        <p:nvSpPr>
          <p:cNvPr id="9" name="文本框 8"/>
          <p:cNvSpPr txBox="1"/>
          <p:nvPr/>
        </p:nvSpPr>
        <p:spPr>
          <a:xfrm>
            <a:off x="6456040" y="2410646"/>
            <a:ext cx="5043412" cy="4246245"/>
          </a:xfrm>
          <a:prstGeom prst="rect">
            <a:avLst/>
          </a:prstGeom>
          <a:noFill/>
        </p:spPr>
        <p:txBody>
          <a:bodyPr wrap="square">
            <a:spAutoFit/>
          </a:bodyPr>
          <a:lstStyle/>
          <a:p>
            <a:pPr algn="l">
              <a:lnSpc>
                <a:spcPct val="150000"/>
              </a:lnSpc>
              <a:buFont typeface="+mj-lt"/>
              <a:buAutoNum type="arabicPeriod"/>
            </a:pPr>
            <a:r>
              <a:rPr lang="pt-BR" altLang="zh-CN" b="1" dirty="0">
                <a:solidFill>
                  <a:srgbClr val="2E8B57"/>
                </a:solidFill>
                <a:highlight>
                  <a:srgbClr val="FFFFFF"/>
                </a:highlight>
                <a:latin typeface="Consolas" panose="020B0609020204030204" pitchFamily="49" charset="0"/>
              </a:rPr>
              <a:t>int</a:t>
            </a:r>
            <a:r>
              <a:rPr lang="pt-BR" altLang="zh-CN" dirty="0">
                <a:solidFill>
                  <a:srgbClr val="000000"/>
                </a:solidFill>
                <a:highlight>
                  <a:srgbClr val="FFFFFF"/>
                </a:highlight>
                <a:latin typeface="Consolas" panose="020B0609020204030204" pitchFamily="49" charset="0"/>
              </a:rPr>
              <a:t> n,m;  </a:t>
            </a:r>
            <a:endParaRPr lang="pt-BR"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8F8F8"/>
                </a:highlight>
                <a:latin typeface="Consolas" panose="020B0609020204030204" pitchFamily="49" charset="0"/>
              </a:rPr>
              <a:t>scanf(</a:t>
            </a:r>
            <a:r>
              <a:rPr lang="pt-BR" altLang="zh-CN" dirty="0">
                <a:solidFill>
                  <a:srgbClr val="0000FF"/>
                </a:solidFill>
                <a:highlight>
                  <a:srgbClr val="F8F8F8"/>
                </a:highlight>
                <a:latin typeface="Consolas" panose="020B0609020204030204" pitchFamily="49" charset="0"/>
              </a:rPr>
              <a:t>"%d"</a:t>
            </a:r>
            <a:r>
              <a:rPr lang="pt-BR" altLang="zh-CN" dirty="0">
                <a:solidFill>
                  <a:srgbClr val="000000"/>
                </a:solidFill>
                <a:highlight>
                  <a:srgbClr val="F8F8F8"/>
                </a:highlight>
                <a:latin typeface="Consolas" panose="020B0609020204030204" pitchFamily="49" charset="0"/>
              </a:rPr>
              <a:t>,&amp;n);  </a:t>
            </a:r>
            <a:endParaRPr lang="pt-BR"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pt-BR" altLang="zh-CN" b="1" dirty="0">
                <a:solidFill>
                  <a:srgbClr val="006699"/>
                </a:solidFill>
                <a:highlight>
                  <a:srgbClr val="FFFFFF"/>
                </a:highlight>
                <a:latin typeface="Consolas" panose="020B0609020204030204" pitchFamily="49" charset="0"/>
              </a:rPr>
              <a:t>for</a:t>
            </a:r>
            <a:r>
              <a:rPr lang="pt-BR" altLang="zh-CN" dirty="0">
                <a:solidFill>
                  <a:srgbClr val="000000"/>
                </a:solidFill>
                <a:highlight>
                  <a:srgbClr val="FFFFFF"/>
                </a:highlight>
                <a:latin typeface="Consolas" panose="020B0609020204030204" pitchFamily="49" charset="0"/>
              </a:rPr>
              <a:t>(m=1; m&lt;n; m++)  </a:t>
            </a:r>
            <a:endParaRPr lang="pt-BR"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8F8F8"/>
                </a:highlight>
                <a:latin typeface="Consolas" panose="020B0609020204030204" pitchFamily="49" charset="0"/>
              </a:rPr>
              <a:t>{  </a:t>
            </a:r>
            <a:endParaRPr lang="pt-BR"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FFFFF"/>
                </a:highlight>
                <a:latin typeface="Consolas" panose="020B0609020204030204" pitchFamily="49" charset="0"/>
              </a:rPr>
              <a:t>    i = 1;  </a:t>
            </a:r>
            <a:endParaRPr lang="pt-BR"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8F8F8"/>
                </a:highlight>
                <a:latin typeface="Consolas" panose="020B0609020204030204" pitchFamily="49" charset="0"/>
              </a:rPr>
              <a:t>    </a:t>
            </a:r>
            <a:r>
              <a:rPr lang="pt-BR" altLang="zh-CN" b="1" dirty="0">
                <a:solidFill>
                  <a:srgbClr val="006699"/>
                </a:solidFill>
                <a:highlight>
                  <a:srgbClr val="F8F8F8"/>
                </a:highlight>
                <a:latin typeface="Consolas" panose="020B0609020204030204" pitchFamily="49" charset="0"/>
              </a:rPr>
              <a:t>while</a:t>
            </a:r>
            <a:r>
              <a:rPr lang="pt-BR" altLang="zh-CN" dirty="0">
                <a:solidFill>
                  <a:srgbClr val="000000"/>
                </a:solidFill>
                <a:highlight>
                  <a:srgbClr val="F8F8F8"/>
                </a:highlight>
                <a:latin typeface="Consolas" panose="020B0609020204030204" pitchFamily="49" charset="0"/>
              </a:rPr>
              <a:t>(i&lt;n)  </a:t>
            </a:r>
            <a:endParaRPr lang="pt-BR"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FFFFF"/>
                </a:highlight>
                <a:latin typeface="Consolas" panose="020B0609020204030204" pitchFamily="49" charset="0"/>
              </a:rPr>
              <a:t>    {  </a:t>
            </a:r>
            <a:endParaRPr lang="pt-BR"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8F8F8"/>
                </a:highlight>
                <a:latin typeface="Consolas" panose="020B0609020204030204" pitchFamily="49" charset="0"/>
              </a:rPr>
              <a:t>        i = i * 2;  </a:t>
            </a:r>
            <a:endParaRPr lang="pt-BR"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FFFFF"/>
                </a:highlight>
                <a:latin typeface="Consolas" panose="020B0609020204030204" pitchFamily="49" charset="0"/>
              </a:rPr>
              <a:t>    }  </a:t>
            </a:r>
            <a:endParaRPr lang="pt-BR"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pt-BR" altLang="zh-CN" dirty="0">
                <a:solidFill>
                  <a:srgbClr val="000000"/>
                </a:solidFill>
                <a:highlight>
                  <a:srgbClr val="F8F8F8"/>
                </a:highlight>
                <a:latin typeface="Consolas" panose="020B0609020204030204" pitchFamily="49" charset="0"/>
              </a:rPr>
              <a:t>}  </a:t>
            </a:r>
            <a:endParaRPr lang="pt-BR" altLang="zh-CN" dirty="0">
              <a:solidFill>
                <a:srgbClr val="5C5C5C"/>
              </a:solidFill>
              <a:highlight>
                <a:srgbClr val="F8F8F8"/>
              </a:highlight>
              <a:latin typeface="Consolas" panose="020B0609020204030204" pitchFamily="49" charset="0"/>
            </a:endParaRPr>
          </a:p>
        </p:txBody>
      </p:sp>
      <p:sp>
        <p:nvSpPr>
          <p:cNvPr id="10" name="Rectangle 4"/>
          <p:cNvSpPr>
            <a:spLocks noChangeArrowheads="1"/>
          </p:cNvSpPr>
          <p:nvPr/>
        </p:nvSpPr>
        <p:spPr bwMode="auto">
          <a:xfrm>
            <a:off x="695400" y="332656"/>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latin typeface="微软雅黑" charset="-122"/>
                <a:ea typeface="微软雅黑" charset="-122"/>
              </a:rPr>
              <a:t>算法复杂性分析的度量</a:t>
            </a:r>
          </a:p>
        </p:txBody>
      </p:sp>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20</a:t>
            </a:fld>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07568" y="1844824"/>
            <a:ext cx="3744416" cy="2308324"/>
          </a:xfrm>
          <a:prstGeom prst="rect">
            <a:avLst/>
          </a:prstGeom>
          <a:noFill/>
        </p:spPr>
        <p:txBody>
          <a:bodyPr wrap="square">
            <a:spAutoFit/>
          </a:bodyPr>
          <a:lstStyle/>
          <a:p>
            <a:pPr algn="l">
              <a:buFont typeface="+mj-lt"/>
              <a:buAutoNum type="arabicPeriod"/>
            </a:pPr>
            <a:r>
              <a:rPr lang="nn-NO" altLang="zh-CN" b="1" dirty="0">
                <a:solidFill>
                  <a:srgbClr val="006699"/>
                </a:solidFill>
                <a:highlight>
                  <a:srgbClr val="FFFFFF"/>
                </a:highlight>
                <a:latin typeface="Consolas" panose="020B0609020204030204" pitchFamily="49" charset="0"/>
              </a:rPr>
              <a:t>for</a:t>
            </a:r>
            <a:r>
              <a:rPr lang="nn-NO" altLang="zh-CN" dirty="0">
                <a:solidFill>
                  <a:srgbClr val="000000"/>
                </a:solidFill>
                <a:highlight>
                  <a:srgbClr val="FFFFFF"/>
                </a:highlight>
                <a:latin typeface="Consolas" panose="020B0609020204030204" pitchFamily="49" charset="0"/>
              </a:rPr>
              <a:t>(x=1; i&lt;=n; x++)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a:t>
            </a:r>
            <a:r>
              <a:rPr lang="nn-NO" altLang="zh-CN" b="1" dirty="0">
                <a:solidFill>
                  <a:srgbClr val="006699"/>
                </a:solidFill>
                <a:highlight>
                  <a:srgbClr val="FFFFFF"/>
                </a:highlight>
                <a:latin typeface="Consolas" panose="020B0609020204030204" pitchFamily="49" charset="0"/>
              </a:rPr>
              <a:t>for</a:t>
            </a:r>
            <a:r>
              <a:rPr lang="nn-NO" altLang="zh-CN" dirty="0">
                <a:solidFill>
                  <a:srgbClr val="000000"/>
                </a:solidFill>
                <a:highlight>
                  <a:srgbClr val="FFFFFF"/>
                </a:highlight>
                <a:latin typeface="Consolas" panose="020B0609020204030204" pitchFamily="49" charset="0"/>
              </a:rPr>
              <a:t>(i=1; i&lt;=n; i++)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j = i;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j++;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a:t>
            </a:r>
            <a:endParaRPr lang="nn-NO" altLang="zh-CN" dirty="0">
              <a:solidFill>
                <a:srgbClr val="5C5C5C"/>
              </a:solidFill>
              <a:highlight>
                <a:srgbClr val="F8F8F8"/>
              </a:highlight>
              <a:latin typeface="Consolas" panose="020B0609020204030204" pitchFamily="49" charset="0"/>
            </a:endParaRPr>
          </a:p>
        </p:txBody>
      </p:sp>
      <mc:AlternateContent xmlns:mc="http://schemas.openxmlformats.org/markup-compatibility/2006" xmlns:a14="http://schemas.microsoft.com/office/drawing/2010/main">
        <mc:Choice Requires="a14">
          <p:sp>
            <p:nvSpPr>
              <p:cNvPr id="4" name="文本框 3"/>
              <p:cNvSpPr txBox="1"/>
              <p:nvPr/>
            </p:nvSpPr>
            <p:spPr>
              <a:xfrm>
                <a:off x="2175506" y="1124745"/>
                <a:ext cx="5043412" cy="404983"/>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sSup>
                          <m:sSupPr>
                            <m:ctrlPr>
                              <a:rPr lang="en-US" altLang="zh-CN" i="1" dirty="0">
                                <a:latin typeface="Cambria Math" panose="02040503050406030204" pitchFamily="18" charset="0"/>
                                <a:sym typeface="Symbol" panose="05050102010706020507" pitchFamily="18" charset="2"/>
                              </a:rPr>
                            </m:ctrlPr>
                          </m:sSupPr>
                          <m:e>
                            <m:r>
                              <m:rPr>
                                <m:sty m:val="p"/>
                              </m:rPr>
                              <a:rPr lang="en-US" altLang="zh-CN" dirty="0">
                                <a:latin typeface="Cambria Math" panose="02040503050406030204" pitchFamily="18" charset="0"/>
                                <a:sym typeface="Symbol" panose="05050102010706020507" pitchFamily="18" charset="2"/>
                              </a:rPr>
                              <m:t>n</m:t>
                            </m:r>
                          </m:e>
                          <m:sup>
                            <m:r>
                              <a:rPr lang="en-US" altLang="zh-CN" dirty="0">
                                <a:latin typeface="Cambria Math" panose="02040503050406030204" pitchFamily="18" charset="0"/>
                                <a:sym typeface="Symbol" panose="05050102010706020507" pitchFamily="18" charset="2"/>
                              </a:rPr>
                              <m:t>2</m:t>
                            </m:r>
                          </m:sup>
                        </m:sSup>
                      </m:e>
                    </m:d>
                  </m:oMath>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2175506" y="1124745"/>
                <a:ext cx="5043412" cy="404983"/>
              </a:xfrm>
              <a:prstGeom prst="rect">
                <a:avLst/>
              </a:prstGeom>
              <a:blipFill rotWithShape="1">
                <a:blip r:embed="rId2"/>
                <a:stretch>
                  <a:fillRect l="-13" t="-40" r="5" b="3"/>
                </a:stretch>
              </a:blipFill>
            </p:spPr>
            <p:txBody>
              <a:bodyPr/>
              <a:lstStyle/>
              <a:p>
                <a:r>
                  <a:rPr lang="zh-CN" altLang="en-US">
                    <a:noFill/>
                  </a:rPr>
                  <a:t> </a:t>
                </a:r>
              </a:p>
            </p:txBody>
          </p:sp>
        </mc:Fallback>
      </mc:AlternateContent>
      <p:sp>
        <p:nvSpPr>
          <p:cNvPr id="5" name="Rectangle 4"/>
          <p:cNvSpPr>
            <a:spLocks noChangeArrowheads="1"/>
          </p:cNvSpPr>
          <p:nvPr/>
        </p:nvSpPr>
        <p:spPr bwMode="auto">
          <a:xfrm>
            <a:off x="695400" y="260648"/>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latin typeface="微软雅黑" charset="-122"/>
                <a:ea typeface="微软雅黑" charset="-122"/>
              </a:rPr>
              <a:t>算法复杂性分析的度量</a:t>
            </a:r>
          </a:p>
        </p:txBody>
      </p:sp>
      <mc:AlternateContent xmlns:mc="http://schemas.openxmlformats.org/markup-compatibility/2006" xmlns:a14="http://schemas.microsoft.com/office/drawing/2010/main">
        <mc:Choice Requires="a14">
          <p:sp>
            <p:nvSpPr>
              <p:cNvPr id="6" name="文本框 5"/>
              <p:cNvSpPr txBox="1"/>
              <p:nvPr/>
            </p:nvSpPr>
            <p:spPr>
              <a:xfrm>
                <a:off x="7720122" y="1517920"/>
                <a:ext cx="5043412" cy="369332"/>
              </a:xfrm>
              <a:prstGeom prst="rect">
                <a:avLst/>
              </a:prstGeom>
              <a:noFill/>
            </p:spPr>
            <p:txBody>
              <a:bodyPr wrap="square">
                <a:spAutoFit/>
              </a:bodyPr>
              <a:lstStyle/>
              <a:p>
                <a:r>
                  <a:rPr lang="zh-CN" altLang="en-US" dirty="0"/>
                  <a:t>空间复杂度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a:rPr lang="en-US" altLang="zh-CN" i="1" dirty="0">
                            <a:latin typeface="Cambria Math" panose="02040503050406030204" pitchFamily="18" charset="0"/>
                            <a:sym typeface="Symbol" panose="05050102010706020507" pitchFamily="18" charset="2"/>
                          </a:rPr>
                          <m:t>1</m:t>
                        </m:r>
                      </m:e>
                    </m:d>
                  </m:oMath>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7720122" y="1517920"/>
                <a:ext cx="5043412" cy="369332"/>
              </a:xfrm>
              <a:prstGeom prst="rect">
                <a:avLst/>
              </a:prstGeom>
              <a:blipFill rotWithShape="1">
                <a:blip r:embed="rId3"/>
                <a:stretch>
                  <a:fillRect l="-8" t="-73" r="1" b="9"/>
                </a:stretch>
              </a:blipFill>
            </p:spPr>
            <p:txBody>
              <a:bodyPr/>
              <a:lstStyle/>
              <a:p>
                <a:r>
                  <a:rPr lang="zh-CN" altLang="en-US">
                    <a:noFill/>
                  </a:rPr>
                  <a:t> </a:t>
                </a:r>
              </a:p>
            </p:txBody>
          </p:sp>
        </mc:Fallback>
      </mc:AlternateContent>
      <p:sp>
        <p:nvSpPr>
          <p:cNvPr id="7" name="文本框 6"/>
          <p:cNvSpPr txBox="1"/>
          <p:nvPr/>
        </p:nvSpPr>
        <p:spPr>
          <a:xfrm>
            <a:off x="7827044" y="2044298"/>
            <a:ext cx="3309516" cy="2168525"/>
          </a:xfrm>
          <a:prstGeom prst="rect">
            <a:avLst/>
          </a:prstGeom>
          <a:noFill/>
        </p:spPr>
        <p:txBody>
          <a:bodyPr wrap="square">
            <a:spAutoFit/>
          </a:bodyPr>
          <a:lstStyle/>
          <a:p>
            <a:pPr algn="l">
              <a:lnSpc>
                <a:spcPct val="150000"/>
              </a:lnSpc>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1;  </a:t>
            </a:r>
            <a:endParaRPr lang="en-US"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Times New Roman Regular" panose="02020503050405090304" charset="0"/>
                <a:cs typeface="Times New Roman Regular" panose="02020503050405090304" charset="0"/>
                <a:sym typeface="+mn-ea"/>
              </a:rPr>
              <a:t>j</a:t>
            </a:r>
            <a:r>
              <a:rPr lang="en-US" altLang="zh-CN" dirty="0">
                <a:solidFill>
                  <a:srgbClr val="000000"/>
                </a:solidFill>
                <a:highlight>
                  <a:srgbClr val="F8F8F8"/>
                </a:highlight>
                <a:latin typeface="Consolas" panose="020B0609020204030204" pitchFamily="49" charset="0"/>
              </a:rPr>
              <a:t>= 2;  </a:t>
            </a:r>
            <a:endParaRPr lang="en-US"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lnSpc>
                <a:spcPct val="150000"/>
              </a:lnSpc>
              <a:buFont typeface="+mj-lt"/>
              <a:buAutoNum type="arabicPeriod"/>
            </a:pPr>
            <a:r>
              <a:rPr lang="en-US" altLang="zh-CN" dirty="0">
                <a:solidFill>
                  <a:srgbClr val="000000"/>
                </a:solidFill>
                <a:highlight>
                  <a:srgbClr val="FFFFFF"/>
                </a:highlight>
                <a:latin typeface="Consolas" panose="020B0609020204030204" pitchFamily="49" charset="0"/>
                <a:sym typeface="+mn-ea"/>
              </a:rPr>
              <a:t>j</a:t>
            </a:r>
            <a:r>
              <a:rPr lang="en-US" altLang="zh-CN" dirty="0" err="1">
                <a:solidFill>
                  <a:srgbClr val="000000"/>
                </a:solidFill>
                <a:highlight>
                  <a:srgbClr val="F8F8F8"/>
                </a:highlight>
                <a:latin typeface="Consolas" panose="020B0609020204030204" pitchFamily="49" charset="0"/>
              </a:rPr>
              <a:t>++</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lnSpc>
                <a:spcPct val="150000"/>
              </a:lnSpc>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m =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j;  </a:t>
            </a:r>
            <a:endParaRPr lang="en-US" altLang="zh-CN" dirty="0">
              <a:solidFill>
                <a:srgbClr val="5C5C5C"/>
              </a:solidFill>
              <a:highlight>
                <a:srgbClr val="FFFFFF"/>
              </a:highlight>
              <a:latin typeface="Consolas" panose="020B0609020204030204" pitchFamily="49" charset="0"/>
            </a:endParaRPr>
          </a:p>
        </p:txBody>
      </p:sp>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21</a:t>
            </a:fld>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839416" y="332656"/>
            <a:ext cx="42883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rgbClr val="1A9EE9"/>
                </a:solidFill>
                <a:latin typeface="微软雅黑" charset="-122"/>
                <a:ea typeface="微软雅黑" charset="-122"/>
              </a:rPr>
              <a:t>算法复杂性分析的度量</a:t>
            </a:r>
          </a:p>
        </p:txBody>
      </p:sp>
      <mc:AlternateContent xmlns:mc="http://schemas.openxmlformats.org/markup-compatibility/2006" xmlns:a14="http://schemas.microsoft.com/office/drawing/2010/main">
        <mc:Choice Requires="a14">
          <p:sp>
            <p:nvSpPr>
              <p:cNvPr id="6" name="文本框 5"/>
              <p:cNvSpPr txBox="1"/>
              <p:nvPr/>
            </p:nvSpPr>
            <p:spPr>
              <a:xfrm>
                <a:off x="2999656" y="1764684"/>
                <a:ext cx="5043412" cy="369332"/>
              </a:xfrm>
              <a:prstGeom prst="rect">
                <a:avLst/>
              </a:prstGeom>
              <a:noFill/>
            </p:spPr>
            <p:txBody>
              <a:bodyPr wrap="square">
                <a:spAutoFit/>
              </a:bodyPr>
              <a:lstStyle/>
              <a:p>
                <a:r>
                  <a:rPr lang="zh-CN" altLang="en-US" dirty="0"/>
                  <a:t>空间复杂度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m:rPr>
                            <m:sty m:val="p"/>
                          </m:rPr>
                          <a:rPr lang="en-US" altLang="zh-CN" i="1" dirty="0">
                            <a:latin typeface="Cambria Math" panose="02040503050406030204" pitchFamily="18" charset="0"/>
                            <a:sym typeface="Symbol" panose="05050102010706020507" pitchFamily="18" charset="2"/>
                          </a:rPr>
                          <m:t>n</m:t>
                        </m:r>
                      </m:e>
                    </m:d>
                  </m:oMath>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2999656" y="1764684"/>
                <a:ext cx="5043412" cy="369332"/>
              </a:xfrm>
              <a:prstGeom prst="rect">
                <a:avLst/>
              </a:prstGeom>
              <a:blipFill rotWithShape="1">
                <a:blip r:embed="rId2"/>
                <a:stretch>
                  <a:fillRect l="-11" t="-5" r="3" b="113"/>
                </a:stretch>
              </a:blipFill>
            </p:spPr>
            <p:txBody>
              <a:bodyPr/>
              <a:lstStyle/>
              <a:p>
                <a:r>
                  <a:rPr lang="zh-CN" altLang="en-US">
                    <a:noFill/>
                  </a:rPr>
                  <a:t> </a:t>
                </a:r>
              </a:p>
            </p:txBody>
          </p:sp>
        </mc:Fallback>
      </mc:AlternateContent>
      <p:sp>
        <p:nvSpPr>
          <p:cNvPr id="10" name="文本框 9"/>
          <p:cNvSpPr txBox="1"/>
          <p:nvPr/>
        </p:nvSpPr>
        <p:spPr>
          <a:xfrm>
            <a:off x="3287688" y="2413337"/>
            <a:ext cx="5043412" cy="2031325"/>
          </a:xfrm>
          <a:prstGeom prst="rect">
            <a:avLst/>
          </a:prstGeom>
          <a:noFill/>
        </p:spPr>
        <p:txBody>
          <a:bodyPr wrap="square">
            <a:spAutoFit/>
          </a:bodyPr>
          <a:lstStyle/>
          <a:p>
            <a:pPr algn="l">
              <a:buFont typeface="+mj-lt"/>
              <a:buAutoNum type="arabicPeriod"/>
            </a:pPr>
            <a:r>
              <a:rPr lang="en-US" altLang="zh-CN" b="1" dirty="0">
                <a:solidFill>
                  <a:srgbClr val="006699"/>
                </a:solidFill>
                <a:highlight>
                  <a:srgbClr val="FFFFFF"/>
                </a:highlight>
                <a:latin typeface="Consolas" panose="020B0609020204030204" pitchFamily="49" charset="0"/>
              </a:rPr>
              <a:t>const</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 100;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m[n];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&lt;=n;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j =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j++</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2" name="灯片编号占位符 1"/>
          <p:cNvSpPr>
            <a:spLocks noGrp="1"/>
          </p:cNvSpPr>
          <p:nvPr>
            <p:ph type="sldNum" sz="quarter" idx="12"/>
          </p:nvPr>
        </p:nvSpPr>
        <p:spPr/>
        <p:txBody>
          <a:bodyPr/>
          <a:lstStyle/>
          <a:p>
            <a:pPr>
              <a:defRPr/>
            </a:pPr>
            <a:fld id="{E6B3DE21-AFB9-F14F-B875-13235536560E}" type="slidenum">
              <a:rPr lang="en-US" altLang="zh-CN" smtClean="0"/>
              <a:t>22</a:t>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9"/>
          <p:cNvSpPr txBox="1">
            <a:spLocks noChangeArrowheads="1"/>
          </p:cNvSpPr>
          <p:nvPr/>
        </p:nvSpPr>
        <p:spPr bwMode="auto">
          <a:xfrm>
            <a:off x="4639734" y="1133125"/>
            <a:ext cx="2712156" cy="60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2755900" algn="l"/>
              </a:tabLst>
              <a:defRPr>
                <a:solidFill>
                  <a:schemeClr val="tx1"/>
                </a:solidFill>
                <a:latin typeface="Calibri" panose="020F0502020204030204" pitchFamily="34" charset="0"/>
                <a:ea typeface="宋体" pitchFamily="2" charset="-122"/>
                <a:cs typeface="宋体" pitchFamily="2" charset="-122"/>
              </a:defRPr>
            </a:lvl1pPr>
            <a:lvl2pPr marL="742950" indent="-285750">
              <a:tabLst>
                <a:tab pos="2755900" algn="l"/>
              </a:tabLst>
              <a:defRPr>
                <a:solidFill>
                  <a:schemeClr val="tx1"/>
                </a:solidFill>
                <a:latin typeface="Calibri" panose="020F0502020204030204" pitchFamily="34" charset="0"/>
                <a:ea typeface="宋体" pitchFamily="2" charset="-122"/>
              </a:defRPr>
            </a:lvl2pPr>
            <a:lvl3pPr marL="1143000" indent="-228600">
              <a:tabLst>
                <a:tab pos="2755900" algn="l"/>
              </a:tabLst>
              <a:defRPr>
                <a:solidFill>
                  <a:schemeClr val="tx1"/>
                </a:solidFill>
                <a:latin typeface="Calibri" panose="020F0502020204030204" pitchFamily="34" charset="0"/>
                <a:ea typeface="宋体" pitchFamily="2" charset="-122"/>
              </a:defRPr>
            </a:lvl3pPr>
            <a:lvl4pPr marL="1600200" indent="-228600">
              <a:tabLst>
                <a:tab pos="2755900" algn="l"/>
              </a:tabLst>
              <a:defRPr>
                <a:solidFill>
                  <a:schemeClr val="tx1"/>
                </a:solidFill>
                <a:latin typeface="Calibri" panose="020F0502020204030204" pitchFamily="34" charset="0"/>
                <a:ea typeface="宋体" pitchFamily="2" charset="-122"/>
              </a:defRPr>
            </a:lvl4pPr>
            <a:lvl5pPr marL="2057400" indent="-228600">
              <a:tabLst>
                <a:tab pos="2755900" algn="l"/>
              </a:tabLst>
              <a:defRPr>
                <a:solidFill>
                  <a:schemeClr val="tx1"/>
                </a:solidFill>
                <a:latin typeface="Calibri" panose="020F0502020204030204" pitchFamily="34" charset="0"/>
                <a:ea typeface="宋体" pitchFamily="2" charset="-122"/>
              </a:defRPr>
            </a:lvl5pPr>
            <a:lvl6pPr marL="25146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6pPr>
            <a:lvl7pPr marL="29718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7pPr>
            <a:lvl8pPr marL="34290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8pPr>
            <a:lvl9pPr marL="38862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9pPr>
          </a:lstStyle>
          <a:p>
            <a:pPr eaLnBrk="1" hangingPunct="1">
              <a:defRPr/>
            </a:pPr>
            <a:r>
              <a:rPr lang="zh-CN" altLang="en-US" sz="3910" b="1" dirty="0">
                <a:solidFill>
                  <a:srgbClr val="1F497D">
                    <a:lumMod val="60000"/>
                    <a:lumOff val="40000"/>
                  </a:srgbClr>
                </a:solidFill>
                <a:latin typeface="+mn-lt"/>
                <a:ea typeface="+mn-ea"/>
                <a:cs typeface="+mn-ea"/>
                <a:sym typeface="+mn-lt"/>
              </a:rPr>
              <a:t>本讲内容</a:t>
            </a:r>
          </a:p>
        </p:txBody>
      </p:sp>
      <p:sp>
        <p:nvSpPr>
          <p:cNvPr id="73734" name="TextBox 1"/>
          <p:cNvSpPr txBox="1">
            <a:spLocks noChangeArrowheads="1"/>
          </p:cNvSpPr>
          <p:nvPr/>
        </p:nvSpPr>
        <p:spPr bwMode="auto">
          <a:xfrm>
            <a:off x="2686756" y="2321278"/>
            <a:ext cx="7121878" cy="300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lvl="1">
              <a:spcBef>
                <a:spcPct val="0"/>
              </a:spcBef>
              <a:buFontTx/>
              <a:buNone/>
            </a:pPr>
            <a:r>
              <a:rPr lang="en-US" altLang="zh-CN" sz="3910" dirty="0">
                <a:solidFill>
                  <a:srgbClr val="000000"/>
                </a:solidFill>
                <a:latin typeface="+mn-lt"/>
                <a:ea typeface="+mn-ea"/>
                <a:cs typeface="+mn-ea"/>
                <a:sym typeface="+mn-lt"/>
              </a:rPr>
              <a:t>12.1 </a:t>
            </a:r>
            <a:r>
              <a:rPr lang="zh-CN" altLang="zh-CN" sz="3910" dirty="0">
                <a:solidFill>
                  <a:srgbClr val="000000"/>
                </a:solidFill>
                <a:latin typeface="+mn-lt"/>
                <a:ea typeface="+mn-ea"/>
                <a:cs typeface="+mn-ea"/>
                <a:sym typeface="+mn-lt"/>
              </a:rPr>
              <a:t>什么是算法？</a:t>
            </a:r>
          </a:p>
          <a:p>
            <a:pPr lvl="1">
              <a:spcBef>
                <a:spcPct val="0"/>
              </a:spcBef>
              <a:buFontTx/>
              <a:buNone/>
            </a:pPr>
            <a:r>
              <a:rPr lang="en-US" altLang="zh-CN" sz="3910" dirty="0">
                <a:solidFill>
                  <a:srgbClr val="000000"/>
                </a:solidFill>
                <a:latin typeface="+mn-lt"/>
                <a:ea typeface="+mn-ea"/>
                <a:cs typeface="+mn-ea"/>
                <a:sym typeface="+mn-lt"/>
              </a:rPr>
              <a:t>12.2 </a:t>
            </a:r>
            <a:r>
              <a:rPr lang="zh-CN" altLang="zh-CN" sz="3910" dirty="0">
                <a:solidFill>
                  <a:srgbClr val="000000"/>
                </a:solidFill>
                <a:latin typeface="+mn-lt"/>
                <a:ea typeface="+mn-ea"/>
                <a:cs typeface="+mn-ea"/>
                <a:sym typeface="+mn-lt"/>
              </a:rPr>
              <a:t>算法分析</a:t>
            </a:r>
          </a:p>
          <a:p>
            <a:pPr lvl="1">
              <a:spcBef>
                <a:spcPct val="0"/>
              </a:spcBef>
              <a:buFontTx/>
              <a:buNone/>
            </a:pPr>
            <a:r>
              <a:rPr lang="en-US" altLang="zh-CN" sz="3910" b="1" dirty="0">
                <a:solidFill>
                  <a:srgbClr val="000000"/>
                </a:solidFill>
                <a:latin typeface="+mn-lt"/>
                <a:ea typeface="+mn-ea"/>
                <a:cs typeface="+mn-ea"/>
                <a:sym typeface="+mn-lt"/>
              </a:rPr>
              <a:t>12.3 </a:t>
            </a:r>
            <a:r>
              <a:rPr lang="zh-CN" altLang="en-US" sz="3910" b="1" dirty="0">
                <a:solidFill>
                  <a:srgbClr val="000000"/>
                </a:solidFill>
                <a:latin typeface="+mn-lt"/>
                <a:ea typeface="+mn-ea"/>
                <a:cs typeface="+mn-ea"/>
                <a:sym typeface="+mn-lt"/>
              </a:rPr>
              <a:t>应用举例：查找算法</a:t>
            </a:r>
            <a:endParaRPr lang="en-US" altLang="zh-CN" sz="3910" b="1" dirty="0">
              <a:solidFill>
                <a:srgbClr val="000000"/>
              </a:solidFill>
              <a:latin typeface="+mn-lt"/>
              <a:ea typeface="+mn-ea"/>
              <a:cs typeface="+mn-ea"/>
              <a:sym typeface="+mn-lt"/>
            </a:endParaRPr>
          </a:p>
          <a:p>
            <a:pPr lvl="1">
              <a:spcBef>
                <a:spcPct val="0"/>
              </a:spcBef>
              <a:buFontTx/>
              <a:buNone/>
            </a:pPr>
            <a:r>
              <a:rPr lang="en-US" altLang="zh-CN" sz="3910" dirty="0">
                <a:solidFill>
                  <a:srgbClr val="000000"/>
                </a:solidFill>
                <a:latin typeface="+mn-lt"/>
                <a:ea typeface="+mn-ea"/>
                <a:cs typeface="+mn-ea"/>
                <a:sym typeface="+mn-lt"/>
              </a:rPr>
              <a:t>12.4 </a:t>
            </a:r>
            <a:r>
              <a:rPr lang="zh-CN" altLang="en-US" sz="3910" dirty="0">
                <a:solidFill>
                  <a:srgbClr val="000000"/>
                </a:solidFill>
                <a:latin typeface="+mn-lt"/>
                <a:ea typeface="+mn-ea"/>
                <a:cs typeface="+mn-ea"/>
                <a:sym typeface="+mn-lt"/>
              </a:rPr>
              <a:t>应用举例：数组修改</a:t>
            </a:r>
            <a:endParaRPr lang="zh-CN" altLang="zh-CN" sz="3910"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90" dirty="0">
              <a:solidFill>
                <a:srgbClr val="1A9EE9"/>
              </a:solidFill>
              <a:latin typeface="+mn-lt"/>
              <a:ea typeface="+mn-ea"/>
              <a:cs typeface="+mn-ea"/>
              <a:sym typeface="+mn-lt"/>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479376" y="176211"/>
            <a:ext cx="8915400" cy="1143000"/>
          </a:xfrm>
        </p:spPr>
        <p:txBody>
          <a:bodyPr/>
          <a:lstStyle/>
          <a:p>
            <a:r>
              <a:rPr lang="zh-CN" altLang="en-US" dirty="0"/>
              <a:t>例</a:t>
            </a:r>
            <a:r>
              <a:rPr lang="en-US" altLang="zh-CN" dirty="0"/>
              <a:t>1</a:t>
            </a:r>
            <a:r>
              <a:rPr lang="zh-CN" altLang="en-US" dirty="0"/>
              <a:t>：一维数组的元素查找</a:t>
            </a:r>
          </a:p>
        </p:txBody>
      </p:sp>
      <p:sp>
        <p:nvSpPr>
          <p:cNvPr id="58371" name="Rectangle 3"/>
          <p:cNvSpPr>
            <a:spLocks noGrp="1" noChangeArrowheads="1"/>
          </p:cNvSpPr>
          <p:nvPr>
            <p:ph idx="1"/>
          </p:nvPr>
        </p:nvSpPr>
        <p:spPr>
          <a:xfrm>
            <a:off x="1199456" y="1440117"/>
            <a:ext cx="8915400" cy="4686300"/>
          </a:xfrm>
        </p:spPr>
        <p:txBody>
          <a:bodyPr/>
          <a:lstStyle/>
          <a:p>
            <a:pPr eaLnBrk="1">
              <a:lnSpc>
                <a:spcPct val="135000"/>
              </a:lnSpc>
            </a:pPr>
            <a:r>
              <a:rPr lang="zh-CN" altLang="en-US" sz="3600" dirty="0"/>
              <a:t>查找（</a:t>
            </a:r>
            <a:r>
              <a:rPr lang="en-US" altLang="zh-CN" sz="3600" dirty="0">
                <a:latin typeface="Arial" panose="020B0604020202090204" pitchFamily="34" charset="0"/>
                <a:cs typeface="Arial" panose="020B0604020202090204" pitchFamily="34" charset="0"/>
              </a:rPr>
              <a:t>Search</a:t>
            </a:r>
            <a:r>
              <a:rPr lang="zh-CN" altLang="en-US" sz="3600" dirty="0">
                <a:latin typeface="Arial" panose="020B0604020202090204" pitchFamily="34" charset="0"/>
                <a:cs typeface="Arial" panose="020B0604020202090204" pitchFamily="34" charset="0"/>
              </a:rPr>
              <a:t>）算法</a:t>
            </a:r>
            <a:endParaRPr lang="en-US" altLang="zh-CN" sz="3600" dirty="0">
              <a:latin typeface="Arial" panose="020B0604020202090204" pitchFamily="34" charset="0"/>
              <a:cs typeface="Arial" panose="020B0604020202090204" pitchFamily="34" charset="0"/>
            </a:endParaRPr>
          </a:p>
          <a:p>
            <a:pPr lvl="1" eaLnBrk="1">
              <a:lnSpc>
                <a:spcPct val="135000"/>
              </a:lnSpc>
            </a:pPr>
            <a:r>
              <a:rPr lang="zh-CN" altLang="en-US" sz="3200" dirty="0">
                <a:latin typeface="Arial" panose="020B0604020202090204" pitchFamily="34" charset="0"/>
                <a:ea typeface="黑体" panose="02010609060101010101" pitchFamily="49" charset="-122"/>
                <a:cs typeface="Arial" panose="020B0604020202090204" pitchFamily="34" charset="0"/>
              </a:rPr>
              <a:t>顺序查找，也称线性查找（</a:t>
            </a:r>
            <a:r>
              <a:rPr lang="en-US" altLang="zh-CN" sz="3200" dirty="0">
                <a:latin typeface="Arial" panose="020B0604020202090204" pitchFamily="34" charset="0"/>
                <a:ea typeface="黑体" panose="02010609060101010101" pitchFamily="49" charset="-122"/>
                <a:cs typeface="Arial" panose="020B0604020202090204" pitchFamily="34" charset="0"/>
              </a:rPr>
              <a:t>Linear Search</a:t>
            </a:r>
            <a:r>
              <a:rPr lang="zh-CN" altLang="en-US" sz="3200" dirty="0">
                <a:latin typeface="Arial" panose="020B0604020202090204" pitchFamily="34" charset="0"/>
                <a:ea typeface="黑体" panose="02010609060101010101" pitchFamily="49" charset="-122"/>
                <a:cs typeface="Arial" panose="020B0604020202090204" pitchFamily="34" charset="0"/>
              </a:rPr>
              <a:t>）</a:t>
            </a:r>
          </a:p>
          <a:p>
            <a:pPr lvl="1" eaLnBrk="1">
              <a:lnSpc>
                <a:spcPct val="135000"/>
              </a:lnSpc>
            </a:pPr>
            <a:r>
              <a:rPr lang="zh-CN" altLang="en-US" sz="3200" dirty="0">
                <a:latin typeface="Arial" panose="020B0604020202090204" pitchFamily="34" charset="0"/>
                <a:ea typeface="黑体" panose="02010609060101010101" pitchFamily="49" charset="-122"/>
                <a:cs typeface="Arial" panose="020B0604020202090204" pitchFamily="34" charset="0"/>
              </a:rPr>
              <a:t>折半查找，也称对分搜索（</a:t>
            </a:r>
            <a:r>
              <a:rPr lang="en-US" altLang="zh-CN" sz="3200" dirty="0">
                <a:latin typeface="Arial" panose="020B0604020202090204" pitchFamily="34" charset="0"/>
                <a:ea typeface="黑体" panose="02010609060101010101" pitchFamily="49" charset="-122"/>
                <a:cs typeface="Arial" panose="020B0604020202090204" pitchFamily="34" charset="0"/>
              </a:rPr>
              <a:t>Binary Search</a:t>
            </a:r>
            <a:r>
              <a:rPr lang="zh-CN" altLang="en-US" sz="3200" dirty="0">
                <a:latin typeface="Arial" panose="020B0604020202090204" pitchFamily="34" charset="0"/>
                <a:ea typeface="黑体" panose="02010609060101010101" pitchFamily="49" charset="-122"/>
                <a:cs typeface="Arial" panose="020B0604020202090204" pitchFamily="34" charset="0"/>
              </a:rPr>
              <a:t>）</a:t>
            </a:r>
          </a:p>
        </p:txBody>
      </p:sp>
      <p:pic>
        <p:nvPicPr>
          <p:cNvPr id="82947" name="图片 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51089" y="4005264"/>
            <a:ext cx="1824037"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6226" y="4365626"/>
            <a:ext cx="2881313"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24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wipe(left)">
                                      <p:cBhvr>
                                        <p:cTn id="12" dur="5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wipe(left)">
                                      <p:cBhvr>
                                        <p:cTn id="17" dur="500"/>
                                        <p:tgtEl>
                                          <p:spTgt spid="583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p:nvPr>
        </p:nvSpPr>
        <p:spPr>
          <a:xfrm>
            <a:off x="551934" y="224787"/>
            <a:ext cx="8447087" cy="503238"/>
          </a:xfrm>
        </p:spPr>
        <p:txBody>
          <a:bodyPr>
            <a:normAutofit fontScale="90000"/>
          </a:bodyPr>
          <a:lstStyle/>
          <a:p>
            <a:pPr eaLnBrk="1" hangingPunct="1"/>
            <a:r>
              <a:rPr lang="zh-CN" altLang="en-US" sz="4000" dirty="0">
                <a:ea typeface="黑体" panose="02010609060101010101" pitchFamily="49" charset="-122"/>
              </a:rPr>
              <a:t>顺序查找原理</a:t>
            </a:r>
            <a:endParaRPr lang="en-US" altLang="zh-CN" sz="4000" dirty="0">
              <a:ea typeface="黑体" panose="02010609060101010101" pitchFamily="49" charset="-122"/>
            </a:endParaRPr>
          </a:p>
        </p:txBody>
      </p:sp>
      <p:graphicFrame>
        <p:nvGraphicFramePr>
          <p:cNvPr id="385027" name="Group 3"/>
          <p:cNvGraphicFramePr>
            <a:graphicFrameLocks noGrp="1"/>
          </p:cNvGraphicFramePr>
          <p:nvPr/>
        </p:nvGraphicFramePr>
        <p:xfrm>
          <a:off x="3184525" y="1662113"/>
          <a:ext cx="4622800" cy="4572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47" name="Group 23"/>
          <p:cNvGraphicFramePr>
            <a:graphicFrameLocks noGrp="1"/>
          </p:cNvGraphicFramePr>
          <p:nvPr/>
        </p:nvGraphicFramePr>
        <p:xfrm>
          <a:off x="3184525" y="24082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67" name="Group 43"/>
          <p:cNvGraphicFramePr>
            <a:graphicFrameLocks noGrp="1"/>
          </p:cNvGraphicFramePr>
          <p:nvPr/>
        </p:nvGraphicFramePr>
        <p:xfrm>
          <a:off x="3184525" y="31702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87" name="Group 63"/>
          <p:cNvGraphicFramePr>
            <a:graphicFrameLocks noGrp="1"/>
          </p:cNvGraphicFramePr>
          <p:nvPr/>
        </p:nvGraphicFramePr>
        <p:xfrm>
          <a:off x="3184525" y="48466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07" name="Group 83"/>
          <p:cNvGraphicFramePr>
            <a:graphicFrameLocks noGrp="1"/>
          </p:cNvGraphicFramePr>
          <p:nvPr/>
        </p:nvGraphicFramePr>
        <p:xfrm>
          <a:off x="3184525" y="56848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27" name="Group 103"/>
          <p:cNvGraphicFramePr>
            <a:graphicFrameLocks noGrp="1"/>
          </p:cNvGraphicFramePr>
          <p:nvPr/>
        </p:nvGraphicFramePr>
        <p:xfrm>
          <a:off x="3184525" y="40084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85147" name="Rectangle 123"/>
          <p:cNvSpPr>
            <a:spLocks noChangeArrowheads="1"/>
          </p:cNvSpPr>
          <p:nvPr/>
        </p:nvSpPr>
        <p:spPr bwMode="auto">
          <a:xfrm>
            <a:off x="2028825" y="1646238"/>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3</a:t>
            </a:r>
          </a:p>
        </p:txBody>
      </p:sp>
      <p:sp>
        <p:nvSpPr>
          <p:cNvPr id="385148" name="Rectangle 124"/>
          <p:cNvSpPr>
            <a:spLocks noChangeArrowheads="1"/>
          </p:cNvSpPr>
          <p:nvPr/>
        </p:nvSpPr>
        <p:spPr bwMode="auto">
          <a:xfrm>
            <a:off x="2028825" y="2408238"/>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3</a:t>
            </a:r>
          </a:p>
        </p:txBody>
      </p:sp>
      <p:sp>
        <p:nvSpPr>
          <p:cNvPr id="385149" name="Rectangle 125"/>
          <p:cNvSpPr>
            <a:spLocks noChangeArrowheads="1"/>
          </p:cNvSpPr>
          <p:nvPr/>
        </p:nvSpPr>
        <p:spPr bwMode="auto">
          <a:xfrm>
            <a:off x="2028825" y="3170238"/>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3</a:t>
            </a:r>
          </a:p>
        </p:txBody>
      </p:sp>
      <p:sp>
        <p:nvSpPr>
          <p:cNvPr id="385150" name="Rectangle 126"/>
          <p:cNvSpPr>
            <a:spLocks noChangeArrowheads="1"/>
          </p:cNvSpPr>
          <p:nvPr/>
        </p:nvSpPr>
        <p:spPr bwMode="auto">
          <a:xfrm>
            <a:off x="2028825" y="4008438"/>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3</a:t>
            </a:r>
          </a:p>
        </p:txBody>
      </p:sp>
      <p:sp>
        <p:nvSpPr>
          <p:cNvPr id="385151" name="Rectangle 127"/>
          <p:cNvSpPr>
            <a:spLocks noChangeArrowheads="1"/>
          </p:cNvSpPr>
          <p:nvPr/>
        </p:nvSpPr>
        <p:spPr bwMode="auto">
          <a:xfrm>
            <a:off x="2028825" y="4846638"/>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3</a:t>
            </a:r>
          </a:p>
        </p:txBody>
      </p:sp>
      <p:sp>
        <p:nvSpPr>
          <p:cNvPr id="385152" name="Rectangle 128"/>
          <p:cNvSpPr>
            <a:spLocks noChangeArrowheads="1"/>
          </p:cNvSpPr>
          <p:nvPr/>
        </p:nvSpPr>
        <p:spPr bwMode="auto">
          <a:xfrm>
            <a:off x="2028825" y="5684838"/>
            <a:ext cx="577850" cy="533400"/>
          </a:xfrm>
          <a:prstGeom prst="rect">
            <a:avLst/>
          </a:prstGeom>
          <a:solidFill>
            <a:srgbClr val="CCFF99"/>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3</a:t>
            </a:r>
          </a:p>
        </p:txBody>
      </p:sp>
      <p:sp>
        <p:nvSpPr>
          <p:cNvPr id="59521" name="Text Box 131"/>
          <p:cNvSpPr txBox="1">
            <a:spLocks noChangeArrowheads="1"/>
          </p:cNvSpPr>
          <p:nvPr/>
        </p:nvSpPr>
        <p:spPr bwMode="auto">
          <a:xfrm>
            <a:off x="1893889" y="1123950"/>
            <a:ext cx="1208087"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a:t>
            </a:r>
          </a:p>
        </p:txBody>
      </p:sp>
      <p:sp>
        <p:nvSpPr>
          <p:cNvPr id="59522" name="Text Box 132"/>
          <p:cNvSpPr txBox="1">
            <a:spLocks noChangeArrowheads="1"/>
          </p:cNvSpPr>
          <p:nvPr/>
        </p:nvSpPr>
        <p:spPr bwMode="auto">
          <a:xfrm>
            <a:off x="3600450" y="1123950"/>
            <a:ext cx="2413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List</a:t>
            </a:r>
          </a:p>
        </p:txBody>
      </p:sp>
      <p:sp>
        <p:nvSpPr>
          <p:cNvPr id="18" name="AutoShape 783"/>
          <p:cNvSpPr>
            <a:spLocks noChangeArrowheads="1"/>
          </p:cNvSpPr>
          <p:nvPr/>
        </p:nvSpPr>
        <p:spPr bwMode="auto">
          <a:xfrm>
            <a:off x="8210551" y="2420939"/>
            <a:ext cx="2709863" cy="1501775"/>
          </a:xfrm>
          <a:prstGeom prst="irregularSeal1">
            <a:avLst/>
          </a:prstGeom>
          <a:solidFill>
            <a:srgbClr val="AFDC7E"/>
          </a:solidFill>
          <a:ln w="9525" cap="sq">
            <a:solidFill>
              <a:srgbClr val="002060"/>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kumimoji="1" lang="zh-CN" altLang="en-US" sz="2400">
                <a:latin typeface="黑体" panose="02010609060101010101" pitchFamily="49" charset="-122"/>
                <a:ea typeface="黑体" panose="02010609060101010101" pitchFamily="49" charset="-122"/>
              </a:rPr>
              <a:t>哈，找到了！</a:t>
            </a:r>
          </a:p>
        </p:txBody>
      </p:sp>
      <p:grpSp>
        <p:nvGrpSpPr>
          <p:cNvPr id="2" name="Group 789"/>
          <p:cNvGrpSpPr/>
          <p:nvPr/>
        </p:nvGrpSpPr>
        <p:grpSpPr bwMode="auto">
          <a:xfrm>
            <a:off x="7799389" y="1643068"/>
            <a:ext cx="3221037" cy="557213"/>
            <a:chOff x="3630" y="3060"/>
            <a:chExt cx="1873" cy="351"/>
          </a:xfrm>
          <a:solidFill>
            <a:schemeClr val="bg2">
              <a:lumMod val="90000"/>
            </a:schemeClr>
          </a:solidFill>
        </p:grpSpPr>
        <p:sp>
          <p:nvSpPr>
            <p:cNvPr id="20" name="Line 786"/>
            <p:cNvSpPr>
              <a:spLocks noChangeShapeType="1"/>
            </p:cNvSpPr>
            <p:nvPr/>
          </p:nvSpPr>
          <p:spPr bwMode="auto">
            <a:xfrm flipH="1" flipV="1">
              <a:off x="3630" y="3105"/>
              <a:ext cx="270" cy="135"/>
            </a:xfrm>
            <a:prstGeom prst="line">
              <a:avLst/>
            </a:prstGeom>
            <a:grpFill/>
            <a:ln w="38100">
              <a:solidFill>
                <a:srgbClr val="00B050"/>
              </a:solidFill>
              <a:miter lim="800000"/>
              <a:tailEnd type="triangle" w="med" len="med"/>
            </a:ln>
            <a:effectLst/>
          </p:spPr>
          <p:txBody>
            <a:bodyPr wrap="none"/>
            <a:lstStyle/>
            <a:p>
              <a:pPr>
                <a:lnSpc>
                  <a:spcPct val="90000"/>
                </a:lnSpc>
                <a:spcAft>
                  <a:spcPts val="590"/>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54407" name="Text Box 787"/>
            <p:cNvSpPr txBox="1">
              <a:spLocks noChangeArrowheads="1"/>
            </p:cNvSpPr>
            <p:nvPr/>
          </p:nvSpPr>
          <p:spPr bwMode="auto">
            <a:xfrm>
              <a:off x="3906" y="3060"/>
              <a:ext cx="1597" cy="351"/>
            </a:xfrm>
            <a:prstGeom prst="rect">
              <a:avLst/>
            </a:prstGeom>
            <a:grpFill/>
            <a:ln w="25400">
              <a:solidFill>
                <a:srgbClr val="00B050"/>
              </a:solidFill>
              <a:miter lim="800000"/>
            </a:ln>
          </p:spPr>
          <p:txBody>
            <a:bodyPr>
              <a:spAutoFit/>
            </a:bodyPr>
            <a:lstStyle/>
            <a:p>
              <a:pPr algn="ctr">
                <a:lnSpc>
                  <a:spcPct val="125000"/>
                </a:lnSpc>
                <a:spcBef>
                  <a:spcPts val="590"/>
                </a:spcBef>
                <a:spcAft>
                  <a:spcPts val="590"/>
                </a:spcAft>
                <a:buClr>
                  <a:schemeClr val="tx2"/>
                </a:buClr>
                <a:buSzPct val="80000"/>
                <a:defRPr/>
              </a:pPr>
              <a:r>
                <a:rPr lang="zh-CN" altLang="en-US" sz="2800">
                  <a:solidFill>
                    <a:srgbClr val="000066"/>
                  </a:solidFill>
                  <a:latin typeface="黑体" panose="02010609060101010101" pitchFamily="49" charset="-122"/>
                  <a:ea typeface="黑体" panose="02010609060101010101" pitchFamily="49" charset="-122"/>
                </a:rPr>
                <a:t>事先不必排序</a:t>
              </a:r>
              <a:endParaRPr lang="en-US" altLang="zh-CN" sz="2800">
                <a:solidFill>
                  <a:srgbClr val="000066"/>
                </a:solidFill>
                <a:latin typeface="黑体" panose="02010609060101010101" pitchFamily="49" charset="-122"/>
                <a:ea typeface="黑体" panose="02010609060101010101" pitchFamily="49" charset="-122"/>
              </a:endParaRPr>
            </a:p>
          </p:txBody>
        </p:sp>
      </p:grpSp>
      <p:pic>
        <p:nvPicPr>
          <p:cNvPr id="84100" name="图片 2"/>
          <p:cNvPicPr>
            <a:picLocks noChangeAspect="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030493" y="-97623"/>
            <a:ext cx="11557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2"/>
          <p:cNvSpPr>
            <a:spLocks noChangeArrowheads="1"/>
          </p:cNvSpPr>
          <p:nvPr/>
        </p:nvSpPr>
        <p:spPr bwMode="auto">
          <a:xfrm>
            <a:off x="7983539" y="4076701"/>
            <a:ext cx="30813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100000"/>
              </a:lnSpc>
              <a:spcBef>
                <a:spcPct val="0"/>
              </a:spcBef>
              <a:buSzPct val="80000"/>
              <a:buFont typeface="Wingdings" panose="05000000000000000000" pitchFamily="2" charset="2"/>
              <a:buNone/>
            </a:pPr>
            <a:r>
              <a:rPr lang="zh-CN" altLang="en-US" sz="2400">
                <a:solidFill>
                  <a:srgbClr val="000066"/>
                </a:solidFill>
                <a:latin typeface="黑体" panose="02010609060101010101" pitchFamily="49" charset="-122"/>
                <a:ea typeface="黑体" panose="02010609060101010101" pitchFamily="49" charset="-122"/>
              </a:rPr>
              <a:t>在最坏情况下，</a:t>
            </a:r>
            <a:r>
              <a:rPr lang="zh-CN" altLang="zh-CN" sz="2400">
                <a:solidFill>
                  <a:srgbClr val="000066"/>
                </a:solidFill>
                <a:latin typeface="黑体" panose="02010609060101010101" pitchFamily="49" charset="-122"/>
                <a:ea typeface="黑体" panose="02010609060101010101" pitchFamily="49" charset="-122"/>
              </a:rPr>
              <a:t>查找次数等于总的数据量大小</a:t>
            </a:r>
            <a:r>
              <a:rPr lang="zh-CN" altLang="en-US" sz="2400">
                <a:solidFill>
                  <a:srgbClr val="000066"/>
                </a:solidFill>
                <a:latin typeface="黑体" panose="02010609060101010101" pitchFamily="49" charset="-122"/>
                <a:ea typeface="黑体" panose="02010609060101010101" pitchFamily="49" charset="-122"/>
              </a:rPr>
              <a:t>。</a:t>
            </a:r>
            <a:endParaRPr lang="en-US" altLang="zh-CN" sz="2400">
              <a:solidFill>
                <a:srgbClr val="000066"/>
              </a:solidFill>
              <a:latin typeface="黑体" panose="02010609060101010101" pitchFamily="49" charset="-122"/>
              <a:ea typeface="黑体" panose="02010609060101010101" pitchFamily="49" charset="-122"/>
            </a:endParaRPr>
          </a:p>
          <a:p>
            <a:pPr>
              <a:lnSpc>
                <a:spcPct val="100000"/>
              </a:lnSpc>
              <a:spcBef>
                <a:spcPct val="0"/>
              </a:spcBef>
              <a:buSzPct val="80000"/>
              <a:buFont typeface="Wingdings" panose="05000000000000000000" pitchFamily="2" charset="2"/>
              <a:buNone/>
            </a:pPr>
            <a:r>
              <a:rPr lang="zh-CN" altLang="en-US" sz="2400">
                <a:solidFill>
                  <a:srgbClr val="000066"/>
                </a:solidFill>
                <a:latin typeface="黑体" panose="02010609060101010101" pitchFamily="49" charset="-122"/>
                <a:ea typeface="黑体" panose="02010609060101010101" pitchFamily="49" charset="-122"/>
              </a:rPr>
              <a:t>平均情况需要比较一半的数组元素。</a:t>
            </a:r>
          </a:p>
        </p:txBody>
      </p:sp>
      <p:sp>
        <p:nvSpPr>
          <p:cNvPr id="4" name="灯片编号占位符 3"/>
          <p:cNvSpPr>
            <a:spLocks noGrp="1"/>
          </p:cNvSpPr>
          <p:nvPr>
            <p:ph type="sldNum" sz="quarter" idx="10"/>
          </p:nvPr>
        </p:nvSpPr>
        <p:spPr/>
        <p:txBody>
          <a:bodyPr/>
          <a:lstStyle/>
          <a:p>
            <a:pPr>
              <a:defRPr/>
            </a:pPr>
            <a:fld id="{C8D98E1D-7B5A-9646-9B81-7E432971A0A6}" type="slidenum">
              <a:rPr lang="en-US" altLang="zh-CN" smtClean="0"/>
              <a:t>25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5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5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50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51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8504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8514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8506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851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8512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8515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8508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8515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8510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8515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3" presetClass="entr" presetSubtype="528"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anim calcmode="lin" valueType="num">
                                      <p:cBhvr>
                                        <p:cTn id="56" dur="500" fill="hold"/>
                                        <p:tgtEl>
                                          <p:spTgt spid="18"/>
                                        </p:tgtEl>
                                        <p:attrNameLst>
                                          <p:attrName>ppt_x</p:attrName>
                                        </p:attrNameLst>
                                      </p:cBhvr>
                                      <p:tavLst>
                                        <p:tav tm="0">
                                          <p:val>
                                            <p:fltVal val="0.5"/>
                                          </p:val>
                                        </p:tav>
                                        <p:tav tm="100000">
                                          <p:val>
                                            <p:strVal val="#ppt_x"/>
                                          </p:val>
                                        </p:tav>
                                      </p:tavLst>
                                    </p:anim>
                                    <p:anim calcmode="lin" valueType="num">
                                      <p:cBhvr>
                                        <p:cTn id="57" dur="500" fill="hold"/>
                                        <p:tgtEl>
                                          <p:spTgt spid="18"/>
                                        </p:tgtEl>
                                        <p:attrNameLst>
                                          <p:attrName>ppt_y</p:attrName>
                                        </p:attrNameLst>
                                      </p:cBhvr>
                                      <p:tavLst>
                                        <p:tav tm="0">
                                          <p:val>
                                            <p:fltVal val="0.5"/>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box(in)">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147" grpId="0" animBg="1"/>
      <p:bldP spid="385148" grpId="0" animBg="1"/>
      <p:bldP spid="385149" grpId="0" animBg="1"/>
      <p:bldP spid="385150" grpId="0" animBg="1"/>
      <p:bldP spid="385151" grpId="0" animBg="1"/>
      <p:bldP spid="385152" grpId="0" animBg="1"/>
      <p:bldP spid="59521" grpId="0"/>
      <p:bldP spid="59522" grpId="0"/>
      <p:bldP spid="18" grpId="0" animBg="1" autoUpdateAnimBg="0"/>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a:xfrm>
            <a:off x="1271588" y="4230688"/>
            <a:ext cx="3816350" cy="1143000"/>
          </a:xfrm>
        </p:spPr>
        <p:txBody>
          <a:bodyPr/>
          <a:lstStyle/>
          <a:p>
            <a:pPr algn="l"/>
            <a:r>
              <a:rPr lang="en-US" altLang="zh-CN" sz="2800"/>
              <a:t>【</a:t>
            </a:r>
            <a:r>
              <a:rPr lang="zh-CN" altLang="en-US" sz="2800"/>
              <a:t>例</a:t>
            </a:r>
            <a:r>
              <a:rPr lang="en-US" altLang="zh-CN" sz="2800"/>
              <a:t>8.10】</a:t>
            </a:r>
            <a:r>
              <a:rPr lang="zh-CN" altLang="en-US" sz="2800"/>
              <a:t>顺序查找某学号对应的学生的成绩</a:t>
            </a:r>
          </a:p>
        </p:txBody>
      </p:sp>
      <p:sp>
        <p:nvSpPr>
          <p:cNvPr id="6" name="Rectangle 3"/>
          <p:cNvSpPr txBox="1">
            <a:spLocks noChangeArrowheads="1"/>
          </p:cNvSpPr>
          <p:nvPr/>
        </p:nvSpPr>
        <p:spPr bwMode="auto">
          <a:xfrm>
            <a:off x="1200151" y="260350"/>
            <a:ext cx="6696075" cy="3455988"/>
          </a:xfrm>
          <a:prstGeom prst="rect">
            <a:avLst/>
          </a:prstGeom>
          <a:solidFill>
            <a:schemeClr val="bg1"/>
          </a:solidFill>
          <a:ln w="38100">
            <a:solidFill>
              <a:srgbClr val="00007F"/>
            </a:solidFill>
            <a:miter lim="800000"/>
          </a:ln>
          <a:effectLst/>
        </p:spPr>
        <p:txBody>
          <a:bodyPr lIns="92075" tIns="46037" rIns="92075" bIns="46037"/>
          <a:lstStyle/>
          <a:p>
            <a:pPr marL="374650" indent="-374650">
              <a:lnSpc>
                <a:spcPct val="90000"/>
              </a:lnSpc>
              <a:buClr>
                <a:srgbClr val="FFCC66"/>
              </a:buClr>
              <a:buSzPct val="80000"/>
              <a:defRPr/>
            </a:pPr>
            <a:r>
              <a:rPr lang="en-US" altLang="zh-CN" b="1" kern="0" dirty="0" err="1">
                <a:solidFill>
                  <a:srgbClr val="3333FF"/>
                </a:solidFill>
                <a:latin typeface="Courier New" panose="02070409020205090404" charset="0"/>
              </a:rPr>
              <a:t>int</a:t>
            </a:r>
            <a:r>
              <a:rPr lang="en-US" altLang="zh-CN" b="1" kern="0" dirty="0">
                <a:latin typeface="Courier New" panose="02070409020205090404" charset="0"/>
              </a:rPr>
              <a:t>  </a:t>
            </a:r>
            <a:r>
              <a:rPr lang="en-US" altLang="zh-CN" b="1" kern="0" dirty="0" err="1">
                <a:latin typeface="Courier New" panose="02070409020205090404" charset="0"/>
              </a:rPr>
              <a:t>LinSearch</a:t>
            </a:r>
            <a:r>
              <a:rPr lang="en-US" altLang="zh-CN" b="1" kern="0" dirty="0">
                <a:latin typeface="Courier New" panose="02070409020205090404" charset="0"/>
              </a:rPr>
              <a:t>(</a:t>
            </a:r>
            <a:r>
              <a:rPr lang="en-US" altLang="zh-CN" b="1" kern="0" dirty="0">
                <a:solidFill>
                  <a:srgbClr val="3333FF"/>
                </a:solidFill>
                <a:latin typeface="Courier New" panose="02070409020205090404" charset="0"/>
              </a:rPr>
              <a:t>long</a:t>
            </a:r>
            <a:r>
              <a:rPr lang="en-US" altLang="zh-CN" b="1" kern="0" dirty="0">
                <a:latin typeface="Courier New" panose="02070409020205090404" charset="0"/>
              </a:rPr>
              <a:t> num[], </a:t>
            </a:r>
            <a:r>
              <a:rPr lang="en-US" altLang="zh-CN" b="1" kern="0" dirty="0">
                <a:solidFill>
                  <a:srgbClr val="3333FF"/>
                </a:solidFill>
                <a:latin typeface="Courier New" panose="02070409020205090404" charset="0"/>
              </a:rPr>
              <a:t>long</a:t>
            </a:r>
            <a:r>
              <a:rPr lang="en-US" altLang="zh-CN" b="1" kern="0" dirty="0">
                <a:latin typeface="Courier New" panose="02070409020205090404" charset="0"/>
              </a:rPr>
              <a:t> x, </a:t>
            </a:r>
            <a:r>
              <a:rPr lang="en-US" altLang="zh-CN" b="1" kern="0" dirty="0" err="1">
                <a:solidFill>
                  <a:srgbClr val="3333FF"/>
                </a:solidFill>
                <a:latin typeface="Courier New" panose="02070409020205090404" charset="0"/>
              </a:rPr>
              <a:t>int</a:t>
            </a:r>
            <a:r>
              <a:rPr lang="en-US" altLang="zh-CN" b="1" kern="0" dirty="0">
                <a:latin typeface="Courier New" panose="02070409020205090404" charset="0"/>
              </a:rPr>
              <a:t> n) </a:t>
            </a:r>
          </a:p>
          <a:p>
            <a:pPr marL="374650" indent="-374650">
              <a:lnSpc>
                <a:spcPct val="90000"/>
              </a:lnSpc>
              <a:buClr>
                <a:srgbClr val="FFCC66"/>
              </a:buClr>
              <a:buSzPct val="80000"/>
              <a:defRPr/>
            </a:pPr>
            <a:r>
              <a:rPr lang="en-US" altLang="zh-CN" b="1" kern="0" dirty="0">
                <a:latin typeface="Courier New" panose="02070409020205090404" charset="0"/>
              </a:rPr>
              <a:t>{</a:t>
            </a:r>
          </a:p>
          <a:p>
            <a:pPr marL="374650" indent="-374650">
              <a:lnSpc>
                <a:spcPct val="90000"/>
              </a:lnSpc>
              <a:buClr>
                <a:srgbClr val="FFCC66"/>
              </a:buClr>
              <a:buSzPct val="80000"/>
              <a:defRPr/>
            </a:pPr>
            <a:r>
              <a:rPr lang="en-US" altLang="zh-CN" b="1" kern="0" dirty="0">
                <a:latin typeface="Courier New" panose="02070409020205090404" charset="0"/>
              </a:rPr>
              <a:t>    </a:t>
            </a:r>
            <a:r>
              <a:rPr lang="en-US" altLang="zh-CN" b="1" kern="0" dirty="0" err="1">
                <a:solidFill>
                  <a:srgbClr val="3333FF"/>
                </a:solidFill>
                <a:latin typeface="Courier New" panose="02070409020205090404" charset="0"/>
              </a:rPr>
              <a:t>int</a:t>
            </a:r>
            <a:r>
              <a:rPr lang="en-US" altLang="zh-CN" b="1" kern="0" dirty="0">
                <a:latin typeface="Courier New" panose="02070409020205090404" charset="0"/>
              </a:rPr>
              <a:t> </a:t>
            </a:r>
            <a:r>
              <a:rPr lang="en-US" altLang="zh-CN" b="1" kern="0" dirty="0" err="1">
                <a:latin typeface="Courier New" panose="02070409020205090404" charset="0"/>
              </a:rPr>
              <a:t>i</a:t>
            </a:r>
            <a:r>
              <a:rPr lang="en-US" altLang="zh-CN" b="1" kern="0" dirty="0">
                <a:latin typeface="Courier New" panose="02070409020205090404" charset="0"/>
              </a:rPr>
              <a:t>;</a:t>
            </a:r>
          </a:p>
          <a:p>
            <a:pPr marL="374650" indent="-374650">
              <a:lnSpc>
                <a:spcPct val="90000"/>
              </a:lnSpc>
              <a:buClr>
                <a:srgbClr val="FFCC66"/>
              </a:buClr>
              <a:buSzPct val="80000"/>
              <a:defRPr/>
            </a:pPr>
            <a:r>
              <a:rPr lang="en-US" altLang="zh-CN" b="1" kern="0" dirty="0">
                <a:solidFill>
                  <a:srgbClr val="C00000"/>
                </a:solidFill>
                <a:latin typeface="Courier New" panose="02070409020205090404" charset="0"/>
              </a:rPr>
              <a:t>    </a:t>
            </a:r>
            <a:r>
              <a:rPr lang="en-US" altLang="zh-CN" b="1" kern="0" dirty="0">
                <a:solidFill>
                  <a:srgbClr val="3333FF"/>
                </a:solidFill>
                <a:latin typeface="Courier New" panose="02070409020205090404" charset="0"/>
              </a:rPr>
              <a:t>for</a:t>
            </a:r>
            <a:r>
              <a:rPr lang="en-US" altLang="zh-CN" b="1" kern="0" dirty="0">
                <a:solidFill>
                  <a:srgbClr val="C00000"/>
                </a:solidFill>
                <a:latin typeface="Courier New" panose="02070409020205090404" charset="0"/>
              </a:rPr>
              <a:t> </a:t>
            </a:r>
            <a:r>
              <a:rPr lang="en-US" altLang="zh-CN" b="1" kern="0" dirty="0">
                <a:latin typeface="Courier New" panose="02070409020205090404" charset="0"/>
              </a:rPr>
              <a:t>(</a:t>
            </a:r>
            <a:r>
              <a:rPr lang="en-US" altLang="zh-CN" b="1" kern="0" dirty="0" err="1">
                <a:latin typeface="Courier New" panose="02070409020205090404" charset="0"/>
              </a:rPr>
              <a:t>i</a:t>
            </a:r>
            <a:r>
              <a:rPr lang="en-US" altLang="zh-CN" b="1" kern="0" dirty="0">
                <a:latin typeface="Courier New" panose="02070409020205090404" charset="0"/>
              </a:rPr>
              <a:t>=0; </a:t>
            </a:r>
            <a:r>
              <a:rPr lang="en-US" altLang="zh-CN" b="1" kern="0" dirty="0" err="1">
                <a:latin typeface="Courier New" panose="02070409020205090404" charset="0"/>
              </a:rPr>
              <a:t>i</a:t>
            </a:r>
            <a:r>
              <a:rPr lang="en-US" altLang="zh-CN" b="1" kern="0" dirty="0">
                <a:latin typeface="Courier New" panose="02070409020205090404" charset="0"/>
              </a:rPr>
              <a:t>&lt;n; </a:t>
            </a:r>
            <a:r>
              <a:rPr lang="en-US" altLang="zh-CN" b="1" kern="0" dirty="0" err="1">
                <a:latin typeface="Courier New" panose="02070409020205090404" charset="0"/>
              </a:rPr>
              <a:t>i</a:t>
            </a:r>
            <a:r>
              <a:rPr lang="en-US" altLang="zh-CN" b="1" kern="0" dirty="0">
                <a:latin typeface="Courier New" panose="02070409020205090404" charset="0"/>
              </a:rPr>
              <a:t>++)  </a:t>
            </a:r>
          </a:p>
          <a:p>
            <a:pPr marL="374650" indent="-374650">
              <a:lnSpc>
                <a:spcPct val="90000"/>
              </a:lnSpc>
              <a:buClr>
                <a:srgbClr val="FFCC66"/>
              </a:buClr>
              <a:buSzPct val="80000"/>
              <a:defRPr/>
            </a:pPr>
            <a:r>
              <a:rPr lang="en-US" altLang="zh-CN" b="1" kern="0" dirty="0">
                <a:latin typeface="Courier New" panose="02070409020205090404" charset="0"/>
              </a:rPr>
              <a:t>    {</a:t>
            </a:r>
          </a:p>
          <a:p>
            <a:pPr marL="374650" indent="-374650">
              <a:lnSpc>
                <a:spcPct val="90000"/>
              </a:lnSpc>
              <a:buClr>
                <a:srgbClr val="FFCC66"/>
              </a:buClr>
              <a:buSzPct val="80000"/>
              <a:defRPr/>
            </a:pPr>
            <a:r>
              <a:rPr lang="zh-CN" altLang="en-US" b="1" kern="0" dirty="0">
                <a:latin typeface="Courier New" panose="02070409020205090404" charset="0"/>
              </a:rPr>
              <a:t>        </a:t>
            </a:r>
            <a:r>
              <a:rPr lang="en-US" altLang="zh-CN" b="1" kern="0" dirty="0">
                <a:solidFill>
                  <a:srgbClr val="3333FF"/>
                </a:solidFill>
                <a:latin typeface="Courier New" panose="02070409020205090404" charset="0"/>
              </a:rPr>
              <a:t>if</a:t>
            </a:r>
            <a:r>
              <a:rPr lang="en-US" altLang="zh-CN" b="1" kern="0" dirty="0">
                <a:latin typeface="Courier New" panose="02070409020205090404" charset="0"/>
              </a:rPr>
              <a:t> (</a:t>
            </a:r>
            <a:r>
              <a:rPr lang="en-US" altLang="zh-CN" b="1" kern="0" dirty="0">
                <a:solidFill>
                  <a:srgbClr val="FF0000"/>
                </a:solidFill>
                <a:latin typeface="Courier New" panose="02070409020205090404" charset="0"/>
              </a:rPr>
              <a:t>num[</a:t>
            </a:r>
            <a:r>
              <a:rPr lang="en-US" altLang="zh-CN" b="1" kern="0" dirty="0" err="1">
                <a:solidFill>
                  <a:srgbClr val="FF0000"/>
                </a:solidFill>
                <a:latin typeface="Courier New" panose="02070409020205090404" charset="0"/>
              </a:rPr>
              <a:t>i</a:t>
            </a:r>
            <a:r>
              <a:rPr lang="en-US" altLang="zh-CN" b="1" kern="0" dirty="0">
                <a:solidFill>
                  <a:srgbClr val="FF0000"/>
                </a:solidFill>
                <a:latin typeface="Courier New" panose="02070409020205090404" charset="0"/>
              </a:rPr>
              <a:t>] == x</a:t>
            </a:r>
            <a:r>
              <a:rPr lang="en-US" altLang="zh-CN" b="1" kern="0" dirty="0">
                <a:latin typeface="Courier New" panose="02070409020205090404" charset="0"/>
              </a:rPr>
              <a:t>)</a:t>
            </a:r>
          </a:p>
          <a:p>
            <a:pPr marL="374650" indent="-374650">
              <a:lnSpc>
                <a:spcPct val="90000"/>
              </a:lnSpc>
              <a:buClr>
                <a:srgbClr val="FFCC66"/>
              </a:buClr>
              <a:buSzPct val="80000"/>
              <a:defRPr/>
            </a:pPr>
            <a:r>
              <a:rPr lang="en-US" altLang="zh-CN" b="1" kern="0" dirty="0">
                <a:latin typeface="Courier New" panose="02070409020205090404" charset="0"/>
              </a:rPr>
              <a:t>        {</a:t>
            </a:r>
            <a:endParaRPr lang="en-US" altLang="zh-CN" b="1" kern="0" dirty="0">
              <a:solidFill>
                <a:srgbClr val="3333FF"/>
              </a:solidFill>
              <a:latin typeface="Courier New" panose="02070409020205090404" charset="0"/>
            </a:endParaRPr>
          </a:p>
          <a:p>
            <a:pPr marL="374650" indent="-374650">
              <a:lnSpc>
                <a:spcPct val="90000"/>
              </a:lnSpc>
              <a:buClr>
                <a:srgbClr val="FFCC66"/>
              </a:buClr>
              <a:buSzPct val="80000"/>
              <a:defRPr/>
            </a:pPr>
            <a:r>
              <a:rPr lang="en-US" altLang="zh-CN" b="1" kern="0" dirty="0">
                <a:solidFill>
                  <a:srgbClr val="3333FF"/>
                </a:solidFill>
                <a:latin typeface="Courier New" panose="02070409020205090404" charset="0"/>
              </a:rPr>
              <a:t>            return</a:t>
            </a:r>
            <a:r>
              <a:rPr lang="en-US" altLang="zh-CN" b="1" kern="0" dirty="0">
                <a:solidFill>
                  <a:schemeClr val="accent2"/>
                </a:solidFill>
                <a:latin typeface="Courier New" panose="02070409020205090404" charset="0"/>
              </a:rPr>
              <a:t> </a:t>
            </a:r>
            <a:r>
              <a:rPr lang="en-US" altLang="zh-CN" b="1" kern="0" dirty="0" err="1">
                <a:solidFill>
                  <a:srgbClr val="FF0000"/>
                </a:solidFill>
                <a:latin typeface="Courier New" panose="02070409020205090404" charset="0"/>
              </a:rPr>
              <a:t>i</a:t>
            </a:r>
            <a:r>
              <a:rPr lang="en-US" altLang="zh-CN" b="1" kern="0" dirty="0">
                <a:latin typeface="Courier New" panose="02070409020205090404" charset="0"/>
              </a:rPr>
              <a:t>;</a:t>
            </a:r>
          </a:p>
          <a:p>
            <a:pPr marL="374650" indent="-374650">
              <a:lnSpc>
                <a:spcPct val="90000"/>
              </a:lnSpc>
              <a:buClr>
                <a:srgbClr val="FFCC66"/>
              </a:buClr>
              <a:buSzPct val="80000"/>
              <a:defRPr/>
            </a:pPr>
            <a:r>
              <a:rPr lang="en-US" altLang="zh-CN" b="1" kern="0" dirty="0">
                <a:latin typeface="Courier New" panose="02070409020205090404" charset="0"/>
              </a:rPr>
              <a:t>        }</a:t>
            </a:r>
          </a:p>
          <a:p>
            <a:pPr marL="374650" indent="-374650">
              <a:lnSpc>
                <a:spcPct val="90000"/>
              </a:lnSpc>
              <a:buClr>
                <a:srgbClr val="FFCC66"/>
              </a:buClr>
              <a:buSzPct val="80000"/>
              <a:defRPr/>
            </a:pPr>
            <a:r>
              <a:rPr lang="en-US" altLang="zh-CN" b="1" kern="0" dirty="0">
                <a:latin typeface="Courier New" panose="02070409020205090404" charset="0"/>
              </a:rPr>
              <a:t>    }</a:t>
            </a:r>
          </a:p>
          <a:p>
            <a:pPr marL="374650" indent="-374650">
              <a:lnSpc>
                <a:spcPct val="90000"/>
              </a:lnSpc>
              <a:buClr>
                <a:srgbClr val="FFCC66"/>
              </a:buClr>
              <a:buSzPct val="80000"/>
              <a:defRPr/>
            </a:pPr>
            <a:r>
              <a:rPr lang="en-US" altLang="zh-CN" b="1" kern="0" dirty="0">
                <a:latin typeface="Courier New" panose="02070409020205090404" charset="0"/>
              </a:rPr>
              <a:t>    </a:t>
            </a:r>
            <a:r>
              <a:rPr lang="en-US" altLang="zh-CN" b="1" kern="0" dirty="0">
                <a:solidFill>
                  <a:srgbClr val="3333FF"/>
                </a:solidFill>
                <a:latin typeface="Courier New" panose="02070409020205090404" charset="0"/>
              </a:rPr>
              <a:t>return</a:t>
            </a:r>
            <a:r>
              <a:rPr lang="en-US" altLang="zh-CN" b="1" kern="0" dirty="0">
                <a:latin typeface="Courier New" panose="02070409020205090404" charset="0"/>
              </a:rPr>
              <a:t> </a:t>
            </a:r>
            <a:r>
              <a:rPr lang="en-US" altLang="zh-CN" b="1" kern="0" dirty="0">
                <a:solidFill>
                  <a:srgbClr val="FF0000"/>
                </a:solidFill>
                <a:latin typeface="Courier New" panose="02070409020205090404" charset="0"/>
              </a:rPr>
              <a:t>-1</a:t>
            </a:r>
            <a:r>
              <a:rPr lang="en-US" altLang="zh-CN" b="1" kern="0" dirty="0">
                <a:latin typeface="Courier New" panose="02070409020205090404" charset="0"/>
              </a:rPr>
              <a:t>;</a:t>
            </a:r>
          </a:p>
          <a:p>
            <a:pPr marL="374650" indent="-374650">
              <a:lnSpc>
                <a:spcPct val="90000"/>
              </a:lnSpc>
              <a:buClr>
                <a:srgbClr val="FFCC66"/>
              </a:buClr>
              <a:buSzPct val="80000"/>
              <a:defRPr/>
            </a:pPr>
            <a:r>
              <a:rPr lang="en-US" altLang="zh-CN" b="1" kern="0" dirty="0">
                <a:latin typeface="Courier New" panose="02070409020205090404" charset="0"/>
              </a:rPr>
              <a:t>}</a:t>
            </a:r>
          </a:p>
        </p:txBody>
      </p:sp>
      <p:grpSp>
        <p:nvGrpSpPr>
          <p:cNvPr id="2" name="Group 13"/>
          <p:cNvGrpSpPr/>
          <p:nvPr/>
        </p:nvGrpSpPr>
        <p:grpSpPr bwMode="auto">
          <a:xfrm>
            <a:off x="2855640" y="980728"/>
            <a:ext cx="5788025" cy="1349375"/>
            <a:chOff x="1338" y="2747"/>
            <a:chExt cx="3366" cy="850"/>
          </a:xfrm>
        </p:grpSpPr>
        <p:sp>
          <p:nvSpPr>
            <p:cNvPr id="9" name="Rectangle 10"/>
            <p:cNvSpPr>
              <a:spLocks noChangeArrowheads="1"/>
            </p:cNvSpPr>
            <p:nvPr/>
          </p:nvSpPr>
          <p:spPr bwMode="auto">
            <a:xfrm>
              <a:off x="1338" y="3294"/>
              <a:ext cx="1021" cy="303"/>
            </a:xfrm>
            <a:prstGeom prst="rect">
              <a:avLst/>
            </a:prstGeom>
            <a:noFill/>
            <a:ln w="38100">
              <a:solidFill>
                <a:srgbClr val="00B050"/>
              </a:solidFill>
              <a:miter lim="800000"/>
            </a:ln>
            <a:effectLst/>
          </p:spPr>
          <p:txBody>
            <a:bodyPr wrap="none" anchor="ctr"/>
            <a:lstStyle/>
            <a:p>
              <a:pPr>
                <a:lnSpc>
                  <a:spcPct val="90000"/>
                </a:lnSpc>
                <a:spcAft>
                  <a:spcPts val="590"/>
                </a:spcAft>
                <a:buClr>
                  <a:schemeClr val="tx2"/>
                </a:buClr>
                <a:buSzPct val="80000"/>
                <a:defRPr/>
              </a:pPr>
              <a:endParaRPr lang="zh-CN" altLang="en-US" sz="2400">
                <a:effectLst>
                  <a:outerShdw blurRad="38100" dist="38100" dir="2700000" algn="tl">
                    <a:srgbClr val="C0C0C0"/>
                  </a:outerShdw>
                </a:effectLst>
              </a:endParaRPr>
            </a:p>
          </p:txBody>
        </p:sp>
        <p:sp>
          <p:nvSpPr>
            <p:cNvPr id="10" name="Line 11"/>
            <p:cNvSpPr>
              <a:spLocks noChangeShapeType="1"/>
            </p:cNvSpPr>
            <p:nvPr/>
          </p:nvSpPr>
          <p:spPr bwMode="auto">
            <a:xfrm flipH="1">
              <a:off x="2359" y="3098"/>
              <a:ext cx="185" cy="196"/>
            </a:xfrm>
            <a:prstGeom prst="line">
              <a:avLst/>
            </a:prstGeom>
            <a:noFill/>
            <a:ln w="38100">
              <a:solidFill>
                <a:srgbClr val="00B050"/>
              </a:solidFill>
              <a:miter lim="800000"/>
              <a:tailEnd type="triangle" w="med" len="med"/>
            </a:ln>
            <a:effectLst/>
          </p:spPr>
          <p:txBody>
            <a:bodyPr wrap="none"/>
            <a:lstStyle/>
            <a:p>
              <a:pPr>
                <a:lnSpc>
                  <a:spcPct val="90000"/>
                </a:lnSpc>
                <a:spcAft>
                  <a:spcPts val="590"/>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59405" name="Text Box 12"/>
            <p:cNvSpPr txBox="1">
              <a:spLocks noChangeArrowheads="1"/>
            </p:cNvSpPr>
            <p:nvPr/>
          </p:nvSpPr>
          <p:spPr bwMode="auto">
            <a:xfrm>
              <a:off x="2544" y="2747"/>
              <a:ext cx="2160" cy="330"/>
            </a:xfrm>
            <a:prstGeom prst="rect">
              <a:avLst/>
            </a:prstGeom>
            <a:solidFill>
              <a:schemeClr val="bg2">
                <a:lumMod val="90000"/>
              </a:schemeClr>
            </a:solidFill>
            <a:ln w="38100">
              <a:solidFill>
                <a:srgbClr val="00B050"/>
              </a:solidFill>
              <a:miter lim="800000"/>
            </a:ln>
          </p:spPr>
          <p:txBody>
            <a:bodyPr>
              <a:spAutoFit/>
            </a:bodyPr>
            <a:lstStyle>
              <a:lvl1pPr eaLnBrk="0" hangingPunct="0">
                <a:defRPr sz="2000">
                  <a:solidFill>
                    <a:schemeClr val="tx1"/>
                  </a:solidFill>
                  <a:latin typeface="Arial" panose="020B0604020202090204" pitchFamily="34" charset="0"/>
                  <a:ea typeface="宋体" charset="0"/>
                </a:defRPr>
              </a:lvl1pPr>
              <a:lvl2pPr marL="742950" indent="-285750" eaLnBrk="0" hangingPunct="0">
                <a:defRPr sz="2000">
                  <a:solidFill>
                    <a:schemeClr val="tx1"/>
                  </a:solidFill>
                  <a:latin typeface="Arial" panose="020B0604020202090204" pitchFamily="34" charset="0"/>
                  <a:ea typeface="宋体" charset="0"/>
                </a:defRPr>
              </a:lvl2pPr>
              <a:lvl3pPr marL="1143000" indent="-228600" eaLnBrk="0" hangingPunct="0">
                <a:defRPr sz="2000">
                  <a:solidFill>
                    <a:schemeClr val="tx1"/>
                  </a:solidFill>
                  <a:latin typeface="Arial" panose="020B0604020202090204" pitchFamily="34" charset="0"/>
                  <a:ea typeface="宋体" charset="0"/>
                </a:defRPr>
              </a:lvl3pPr>
              <a:lvl4pPr marL="1600200" indent="-228600" eaLnBrk="0" hangingPunct="0">
                <a:defRPr sz="2000">
                  <a:solidFill>
                    <a:schemeClr val="tx1"/>
                  </a:solidFill>
                  <a:latin typeface="Arial" panose="020B0604020202090204" pitchFamily="34" charset="0"/>
                  <a:ea typeface="宋体" charset="0"/>
                </a:defRPr>
              </a:lvl4pPr>
              <a:lvl5pPr marL="2057400" indent="-228600" eaLnBrk="0" hangingPunct="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gn="ctr" eaLnBrk="1" hangingPunct="1">
                <a:spcBef>
                  <a:spcPts val="600"/>
                </a:spcBef>
                <a:spcAft>
                  <a:spcPts val="600"/>
                </a:spcAft>
                <a:buClr>
                  <a:schemeClr val="tx2"/>
                </a:buClr>
                <a:buSzPct val="80000"/>
                <a:defRPr/>
              </a:pPr>
              <a:r>
                <a:rPr lang="zh-CN" altLang="en-US" sz="2800">
                  <a:solidFill>
                    <a:srgbClr val="000066"/>
                  </a:solidFill>
                  <a:latin typeface="黑体" charset="0"/>
                  <a:ea typeface="黑体" charset="0"/>
                </a:rPr>
                <a:t>找到时返回下标位置</a:t>
              </a:r>
              <a:endParaRPr lang="en-US" altLang="zh-CN" sz="2800">
                <a:solidFill>
                  <a:srgbClr val="000066"/>
                </a:solidFill>
                <a:latin typeface="黑体" charset="0"/>
                <a:ea typeface="黑体" charset="0"/>
              </a:endParaRPr>
            </a:p>
          </p:txBody>
        </p:sp>
      </p:grpSp>
      <p:grpSp>
        <p:nvGrpSpPr>
          <p:cNvPr id="3" name="Group 14"/>
          <p:cNvGrpSpPr/>
          <p:nvPr/>
        </p:nvGrpSpPr>
        <p:grpSpPr bwMode="auto">
          <a:xfrm>
            <a:off x="1698626" y="2708920"/>
            <a:ext cx="3171825" cy="1164868"/>
            <a:chOff x="1306" y="3293"/>
            <a:chExt cx="1845" cy="968"/>
          </a:xfrm>
        </p:grpSpPr>
        <p:sp>
          <p:nvSpPr>
            <p:cNvPr id="13" name="Rectangle 15"/>
            <p:cNvSpPr>
              <a:spLocks noChangeArrowheads="1"/>
            </p:cNvSpPr>
            <p:nvPr/>
          </p:nvSpPr>
          <p:spPr bwMode="auto">
            <a:xfrm>
              <a:off x="1338" y="3293"/>
              <a:ext cx="1111" cy="305"/>
            </a:xfrm>
            <a:prstGeom prst="rect">
              <a:avLst/>
            </a:prstGeom>
            <a:noFill/>
            <a:ln w="38100">
              <a:solidFill>
                <a:srgbClr val="00B050"/>
              </a:solidFill>
              <a:miter lim="800000"/>
            </a:ln>
            <a:effectLst/>
          </p:spPr>
          <p:txBody>
            <a:bodyPr wrap="none" anchor="ctr"/>
            <a:lstStyle/>
            <a:p>
              <a:pPr>
                <a:lnSpc>
                  <a:spcPct val="90000"/>
                </a:lnSpc>
                <a:spcAft>
                  <a:spcPts val="590"/>
                </a:spcAft>
                <a:buClr>
                  <a:schemeClr val="tx2"/>
                </a:buClr>
                <a:buSzPct val="80000"/>
                <a:defRPr/>
              </a:pPr>
              <a:endParaRPr lang="zh-CN" altLang="en-US" sz="2400">
                <a:effectLst>
                  <a:outerShdw blurRad="38100" dist="38100" dir="2700000" algn="tl">
                    <a:srgbClr val="C0C0C0"/>
                  </a:outerShdw>
                </a:effectLst>
              </a:endParaRPr>
            </a:p>
          </p:txBody>
        </p:sp>
        <p:sp>
          <p:nvSpPr>
            <p:cNvPr id="14" name="Line 16"/>
            <p:cNvSpPr>
              <a:spLocks noChangeShapeType="1"/>
            </p:cNvSpPr>
            <p:nvPr/>
          </p:nvSpPr>
          <p:spPr bwMode="auto">
            <a:xfrm flipV="1">
              <a:off x="1937" y="3587"/>
              <a:ext cx="211" cy="239"/>
            </a:xfrm>
            <a:prstGeom prst="line">
              <a:avLst/>
            </a:prstGeom>
            <a:noFill/>
            <a:ln w="38100">
              <a:solidFill>
                <a:srgbClr val="00B050"/>
              </a:solidFill>
              <a:miter lim="800000"/>
              <a:tailEnd type="triangle" w="med" len="med"/>
            </a:ln>
            <a:effectLst/>
          </p:spPr>
          <p:txBody>
            <a:bodyPr wrap="none"/>
            <a:lstStyle/>
            <a:p>
              <a:pPr>
                <a:lnSpc>
                  <a:spcPct val="90000"/>
                </a:lnSpc>
                <a:spcAft>
                  <a:spcPts val="590"/>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59402" name="Text Box 17"/>
            <p:cNvSpPr txBox="1">
              <a:spLocks noChangeArrowheads="1"/>
            </p:cNvSpPr>
            <p:nvPr/>
          </p:nvSpPr>
          <p:spPr bwMode="auto">
            <a:xfrm>
              <a:off x="1306" y="3826"/>
              <a:ext cx="1845" cy="435"/>
            </a:xfrm>
            <a:prstGeom prst="rect">
              <a:avLst/>
            </a:prstGeom>
            <a:solidFill>
              <a:schemeClr val="bg2">
                <a:lumMod val="90000"/>
              </a:schemeClr>
            </a:solidFill>
            <a:ln w="38100">
              <a:solidFill>
                <a:srgbClr val="00B050"/>
              </a:solidFill>
              <a:miter lim="800000"/>
            </a:ln>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100000"/>
                </a:lnSpc>
                <a:spcAft>
                  <a:spcPts val="600"/>
                </a:spcAft>
                <a:buSzPct val="80000"/>
                <a:buNone/>
              </a:pPr>
              <a:r>
                <a:rPr lang="zh-CN" altLang="en-US" sz="2800">
                  <a:solidFill>
                    <a:srgbClr val="000066"/>
                  </a:solidFill>
                  <a:latin typeface="黑体" panose="02010609060101010101" pitchFamily="49" charset="-122"/>
                  <a:ea typeface="黑体" panose="02010609060101010101" pitchFamily="49" charset="-122"/>
                </a:rPr>
                <a:t>找不到时返回</a:t>
              </a:r>
              <a:r>
                <a:rPr lang="en-US" altLang="zh-CN" sz="2800">
                  <a:solidFill>
                    <a:srgbClr val="000066"/>
                  </a:solidFill>
                  <a:latin typeface="黑体" panose="02010609060101010101" pitchFamily="49" charset="-122"/>
                  <a:ea typeface="黑体" panose="02010609060101010101" pitchFamily="49" charset="-122"/>
                </a:rPr>
                <a:t>-1</a:t>
              </a:r>
            </a:p>
          </p:txBody>
        </p:sp>
      </p:grpSp>
      <p:sp>
        <p:nvSpPr>
          <p:cNvPr id="15" name="Rectangle 3"/>
          <p:cNvSpPr txBox="1">
            <a:spLocks noChangeArrowheads="1"/>
          </p:cNvSpPr>
          <p:nvPr/>
        </p:nvSpPr>
        <p:spPr bwMode="auto">
          <a:xfrm>
            <a:off x="5232400" y="1268414"/>
            <a:ext cx="5761038" cy="5400675"/>
          </a:xfrm>
          <a:prstGeom prst="rect">
            <a:avLst/>
          </a:prstGeom>
          <a:solidFill>
            <a:schemeClr val="bg1"/>
          </a:solidFill>
          <a:ln w="38100">
            <a:solidFill>
              <a:srgbClr val="00007F"/>
            </a:solidFill>
            <a:miter lim="800000"/>
          </a:ln>
        </p:spPr>
        <p:txBody>
          <a:bodyPr lIns="92075" tIns="46037" rIns="92075" bIns="46037"/>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#define N 40</a:t>
            </a: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int main()</a:t>
            </a:r>
            <a:endParaRPr lang="zh-CN" altLang="zh-CN" sz="2000">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a:t>
            </a:r>
            <a:endParaRPr lang="zh-CN" altLang="zh-CN" sz="2000">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int score[N], n, pos;</a:t>
            </a:r>
            <a:endParaRPr lang="zh-CN" altLang="zh-CN" sz="2000">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long num[N], x;</a:t>
            </a:r>
            <a:endParaRPr lang="zh-CN" altLang="zh-CN" sz="2000">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n = ReadScore(score, num);  </a:t>
            </a:r>
            <a:endParaRPr lang="zh-CN" altLang="zh-CN" sz="2000">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printf("Input the searching ID:");</a:t>
            </a:r>
            <a:endParaRPr lang="zh-CN" altLang="zh-CN" sz="2000">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scanf("%ld", &amp;x);          	</a:t>
            </a:r>
            <a:endParaRPr lang="zh-CN" altLang="zh-CN" sz="2000">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a:t>
            </a:r>
            <a:r>
              <a:rPr lang="en-US" altLang="zh-CN" sz="2000" b="1">
                <a:solidFill>
                  <a:srgbClr val="FF3300"/>
                </a:solidFill>
                <a:latin typeface="Courier New" panose="02070409020205090404" charset="0"/>
              </a:rPr>
              <a:t>pos = LinSearch(num, x, n);</a:t>
            </a:r>
            <a:r>
              <a:rPr lang="en-US" altLang="zh-CN" sz="2000" b="1">
                <a:solidFill>
                  <a:srgbClr val="C00000"/>
                </a:solidFill>
                <a:latin typeface="Courier New" panose="02070409020205090404" charset="0"/>
              </a:rPr>
              <a:t> </a:t>
            </a:r>
            <a:endParaRPr lang="zh-CN" altLang="zh-CN" sz="2000">
              <a:solidFill>
                <a:srgbClr val="C00000"/>
              </a:solidFill>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if (</a:t>
            </a:r>
            <a:r>
              <a:rPr lang="en-US" altLang="zh-CN" sz="2000" b="1">
                <a:solidFill>
                  <a:srgbClr val="FF0000"/>
                </a:solidFill>
                <a:latin typeface="Courier New" panose="02070409020205090404" charset="0"/>
              </a:rPr>
              <a:t>pos != -1</a:t>
            </a:r>
            <a:r>
              <a:rPr lang="en-US" altLang="zh-CN" sz="2000" b="1">
                <a:latin typeface="Courier New" panose="02070409020205090404" charset="0"/>
              </a:rPr>
              <a:t>)              	</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  </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printf("score=%d\n",</a:t>
            </a:r>
            <a:r>
              <a:rPr lang="en-US" altLang="zh-CN" sz="2000" b="1">
                <a:solidFill>
                  <a:srgbClr val="FF3300"/>
                </a:solidFill>
                <a:latin typeface="Courier New" panose="02070409020205090404" charset="0"/>
              </a:rPr>
              <a:t>score[pos]</a:t>
            </a:r>
            <a:r>
              <a:rPr lang="en-US" altLang="zh-CN" sz="2000" b="1">
                <a:latin typeface="Courier New" panose="02070409020205090404" charset="0"/>
              </a:rPr>
              <a:t>); </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else                      		</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   </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printf("Not found!\n");   </a:t>
            </a:r>
            <a:r>
              <a:rPr lang="en-US" altLang="zh-CN" sz="2000">
                <a:latin typeface="Courier New" panose="02070409020205090404" charset="0"/>
              </a:rPr>
              <a:t> </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  }</a:t>
            </a:r>
          </a:p>
          <a:p>
            <a:pPr>
              <a:lnSpc>
                <a:spcPct val="90000"/>
              </a:lnSpc>
              <a:spcBef>
                <a:spcPct val="0"/>
              </a:spcBef>
              <a:buSzPct val="80000"/>
              <a:buFont typeface="Wingdings" panose="05000000000000000000" pitchFamily="2" charset="2"/>
              <a:buNone/>
            </a:pPr>
            <a:r>
              <a:rPr lang="zh-CN" altLang="en-US" sz="2000" b="1">
                <a:latin typeface="Courier New" panose="02070409020205090404" charset="0"/>
              </a:rPr>
              <a:t>  </a:t>
            </a:r>
            <a:r>
              <a:rPr lang="en-US" altLang="zh-CN" sz="2000" b="1">
                <a:latin typeface="Courier New" panose="02070409020205090404" charset="0"/>
              </a:rPr>
              <a:t>return 0;</a:t>
            </a:r>
            <a:endParaRPr lang="zh-CN" altLang="zh-CN" sz="2000" b="1">
              <a:latin typeface="Courier New" panose="02070409020205090404" charset="0"/>
            </a:endParaRPr>
          </a:p>
          <a:p>
            <a:pPr>
              <a:lnSpc>
                <a:spcPct val="90000"/>
              </a:lnSpc>
              <a:spcBef>
                <a:spcPct val="0"/>
              </a:spcBef>
              <a:buSzPct val="80000"/>
              <a:buFont typeface="Wingdings" panose="05000000000000000000" pitchFamily="2" charset="2"/>
              <a:buNone/>
            </a:pPr>
            <a:r>
              <a:rPr lang="en-US" altLang="zh-CN" sz="2000" b="1">
                <a:latin typeface="Courier New" panose="02070409020205090404" charset="0"/>
              </a:rPr>
              <a:t>}</a:t>
            </a:r>
            <a:endParaRPr lang="zh-CN" altLang="zh-CN" sz="2000">
              <a:latin typeface="Courier New" panose="02070409020205090404" charset="0"/>
            </a:endParaRPr>
          </a:p>
        </p:txBody>
      </p:sp>
      <p:sp>
        <p:nvSpPr>
          <p:cNvPr id="8" name="文本框 7"/>
          <p:cNvSpPr txBox="1"/>
          <p:nvPr/>
        </p:nvSpPr>
        <p:spPr>
          <a:xfrm>
            <a:off x="1487488" y="5482989"/>
            <a:ext cx="3240360" cy="646331"/>
          </a:xfrm>
          <a:prstGeom prst="rect">
            <a:avLst/>
          </a:prstGeom>
          <a:noFill/>
        </p:spPr>
        <p:txBody>
          <a:bodyPr wrap="square">
            <a:spAutoFit/>
          </a:bodyPr>
          <a:lstStyle/>
          <a:p>
            <a:r>
              <a:rPr lang="en-US" altLang="zh-CN" b="1" kern="0" dirty="0" err="1">
                <a:latin typeface="Courier New" panose="02070409020205090404" charset="0"/>
              </a:rPr>
              <a:t>LinSearch</a:t>
            </a:r>
            <a:r>
              <a:rPr lang="zh-CN" altLang="en-US" b="1" kern="0" dirty="0">
                <a:latin typeface="Courier New" panose="02070409020205090404" charset="0"/>
              </a:rPr>
              <a:t>的循环体最多执行</a:t>
            </a:r>
            <a:r>
              <a:rPr lang="en-US" altLang="zh-CN" b="1" kern="0" dirty="0">
                <a:latin typeface="Courier New" panose="02070409020205090404" charset="0"/>
              </a:rPr>
              <a:t>n</a:t>
            </a:r>
            <a:r>
              <a:rPr lang="zh-CN" altLang="en-US" b="1" kern="0" dirty="0">
                <a:latin typeface="Courier New" panose="02070409020205090404" charset="0"/>
              </a:rPr>
              <a:t>次，时间复杂度为</a:t>
            </a:r>
            <a:r>
              <a:rPr lang="en-US" altLang="zh-CN" b="1" kern="0" dirty="0">
                <a:latin typeface="Courier New" panose="02070409020205090404" charset="0"/>
              </a:rPr>
              <a:t>O(n)</a:t>
            </a:r>
            <a:endParaRPr lang="zh-CN" altLang="en-US" dirty="0"/>
          </a:p>
        </p:txBody>
      </p:sp>
      <p:sp>
        <p:nvSpPr>
          <p:cNvPr id="4" name="灯片编号占位符 3"/>
          <p:cNvSpPr>
            <a:spLocks noGrp="1"/>
          </p:cNvSpPr>
          <p:nvPr>
            <p:ph type="sldNum" sz="quarter" idx="12"/>
          </p:nvPr>
        </p:nvSpPr>
        <p:spPr/>
        <p:txBody>
          <a:bodyPr/>
          <a:lstStyle/>
          <a:p>
            <a:pPr>
              <a:defRPr/>
            </a:pPr>
            <a:fld id="{7C4E558B-5425-6346-B896-72F904F12E77}" type="slidenum">
              <a:rPr lang="en-US" altLang="zh-CN" smtClean="0"/>
              <a:t>26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1+#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2.2  </a:t>
            </a:r>
            <a:r>
              <a:rPr kumimoji="1" lang="zh-CN" altLang="en-US" sz="3200" b="1" dirty="0">
                <a:latin typeface="Arial" panose="020B0604020202090204" pitchFamily="34" charset="0"/>
                <a:ea typeface="宋体" pitchFamily="2" charset="-122"/>
                <a:cs typeface="+mn-cs"/>
              </a:rPr>
              <a:t>线性表的顺序存储和实现</a:t>
            </a:r>
          </a:p>
        </p:txBody>
      </p:sp>
      <p:sp>
        <p:nvSpPr>
          <p:cNvPr id="3" name="内容占位符 2"/>
          <p:cNvSpPr>
            <a:spLocks noGrp="1"/>
          </p:cNvSpPr>
          <p:nvPr>
            <p:ph idx="1"/>
          </p:nvPr>
        </p:nvSpPr>
        <p:spPr>
          <a:xfrm>
            <a:off x="1981200" y="1371600"/>
            <a:ext cx="8229600" cy="5105400"/>
          </a:xfrm>
        </p:spPr>
        <p:txBody>
          <a:bodyPr>
            <a:normAutofit/>
          </a:bodyPr>
          <a:lstStyle/>
          <a:p>
            <a:pPr marL="342900" lvl="1" indent="-342900">
              <a:lnSpc>
                <a:spcPts val="3400"/>
              </a:lnSpc>
            </a:pPr>
            <a:r>
              <a:rPr lang="zh-CN" altLang="en-US" b="1" dirty="0"/>
              <a:t>顺序表的查找</a:t>
            </a:r>
            <a:r>
              <a:rPr lang="en-US" altLang="zh-CN" b="1" dirty="0"/>
              <a:t>-</a:t>
            </a:r>
            <a:r>
              <a:rPr lang="zh-CN" altLang="en-US" b="1" dirty="0"/>
              <a:t>按</a:t>
            </a:r>
            <a:r>
              <a:rPr lang="zh-CN" altLang="en-US" b="1" dirty="0">
                <a:solidFill>
                  <a:srgbClr val="FF0000"/>
                </a:solidFill>
              </a:rPr>
              <a:t>值</a:t>
            </a:r>
            <a:r>
              <a:rPr lang="zh-CN" altLang="en-US" b="1" dirty="0"/>
              <a:t>查找 </a:t>
            </a:r>
          </a:p>
          <a:p>
            <a:pPr lvl="1">
              <a:lnSpc>
                <a:spcPts val="3400"/>
              </a:lnSpc>
              <a:buFont typeface="Wingdings" panose="05000000000000000000" pitchFamily="2" charset="2"/>
              <a:buChar char="ü"/>
            </a:pPr>
            <a:r>
              <a:rPr lang="zh-CN" altLang="en-US" b="1" dirty="0"/>
              <a:t>给定数据</a:t>
            </a:r>
            <a:r>
              <a:rPr lang="en-US" altLang="zh-CN" b="1" dirty="0"/>
              <a:t>x</a:t>
            </a:r>
            <a:r>
              <a:rPr lang="zh-CN" altLang="en-US" b="1" dirty="0"/>
              <a:t>，在顺序表</a:t>
            </a:r>
            <a:r>
              <a:rPr lang="en-US" altLang="zh-CN" b="1" dirty="0"/>
              <a:t>L</a:t>
            </a:r>
            <a:r>
              <a:rPr lang="zh-CN" altLang="en-US" b="1" dirty="0"/>
              <a:t>中查找第一个与它相等的数据元素。如果查找成功，则返回该元素在表中的位置；如果查找失败，则返回</a:t>
            </a:r>
            <a:r>
              <a:rPr lang="en-US" altLang="zh-CN" b="1" dirty="0"/>
              <a:t>-1</a:t>
            </a:r>
            <a:r>
              <a:rPr lang="zh-CN" altLang="en-US" b="1" dirty="0"/>
              <a:t>。</a:t>
            </a:r>
            <a:endParaRPr lang="zh-CN" altLang="en-US" sz="2000" b="1" dirty="0"/>
          </a:p>
        </p:txBody>
      </p:sp>
      <p:sp>
        <p:nvSpPr>
          <p:cNvPr id="4" name="日期占位符 3"/>
          <p:cNvSpPr>
            <a:spLocks noGrp="1"/>
          </p:cNvSpPr>
          <p:nvPr>
            <p:ph type="dt" sz="half" idx="10"/>
          </p:nvPr>
        </p:nvSpPr>
        <p:spPr/>
        <p:txBody>
          <a:bodyPr/>
          <a:lstStyle/>
          <a:p>
            <a:fld id="{22D2C3C7-DDDA-4B6A-AF82-4C3D1477770E}" type="datetime1">
              <a:rPr lang="zh-CN" altLang="en-US" b="1" smtClean="0">
                <a:solidFill>
                  <a:srgbClr val="F79646">
                    <a:lumMod val="75000"/>
                  </a:srgbClr>
                </a:solidFill>
              </a:rPr>
              <a:t>2025/11/20</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27</a:t>
            </a:fld>
            <a:endParaRPr lang="zh-CN" altLang="en-US" b="1" dirty="0">
              <a:solidFill>
                <a:srgbClr val="F79646">
                  <a:lumMod val="75000"/>
                </a:srgbClr>
              </a:solidFill>
            </a:endParaRPr>
          </a:p>
        </p:txBody>
      </p:sp>
      <p:cxnSp>
        <p:nvCxnSpPr>
          <p:cNvPr id="9" name="直接连接符 8"/>
          <p:cNvCxnSpPr/>
          <p:nvPr/>
        </p:nvCxnSpPr>
        <p:spPr>
          <a:xfrm>
            <a:off x="1981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981200" y="248479"/>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页脚占位符 4"/>
          <p:cNvSpPr txBox="1"/>
          <p:nvPr/>
        </p:nvSpPr>
        <p:spPr>
          <a:xfrm>
            <a:off x="1524000" y="-29816"/>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2</a:t>
            </a:r>
            <a:r>
              <a:rPr lang="zh-CN" altLang="en-US" b="1" dirty="0">
                <a:solidFill>
                  <a:srgbClr val="00B0F0"/>
                </a:solidFill>
              </a:rPr>
              <a:t>章 线性表</a:t>
            </a:r>
          </a:p>
        </p:txBody>
      </p:sp>
      <p:pic>
        <p:nvPicPr>
          <p:cNvPr id="2049" name="Picture 1" descr="C:\Users\Haijun\AppData\Roaming\Tencent\Users\2968516474\QQ\WinTemp\RichOle\O5)[OOM[}$H7(6{A~41GY`Q.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7141" y="5"/>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内容占位符 2"/>
          <p:cNvSpPr>
            <a:spLocks noGrp="1"/>
          </p:cNvSpPr>
          <p:nvPr>
            <p:custDataLst>
              <p:tags r:id="rId1"/>
            </p:custDataLst>
          </p:nvPr>
        </p:nvSpPr>
        <p:spPr>
          <a:xfrm>
            <a:off x="1919605" y="3211195"/>
            <a:ext cx="8229600" cy="5105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42900" lvl="1" indent="-342900">
              <a:lnSpc>
                <a:spcPts val="3600"/>
              </a:lnSpc>
            </a:pPr>
            <a:r>
              <a:rPr lang="zh-CN" altLang="en-US" b="1" dirty="0"/>
              <a:t>顺序表中</a:t>
            </a:r>
            <a:r>
              <a:rPr lang="zh-CN" altLang="en-US" b="1" dirty="0">
                <a:solidFill>
                  <a:srgbClr val="FF0000"/>
                </a:solidFill>
              </a:rPr>
              <a:t>查找</a:t>
            </a:r>
            <a:r>
              <a:rPr lang="zh-CN" altLang="en-US" b="1" dirty="0"/>
              <a:t>一个数据元素</a:t>
            </a:r>
            <a:r>
              <a:rPr lang="en-US" altLang="zh-CN" b="1" dirty="0"/>
              <a:t>---</a:t>
            </a:r>
            <a:r>
              <a:rPr lang="zh-CN" altLang="en-US" b="1" dirty="0"/>
              <a:t>算法分析</a:t>
            </a:r>
          </a:p>
          <a:p>
            <a:pPr lvl="1">
              <a:lnSpc>
                <a:spcPts val="3600"/>
              </a:lnSpc>
              <a:buFont typeface="Wingdings" panose="05000000000000000000" pitchFamily="2" charset="2"/>
              <a:buChar char="ü"/>
            </a:pPr>
            <a:r>
              <a:rPr lang="zh-CN" altLang="en-US" b="1" dirty="0"/>
              <a:t>该算法的主要运算是</a:t>
            </a:r>
            <a:r>
              <a:rPr lang="zh-CN" altLang="en-US" b="1" dirty="0">
                <a:solidFill>
                  <a:srgbClr val="FF0000"/>
                </a:solidFill>
              </a:rPr>
              <a:t>比较</a:t>
            </a:r>
            <a:r>
              <a:rPr lang="zh-CN" altLang="en-US" b="1" dirty="0"/>
              <a:t>。</a:t>
            </a:r>
          </a:p>
          <a:p>
            <a:pPr lvl="1">
              <a:lnSpc>
                <a:spcPts val="3600"/>
              </a:lnSpc>
              <a:buFont typeface="Wingdings" panose="05000000000000000000" pitchFamily="2" charset="2"/>
              <a:buChar char="ü"/>
            </a:pPr>
            <a:r>
              <a:rPr lang="zh-CN" altLang="en-US" b="1" dirty="0"/>
              <a:t>显然比较的次数与</a:t>
            </a:r>
            <a:r>
              <a:rPr lang="en-US" altLang="zh-CN" b="1" dirty="0"/>
              <a:t>x</a:t>
            </a:r>
            <a:r>
              <a:rPr lang="zh-CN" altLang="en-US" b="1" dirty="0"/>
              <a:t>在表中的位置有关，也与表长有关。</a:t>
            </a:r>
          </a:p>
          <a:p>
            <a:pPr lvl="1">
              <a:lnSpc>
                <a:spcPts val="3600"/>
              </a:lnSpc>
              <a:buFont typeface="Wingdings" panose="05000000000000000000" pitchFamily="2" charset="2"/>
              <a:buChar char="ü"/>
            </a:pPr>
            <a:r>
              <a:rPr lang="zh-CN" altLang="en-US" b="1" dirty="0"/>
              <a:t>当 </a:t>
            </a:r>
            <a:r>
              <a:rPr lang="en-US" altLang="zh-CN" b="1" dirty="0"/>
              <a:t>a</a:t>
            </a:r>
            <a:r>
              <a:rPr lang="en-US" altLang="zh-CN" b="1" baseline="-25000" dirty="0"/>
              <a:t>1</a:t>
            </a:r>
            <a:r>
              <a:rPr lang="en-US" altLang="zh-CN" b="1" dirty="0"/>
              <a:t>=x </a:t>
            </a:r>
            <a:r>
              <a:rPr lang="zh-CN" altLang="en-US" b="1" dirty="0"/>
              <a:t>时，比较一次成功。</a:t>
            </a:r>
          </a:p>
          <a:p>
            <a:pPr lvl="1">
              <a:lnSpc>
                <a:spcPts val="3600"/>
              </a:lnSpc>
              <a:buFont typeface="Wingdings" panose="05000000000000000000" pitchFamily="2" charset="2"/>
              <a:buChar char="ü"/>
            </a:pPr>
            <a:r>
              <a:rPr lang="zh-CN" altLang="en-US" b="1" dirty="0"/>
              <a:t>当 </a:t>
            </a:r>
            <a:r>
              <a:rPr lang="en-US" altLang="zh-CN" b="1" dirty="0"/>
              <a:t>a</a:t>
            </a:r>
            <a:r>
              <a:rPr lang="en-US" altLang="zh-CN" b="1" baseline="-25000" dirty="0"/>
              <a:t>n</a:t>
            </a:r>
            <a:r>
              <a:rPr lang="en-US" altLang="zh-CN" b="1" dirty="0"/>
              <a:t>=x </a:t>
            </a:r>
            <a:r>
              <a:rPr lang="zh-CN" altLang="en-US" b="1" dirty="0"/>
              <a:t>时，比较 </a:t>
            </a:r>
            <a:r>
              <a:rPr lang="en-US" altLang="zh-CN" b="1" dirty="0"/>
              <a:t>n </a:t>
            </a:r>
            <a:r>
              <a:rPr lang="zh-CN" altLang="en-US" b="1" dirty="0"/>
              <a:t>次成功。</a:t>
            </a:r>
          </a:p>
          <a:p>
            <a:pPr lvl="1">
              <a:lnSpc>
                <a:spcPts val="3600"/>
              </a:lnSpc>
              <a:buFont typeface="Wingdings" panose="05000000000000000000" pitchFamily="2" charset="2"/>
              <a:buChar char="ü"/>
            </a:pPr>
            <a:r>
              <a:rPr lang="zh-CN" altLang="en-US" b="1" dirty="0"/>
              <a:t>平均比较次数为（</a:t>
            </a:r>
            <a:r>
              <a:rPr lang="en-US" altLang="zh-CN" b="1" dirty="0"/>
              <a:t>n+1</a:t>
            </a:r>
            <a:r>
              <a:rPr lang="zh-CN" altLang="en-US" b="1" dirty="0"/>
              <a:t>）</a:t>
            </a:r>
            <a:r>
              <a:rPr lang="en-US" altLang="zh-CN" b="1" dirty="0"/>
              <a:t>/2</a:t>
            </a:r>
            <a:r>
              <a:rPr lang="zh-CN" altLang="en-US" b="1" dirty="0"/>
              <a:t>，时间性能为</a:t>
            </a:r>
            <a:r>
              <a:rPr lang="en-US" altLang="zh-CN" b="1" dirty="0">
                <a:solidFill>
                  <a:srgbClr val="FF0000"/>
                </a:solidFill>
              </a:rPr>
              <a:t>O(n)</a:t>
            </a:r>
            <a:r>
              <a:rPr lang="zh-CN" altLang="en-US" b="1" dirty="0"/>
              <a:t>。</a:t>
            </a:r>
          </a:p>
          <a:p>
            <a:pPr lvl="1">
              <a:lnSpc>
                <a:spcPts val="3400"/>
              </a:lnSpc>
              <a:buFont typeface="Wingdings" panose="05000000000000000000" pitchFamily="2" charset="2"/>
              <a:buChar char="ü"/>
            </a:pPr>
            <a:endParaRPr lang="en-US" altLang="zh-CN" b="1" dirty="0"/>
          </a:p>
          <a:p>
            <a:pPr lvl="1">
              <a:lnSpc>
                <a:spcPts val="3400"/>
              </a:lnSpc>
              <a:buFont typeface="Wingdings" panose="05000000000000000000" pitchFamily="2" charset="2"/>
              <a:buChar char="ü"/>
            </a:pPr>
            <a:endParaRPr lang="zh-CN" altLang="en-US" sz="20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1" name="Picture 3"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4651" y="4581525"/>
            <a:ext cx="1584325"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AutoShape 4"/>
          <p:cNvSpPr>
            <a:spLocks noChangeArrowheads="1"/>
          </p:cNvSpPr>
          <p:nvPr/>
        </p:nvSpPr>
        <p:spPr bwMode="auto">
          <a:xfrm>
            <a:off x="8112126" y="1989138"/>
            <a:ext cx="2576513" cy="1295400"/>
          </a:xfrm>
          <a:prstGeom prst="cloudCallout">
            <a:avLst>
              <a:gd name="adj1" fmla="val 26588"/>
              <a:gd name="adj2" fmla="val 125611"/>
            </a:avLst>
          </a:prstGeom>
          <a:solidFill>
            <a:srgbClr val="FFFFCC"/>
          </a:solidFill>
          <a:ln w="38100">
            <a:solidFill>
              <a:srgbClr val="008000"/>
            </a:solidFill>
            <a:round/>
          </a:ln>
        </p:spPr>
        <p:txBody>
          <a:bodyPr lIns="0" tIns="0" rIns="0" bIns="0"/>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kumimoji="1" lang="zh-CN" altLang="en-US" sz="2800">
                <a:solidFill>
                  <a:srgbClr val="000099"/>
                </a:solidFill>
                <a:latin typeface="Times New Roman" panose="02020503050405090304" pitchFamily="18" charset="0"/>
                <a:ea typeface="黑体" panose="02010609060101010101" pitchFamily="49" charset="-122"/>
                <a:cs typeface="Times New Roman" panose="02020503050405090304" pitchFamily="18" charset="0"/>
              </a:rPr>
              <a:t>如何猜得更快？</a:t>
            </a:r>
          </a:p>
        </p:txBody>
      </p:sp>
      <p:pic>
        <p:nvPicPr>
          <p:cNvPr id="87043" name="Picture 6" descr="B41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58901" y="1511301"/>
            <a:ext cx="6969125"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Rectangle 2"/>
          <p:cNvSpPr>
            <a:spLocks noGrp="1" noChangeArrowheads="1"/>
          </p:cNvSpPr>
          <p:nvPr>
            <p:ph type="title"/>
          </p:nvPr>
        </p:nvSpPr>
        <p:spPr>
          <a:xfrm>
            <a:off x="1631950" y="260350"/>
            <a:ext cx="8915400" cy="1143000"/>
          </a:xfrm>
        </p:spPr>
        <p:txBody>
          <a:bodyPr/>
          <a:lstStyle/>
          <a:p>
            <a:pPr eaLnBrk="1" hangingPunct="1"/>
            <a:r>
              <a:rPr lang="zh-CN" altLang="en-US"/>
              <a:t>猜数游戏中的问题求解方法</a:t>
            </a:r>
            <a:endParaRPr lang="en-US" altLang="zh-CN"/>
          </a:p>
        </p:txBody>
      </p:sp>
      <p:pic>
        <p:nvPicPr>
          <p:cNvPr id="87045" name="图片 24"/>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3352" y="177801"/>
            <a:ext cx="11557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28</a:t>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rrowheads="1"/>
          </p:cNvSpPr>
          <p:nvPr/>
        </p:nvSpPr>
        <p:spPr bwMode="auto">
          <a:xfrm>
            <a:off x="1847851" y="4724400"/>
            <a:ext cx="86407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zh-CN" altLang="en-US" sz="2800">
                <a:solidFill>
                  <a:srgbClr val="002060"/>
                </a:solidFill>
                <a:latin typeface="Arial" panose="020B0604020202090204" pitchFamily="34" charset="0"/>
                <a:ea typeface="黑体" panose="02010609060101010101" pitchFamily="49" charset="-122"/>
                <a:cs typeface="Arial" panose="020B0604020202090204" pitchFamily="34" charset="0"/>
              </a:rPr>
              <a:t>用</a:t>
            </a:r>
            <a:r>
              <a:rPr lang="en-US" altLang="zh-CN" sz="2800">
                <a:solidFill>
                  <a:srgbClr val="002060"/>
                </a:solidFill>
                <a:latin typeface="Arial" panose="020B0604020202090204" pitchFamily="34" charset="0"/>
                <a:ea typeface="黑体" panose="02010609060101010101" pitchFamily="49" charset="-122"/>
                <a:cs typeface="Arial" panose="020B0604020202090204" pitchFamily="34" charset="0"/>
              </a:rPr>
              <a:t>2</a:t>
            </a:r>
            <a:r>
              <a:rPr lang="zh-CN" altLang="en-US" sz="2800">
                <a:solidFill>
                  <a:srgbClr val="002060"/>
                </a:solidFill>
                <a:latin typeface="Arial" panose="020B0604020202090204" pitchFamily="34" charset="0"/>
                <a:ea typeface="黑体" panose="02010609060101010101" pitchFamily="49" charset="-122"/>
                <a:cs typeface="Arial" panose="020B0604020202090204" pitchFamily="34" charset="0"/>
              </a:rPr>
              <a:t>除一次相当于折半查找算法中的一次比较。</a:t>
            </a:r>
          </a:p>
        </p:txBody>
      </p:sp>
      <p:sp>
        <p:nvSpPr>
          <p:cNvPr id="89090" name="Rectangle 2"/>
          <p:cNvSpPr>
            <a:spLocks noGrp="1" noChangeArrowheads="1"/>
          </p:cNvSpPr>
          <p:nvPr>
            <p:ph type="title"/>
          </p:nvPr>
        </p:nvSpPr>
        <p:spPr>
          <a:xfrm>
            <a:off x="1631950" y="260350"/>
            <a:ext cx="8915400" cy="1143000"/>
          </a:xfrm>
        </p:spPr>
        <p:txBody>
          <a:bodyPr/>
          <a:lstStyle/>
          <a:p>
            <a:pPr eaLnBrk="1" hangingPunct="1"/>
            <a:r>
              <a:rPr lang="zh-CN" altLang="en-US">
                <a:ea typeface="黑体" panose="02010609060101010101" pitchFamily="49" charset="-122"/>
              </a:rPr>
              <a:t>折半查找</a:t>
            </a:r>
            <a:endParaRPr lang="en-US" altLang="zh-CN">
              <a:ea typeface="黑体" panose="02010609060101010101" pitchFamily="49" charset="-122"/>
            </a:endParaRPr>
          </a:p>
        </p:txBody>
      </p:sp>
      <p:pic>
        <p:nvPicPr>
          <p:cNvPr id="89091" name="图片 24"/>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5360" y="188640"/>
            <a:ext cx="11557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2486" name="Group 86"/>
          <p:cNvGraphicFramePr>
            <a:graphicFrameLocks noGrp="1"/>
          </p:cNvGraphicFramePr>
          <p:nvPr/>
        </p:nvGraphicFramePr>
        <p:xfrm>
          <a:off x="4079875" y="1557339"/>
          <a:ext cx="4622800" cy="490537"/>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90537">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2487" name="Group 87"/>
          <p:cNvGraphicFramePr>
            <a:graphicFrameLocks noGrp="1"/>
          </p:cNvGraphicFramePr>
          <p:nvPr/>
        </p:nvGraphicFramePr>
        <p:xfrm>
          <a:off x="4079875" y="2133600"/>
          <a:ext cx="2311400" cy="490538"/>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tblGrid>
              <a:tr h="490538">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矩形 6"/>
          <p:cNvSpPr>
            <a:spLocks noChangeArrowheads="1"/>
          </p:cNvSpPr>
          <p:nvPr/>
        </p:nvSpPr>
        <p:spPr bwMode="auto">
          <a:xfrm>
            <a:off x="3575051" y="1557339"/>
            <a:ext cx="3603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8</a:t>
            </a:r>
          </a:p>
        </p:txBody>
      </p:sp>
      <p:sp>
        <p:nvSpPr>
          <p:cNvPr id="3" name="矩形 6"/>
          <p:cNvSpPr>
            <a:spLocks noChangeArrowheads="1"/>
          </p:cNvSpPr>
          <p:nvPr/>
        </p:nvSpPr>
        <p:spPr bwMode="auto">
          <a:xfrm>
            <a:off x="3576638" y="2162176"/>
            <a:ext cx="431800"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4</a:t>
            </a:r>
          </a:p>
        </p:txBody>
      </p:sp>
      <p:graphicFrame>
        <p:nvGraphicFramePr>
          <p:cNvPr id="102488" name="Group 88"/>
          <p:cNvGraphicFramePr>
            <a:graphicFrameLocks noGrp="1"/>
          </p:cNvGraphicFramePr>
          <p:nvPr/>
        </p:nvGraphicFramePr>
        <p:xfrm>
          <a:off x="4079875" y="2733675"/>
          <a:ext cx="1155700" cy="490538"/>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tblGrid>
              <a:tr h="490538">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 name="矩形 6"/>
          <p:cNvSpPr>
            <a:spLocks noChangeArrowheads="1"/>
          </p:cNvSpPr>
          <p:nvPr/>
        </p:nvSpPr>
        <p:spPr bwMode="auto">
          <a:xfrm>
            <a:off x="3586163" y="2762251"/>
            <a:ext cx="431800"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2</a:t>
            </a:r>
          </a:p>
        </p:txBody>
      </p:sp>
      <p:graphicFrame>
        <p:nvGraphicFramePr>
          <p:cNvPr id="102452" name="Group 52"/>
          <p:cNvGraphicFramePr>
            <a:graphicFrameLocks noGrp="1"/>
          </p:cNvGraphicFramePr>
          <p:nvPr/>
        </p:nvGraphicFramePr>
        <p:xfrm>
          <a:off x="4079875" y="3319464"/>
          <a:ext cx="577850" cy="490537"/>
        </p:xfrm>
        <a:graphic>
          <a:graphicData uri="http://schemas.openxmlformats.org/drawingml/2006/table">
            <a:tbl>
              <a:tblPr/>
              <a:tblGrid>
                <a:gridCol w="577850">
                  <a:extLst>
                    <a:ext uri="{9D8B030D-6E8A-4147-A177-3AD203B41FA5}">
                      <a16:colId xmlns:a16="http://schemas.microsoft.com/office/drawing/2014/main" val="20000"/>
                    </a:ext>
                  </a:extLst>
                </a:gridCol>
              </a:tblGrid>
              <a:tr h="490537">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pPr>
                      <a:endParaRPr kumimoji="0" lang="en-US" altLang="zh-CN" sz="2400" b="1" i="0" u="none" strike="noStrike" cap="none" normalizeH="0" baseline="0">
                        <a:ln>
                          <a:noFill/>
                        </a:ln>
                        <a:solidFill>
                          <a:srgbClr val="000066"/>
                        </a:solidFill>
                        <a:effectLst/>
                        <a:latin typeface="Courier New" panose="02070409020205090404" charset="0"/>
                        <a:ea typeface="宋体" pitchFamily="2" charset="-122"/>
                        <a:cs typeface="Courier New" panose="02070409020205090404" charset="0"/>
                      </a:endParaRPr>
                    </a:p>
                  </a:txBody>
                  <a:tcPr marL="99060" marR="9906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 name="矩形 6"/>
          <p:cNvSpPr>
            <a:spLocks noChangeArrowheads="1"/>
          </p:cNvSpPr>
          <p:nvPr/>
        </p:nvSpPr>
        <p:spPr bwMode="auto">
          <a:xfrm>
            <a:off x="3584575" y="3348039"/>
            <a:ext cx="433388"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1</a:t>
            </a:r>
          </a:p>
        </p:txBody>
      </p:sp>
      <p:sp>
        <p:nvSpPr>
          <p:cNvPr id="6" name="矩形 6"/>
          <p:cNvSpPr>
            <a:spLocks noChangeArrowheads="1"/>
          </p:cNvSpPr>
          <p:nvPr/>
        </p:nvSpPr>
        <p:spPr bwMode="auto">
          <a:xfrm>
            <a:off x="1416051" y="4152901"/>
            <a:ext cx="10080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1024</a:t>
            </a:r>
          </a:p>
        </p:txBody>
      </p:sp>
      <p:sp>
        <p:nvSpPr>
          <p:cNvPr id="9" name="矩形 6"/>
          <p:cNvSpPr>
            <a:spLocks noChangeArrowheads="1"/>
          </p:cNvSpPr>
          <p:nvPr/>
        </p:nvSpPr>
        <p:spPr bwMode="auto">
          <a:xfrm>
            <a:off x="2640014" y="4151314"/>
            <a:ext cx="79057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512</a:t>
            </a:r>
          </a:p>
        </p:txBody>
      </p:sp>
      <p:sp>
        <p:nvSpPr>
          <p:cNvPr id="10" name="矩形 6"/>
          <p:cNvSpPr>
            <a:spLocks noChangeArrowheads="1"/>
          </p:cNvSpPr>
          <p:nvPr/>
        </p:nvSpPr>
        <p:spPr bwMode="auto">
          <a:xfrm>
            <a:off x="3648076" y="4160839"/>
            <a:ext cx="10080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256</a:t>
            </a:r>
          </a:p>
        </p:txBody>
      </p:sp>
      <p:sp>
        <p:nvSpPr>
          <p:cNvPr id="11" name="矩形 6"/>
          <p:cNvSpPr>
            <a:spLocks noChangeArrowheads="1"/>
          </p:cNvSpPr>
          <p:nvPr/>
        </p:nvSpPr>
        <p:spPr bwMode="auto">
          <a:xfrm>
            <a:off x="4656139" y="4152901"/>
            <a:ext cx="9366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128</a:t>
            </a:r>
          </a:p>
        </p:txBody>
      </p:sp>
      <p:sp>
        <p:nvSpPr>
          <p:cNvPr id="12" name="矩形 6"/>
          <p:cNvSpPr>
            <a:spLocks noChangeArrowheads="1"/>
          </p:cNvSpPr>
          <p:nvPr/>
        </p:nvSpPr>
        <p:spPr bwMode="auto">
          <a:xfrm>
            <a:off x="5664201" y="4152901"/>
            <a:ext cx="5762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64</a:t>
            </a:r>
          </a:p>
        </p:txBody>
      </p:sp>
      <p:sp>
        <p:nvSpPr>
          <p:cNvPr id="13" name="矩形 6"/>
          <p:cNvSpPr>
            <a:spLocks noChangeArrowheads="1"/>
          </p:cNvSpPr>
          <p:nvPr/>
        </p:nvSpPr>
        <p:spPr bwMode="auto">
          <a:xfrm>
            <a:off x="6456363" y="4152901"/>
            <a:ext cx="576262"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32</a:t>
            </a:r>
          </a:p>
        </p:txBody>
      </p:sp>
      <p:sp>
        <p:nvSpPr>
          <p:cNvPr id="14" name="矩形 6"/>
          <p:cNvSpPr>
            <a:spLocks noChangeArrowheads="1"/>
          </p:cNvSpPr>
          <p:nvPr/>
        </p:nvSpPr>
        <p:spPr bwMode="auto">
          <a:xfrm>
            <a:off x="7319963" y="4143376"/>
            <a:ext cx="792162"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16</a:t>
            </a:r>
          </a:p>
        </p:txBody>
      </p:sp>
      <p:sp>
        <p:nvSpPr>
          <p:cNvPr id="15" name="矩形 6"/>
          <p:cNvSpPr>
            <a:spLocks noChangeArrowheads="1"/>
          </p:cNvSpPr>
          <p:nvPr/>
        </p:nvSpPr>
        <p:spPr bwMode="auto">
          <a:xfrm>
            <a:off x="8256589" y="4141789"/>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8</a:t>
            </a:r>
          </a:p>
        </p:txBody>
      </p:sp>
      <p:sp>
        <p:nvSpPr>
          <p:cNvPr id="102467" name="AutoShape 67"/>
          <p:cNvSpPr>
            <a:spLocks noChangeArrowheads="1"/>
          </p:cNvSpPr>
          <p:nvPr/>
        </p:nvSpPr>
        <p:spPr bwMode="auto">
          <a:xfrm>
            <a:off x="2351088" y="4224338"/>
            <a:ext cx="360362"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68" name="AutoShape 68"/>
          <p:cNvSpPr>
            <a:spLocks noChangeArrowheads="1"/>
          </p:cNvSpPr>
          <p:nvPr/>
        </p:nvSpPr>
        <p:spPr bwMode="auto">
          <a:xfrm>
            <a:off x="3359151" y="4224338"/>
            <a:ext cx="360363"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69" name="AutoShape 69"/>
          <p:cNvSpPr>
            <a:spLocks noChangeArrowheads="1"/>
          </p:cNvSpPr>
          <p:nvPr/>
        </p:nvSpPr>
        <p:spPr bwMode="auto">
          <a:xfrm>
            <a:off x="4368801" y="4224338"/>
            <a:ext cx="360363"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70" name="AutoShape 70"/>
          <p:cNvSpPr>
            <a:spLocks noChangeArrowheads="1"/>
          </p:cNvSpPr>
          <p:nvPr/>
        </p:nvSpPr>
        <p:spPr bwMode="auto">
          <a:xfrm>
            <a:off x="5376863" y="4224338"/>
            <a:ext cx="360362"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71" name="AutoShape 71"/>
          <p:cNvSpPr>
            <a:spLocks noChangeArrowheads="1"/>
          </p:cNvSpPr>
          <p:nvPr/>
        </p:nvSpPr>
        <p:spPr bwMode="auto">
          <a:xfrm>
            <a:off x="6169026" y="4224338"/>
            <a:ext cx="360363"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72" name="AutoShape 72"/>
          <p:cNvSpPr>
            <a:spLocks noChangeArrowheads="1"/>
          </p:cNvSpPr>
          <p:nvPr/>
        </p:nvSpPr>
        <p:spPr bwMode="auto">
          <a:xfrm>
            <a:off x="7032626" y="4224338"/>
            <a:ext cx="360363"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73" name="AutoShape 73"/>
          <p:cNvSpPr>
            <a:spLocks noChangeArrowheads="1"/>
          </p:cNvSpPr>
          <p:nvPr/>
        </p:nvSpPr>
        <p:spPr bwMode="auto">
          <a:xfrm>
            <a:off x="7896226" y="4224338"/>
            <a:ext cx="360363"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74" name="AutoShape 74"/>
          <p:cNvSpPr>
            <a:spLocks noChangeArrowheads="1"/>
          </p:cNvSpPr>
          <p:nvPr/>
        </p:nvSpPr>
        <p:spPr bwMode="auto">
          <a:xfrm>
            <a:off x="8616951" y="4224338"/>
            <a:ext cx="360363"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6" name="矩形 6"/>
          <p:cNvSpPr>
            <a:spLocks noChangeArrowheads="1"/>
          </p:cNvSpPr>
          <p:nvPr/>
        </p:nvSpPr>
        <p:spPr bwMode="auto">
          <a:xfrm>
            <a:off x="8904289" y="4151314"/>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4</a:t>
            </a:r>
          </a:p>
        </p:txBody>
      </p:sp>
      <p:sp>
        <p:nvSpPr>
          <p:cNvPr id="102476" name="AutoShape 76"/>
          <p:cNvSpPr>
            <a:spLocks noChangeArrowheads="1"/>
          </p:cNvSpPr>
          <p:nvPr/>
        </p:nvSpPr>
        <p:spPr bwMode="auto">
          <a:xfrm>
            <a:off x="9264651" y="4224338"/>
            <a:ext cx="360363"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7" name="矩形 6"/>
          <p:cNvSpPr>
            <a:spLocks noChangeArrowheads="1"/>
          </p:cNvSpPr>
          <p:nvPr/>
        </p:nvSpPr>
        <p:spPr bwMode="auto">
          <a:xfrm>
            <a:off x="9553576" y="4151314"/>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2</a:t>
            </a:r>
          </a:p>
        </p:txBody>
      </p:sp>
      <p:sp>
        <p:nvSpPr>
          <p:cNvPr id="102478" name="AutoShape 78"/>
          <p:cNvSpPr>
            <a:spLocks noChangeArrowheads="1"/>
          </p:cNvSpPr>
          <p:nvPr/>
        </p:nvSpPr>
        <p:spPr bwMode="auto">
          <a:xfrm>
            <a:off x="9869488" y="4224338"/>
            <a:ext cx="360362" cy="215900"/>
          </a:xfrm>
          <a:prstGeom prst="rightArrow">
            <a:avLst>
              <a:gd name="adj1" fmla="val 50000"/>
              <a:gd name="adj2" fmla="val 41728"/>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8" name="矩形 6"/>
          <p:cNvSpPr>
            <a:spLocks noChangeArrowheads="1"/>
          </p:cNvSpPr>
          <p:nvPr/>
        </p:nvSpPr>
        <p:spPr bwMode="auto">
          <a:xfrm>
            <a:off x="10199689" y="4141789"/>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b="1">
                <a:solidFill>
                  <a:srgbClr val="002060"/>
                </a:solidFill>
                <a:latin typeface="Courier New" panose="02070409020205090404" charset="0"/>
                <a:ea typeface="黑体" panose="02010609060101010101" pitchFamily="49" charset="-122"/>
                <a:cs typeface="Courier New" panose="02070409020205090404" charset="0"/>
              </a:rPr>
              <a:t>1</a:t>
            </a:r>
          </a:p>
        </p:txBody>
      </p:sp>
      <p:sp>
        <p:nvSpPr>
          <p:cNvPr id="102480" name="AutoShape 80"/>
          <p:cNvSpPr>
            <a:spLocks noChangeArrowheads="1"/>
          </p:cNvSpPr>
          <p:nvPr/>
        </p:nvSpPr>
        <p:spPr bwMode="auto">
          <a:xfrm>
            <a:off x="6742114" y="2225676"/>
            <a:ext cx="288925" cy="360363"/>
          </a:xfrm>
          <a:prstGeom prst="curvedLeftArrow">
            <a:avLst>
              <a:gd name="adj1" fmla="val 24945"/>
              <a:gd name="adj2" fmla="val 49890"/>
              <a:gd name="adj3" fmla="val 33333"/>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81" name="AutoShape 81"/>
          <p:cNvSpPr>
            <a:spLocks noChangeArrowheads="1"/>
          </p:cNvSpPr>
          <p:nvPr/>
        </p:nvSpPr>
        <p:spPr bwMode="auto">
          <a:xfrm>
            <a:off x="5518151" y="2801938"/>
            <a:ext cx="288925" cy="360362"/>
          </a:xfrm>
          <a:prstGeom prst="curvedLeftArrow">
            <a:avLst>
              <a:gd name="adj1" fmla="val 24945"/>
              <a:gd name="adj2" fmla="val 49890"/>
              <a:gd name="adj3" fmla="val 33333"/>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02482" name="AutoShape 82"/>
          <p:cNvSpPr>
            <a:spLocks noChangeArrowheads="1"/>
          </p:cNvSpPr>
          <p:nvPr/>
        </p:nvSpPr>
        <p:spPr bwMode="auto">
          <a:xfrm>
            <a:off x="4799014" y="3378201"/>
            <a:ext cx="288925" cy="360363"/>
          </a:xfrm>
          <a:prstGeom prst="curvedLeftArrow">
            <a:avLst>
              <a:gd name="adj1" fmla="val 24945"/>
              <a:gd name="adj2" fmla="val 49890"/>
              <a:gd name="adj3" fmla="val 33333"/>
            </a:avLst>
          </a:prstGeom>
          <a:solidFill>
            <a:srgbClr val="CCFF99"/>
          </a:solidFill>
          <a:ln w="9525">
            <a:solidFill>
              <a:schemeClr val="tx1"/>
            </a:solidFill>
            <a:miter lim="800000"/>
          </a:ln>
        </p:spPr>
        <p:txBody>
          <a:bodyPr wrap="none" lIns="90187" tIns="45094" rIns="90187" bIns="45094"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endParaRPr lang="zh-CN" altLang="en-US" sz="2000">
              <a:latin typeface="Arial" panose="020B0604020202090204" pitchFamily="34" charset="0"/>
            </a:endParaRPr>
          </a:p>
        </p:txBody>
      </p:sp>
      <p:sp>
        <p:nvSpPr>
          <p:cNvPr id="19" name="矩形 6"/>
          <p:cNvSpPr>
            <a:spLocks noChangeArrowheads="1"/>
          </p:cNvSpPr>
          <p:nvPr/>
        </p:nvSpPr>
        <p:spPr bwMode="auto">
          <a:xfrm>
            <a:off x="1847851" y="5329239"/>
            <a:ext cx="8640763"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zh-CN" altLang="en-US" sz="2800">
                <a:solidFill>
                  <a:srgbClr val="002060"/>
                </a:solidFill>
                <a:latin typeface="Arial" panose="020B0604020202090204" pitchFamily="34" charset="0"/>
                <a:ea typeface="黑体" panose="02010609060101010101" pitchFamily="49" charset="-122"/>
                <a:cs typeface="Arial" panose="020B0604020202090204" pitchFamily="34" charset="0"/>
              </a:rPr>
              <a:t>最多所需的比较次数是第一个大于数组元素个数的</a:t>
            </a:r>
            <a:r>
              <a:rPr lang="en-US" altLang="zh-CN" sz="2800">
                <a:solidFill>
                  <a:srgbClr val="002060"/>
                </a:solidFill>
                <a:latin typeface="Arial" panose="020B0604020202090204" pitchFamily="34" charset="0"/>
                <a:ea typeface="黑体" panose="02010609060101010101" pitchFamily="49" charset="-122"/>
                <a:cs typeface="Arial" panose="020B0604020202090204" pitchFamily="34" charset="0"/>
              </a:rPr>
              <a:t>2</a:t>
            </a:r>
            <a:r>
              <a:rPr lang="zh-CN" altLang="en-US" sz="2800">
                <a:solidFill>
                  <a:srgbClr val="002060"/>
                </a:solidFill>
                <a:latin typeface="Arial" panose="020B0604020202090204" pitchFamily="34" charset="0"/>
                <a:ea typeface="黑体" panose="02010609060101010101" pitchFamily="49" charset="-122"/>
                <a:cs typeface="Arial" panose="020B0604020202090204" pitchFamily="34" charset="0"/>
              </a:rPr>
              <a:t>的幂次数。</a:t>
            </a:r>
          </a:p>
        </p:txBody>
      </p:sp>
      <p:sp>
        <p:nvSpPr>
          <p:cNvPr id="8" name="灯片编号占位符 7"/>
          <p:cNvSpPr>
            <a:spLocks noGrp="1"/>
          </p:cNvSpPr>
          <p:nvPr>
            <p:ph type="sldNum" sz="quarter" idx="12"/>
          </p:nvPr>
        </p:nvSpPr>
        <p:spPr/>
        <p:txBody>
          <a:bodyPr/>
          <a:lstStyle/>
          <a:p>
            <a:pPr>
              <a:defRPr/>
            </a:pPr>
            <a:fld id="{7C4E558B-5425-6346-B896-72F904F12E77}" type="slidenum">
              <a:rPr lang="en-US" altLang="zh-CN" smtClean="0"/>
              <a:t>29</a:t>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2486"/>
                                        </p:tgtEl>
                                        <p:attrNameLst>
                                          <p:attrName>style.visibility</p:attrName>
                                        </p:attrNameLst>
                                      </p:cBhvr>
                                      <p:to>
                                        <p:strVal val="visible"/>
                                      </p:to>
                                    </p:set>
                                    <p:anim calcmode="lin" valueType="num">
                                      <p:cBhvr>
                                        <p:cTn id="7" dur="500" fill="hold"/>
                                        <p:tgtEl>
                                          <p:spTgt spid="102486"/>
                                        </p:tgtEl>
                                        <p:attrNameLst>
                                          <p:attrName>ppt_w</p:attrName>
                                        </p:attrNameLst>
                                      </p:cBhvr>
                                      <p:tavLst>
                                        <p:tav tm="0">
                                          <p:val>
                                            <p:fltVal val="0"/>
                                          </p:val>
                                        </p:tav>
                                        <p:tav tm="100000">
                                          <p:val>
                                            <p:strVal val="#ppt_w"/>
                                          </p:val>
                                        </p:tav>
                                      </p:tavLst>
                                    </p:anim>
                                    <p:anim calcmode="lin" valueType="num">
                                      <p:cBhvr>
                                        <p:cTn id="8" dur="500" fill="hold"/>
                                        <p:tgtEl>
                                          <p:spTgt spid="102486"/>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480"/>
                                        </p:tgtEl>
                                        <p:attrNameLst>
                                          <p:attrName>style.visibility</p:attrName>
                                        </p:attrNameLst>
                                      </p:cBhvr>
                                      <p:to>
                                        <p:strVal val="visible"/>
                                      </p:to>
                                    </p:set>
                                    <p:animEffect transition="in" filter="wipe(up)">
                                      <p:cBhvr>
                                        <p:cTn id="17" dur="500"/>
                                        <p:tgtEl>
                                          <p:spTgt spid="102480"/>
                                        </p:tgtEl>
                                      </p:cBhvr>
                                    </p:animEffect>
                                  </p:childTnLst>
                                </p:cTn>
                              </p:par>
                            </p:childTnLst>
                          </p:cTn>
                        </p:par>
                        <p:par>
                          <p:cTn id="18" fill="hold">
                            <p:stCondLst>
                              <p:cond delay="500"/>
                            </p:stCondLst>
                            <p:childTnLst>
                              <p:par>
                                <p:cTn id="19" presetID="17" presetClass="entr" presetSubtype="10" fill="hold" nodeType="afterEffect">
                                  <p:stCondLst>
                                    <p:cond delay="0"/>
                                  </p:stCondLst>
                                  <p:childTnLst>
                                    <p:set>
                                      <p:cBhvr>
                                        <p:cTn id="20" dur="1" fill="hold">
                                          <p:stCondLst>
                                            <p:cond delay="0"/>
                                          </p:stCondLst>
                                        </p:cTn>
                                        <p:tgtEl>
                                          <p:spTgt spid="102487"/>
                                        </p:tgtEl>
                                        <p:attrNameLst>
                                          <p:attrName>style.visibility</p:attrName>
                                        </p:attrNameLst>
                                      </p:cBhvr>
                                      <p:to>
                                        <p:strVal val="visible"/>
                                      </p:to>
                                    </p:set>
                                    <p:anim calcmode="lin" valueType="num">
                                      <p:cBhvr>
                                        <p:cTn id="21" dur="500" fill="hold"/>
                                        <p:tgtEl>
                                          <p:spTgt spid="102487"/>
                                        </p:tgtEl>
                                        <p:attrNameLst>
                                          <p:attrName>ppt_w</p:attrName>
                                        </p:attrNameLst>
                                      </p:cBhvr>
                                      <p:tavLst>
                                        <p:tav tm="0">
                                          <p:val>
                                            <p:fltVal val="0"/>
                                          </p:val>
                                        </p:tav>
                                        <p:tav tm="100000">
                                          <p:val>
                                            <p:strVal val="#ppt_w"/>
                                          </p:val>
                                        </p:tav>
                                      </p:tavLst>
                                    </p:anim>
                                    <p:anim calcmode="lin" valueType="num">
                                      <p:cBhvr>
                                        <p:cTn id="22" dur="500" fill="hold"/>
                                        <p:tgtEl>
                                          <p:spTgt spid="102487"/>
                                        </p:tgtEl>
                                        <p:attrNameLst>
                                          <p:attrName>ppt_h</p:attrName>
                                        </p:attrNameLst>
                                      </p:cBhvr>
                                      <p:tavLst>
                                        <p:tav tm="0">
                                          <p:val>
                                            <p:strVal val="#ppt_h"/>
                                          </p:val>
                                        </p:tav>
                                        <p:tav tm="100000">
                                          <p:val>
                                            <p:strVal val="#ppt_h"/>
                                          </p:val>
                                        </p:tav>
                                      </p:tavLst>
                                    </p:anim>
                                  </p:childTnLst>
                                </p:cTn>
                              </p:par>
                              <p:par>
                                <p:cTn id="23" presetID="17" presetClass="entr" presetSubtype="1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02481"/>
                                        </p:tgtEl>
                                        <p:attrNameLst>
                                          <p:attrName>style.visibility</p:attrName>
                                        </p:attrNameLst>
                                      </p:cBhvr>
                                      <p:to>
                                        <p:strVal val="visible"/>
                                      </p:to>
                                    </p:set>
                                    <p:animEffect transition="in" filter="wipe(up)">
                                      <p:cBhvr>
                                        <p:cTn id="31" dur="500"/>
                                        <p:tgtEl>
                                          <p:spTgt spid="102481"/>
                                        </p:tgtEl>
                                      </p:cBhvr>
                                    </p:animEffect>
                                  </p:childTnLst>
                                </p:cTn>
                              </p:par>
                            </p:childTnLst>
                          </p:cTn>
                        </p:par>
                        <p:par>
                          <p:cTn id="32" fill="hold">
                            <p:stCondLst>
                              <p:cond delay="500"/>
                            </p:stCondLst>
                            <p:childTnLst>
                              <p:par>
                                <p:cTn id="33" presetID="17" presetClass="entr" presetSubtype="10" fill="hold" nodeType="afterEffect">
                                  <p:stCondLst>
                                    <p:cond delay="0"/>
                                  </p:stCondLst>
                                  <p:childTnLst>
                                    <p:set>
                                      <p:cBhvr>
                                        <p:cTn id="34" dur="1" fill="hold">
                                          <p:stCondLst>
                                            <p:cond delay="0"/>
                                          </p:stCondLst>
                                        </p:cTn>
                                        <p:tgtEl>
                                          <p:spTgt spid="102488"/>
                                        </p:tgtEl>
                                        <p:attrNameLst>
                                          <p:attrName>style.visibility</p:attrName>
                                        </p:attrNameLst>
                                      </p:cBhvr>
                                      <p:to>
                                        <p:strVal val="visible"/>
                                      </p:to>
                                    </p:set>
                                    <p:anim calcmode="lin" valueType="num">
                                      <p:cBhvr>
                                        <p:cTn id="35" dur="500" fill="hold"/>
                                        <p:tgtEl>
                                          <p:spTgt spid="102488"/>
                                        </p:tgtEl>
                                        <p:attrNameLst>
                                          <p:attrName>ppt_w</p:attrName>
                                        </p:attrNameLst>
                                      </p:cBhvr>
                                      <p:tavLst>
                                        <p:tav tm="0">
                                          <p:val>
                                            <p:fltVal val="0"/>
                                          </p:val>
                                        </p:tav>
                                        <p:tav tm="100000">
                                          <p:val>
                                            <p:strVal val="#ppt_w"/>
                                          </p:val>
                                        </p:tav>
                                      </p:tavLst>
                                    </p:anim>
                                    <p:anim calcmode="lin" valueType="num">
                                      <p:cBhvr>
                                        <p:cTn id="36" dur="500" fill="hold"/>
                                        <p:tgtEl>
                                          <p:spTgt spid="102488"/>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p:cTn id="39" dur="500" fill="hold"/>
                                        <p:tgtEl>
                                          <p:spTgt spid="4"/>
                                        </p:tgtEl>
                                        <p:attrNameLst>
                                          <p:attrName>ppt_w</p:attrName>
                                        </p:attrNameLst>
                                      </p:cBhvr>
                                      <p:tavLst>
                                        <p:tav tm="0">
                                          <p:val>
                                            <p:fltVal val="0"/>
                                          </p:val>
                                        </p:tav>
                                        <p:tav tm="100000">
                                          <p:val>
                                            <p:strVal val="#ppt_w"/>
                                          </p:val>
                                        </p:tav>
                                      </p:tavLst>
                                    </p:anim>
                                    <p:anim calcmode="lin" valueType="num">
                                      <p:cBhvr>
                                        <p:cTn id="40"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02482"/>
                                        </p:tgtEl>
                                        <p:attrNameLst>
                                          <p:attrName>style.visibility</p:attrName>
                                        </p:attrNameLst>
                                      </p:cBhvr>
                                      <p:to>
                                        <p:strVal val="visible"/>
                                      </p:to>
                                    </p:set>
                                    <p:animEffect transition="in" filter="wipe(up)">
                                      <p:cBhvr>
                                        <p:cTn id="45" dur="500"/>
                                        <p:tgtEl>
                                          <p:spTgt spid="102482"/>
                                        </p:tgtEl>
                                      </p:cBhvr>
                                    </p:animEffect>
                                  </p:childTnLst>
                                </p:cTn>
                              </p:par>
                            </p:childTnLst>
                          </p:cTn>
                        </p:par>
                        <p:par>
                          <p:cTn id="46" fill="hold">
                            <p:stCondLst>
                              <p:cond delay="500"/>
                            </p:stCondLst>
                            <p:childTnLst>
                              <p:par>
                                <p:cTn id="47" presetID="17" presetClass="entr" presetSubtype="10" fill="hold" nodeType="afterEffect">
                                  <p:stCondLst>
                                    <p:cond delay="0"/>
                                  </p:stCondLst>
                                  <p:childTnLst>
                                    <p:set>
                                      <p:cBhvr>
                                        <p:cTn id="48" dur="1" fill="hold">
                                          <p:stCondLst>
                                            <p:cond delay="0"/>
                                          </p:stCondLst>
                                        </p:cTn>
                                        <p:tgtEl>
                                          <p:spTgt spid="102452"/>
                                        </p:tgtEl>
                                        <p:attrNameLst>
                                          <p:attrName>style.visibility</p:attrName>
                                        </p:attrNameLst>
                                      </p:cBhvr>
                                      <p:to>
                                        <p:strVal val="visible"/>
                                      </p:to>
                                    </p:set>
                                    <p:anim calcmode="lin" valueType="num">
                                      <p:cBhvr>
                                        <p:cTn id="49" dur="500" fill="hold"/>
                                        <p:tgtEl>
                                          <p:spTgt spid="102452"/>
                                        </p:tgtEl>
                                        <p:attrNameLst>
                                          <p:attrName>ppt_w</p:attrName>
                                        </p:attrNameLst>
                                      </p:cBhvr>
                                      <p:tavLst>
                                        <p:tav tm="0">
                                          <p:val>
                                            <p:fltVal val="0"/>
                                          </p:val>
                                        </p:tav>
                                        <p:tav tm="100000">
                                          <p:val>
                                            <p:strVal val="#ppt_w"/>
                                          </p:val>
                                        </p:tav>
                                      </p:tavLst>
                                    </p:anim>
                                    <p:anim calcmode="lin" valueType="num">
                                      <p:cBhvr>
                                        <p:cTn id="50" dur="500" fill="hold"/>
                                        <p:tgtEl>
                                          <p:spTgt spid="102452"/>
                                        </p:tgtEl>
                                        <p:attrNameLst>
                                          <p:attrName>ppt_h</p:attrName>
                                        </p:attrNameLst>
                                      </p:cBhvr>
                                      <p:tavLst>
                                        <p:tav tm="0">
                                          <p:val>
                                            <p:strVal val="#ppt_h"/>
                                          </p:val>
                                        </p:tav>
                                        <p:tav tm="100000">
                                          <p:val>
                                            <p:strVal val="#ppt_h"/>
                                          </p:val>
                                        </p:tav>
                                      </p:tavLst>
                                    </p:anim>
                                  </p:childTnLst>
                                </p:cTn>
                              </p:par>
                              <p:par>
                                <p:cTn id="51" presetID="17" presetClass="entr" presetSubtype="1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p:cTn id="53" dur="500" fill="hold"/>
                                        <p:tgtEl>
                                          <p:spTgt spid="5"/>
                                        </p:tgtEl>
                                        <p:attrNameLst>
                                          <p:attrName>ppt_w</p:attrName>
                                        </p:attrNameLst>
                                      </p:cBhvr>
                                      <p:tavLst>
                                        <p:tav tm="0">
                                          <p:val>
                                            <p:fltVal val="0"/>
                                          </p:val>
                                        </p:tav>
                                        <p:tav tm="100000">
                                          <p:val>
                                            <p:strVal val="#ppt_w"/>
                                          </p:val>
                                        </p:tav>
                                      </p:tavLst>
                                    </p:anim>
                                    <p:anim calcmode="lin" valueType="num">
                                      <p:cBhvr>
                                        <p:cTn id="54"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box(in)">
                                      <p:cBhvr>
                                        <p:cTn id="59" dur="500"/>
                                        <p:tgtEl>
                                          <p:spTgt spid="7"/>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box(in)">
                                      <p:cBhvr>
                                        <p:cTn id="64" dur="500"/>
                                        <p:tgtEl>
                                          <p:spTgt spid="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02467"/>
                                        </p:tgtEl>
                                        <p:attrNameLst>
                                          <p:attrName>style.visibility</p:attrName>
                                        </p:attrNameLst>
                                      </p:cBhvr>
                                      <p:to>
                                        <p:strVal val="visible"/>
                                      </p:to>
                                    </p:set>
                                    <p:animEffect transition="in" filter="wipe(left)">
                                      <p:cBhvr>
                                        <p:cTn id="69" dur="500"/>
                                        <p:tgtEl>
                                          <p:spTgt spid="102467"/>
                                        </p:tgtEl>
                                      </p:cBhvr>
                                    </p:animEffect>
                                  </p:childTnLst>
                                </p:cTn>
                              </p:par>
                            </p:childTnLst>
                          </p:cTn>
                        </p:par>
                        <p:par>
                          <p:cTn id="70" fill="hold">
                            <p:stCondLst>
                              <p:cond delay="500"/>
                            </p:stCondLst>
                            <p:childTnLst>
                              <p:par>
                                <p:cTn id="71" presetID="4" presetClass="entr" presetSubtype="16" fill="hold" grpId="0" nodeType="after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box(in)">
                                      <p:cBhvr>
                                        <p:cTn id="73" dur="500"/>
                                        <p:tgtEl>
                                          <p:spTgt spid="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02468"/>
                                        </p:tgtEl>
                                        <p:attrNameLst>
                                          <p:attrName>style.visibility</p:attrName>
                                        </p:attrNameLst>
                                      </p:cBhvr>
                                      <p:to>
                                        <p:strVal val="visible"/>
                                      </p:to>
                                    </p:set>
                                    <p:animEffect transition="in" filter="wipe(left)">
                                      <p:cBhvr>
                                        <p:cTn id="78" dur="500"/>
                                        <p:tgtEl>
                                          <p:spTgt spid="102468"/>
                                        </p:tgtEl>
                                      </p:cBhvr>
                                    </p:animEffect>
                                  </p:childTnLst>
                                </p:cTn>
                              </p:par>
                            </p:childTnLst>
                          </p:cTn>
                        </p:par>
                        <p:par>
                          <p:cTn id="79" fill="hold">
                            <p:stCondLst>
                              <p:cond delay="500"/>
                            </p:stCondLst>
                            <p:childTnLst>
                              <p:par>
                                <p:cTn id="80" presetID="4" presetClass="entr" presetSubtype="16" fill="hold" grpId="0" nodeType="after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box(in)">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02469"/>
                                        </p:tgtEl>
                                        <p:attrNameLst>
                                          <p:attrName>style.visibility</p:attrName>
                                        </p:attrNameLst>
                                      </p:cBhvr>
                                      <p:to>
                                        <p:strVal val="visible"/>
                                      </p:to>
                                    </p:set>
                                    <p:animEffect transition="in" filter="wipe(left)">
                                      <p:cBhvr>
                                        <p:cTn id="87" dur="500"/>
                                        <p:tgtEl>
                                          <p:spTgt spid="102469"/>
                                        </p:tgtEl>
                                      </p:cBhvr>
                                    </p:animEffect>
                                  </p:childTnLst>
                                </p:cTn>
                              </p:par>
                            </p:childTnLst>
                          </p:cTn>
                        </p:par>
                        <p:par>
                          <p:cTn id="88" fill="hold">
                            <p:stCondLst>
                              <p:cond delay="500"/>
                            </p:stCondLst>
                            <p:childTnLst>
                              <p:par>
                                <p:cTn id="89" presetID="4" presetClass="entr" presetSubtype="16" fill="hold" grpId="0" nodeType="after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box(in)">
                                      <p:cBhvr>
                                        <p:cTn id="91" dur="500"/>
                                        <p:tgtEl>
                                          <p:spTgt spid="1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02470"/>
                                        </p:tgtEl>
                                        <p:attrNameLst>
                                          <p:attrName>style.visibility</p:attrName>
                                        </p:attrNameLst>
                                      </p:cBhvr>
                                      <p:to>
                                        <p:strVal val="visible"/>
                                      </p:to>
                                    </p:set>
                                    <p:animEffect transition="in" filter="wipe(left)">
                                      <p:cBhvr>
                                        <p:cTn id="96" dur="500"/>
                                        <p:tgtEl>
                                          <p:spTgt spid="102470"/>
                                        </p:tgtEl>
                                      </p:cBhvr>
                                    </p:animEffect>
                                  </p:childTnLst>
                                </p:cTn>
                              </p:par>
                            </p:childTnLst>
                          </p:cTn>
                        </p:par>
                        <p:par>
                          <p:cTn id="97" fill="hold">
                            <p:stCondLst>
                              <p:cond delay="500"/>
                            </p:stCondLst>
                            <p:childTnLst>
                              <p:par>
                                <p:cTn id="98" presetID="4" presetClass="entr" presetSubtype="16" fill="hold" grpId="0" nodeType="afterEffect">
                                  <p:stCondLst>
                                    <p:cond delay="0"/>
                                  </p:stCondLst>
                                  <p:childTnLst>
                                    <p:set>
                                      <p:cBhvr>
                                        <p:cTn id="99" dur="1" fill="hold">
                                          <p:stCondLst>
                                            <p:cond delay="0"/>
                                          </p:stCondLst>
                                        </p:cTn>
                                        <p:tgtEl>
                                          <p:spTgt spid="12"/>
                                        </p:tgtEl>
                                        <p:attrNameLst>
                                          <p:attrName>style.visibility</p:attrName>
                                        </p:attrNameLst>
                                      </p:cBhvr>
                                      <p:to>
                                        <p:strVal val="visible"/>
                                      </p:to>
                                    </p:set>
                                    <p:animEffect transition="in" filter="box(in)">
                                      <p:cBhvr>
                                        <p:cTn id="100" dur="500"/>
                                        <p:tgtEl>
                                          <p:spTgt spid="12"/>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02471"/>
                                        </p:tgtEl>
                                        <p:attrNameLst>
                                          <p:attrName>style.visibility</p:attrName>
                                        </p:attrNameLst>
                                      </p:cBhvr>
                                      <p:to>
                                        <p:strVal val="visible"/>
                                      </p:to>
                                    </p:set>
                                    <p:animEffect transition="in" filter="wipe(left)">
                                      <p:cBhvr>
                                        <p:cTn id="105" dur="500"/>
                                        <p:tgtEl>
                                          <p:spTgt spid="102471"/>
                                        </p:tgtEl>
                                      </p:cBhvr>
                                    </p:animEffect>
                                  </p:childTnLst>
                                </p:cTn>
                              </p:par>
                            </p:childTnLst>
                          </p:cTn>
                        </p:par>
                        <p:par>
                          <p:cTn id="106" fill="hold">
                            <p:stCondLst>
                              <p:cond delay="500"/>
                            </p:stCondLst>
                            <p:childTnLst>
                              <p:par>
                                <p:cTn id="107" presetID="4" presetClass="entr" presetSubtype="16" fill="hold" grpId="0" nodeType="after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box(in)">
                                      <p:cBhvr>
                                        <p:cTn id="109" dur="500"/>
                                        <p:tgtEl>
                                          <p:spTgt spid="13"/>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02472"/>
                                        </p:tgtEl>
                                        <p:attrNameLst>
                                          <p:attrName>style.visibility</p:attrName>
                                        </p:attrNameLst>
                                      </p:cBhvr>
                                      <p:to>
                                        <p:strVal val="visible"/>
                                      </p:to>
                                    </p:set>
                                    <p:animEffect transition="in" filter="wipe(left)">
                                      <p:cBhvr>
                                        <p:cTn id="114" dur="500"/>
                                        <p:tgtEl>
                                          <p:spTgt spid="102472"/>
                                        </p:tgtEl>
                                      </p:cBhvr>
                                    </p:animEffect>
                                  </p:childTnLst>
                                </p:cTn>
                              </p:par>
                            </p:childTnLst>
                          </p:cTn>
                        </p:par>
                        <p:par>
                          <p:cTn id="115" fill="hold">
                            <p:stCondLst>
                              <p:cond delay="500"/>
                            </p:stCondLst>
                            <p:childTnLst>
                              <p:par>
                                <p:cTn id="116" presetID="4" presetClass="entr" presetSubtype="16" fill="hold" grpId="0" nodeType="afterEffect">
                                  <p:stCondLst>
                                    <p:cond delay="0"/>
                                  </p:stCondLst>
                                  <p:childTnLst>
                                    <p:set>
                                      <p:cBhvr>
                                        <p:cTn id="117" dur="1" fill="hold">
                                          <p:stCondLst>
                                            <p:cond delay="0"/>
                                          </p:stCondLst>
                                        </p:cTn>
                                        <p:tgtEl>
                                          <p:spTgt spid="14"/>
                                        </p:tgtEl>
                                        <p:attrNameLst>
                                          <p:attrName>style.visibility</p:attrName>
                                        </p:attrNameLst>
                                      </p:cBhvr>
                                      <p:to>
                                        <p:strVal val="visible"/>
                                      </p:to>
                                    </p:set>
                                    <p:animEffect transition="in" filter="box(in)">
                                      <p:cBhvr>
                                        <p:cTn id="118" dur="500"/>
                                        <p:tgtEl>
                                          <p:spTgt spid="1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02473"/>
                                        </p:tgtEl>
                                        <p:attrNameLst>
                                          <p:attrName>style.visibility</p:attrName>
                                        </p:attrNameLst>
                                      </p:cBhvr>
                                      <p:to>
                                        <p:strVal val="visible"/>
                                      </p:to>
                                    </p:set>
                                    <p:animEffect transition="in" filter="wipe(left)">
                                      <p:cBhvr>
                                        <p:cTn id="123" dur="500"/>
                                        <p:tgtEl>
                                          <p:spTgt spid="102473"/>
                                        </p:tgtEl>
                                      </p:cBhvr>
                                    </p:animEffect>
                                  </p:childTnLst>
                                </p:cTn>
                              </p:par>
                            </p:childTnLst>
                          </p:cTn>
                        </p:par>
                        <p:par>
                          <p:cTn id="124" fill="hold">
                            <p:stCondLst>
                              <p:cond delay="500"/>
                            </p:stCondLst>
                            <p:childTnLst>
                              <p:par>
                                <p:cTn id="125" presetID="4" presetClass="entr" presetSubtype="16" fill="hold" grpId="0" nodeType="afterEffect">
                                  <p:stCondLst>
                                    <p:cond delay="0"/>
                                  </p:stCondLst>
                                  <p:childTnLst>
                                    <p:set>
                                      <p:cBhvr>
                                        <p:cTn id="126" dur="1" fill="hold">
                                          <p:stCondLst>
                                            <p:cond delay="0"/>
                                          </p:stCondLst>
                                        </p:cTn>
                                        <p:tgtEl>
                                          <p:spTgt spid="15"/>
                                        </p:tgtEl>
                                        <p:attrNameLst>
                                          <p:attrName>style.visibility</p:attrName>
                                        </p:attrNameLst>
                                      </p:cBhvr>
                                      <p:to>
                                        <p:strVal val="visible"/>
                                      </p:to>
                                    </p:set>
                                    <p:animEffect transition="in" filter="box(in)">
                                      <p:cBhvr>
                                        <p:cTn id="127" dur="500"/>
                                        <p:tgtEl>
                                          <p:spTgt spid="15"/>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02474"/>
                                        </p:tgtEl>
                                        <p:attrNameLst>
                                          <p:attrName>style.visibility</p:attrName>
                                        </p:attrNameLst>
                                      </p:cBhvr>
                                      <p:to>
                                        <p:strVal val="visible"/>
                                      </p:to>
                                    </p:set>
                                    <p:animEffect transition="in" filter="wipe(left)">
                                      <p:cBhvr>
                                        <p:cTn id="132" dur="500"/>
                                        <p:tgtEl>
                                          <p:spTgt spid="102474"/>
                                        </p:tgtEl>
                                      </p:cBhvr>
                                    </p:animEffect>
                                  </p:childTnLst>
                                </p:cTn>
                              </p:par>
                            </p:childTnLst>
                          </p:cTn>
                        </p:par>
                        <p:par>
                          <p:cTn id="133" fill="hold">
                            <p:stCondLst>
                              <p:cond delay="500"/>
                            </p:stCondLst>
                            <p:childTnLst>
                              <p:par>
                                <p:cTn id="134" presetID="4" presetClass="entr" presetSubtype="16" fill="hold" grpId="0" nodeType="afterEffect">
                                  <p:stCondLst>
                                    <p:cond delay="0"/>
                                  </p:stCondLst>
                                  <p:childTnLst>
                                    <p:set>
                                      <p:cBhvr>
                                        <p:cTn id="135" dur="1" fill="hold">
                                          <p:stCondLst>
                                            <p:cond delay="0"/>
                                          </p:stCondLst>
                                        </p:cTn>
                                        <p:tgtEl>
                                          <p:spTgt spid="16"/>
                                        </p:tgtEl>
                                        <p:attrNameLst>
                                          <p:attrName>style.visibility</p:attrName>
                                        </p:attrNameLst>
                                      </p:cBhvr>
                                      <p:to>
                                        <p:strVal val="visible"/>
                                      </p:to>
                                    </p:set>
                                    <p:animEffect transition="in" filter="box(in)">
                                      <p:cBhvr>
                                        <p:cTn id="136" dur="500"/>
                                        <p:tgtEl>
                                          <p:spTgt spid="16"/>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102476"/>
                                        </p:tgtEl>
                                        <p:attrNameLst>
                                          <p:attrName>style.visibility</p:attrName>
                                        </p:attrNameLst>
                                      </p:cBhvr>
                                      <p:to>
                                        <p:strVal val="visible"/>
                                      </p:to>
                                    </p:set>
                                    <p:animEffect transition="in" filter="wipe(left)">
                                      <p:cBhvr>
                                        <p:cTn id="141" dur="500"/>
                                        <p:tgtEl>
                                          <p:spTgt spid="102476"/>
                                        </p:tgtEl>
                                      </p:cBhvr>
                                    </p:animEffect>
                                  </p:childTnLst>
                                </p:cTn>
                              </p:par>
                            </p:childTnLst>
                          </p:cTn>
                        </p:par>
                        <p:par>
                          <p:cTn id="142" fill="hold">
                            <p:stCondLst>
                              <p:cond delay="500"/>
                            </p:stCondLst>
                            <p:childTnLst>
                              <p:par>
                                <p:cTn id="143" presetID="4" presetClass="entr" presetSubtype="16" fill="hold" grpId="0" nodeType="afterEffect">
                                  <p:stCondLst>
                                    <p:cond delay="0"/>
                                  </p:stCondLst>
                                  <p:childTnLst>
                                    <p:set>
                                      <p:cBhvr>
                                        <p:cTn id="144" dur="1" fill="hold">
                                          <p:stCondLst>
                                            <p:cond delay="0"/>
                                          </p:stCondLst>
                                        </p:cTn>
                                        <p:tgtEl>
                                          <p:spTgt spid="17"/>
                                        </p:tgtEl>
                                        <p:attrNameLst>
                                          <p:attrName>style.visibility</p:attrName>
                                        </p:attrNameLst>
                                      </p:cBhvr>
                                      <p:to>
                                        <p:strVal val="visible"/>
                                      </p:to>
                                    </p:set>
                                    <p:animEffect transition="in" filter="box(in)">
                                      <p:cBhvr>
                                        <p:cTn id="145" dur="500"/>
                                        <p:tgtEl>
                                          <p:spTgt spid="17"/>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102478"/>
                                        </p:tgtEl>
                                        <p:attrNameLst>
                                          <p:attrName>style.visibility</p:attrName>
                                        </p:attrNameLst>
                                      </p:cBhvr>
                                      <p:to>
                                        <p:strVal val="visible"/>
                                      </p:to>
                                    </p:set>
                                    <p:animEffect transition="in" filter="wipe(left)">
                                      <p:cBhvr>
                                        <p:cTn id="150" dur="500"/>
                                        <p:tgtEl>
                                          <p:spTgt spid="102478"/>
                                        </p:tgtEl>
                                      </p:cBhvr>
                                    </p:animEffect>
                                  </p:childTnLst>
                                </p:cTn>
                              </p:par>
                            </p:childTnLst>
                          </p:cTn>
                        </p:par>
                        <p:par>
                          <p:cTn id="151" fill="hold">
                            <p:stCondLst>
                              <p:cond delay="500"/>
                            </p:stCondLst>
                            <p:childTnLst>
                              <p:par>
                                <p:cTn id="152" presetID="4" presetClass="entr" presetSubtype="16" fill="hold" grpId="0" nodeType="afterEffect">
                                  <p:stCondLst>
                                    <p:cond delay="0"/>
                                  </p:stCondLst>
                                  <p:childTnLst>
                                    <p:set>
                                      <p:cBhvr>
                                        <p:cTn id="153" dur="1" fill="hold">
                                          <p:stCondLst>
                                            <p:cond delay="0"/>
                                          </p:stCondLst>
                                        </p:cTn>
                                        <p:tgtEl>
                                          <p:spTgt spid="18"/>
                                        </p:tgtEl>
                                        <p:attrNameLst>
                                          <p:attrName>style.visibility</p:attrName>
                                        </p:attrNameLst>
                                      </p:cBhvr>
                                      <p:to>
                                        <p:strVal val="visible"/>
                                      </p:to>
                                    </p:set>
                                    <p:animEffect transition="in" filter="box(in)">
                                      <p:cBhvr>
                                        <p:cTn id="154" dur="500"/>
                                        <p:tgtEl>
                                          <p:spTgt spid="18"/>
                                        </p:tgtEl>
                                      </p:cBhvr>
                                    </p:animEffect>
                                  </p:childTnLst>
                                </p:cTn>
                              </p:par>
                            </p:childTnLst>
                          </p:cTn>
                        </p:par>
                      </p:childTnLst>
                    </p:cTn>
                  </p:par>
                  <p:par>
                    <p:cTn id="155" fill="hold">
                      <p:stCondLst>
                        <p:cond delay="indefinite"/>
                      </p:stCondLst>
                      <p:childTnLst>
                        <p:par>
                          <p:cTn id="156" fill="hold">
                            <p:stCondLst>
                              <p:cond delay="0"/>
                            </p:stCondLst>
                            <p:childTnLst>
                              <p:par>
                                <p:cTn id="157" presetID="4" presetClass="entr" presetSubtype="16" fill="hold" grpId="0" nodeType="clickEffect">
                                  <p:stCondLst>
                                    <p:cond delay="0"/>
                                  </p:stCondLst>
                                  <p:childTnLst>
                                    <p:set>
                                      <p:cBhvr>
                                        <p:cTn id="158" dur="1" fill="hold">
                                          <p:stCondLst>
                                            <p:cond delay="0"/>
                                          </p:stCondLst>
                                        </p:cTn>
                                        <p:tgtEl>
                                          <p:spTgt spid="19"/>
                                        </p:tgtEl>
                                        <p:attrNameLst>
                                          <p:attrName>style.visibility</p:attrName>
                                        </p:attrNameLst>
                                      </p:cBhvr>
                                      <p:to>
                                        <p:strVal val="visible"/>
                                      </p:to>
                                    </p:set>
                                    <p:animEffect transition="in" filter="box(in)">
                                      <p:cBhvr>
                                        <p:cTn id="15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P spid="5" grpId="0"/>
      <p:bldP spid="6" grpId="0"/>
      <p:bldP spid="9" grpId="0"/>
      <p:bldP spid="10" grpId="0"/>
      <p:bldP spid="11" grpId="0"/>
      <p:bldP spid="12" grpId="0"/>
      <p:bldP spid="13" grpId="0"/>
      <p:bldP spid="14" grpId="0"/>
      <p:bldP spid="15" grpId="0"/>
      <p:bldP spid="102467" grpId="0" animBg="1"/>
      <p:bldP spid="102468" grpId="0" animBg="1"/>
      <p:bldP spid="102469" grpId="0" animBg="1"/>
      <p:bldP spid="102470" grpId="0" animBg="1"/>
      <p:bldP spid="102471" grpId="0" animBg="1"/>
      <p:bldP spid="102472" grpId="0" animBg="1"/>
      <p:bldP spid="102473" grpId="0" animBg="1"/>
      <p:bldP spid="102474" grpId="0" animBg="1"/>
      <p:bldP spid="16" grpId="0"/>
      <p:bldP spid="102476" grpId="0" animBg="1"/>
      <p:bldP spid="17" grpId="0"/>
      <p:bldP spid="102478" grpId="0" animBg="1"/>
      <p:bldP spid="18" grpId="0"/>
      <p:bldP spid="102480" grpId="0" animBg="1"/>
      <p:bldP spid="102481" grpId="0" animBg="1"/>
      <p:bldP spid="102482" grpId="0" animBg="1"/>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p:txBody>
          <a:bodyPr/>
          <a:lstStyle/>
          <a:p>
            <a:pPr eaLnBrk="1" hangingPunct="1"/>
            <a:r>
              <a:rPr lang="zh-CN" altLang="en-US">
                <a:ea typeface="黑体" panose="02010609060101010101" pitchFamily="49" charset="-122"/>
              </a:rPr>
              <a:t>折半查找原理</a:t>
            </a:r>
            <a:endParaRPr lang="en-US" altLang="zh-CN">
              <a:ea typeface="黑体" panose="02010609060101010101" pitchFamily="49" charset="-122"/>
            </a:endParaRPr>
          </a:p>
        </p:txBody>
      </p:sp>
      <p:graphicFrame>
        <p:nvGraphicFramePr>
          <p:cNvPr id="386051" name="Group 3"/>
          <p:cNvGraphicFramePr>
            <a:graphicFrameLocks noGrp="1"/>
          </p:cNvGraphicFramePr>
          <p:nvPr/>
        </p:nvGraphicFramePr>
        <p:xfrm>
          <a:off x="2916238" y="2574925"/>
          <a:ext cx="4622800" cy="4572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386071" name="Group 23"/>
          <p:cNvGraphicFramePr>
            <a:graphicFrameLocks noGrp="1"/>
          </p:cNvGraphicFramePr>
          <p:nvPr/>
        </p:nvGraphicFramePr>
        <p:xfrm>
          <a:off x="2916238" y="373538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62550" name="Group 86"/>
          <p:cNvGraphicFramePr>
            <a:graphicFrameLocks noGrp="1"/>
          </p:cNvGraphicFramePr>
          <p:nvPr/>
        </p:nvGraphicFramePr>
        <p:xfrm>
          <a:off x="2916238" y="5026025"/>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sp>
        <p:nvSpPr>
          <p:cNvPr id="386111" name="Rectangle 63"/>
          <p:cNvSpPr>
            <a:spLocks noChangeArrowheads="1"/>
          </p:cNvSpPr>
          <p:nvPr/>
        </p:nvSpPr>
        <p:spPr bwMode="auto">
          <a:xfrm>
            <a:off x="1992313" y="2511425"/>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8</a:t>
            </a:r>
          </a:p>
        </p:txBody>
      </p:sp>
      <p:sp>
        <p:nvSpPr>
          <p:cNvPr id="386112" name="Rectangle 64"/>
          <p:cNvSpPr>
            <a:spLocks noChangeArrowheads="1"/>
          </p:cNvSpPr>
          <p:nvPr/>
        </p:nvSpPr>
        <p:spPr bwMode="auto">
          <a:xfrm>
            <a:off x="1992313" y="3735388"/>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8</a:t>
            </a:r>
          </a:p>
        </p:txBody>
      </p:sp>
      <p:sp>
        <p:nvSpPr>
          <p:cNvPr id="386113" name="Rectangle 65"/>
          <p:cNvSpPr>
            <a:spLocks noChangeArrowheads="1"/>
          </p:cNvSpPr>
          <p:nvPr/>
        </p:nvSpPr>
        <p:spPr bwMode="auto">
          <a:xfrm>
            <a:off x="1992313" y="5026025"/>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8</a:t>
            </a:r>
          </a:p>
        </p:txBody>
      </p:sp>
      <p:sp>
        <p:nvSpPr>
          <p:cNvPr id="62530" name="Text Box 68"/>
          <p:cNvSpPr txBox="1">
            <a:spLocks noChangeArrowheads="1"/>
          </p:cNvSpPr>
          <p:nvPr/>
        </p:nvSpPr>
        <p:spPr bwMode="auto">
          <a:xfrm>
            <a:off x="1917700" y="1714500"/>
            <a:ext cx="12065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a:t>
            </a:r>
          </a:p>
        </p:txBody>
      </p:sp>
      <p:sp>
        <p:nvSpPr>
          <p:cNvPr id="12" name="Line 930"/>
          <p:cNvSpPr>
            <a:spLocks noChangeShapeType="1"/>
          </p:cNvSpPr>
          <p:nvPr/>
        </p:nvSpPr>
        <p:spPr bwMode="auto">
          <a:xfrm flipH="1">
            <a:off x="6723063" y="1844675"/>
            <a:ext cx="773112" cy="642938"/>
          </a:xfrm>
          <a:prstGeom prst="line">
            <a:avLst/>
          </a:prstGeom>
          <a:noFill/>
          <a:ln w="25400">
            <a:solidFill>
              <a:srgbClr val="00B050"/>
            </a:solidFill>
            <a:miter lim="800000"/>
            <a:tailEnd type="triangle" w="med" len="med"/>
          </a:ln>
          <a:effectLst/>
        </p:spPr>
        <p:txBody>
          <a:bodyPr wrap="none"/>
          <a:lstStyle/>
          <a:p>
            <a:pPr>
              <a:lnSpc>
                <a:spcPct val="90000"/>
              </a:lnSpc>
              <a:spcAft>
                <a:spcPts val="590"/>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49221" name="Text Box 931"/>
          <p:cNvSpPr txBox="1">
            <a:spLocks noChangeArrowheads="1"/>
          </p:cNvSpPr>
          <p:nvPr/>
        </p:nvSpPr>
        <p:spPr bwMode="auto">
          <a:xfrm>
            <a:off x="7470775" y="1557338"/>
            <a:ext cx="3017838" cy="523220"/>
          </a:xfrm>
          <a:prstGeom prst="rect">
            <a:avLst/>
          </a:prstGeom>
          <a:solidFill>
            <a:schemeClr val="bg2">
              <a:lumMod val="90000"/>
            </a:schemeClr>
          </a:solidFill>
          <a:ln w="25400">
            <a:solidFill>
              <a:srgbClr val="00B050"/>
            </a:solidFill>
            <a:miter lim="800000"/>
          </a:ln>
        </p:spPr>
        <p:txBody>
          <a:bodyPr>
            <a:spAutoFit/>
          </a:bodyPr>
          <a:lstStyle/>
          <a:p>
            <a:pPr algn="ctr">
              <a:spcBef>
                <a:spcPts val="600"/>
              </a:spcBef>
              <a:spcAft>
                <a:spcPts val="600"/>
              </a:spcAft>
              <a:buClr>
                <a:schemeClr val="tx2"/>
              </a:buClr>
              <a:buSzPct val="80000"/>
              <a:defRPr/>
            </a:pPr>
            <a:r>
              <a:rPr lang="zh-CN" altLang="en-US" sz="2800">
                <a:solidFill>
                  <a:srgbClr val="000066"/>
                </a:solidFill>
                <a:latin typeface="黑体" panose="02010609060101010101" pitchFamily="49" charset="-122"/>
                <a:ea typeface="黑体" panose="02010609060101010101" pitchFamily="49" charset="-122"/>
              </a:rPr>
              <a:t>事先按升序排序</a:t>
            </a:r>
            <a:endParaRPr lang="en-US" altLang="zh-CN" sz="2800">
              <a:solidFill>
                <a:srgbClr val="000066"/>
              </a:solidFill>
              <a:latin typeface="黑体" panose="02010609060101010101" pitchFamily="49" charset="-122"/>
              <a:ea typeface="黑体" panose="02010609060101010101" pitchFamily="49" charset="-122"/>
            </a:endParaRPr>
          </a:p>
        </p:txBody>
      </p:sp>
      <p:sp>
        <p:nvSpPr>
          <p:cNvPr id="13" name="Text Box 68"/>
          <p:cNvSpPr txBox="1">
            <a:spLocks noChangeArrowheads="1"/>
          </p:cNvSpPr>
          <p:nvPr/>
        </p:nvSpPr>
        <p:spPr bwMode="auto">
          <a:xfrm>
            <a:off x="7680325" y="256540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key&gt;4, low=mid+1</a:t>
            </a:r>
          </a:p>
        </p:txBody>
      </p:sp>
      <p:sp>
        <p:nvSpPr>
          <p:cNvPr id="14" name="Text Box 68"/>
          <p:cNvSpPr txBox="1">
            <a:spLocks noChangeArrowheads="1"/>
          </p:cNvSpPr>
          <p:nvPr/>
        </p:nvSpPr>
        <p:spPr bwMode="auto">
          <a:xfrm>
            <a:off x="7686675" y="374015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key&gt;7, low=mid+1</a:t>
            </a:r>
          </a:p>
        </p:txBody>
      </p:sp>
      <p:sp>
        <p:nvSpPr>
          <p:cNvPr id="15" name="Text Box 68"/>
          <p:cNvSpPr txBox="1">
            <a:spLocks noChangeArrowheads="1"/>
          </p:cNvSpPr>
          <p:nvPr/>
        </p:nvSpPr>
        <p:spPr bwMode="auto">
          <a:xfrm>
            <a:off x="7686675" y="5026025"/>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key==8</a:t>
            </a:r>
          </a:p>
        </p:txBody>
      </p:sp>
      <p:sp>
        <p:nvSpPr>
          <p:cNvPr id="16" name="Text Box 68"/>
          <p:cNvSpPr txBox="1">
            <a:spLocks noChangeArrowheads="1"/>
          </p:cNvSpPr>
          <p:nvPr/>
        </p:nvSpPr>
        <p:spPr bwMode="auto">
          <a:xfrm>
            <a:off x="2816225" y="2159001"/>
            <a:ext cx="1047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low=0</a:t>
            </a:r>
          </a:p>
        </p:txBody>
      </p:sp>
      <p:sp>
        <p:nvSpPr>
          <p:cNvPr id="17" name="Text Box 68"/>
          <p:cNvSpPr txBox="1">
            <a:spLocks noChangeArrowheads="1"/>
          </p:cNvSpPr>
          <p:nvPr/>
        </p:nvSpPr>
        <p:spPr bwMode="auto">
          <a:xfrm>
            <a:off x="5221289" y="3343276"/>
            <a:ext cx="763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low</a:t>
            </a:r>
          </a:p>
        </p:txBody>
      </p:sp>
      <p:sp>
        <p:nvSpPr>
          <p:cNvPr id="18" name="Text Box 68"/>
          <p:cNvSpPr txBox="1">
            <a:spLocks noChangeArrowheads="1"/>
          </p:cNvSpPr>
          <p:nvPr/>
        </p:nvSpPr>
        <p:spPr bwMode="auto">
          <a:xfrm>
            <a:off x="6365875" y="4587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low</a:t>
            </a:r>
          </a:p>
        </p:txBody>
      </p:sp>
      <p:sp>
        <p:nvSpPr>
          <p:cNvPr id="19" name="Text Box 68"/>
          <p:cNvSpPr txBox="1">
            <a:spLocks noChangeArrowheads="1"/>
          </p:cNvSpPr>
          <p:nvPr/>
        </p:nvSpPr>
        <p:spPr bwMode="auto">
          <a:xfrm>
            <a:off x="6888163" y="2171701"/>
            <a:ext cx="1333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high=n-1</a:t>
            </a:r>
          </a:p>
        </p:txBody>
      </p:sp>
      <p:sp>
        <p:nvSpPr>
          <p:cNvPr id="20" name="Text Box 68"/>
          <p:cNvSpPr txBox="1">
            <a:spLocks noChangeArrowheads="1"/>
          </p:cNvSpPr>
          <p:nvPr/>
        </p:nvSpPr>
        <p:spPr bwMode="auto">
          <a:xfrm>
            <a:off x="6927850" y="3317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high</a:t>
            </a:r>
          </a:p>
        </p:txBody>
      </p:sp>
      <p:sp>
        <p:nvSpPr>
          <p:cNvPr id="21" name="Text Box 68"/>
          <p:cNvSpPr txBox="1">
            <a:spLocks noChangeArrowheads="1"/>
          </p:cNvSpPr>
          <p:nvPr/>
        </p:nvSpPr>
        <p:spPr bwMode="auto">
          <a:xfrm>
            <a:off x="6927850" y="4587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high</a:t>
            </a:r>
          </a:p>
        </p:txBody>
      </p:sp>
      <p:sp>
        <p:nvSpPr>
          <p:cNvPr id="22" name="Text Box 68"/>
          <p:cNvSpPr txBox="1">
            <a:spLocks noChangeArrowheads="1"/>
          </p:cNvSpPr>
          <p:nvPr/>
        </p:nvSpPr>
        <p:spPr bwMode="auto">
          <a:xfrm>
            <a:off x="4591050" y="2187576"/>
            <a:ext cx="2152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mid=(low+high)/2</a:t>
            </a:r>
          </a:p>
        </p:txBody>
      </p:sp>
      <p:sp>
        <p:nvSpPr>
          <p:cNvPr id="23" name="Text Box 68"/>
          <p:cNvSpPr txBox="1">
            <a:spLocks noChangeArrowheads="1"/>
          </p:cNvSpPr>
          <p:nvPr/>
        </p:nvSpPr>
        <p:spPr bwMode="auto">
          <a:xfrm>
            <a:off x="5791200" y="3344863"/>
            <a:ext cx="763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mid</a:t>
            </a:r>
          </a:p>
        </p:txBody>
      </p:sp>
      <p:sp>
        <p:nvSpPr>
          <p:cNvPr id="24" name="Text Box 68"/>
          <p:cNvSpPr txBox="1">
            <a:spLocks noChangeArrowheads="1"/>
          </p:cNvSpPr>
          <p:nvPr/>
        </p:nvSpPr>
        <p:spPr bwMode="auto">
          <a:xfrm>
            <a:off x="6381750" y="4333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mid</a:t>
            </a:r>
          </a:p>
        </p:txBody>
      </p:sp>
      <p:sp>
        <p:nvSpPr>
          <p:cNvPr id="27" name="AutoShape 539"/>
          <p:cNvSpPr>
            <a:spLocks noChangeArrowheads="1"/>
          </p:cNvSpPr>
          <p:nvPr/>
        </p:nvSpPr>
        <p:spPr bwMode="auto">
          <a:xfrm>
            <a:off x="8616951" y="5229226"/>
            <a:ext cx="2290763" cy="1127125"/>
          </a:xfrm>
          <a:prstGeom prst="irregularSeal1">
            <a:avLst/>
          </a:prstGeom>
          <a:solidFill>
            <a:schemeClr val="bg2">
              <a:lumMod val="90000"/>
            </a:schemeClr>
          </a:solidFill>
          <a:ln w="9525" cap="sq">
            <a:solidFill>
              <a:srgbClr val="00B050"/>
            </a:solidFill>
            <a:miter lim="800000"/>
          </a:ln>
        </p:spPr>
        <p:txBody>
          <a:bodyPr wrap="none" anchor="ctr"/>
          <a:lstStyle/>
          <a:p>
            <a:pPr algn="ctr">
              <a:lnSpc>
                <a:spcPct val="90000"/>
              </a:lnSpc>
              <a:spcAft>
                <a:spcPts val="590"/>
              </a:spcAft>
              <a:buClr>
                <a:schemeClr val="tx2"/>
              </a:buClr>
              <a:buSzPct val="80000"/>
              <a:defRPr/>
            </a:pPr>
            <a:r>
              <a:rPr kumimoji="1" lang="zh-CN" altLang="en-US" sz="2800" dirty="0">
                <a:latin typeface="黑体" panose="02010609060101010101" pitchFamily="49" charset="-122"/>
                <a:ea typeface="黑体" panose="02010609060101010101" pitchFamily="49" charset="-122"/>
              </a:rPr>
              <a:t>找到了！</a:t>
            </a:r>
          </a:p>
        </p:txBody>
      </p:sp>
      <p:pic>
        <p:nvPicPr>
          <p:cNvPr id="91217" name="图片 24"/>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79776" y="96839"/>
            <a:ext cx="11557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C8D98E1D-7B5A-9646-9B81-7E432971A0A6}" type="slidenum">
              <a:rPr lang="en-US" altLang="zh-CN" smtClean="0"/>
              <a:t>30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2530"/>
                                        </p:tgtEl>
                                        <p:attrNameLst>
                                          <p:attrName>style.visibility</p:attrName>
                                        </p:attrNameLst>
                                      </p:cBhvr>
                                      <p:to>
                                        <p:strVal val="visible"/>
                                      </p:to>
                                    </p:set>
                                    <p:animEffect transition="in" filter="box(in)">
                                      <p:cBhvr>
                                        <p:cTn id="7" dur="500"/>
                                        <p:tgtEl>
                                          <p:spTgt spid="62530"/>
                                        </p:tgtEl>
                                      </p:cBhvr>
                                    </p:animEffect>
                                  </p:childTnLst>
                                </p:cTn>
                              </p:par>
                              <p:par>
                                <p:cTn id="8" presetID="4" presetClass="entr" presetSubtype="16" fill="hold" nodeType="withEffect">
                                  <p:stCondLst>
                                    <p:cond delay="0"/>
                                  </p:stCondLst>
                                  <p:childTnLst>
                                    <p:set>
                                      <p:cBhvr>
                                        <p:cTn id="9" dur="1" fill="hold">
                                          <p:stCondLst>
                                            <p:cond delay="0"/>
                                          </p:stCondLst>
                                        </p:cTn>
                                        <p:tgtEl>
                                          <p:spTgt spid="386051"/>
                                        </p:tgtEl>
                                        <p:attrNameLst>
                                          <p:attrName>style.visibility</p:attrName>
                                        </p:attrNameLst>
                                      </p:cBhvr>
                                      <p:to>
                                        <p:strVal val="visible"/>
                                      </p:to>
                                    </p:set>
                                    <p:animEffect transition="in" filter="box(in)">
                                      <p:cBhvr>
                                        <p:cTn id="10" dur="500"/>
                                        <p:tgtEl>
                                          <p:spTgt spid="38605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86111"/>
                                        </p:tgtEl>
                                        <p:attrNameLst>
                                          <p:attrName>style.visibility</p:attrName>
                                        </p:attrNameLst>
                                      </p:cBhvr>
                                      <p:to>
                                        <p:strVal val="visible"/>
                                      </p:to>
                                    </p:set>
                                    <p:animEffect transition="in" filter="box(in)">
                                      <p:cBhvr>
                                        <p:cTn id="13" dur="500"/>
                                        <p:tgtEl>
                                          <p:spTgt spid="386111"/>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ox(in)">
                                      <p:cBhvr>
                                        <p:cTn id="16" dur="500"/>
                                        <p:tgtEl>
                                          <p:spTgt spid="16"/>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childTnLst>
                          </p:cTn>
                        </p:par>
                        <p:par>
                          <p:cTn id="25" fill="hold">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49221"/>
                                        </p:tgtEl>
                                        <p:attrNameLst>
                                          <p:attrName>style.visibility</p:attrName>
                                        </p:attrNameLst>
                                      </p:cBhvr>
                                      <p:to>
                                        <p:strVal val="visible"/>
                                      </p:to>
                                    </p:set>
                                    <p:animEffect transition="in" filter="wipe(down)">
                                      <p:cBhvr>
                                        <p:cTn id="28" dur="500"/>
                                        <p:tgtEl>
                                          <p:spTgt spid="49221"/>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4922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23" presetClass="entr" presetSubtype="16"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500" fill="hold"/>
                                        <p:tgtEl>
                                          <p:spTgt spid="13"/>
                                        </p:tgtEl>
                                        <p:attrNameLst>
                                          <p:attrName>ppt_w</p:attrName>
                                        </p:attrNameLst>
                                      </p:cBhvr>
                                      <p:tavLst>
                                        <p:tav tm="0">
                                          <p:val>
                                            <p:fltVal val="0"/>
                                          </p:val>
                                        </p:tav>
                                        <p:tav tm="100000">
                                          <p:val>
                                            <p:strVal val="#ppt_w"/>
                                          </p:val>
                                        </p:tav>
                                      </p:tavLst>
                                    </p:anim>
                                    <p:anim calcmode="lin" valueType="num">
                                      <p:cBhvr>
                                        <p:cTn id="4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386071"/>
                                        </p:tgtEl>
                                        <p:attrNameLst>
                                          <p:attrName>style.visibility</p:attrName>
                                        </p:attrNameLst>
                                      </p:cBhvr>
                                      <p:to>
                                        <p:strVal val="visible"/>
                                      </p:to>
                                    </p:set>
                                    <p:animEffect transition="in" filter="box(in)">
                                      <p:cBhvr>
                                        <p:cTn id="49" dur="500"/>
                                        <p:tgtEl>
                                          <p:spTgt spid="386071"/>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386112"/>
                                        </p:tgtEl>
                                        <p:attrNameLst>
                                          <p:attrName>style.visibility</p:attrName>
                                        </p:attrNameLst>
                                      </p:cBhvr>
                                      <p:to>
                                        <p:strVal val="visible"/>
                                      </p:to>
                                    </p:set>
                                    <p:animEffect transition="in" filter="box(in)">
                                      <p:cBhvr>
                                        <p:cTn id="52" dur="500"/>
                                        <p:tgtEl>
                                          <p:spTgt spid="386112"/>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ox(in)">
                                      <p:cBhvr>
                                        <p:cTn id="55" dur="500"/>
                                        <p:tgtEl>
                                          <p:spTgt spid="17"/>
                                        </p:tgtEl>
                                      </p:cBhvr>
                                    </p:animEffect>
                                  </p:childTnLst>
                                </p:cTn>
                              </p:par>
                              <p:par>
                                <p:cTn id="56" presetID="4" presetClass="entr" presetSubtype="16"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box(in)">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p:cTn id="63" dur="500" fill="hold"/>
                                        <p:tgtEl>
                                          <p:spTgt spid="23"/>
                                        </p:tgtEl>
                                        <p:attrNameLst>
                                          <p:attrName>ppt_w</p:attrName>
                                        </p:attrNameLst>
                                      </p:cBhvr>
                                      <p:tavLst>
                                        <p:tav tm="0">
                                          <p:val>
                                            <p:fltVal val="0"/>
                                          </p:val>
                                        </p:tav>
                                        <p:tav tm="100000">
                                          <p:val>
                                            <p:strVal val="#ppt_w"/>
                                          </p:val>
                                        </p:tav>
                                      </p:tavLst>
                                    </p:anim>
                                    <p:anim calcmode="lin" valueType="num">
                                      <p:cBhvr>
                                        <p:cTn id="64"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p:cTn id="69" dur="500" fill="hold"/>
                                        <p:tgtEl>
                                          <p:spTgt spid="14"/>
                                        </p:tgtEl>
                                        <p:attrNameLst>
                                          <p:attrName>ppt_w</p:attrName>
                                        </p:attrNameLst>
                                      </p:cBhvr>
                                      <p:tavLst>
                                        <p:tav tm="0">
                                          <p:val>
                                            <p:fltVal val="0"/>
                                          </p:val>
                                        </p:tav>
                                        <p:tav tm="100000">
                                          <p:val>
                                            <p:strVal val="#ppt_w"/>
                                          </p:val>
                                        </p:tav>
                                      </p:tavLst>
                                    </p:anim>
                                    <p:anim calcmode="lin" valueType="num">
                                      <p:cBhvr>
                                        <p:cTn id="7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nodeType="clickEffect">
                                  <p:stCondLst>
                                    <p:cond delay="0"/>
                                  </p:stCondLst>
                                  <p:childTnLst>
                                    <p:set>
                                      <p:cBhvr>
                                        <p:cTn id="74" dur="1" fill="hold">
                                          <p:stCondLst>
                                            <p:cond delay="0"/>
                                          </p:stCondLst>
                                        </p:cTn>
                                        <p:tgtEl>
                                          <p:spTgt spid="62550"/>
                                        </p:tgtEl>
                                        <p:attrNameLst>
                                          <p:attrName>style.visibility</p:attrName>
                                        </p:attrNameLst>
                                      </p:cBhvr>
                                      <p:to>
                                        <p:strVal val="visible"/>
                                      </p:to>
                                    </p:set>
                                    <p:animEffect transition="in" filter="box(in)">
                                      <p:cBhvr>
                                        <p:cTn id="75" dur="500"/>
                                        <p:tgtEl>
                                          <p:spTgt spid="62550"/>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386113"/>
                                        </p:tgtEl>
                                        <p:attrNameLst>
                                          <p:attrName>style.visibility</p:attrName>
                                        </p:attrNameLst>
                                      </p:cBhvr>
                                      <p:to>
                                        <p:strVal val="visible"/>
                                      </p:to>
                                    </p:set>
                                    <p:animEffect transition="in" filter="box(in)">
                                      <p:cBhvr>
                                        <p:cTn id="78" dur="500"/>
                                        <p:tgtEl>
                                          <p:spTgt spid="386113"/>
                                        </p:tgtEl>
                                      </p:cBhvr>
                                    </p:animEffect>
                                  </p:childTnLst>
                                </p:cTn>
                              </p:par>
                              <p:par>
                                <p:cTn id="79" presetID="4" presetClass="entr" presetSubtype="16"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box(in)">
                                      <p:cBhvr>
                                        <p:cTn id="81" dur="500"/>
                                        <p:tgtEl>
                                          <p:spTgt spid="18"/>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box(in)">
                                      <p:cBhvr>
                                        <p:cTn id="84" dur="500"/>
                                        <p:tgtEl>
                                          <p:spTgt spid="21"/>
                                        </p:tgtEl>
                                      </p:cBhvr>
                                    </p:animEffect>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p:cTn id="89" dur="500" fill="hold"/>
                                        <p:tgtEl>
                                          <p:spTgt spid="24"/>
                                        </p:tgtEl>
                                        <p:attrNameLst>
                                          <p:attrName>ppt_w</p:attrName>
                                        </p:attrNameLst>
                                      </p:cBhvr>
                                      <p:tavLst>
                                        <p:tav tm="0">
                                          <p:val>
                                            <p:fltVal val="0"/>
                                          </p:val>
                                        </p:tav>
                                        <p:tav tm="100000">
                                          <p:val>
                                            <p:strVal val="#ppt_w"/>
                                          </p:val>
                                        </p:tav>
                                      </p:tavLst>
                                    </p:anim>
                                    <p:anim calcmode="lin" valueType="num">
                                      <p:cBhvr>
                                        <p:cTn id="90"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anim calcmode="lin" valueType="num">
                                      <p:cBhvr>
                                        <p:cTn id="95" dur="500" fill="hold"/>
                                        <p:tgtEl>
                                          <p:spTgt spid="15"/>
                                        </p:tgtEl>
                                        <p:attrNameLst>
                                          <p:attrName>ppt_w</p:attrName>
                                        </p:attrNameLst>
                                      </p:cBhvr>
                                      <p:tavLst>
                                        <p:tav tm="0">
                                          <p:val>
                                            <p:fltVal val="0"/>
                                          </p:val>
                                        </p:tav>
                                        <p:tav tm="100000">
                                          <p:val>
                                            <p:strVal val="#ppt_w"/>
                                          </p:val>
                                        </p:tav>
                                      </p:tavLst>
                                    </p:anim>
                                    <p:anim calcmode="lin" valueType="num">
                                      <p:cBhvr>
                                        <p:cTn id="9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4" presetClass="entr" presetSubtype="32"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box(out)">
                                      <p:cBhvr>
                                        <p:cTn id="10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111" grpId="0" animBg="1"/>
      <p:bldP spid="386112" grpId="0" animBg="1"/>
      <p:bldP spid="386113" grpId="0" animBg="1"/>
      <p:bldP spid="62530" grpId="0"/>
      <p:bldP spid="49221" grpId="0" animBg="1"/>
      <p:bldP spid="49221" grpId="1" animBg="1"/>
      <p:bldP spid="13" grpId="0"/>
      <p:bldP spid="14" grpId="0"/>
      <p:bldP spid="15" grpId="0"/>
      <p:bldP spid="16" grpId="0"/>
      <p:bldP spid="17" grpId="0"/>
      <p:bldP spid="18" grpId="0"/>
      <p:bldP spid="19" grpId="0"/>
      <p:bldP spid="20" grpId="0"/>
      <p:bldP spid="21" grpId="0"/>
      <p:bldP spid="22" grpId="0"/>
      <p:bldP spid="23" grpId="0"/>
      <p:bldP spid="24" grpId="0"/>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p:txBody>
          <a:bodyPr/>
          <a:lstStyle/>
          <a:p>
            <a:pPr eaLnBrk="1" hangingPunct="1"/>
            <a:r>
              <a:rPr lang="zh-CN" altLang="en-US">
                <a:ea typeface="黑体" panose="02010609060101010101" pitchFamily="49" charset="-122"/>
              </a:rPr>
              <a:t>折半查找原理</a:t>
            </a:r>
            <a:endParaRPr lang="en-US" altLang="zh-CN">
              <a:ea typeface="黑体" panose="02010609060101010101" pitchFamily="49" charset="-122"/>
            </a:endParaRPr>
          </a:p>
        </p:txBody>
      </p:sp>
      <p:graphicFrame>
        <p:nvGraphicFramePr>
          <p:cNvPr id="386051" name="Group 3"/>
          <p:cNvGraphicFramePr>
            <a:graphicFrameLocks noGrp="1"/>
          </p:cNvGraphicFramePr>
          <p:nvPr/>
        </p:nvGraphicFramePr>
        <p:xfrm>
          <a:off x="2551113" y="2076450"/>
          <a:ext cx="4622800" cy="4572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12</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386071" name="Group 23"/>
          <p:cNvGraphicFramePr>
            <a:graphicFrameLocks noGrp="1"/>
          </p:cNvGraphicFramePr>
          <p:nvPr/>
        </p:nvGraphicFramePr>
        <p:xfrm>
          <a:off x="2551113" y="2924175"/>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12</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386091" name="Group 43"/>
          <p:cNvGraphicFramePr>
            <a:graphicFrameLocks noGrp="1"/>
          </p:cNvGraphicFramePr>
          <p:nvPr/>
        </p:nvGraphicFramePr>
        <p:xfrm>
          <a:off x="2551113" y="4076700"/>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D85B"/>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12</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sp>
        <p:nvSpPr>
          <p:cNvPr id="386111" name="Rectangle 63"/>
          <p:cNvSpPr>
            <a:spLocks noChangeArrowheads="1"/>
          </p:cNvSpPr>
          <p:nvPr/>
        </p:nvSpPr>
        <p:spPr bwMode="auto">
          <a:xfrm>
            <a:off x="1774825" y="2041525"/>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9</a:t>
            </a:r>
          </a:p>
        </p:txBody>
      </p:sp>
      <p:sp>
        <p:nvSpPr>
          <p:cNvPr id="386112" name="Rectangle 64"/>
          <p:cNvSpPr>
            <a:spLocks noChangeArrowheads="1"/>
          </p:cNvSpPr>
          <p:nvPr/>
        </p:nvSpPr>
        <p:spPr bwMode="auto">
          <a:xfrm>
            <a:off x="1754188" y="2924175"/>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9</a:t>
            </a:r>
          </a:p>
        </p:txBody>
      </p:sp>
      <p:sp>
        <p:nvSpPr>
          <p:cNvPr id="386113" name="Rectangle 65"/>
          <p:cNvSpPr>
            <a:spLocks noChangeArrowheads="1"/>
          </p:cNvSpPr>
          <p:nvPr/>
        </p:nvSpPr>
        <p:spPr bwMode="auto">
          <a:xfrm>
            <a:off x="1754188" y="4076700"/>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9</a:t>
            </a:r>
          </a:p>
        </p:txBody>
      </p:sp>
      <p:sp>
        <p:nvSpPr>
          <p:cNvPr id="92225" name="Text Box 68"/>
          <p:cNvSpPr txBox="1">
            <a:spLocks noChangeArrowheads="1"/>
          </p:cNvSpPr>
          <p:nvPr/>
        </p:nvSpPr>
        <p:spPr bwMode="auto">
          <a:xfrm>
            <a:off x="1720850" y="1412875"/>
            <a:ext cx="12065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a:t>
            </a:r>
          </a:p>
        </p:txBody>
      </p:sp>
      <p:sp>
        <p:nvSpPr>
          <p:cNvPr id="13" name="Text Box 68"/>
          <p:cNvSpPr txBox="1">
            <a:spLocks noChangeArrowheads="1"/>
          </p:cNvSpPr>
          <p:nvPr/>
        </p:nvSpPr>
        <p:spPr bwMode="auto">
          <a:xfrm>
            <a:off x="7321550" y="2100264"/>
            <a:ext cx="30178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key&gt;4, low=mid+1</a:t>
            </a:r>
          </a:p>
        </p:txBody>
      </p:sp>
      <p:sp>
        <p:nvSpPr>
          <p:cNvPr id="14" name="Text Box 68"/>
          <p:cNvSpPr txBox="1">
            <a:spLocks noChangeArrowheads="1"/>
          </p:cNvSpPr>
          <p:nvPr/>
        </p:nvSpPr>
        <p:spPr bwMode="auto">
          <a:xfrm>
            <a:off x="7321550" y="300355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key&gt;7, low=mid+1</a:t>
            </a:r>
          </a:p>
        </p:txBody>
      </p:sp>
      <p:sp>
        <p:nvSpPr>
          <p:cNvPr id="15" name="Text Box 68"/>
          <p:cNvSpPr txBox="1">
            <a:spLocks noChangeArrowheads="1"/>
          </p:cNvSpPr>
          <p:nvPr/>
        </p:nvSpPr>
        <p:spPr bwMode="auto">
          <a:xfrm>
            <a:off x="7321550" y="407670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latin typeface="Arial" panose="020B0604020202090204" pitchFamily="34" charset="0"/>
              </a:rPr>
              <a:t>key&lt;10, high=mid-1</a:t>
            </a:r>
          </a:p>
        </p:txBody>
      </p:sp>
      <p:sp>
        <p:nvSpPr>
          <p:cNvPr id="16" name="Text Box 68"/>
          <p:cNvSpPr txBox="1">
            <a:spLocks noChangeArrowheads="1"/>
          </p:cNvSpPr>
          <p:nvPr/>
        </p:nvSpPr>
        <p:spPr bwMode="auto">
          <a:xfrm>
            <a:off x="2522539" y="1700213"/>
            <a:ext cx="765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low</a:t>
            </a:r>
          </a:p>
        </p:txBody>
      </p:sp>
      <p:sp>
        <p:nvSpPr>
          <p:cNvPr id="17" name="Text Box 68"/>
          <p:cNvSpPr txBox="1">
            <a:spLocks noChangeArrowheads="1"/>
          </p:cNvSpPr>
          <p:nvPr/>
        </p:nvSpPr>
        <p:spPr bwMode="auto">
          <a:xfrm>
            <a:off x="4856164" y="2590801"/>
            <a:ext cx="763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low</a:t>
            </a:r>
          </a:p>
        </p:txBody>
      </p:sp>
      <p:sp>
        <p:nvSpPr>
          <p:cNvPr id="18" name="Text Box 68"/>
          <p:cNvSpPr txBox="1">
            <a:spLocks noChangeArrowheads="1"/>
          </p:cNvSpPr>
          <p:nvPr/>
        </p:nvSpPr>
        <p:spPr bwMode="auto">
          <a:xfrm>
            <a:off x="6000750" y="375602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low</a:t>
            </a:r>
          </a:p>
        </p:txBody>
      </p:sp>
      <p:sp>
        <p:nvSpPr>
          <p:cNvPr id="19" name="Text Box 68"/>
          <p:cNvSpPr txBox="1">
            <a:spLocks noChangeArrowheads="1"/>
          </p:cNvSpPr>
          <p:nvPr/>
        </p:nvSpPr>
        <p:spPr bwMode="auto">
          <a:xfrm>
            <a:off x="6557964" y="1712913"/>
            <a:ext cx="763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high</a:t>
            </a:r>
          </a:p>
        </p:txBody>
      </p:sp>
      <p:sp>
        <p:nvSpPr>
          <p:cNvPr id="20" name="Text Box 68"/>
          <p:cNvSpPr txBox="1">
            <a:spLocks noChangeArrowheads="1"/>
          </p:cNvSpPr>
          <p:nvPr/>
        </p:nvSpPr>
        <p:spPr bwMode="auto">
          <a:xfrm>
            <a:off x="6562725" y="2565401"/>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high</a:t>
            </a:r>
          </a:p>
        </p:txBody>
      </p:sp>
      <p:sp>
        <p:nvSpPr>
          <p:cNvPr id="21" name="Text Box 68"/>
          <p:cNvSpPr txBox="1">
            <a:spLocks noChangeArrowheads="1"/>
          </p:cNvSpPr>
          <p:nvPr/>
        </p:nvSpPr>
        <p:spPr bwMode="auto">
          <a:xfrm>
            <a:off x="6562725" y="375602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high</a:t>
            </a:r>
          </a:p>
        </p:txBody>
      </p:sp>
      <p:sp>
        <p:nvSpPr>
          <p:cNvPr id="22" name="Text Box 68"/>
          <p:cNvSpPr txBox="1">
            <a:spLocks noChangeArrowheads="1"/>
          </p:cNvSpPr>
          <p:nvPr/>
        </p:nvSpPr>
        <p:spPr bwMode="auto">
          <a:xfrm>
            <a:off x="4225925" y="1728788"/>
            <a:ext cx="763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mid</a:t>
            </a:r>
          </a:p>
        </p:txBody>
      </p:sp>
      <p:sp>
        <p:nvSpPr>
          <p:cNvPr id="23" name="Text Box 68"/>
          <p:cNvSpPr txBox="1">
            <a:spLocks noChangeArrowheads="1"/>
          </p:cNvSpPr>
          <p:nvPr/>
        </p:nvSpPr>
        <p:spPr bwMode="auto">
          <a:xfrm>
            <a:off x="5426075" y="2592388"/>
            <a:ext cx="763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mid</a:t>
            </a:r>
          </a:p>
        </p:txBody>
      </p:sp>
      <p:sp>
        <p:nvSpPr>
          <p:cNvPr id="24" name="Text Box 68"/>
          <p:cNvSpPr txBox="1">
            <a:spLocks noChangeArrowheads="1"/>
          </p:cNvSpPr>
          <p:nvPr/>
        </p:nvSpPr>
        <p:spPr bwMode="auto">
          <a:xfrm>
            <a:off x="6016625" y="350202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mid</a:t>
            </a:r>
          </a:p>
        </p:txBody>
      </p:sp>
      <p:graphicFrame>
        <p:nvGraphicFramePr>
          <p:cNvPr id="25" name="Group 43"/>
          <p:cNvGraphicFramePr>
            <a:graphicFrameLocks noGrp="1"/>
          </p:cNvGraphicFramePr>
          <p:nvPr/>
        </p:nvGraphicFramePr>
        <p:xfrm>
          <a:off x="2571750" y="5008563"/>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FDC7E"/>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05D"/>
                    </a:solidFill>
                  </a:tcPr>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rgbClr val="000066"/>
                          </a:solidFill>
                          <a:effectLst/>
                          <a:latin typeface="Courier New" panose="02070409020205090404" charset="0"/>
                          <a:ea typeface="宋体" charset="0"/>
                        </a:rPr>
                        <a:t>12</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6" name="Rectangle 65"/>
          <p:cNvSpPr>
            <a:spLocks noChangeArrowheads="1"/>
          </p:cNvSpPr>
          <p:nvPr/>
        </p:nvSpPr>
        <p:spPr bwMode="auto">
          <a:xfrm>
            <a:off x="1774825" y="5008563"/>
            <a:ext cx="577850" cy="533400"/>
          </a:xfrm>
          <a:prstGeom prst="rect">
            <a:avLst/>
          </a:prstGeom>
          <a:solidFill>
            <a:srgbClr val="FFCCFF"/>
          </a:solidFill>
          <a:ln w="9525">
            <a:solidFill>
              <a:schemeClr val="tx1"/>
            </a:solidFill>
            <a:miter lim="800000"/>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gn="ctr">
              <a:lnSpc>
                <a:spcPct val="90000"/>
              </a:lnSpc>
              <a:spcBef>
                <a:spcPct val="0"/>
              </a:spcBef>
              <a:spcAft>
                <a:spcPts val="590"/>
              </a:spcAft>
              <a:buSzPct val="80000"/>
              <a:buNone/>
            </a:pPr>
            <a:r>
              <a:rPr lang="en-US" altLang="zh-CN" sz="2400" b="1">
                <a:latin typeface="Courier New" panose="02070409020205090404" charset="0"/>
              </a:rPr>
              <a:t>9</a:t>
            </a:r>
          </a:p>
        </p:txBody>
      </p:sp>
      <p:sp>
        <p:nvSpPr>
          <p:cNvPr id="27" name="Text Box 68"/>
          <p:cNvSpPr txBox="1">
            <a:spLocks noChangeArrowheads="1"/>
          </p:cNvSpPr>
          <p:nvPr/>
        </p:nvSpPr>
        <p:spPr bwMode="auto">
          <a:xfrm>
            <a:off x="7319964" y="5084764"/>
            <a:ext cx="307498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400">
                <a:solidFill>
                  <a:srgbClr val="C00000"/>
                </a:solidFill>
                <a:latin typeface="Arial" panose="020B0604020202090204" pitchFamily="34" charset="0"/>
              </a:rPr>
              <a:t>low&lt;high</a:t>
            </a:r>
            <a:r>
              <a:rPr lang="zh-CN" altLang="en-US" sz="2400">
                <a:solidFill>
                  <a:srgbClr val="C00000"/>
                </a:solidFill>
                <a:latin typeface="Arial" panose="020B0604020202090204" pitchFamily="34" charset="0"/>
                <a:ea typeface="黑体" panose="02010609060101010101" pitchFamily="49" charset="-122"/>
              </a:rPr>
              <a:t>为假</a:t>
            </a:r>
          </a:p>
        </p:txBody>
      </p:sp>
      <p:sp>
        <p:nvSpPr>
          <p:cNvPr id="28" name="Text Box 68"/>
          <p:cNvSpPr txBox="1">
            <a:spLocks noChangeArrowheads="1"/>
          </p:cNvSpPr>
          <p:nvPr/>
        </p:nvSpPr>
        <p:spPr bwMode="auto">
          <a:xfrm>
            <a:off x="6040439" y="4652963"/>
            <a:ext cx="763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latin typeface="Arial" panose="020B0604020202090204" pitchFamily="34" charset="0"/>
              </a:rPr>
              <a:t>low</a:t>
            </a:r>
          </a:p>
        </p:txBody>
      </p:sp>
      <p:sp>
        <p:nvSpPr>
          <p:cNvPr id="29" name="Text Box 68"/>
          <p:cNvSpPr txBox="1">
            <a:spLocks noChangeArrowheads="1"/>
          </p:cNvSpPr>
          <p:nvPr/>
        </p:nvSpPr>
        <p:spPr bwMode="auto">
          <a:xfrm>
            <a:off x="5421314" y="4662488"/>
            <a:ext cx="763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ts val="590"/>
              </a:spcBef>
              <a:spcAft>
                <a:spcPts val="590"/>
              </a:spcAft>
              <a:buSzPct val="80000"/>
              <a:buNone/>
            </a:pPr>
            <a:r>
              <a:rPr lang="en-US" altLang="zh-CN" sz="2000">
                <a:solidFill>
                  <a:srgbClr val="FF0000"/>
                </a:solidFill>
                <a:latin typeface="Arial" panose="020B0604020202090204" pitchFamily="34" charset="0"/>
              </a:rPr>
              <a:t>high</a:t>
            </a:r>
          </a:p>
        </p:txBody>
      </p:sp>
      <p:sp>
        <p:nvSpPr>
          <p:cNvPr id="31" name="AutoShape 791"/>
          <p:cNvSpPr>
            <a:spLocks noChangeArrowheads="1"/>
          </p:cNvSpPr>
          <p:nvPr/>
        </p:nvSpPr>
        <p:spPr bwMode="auto">
          <a:xfrm>
            <a:off x="3143250" y="5445125"/>
            <a:ext cx="2420938" cy="1214438"/>
          </a:xfrm>
          <a:prstGeom prst="irregularSeal1">
            <a:avLst/>
          </a:prstGeom>
          <a:solidFill>
            <a:schemeClr val="bg2">
              <a:lumMod val="90000"/>
            </a:schemeClr>
          </a:solidFill>
          <a:ln w="9525" cap="sq">
            <a:solidFill>
              <a:srgbClr val="00B050"/>
            </a:solidFill>
            <a:miter lim="800000"/>
          </a:ln>
        </p:spPr>
        <p:txBody>
          <a:bodyPr wrap="none" anchor="ctr"/>
          <a:lstStyle/>
          <a:p>
            <a:pPr algn="ctr">
              <a:lnSpc>
                <a:spcPct val="90000"/>
              </a:lnSpc>
              <a:spcAft>
                <a:spcPts val="590"/>
              </a:spcAft>
              <a:buClr>
                <a:schemeClr val="tx2"/>
              </a:buClr>
              <a:buSzPct val="80000"/>
              <a:defRPr/>
            </a:pPr>
            <a:r>
              <a:rPr kumimoji="1" lang="zh-CN" altLang="en-US" sz="2800">
                <a:latin typeface="黑体" panose="02010609060101010101" pitchFamily="49" charset="-122"/>
                <a:ea typeface="黑体" panose="02010609060101010101" pitchFamily="49" charset="-122"/>
              </a:rPr>
              <a:t>没找到！</a:t>
            </a:r>
          </a:p>
        </p:txBody>
      </p:sp>
      <p:pic>
        <p:nvPicPr>
          <p:cNvPr id="92263" name="图片 24"/>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05300" y="139701"/>
            <a:ext cx="11557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C8D98E1D-7B5A-9646-9B81-7E432971A0A6}" type="slidenum">
              <a:rPr lang="en-US" altLang="zh-CN" smtClean="0"/>
              <a:t>31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86051"/>
                                        </p:tgtEl>
                                        <p:attrNameLst>
                                          <p:attrName>style.visibility</p:attrName>
                                        </p:attrNameLst>
                                      </p:cBhvr>
                                      <p:to>
                                        <p:strVal val="visible"/>
                                      </p:to>
                                    </p:set>
                                    <p:animEffect transition="in" filter="box(in)">
                                      <p:cBhvr>
                                        <p:cTn id="7" dur="500"/>
                                        <p:tgtEl>
                                          <p:spTgt spid="386051"/>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86111"/>
                                        </p:tgtEl>
                                        <p:attrNameLst>
                                          <p:attrName>style.visibility</p:attrName>
                                        </p:attrNameLst>
                                      </p:cBhvr>
                                      <p:to>
                                        <p:strVal val="visible"/>
                                      </p:to>
                                    </p:set>
                                    <p:animEffect transition="in" filter="box(in)">
                                      <p:cBhvr>
                                        <p:cTn id="10" dur="500"/>
                                        <p:tgtEl>
                                          <p:spTgt spid="38611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ox(in)">
                                      <p:cBhvr>
                                        <p:cTn id="13" dur="500"/>
                                        <p:tgtEl>
                                          <p:spTgt spid="1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386071"/>
                                        </p:tgtEl>
                                        <p:attrNameLst>
                                          <p:attrName>style.visibility</p:attrName>
                                        </p:attrNameLst>
                                      </p:cBhvr>
                                      <p:to>
                                        <p:strVal val="visible"/>
                                      </p:to>
                                    </p:set>
                                    <p:animEffect transition="in" filter="box(in)">
                                      <p:cBhvr>
                                        <p:cTn id="33" dur="500"/>
                                        <p:tgtEl>
                                          <p:spTgt spid="386071"/>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386112"/>
                                        </p:tgtEl>
                                        <p:attrNameLst>
                                          <p:attrName>style.visibility</p:attrName>
                                        </p:attrNameLst>
                                      </p:cBhvr>
                                      <p:to>
                                        <p:strVal val="visible"/>
                                      </p:to>
                                    </p:set>
                                    <p:animEffect transition="in" filter="box(in)">
                                      <p:cBhvr>
                                        <p:cTn id="36" dur="500"/>
                                        <p:tgtEl>
                                          <p:spTgt spid="386112"/>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ox(in)">
                                      <p:cBhvr>
                                        <p:cTn id="39" dur="500"/>
                                        <p:tgtEl>
                                          <p:spTgt spid="17"/>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ox(in)">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p:cTn id="53" dur="500" fill="hold"/>
                                        <p:tgtEl>
                                          <p:spTgt spid="14"/>
                                        </p:tgtEl>
                                        <p:attrNameLst>
                                          <p:attrName>ppt_w</p:attrName>
                                        </p:attrNameLst>
                                      </p:cBhvr>
                                      <p:tavLst>
                                        <p:tav tm="0">
                                          <p:val>
                                            <p:fltVal val="0"/>
                                          </p:val>
                                        </p:tav>
                                        <p:tav tm="100000">
                                          <p:val>
                                            <p:strVal val="#ppt_w"/>
                                          </p:val>
                                        </p:tav>
                                      </p:tavLst>
                                    </p:anim>
                                    <p:anim calcmode="lin" valueType="num">
                                      <p:cBhvr>
                                        <p:cTn id="54"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nodeType="clickEffect">
                                  <p:stCondLst>
                                    <p:cond delay="0"/>
                                  </p:stCondLst>
                                  <p:childTnLst>
                                    <p:set>
                                      <p:cBhvr>
                                        <p:cTn id="58" dur="1" fill="hold">
                                          <p:stCondLst>
                                            <p:cond delay="0"/>
                                          </p:stCondLst>
                                        </p:cTn>
                                        <p:tgtEl>
                                          <p:spTgt spid="386091"/>
                                        </p:tgtEl>
                                        <p:attrNameLst>
                                          <p:attrName>style.visibility</p:attrName>
                                        </p:attrNameLst>
                                      </p:cBhvr>
                                      <p:to>
                                        <p:strVal val="visible"/>
                                      </p:to>
                                    </p:set>
                                    <p:animEffect transition="in" filter="box(in)">
                                      <p:cBhvr>
                                        <p:cTn id="59" dur="500"/>
                                        <p:tgtEl>
                                          <p:spTgt spid="386091"/>
                                        </p:tgtEl>
                                      </p:cBhvr>
                                    </p:animEffect>
                                  </p:childTnLst>
                                </p:cTn>
                              </p:par>
                              <p:par>
                                <p:cTn id="60" presetID="4" presetClass="entr" presetSubtype="16" fill="hold" grpId="0" nodeType="withEffect">
                                  <p:stCondLst>
                                    <p:cond delay="0"/>
                                  </p:stCondLst>
                                  <p:childTnLst>
                                    <p:set>
                                      <p:cBhvr>
                                        <p:cTn id="61" dur="1" fill="hold">
                                          <p:stCondLst>
                                            <p:cond delay="0"/>
                                          </p:stCondLst>
                                        </p:cTn>
                                        <p:tgtEl>
                                          <p:spTgt spid="386113"/>
                                        </p:tgtEl>
                                        <p:attrNameLst>
                                          <p:attrName>style.visibility</p:attrName>
                                        </p:attrNameLst>
                                      </p:cBhvr>
                                      <p:to>
                                        <p:strVal val="visible"/>
                                      </p:to>
                                    </p:set>
                                    <p:animEffect transition="in" filter="box(in)">
                                      <p:cBhvr>
                                        <p:cTn id="62" dur="500"/>
                                        <p:tgtEl>
                                          <p:spTgt spid="386113"/>
                                        </p:tgtEl>
                                      </p:cBhvr>
                                    </p:animEffect>
                                  </p:childTnLst>
                                </p:cTn>
                              </p:par>
                              <p:par>
                                <p:cTn id="63" presetID="4" presetClass="entr" presetSubtype="16"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box(in)">
                                      <p:cBhvr>
                                        <p:cTn id="65" dur="500"/>
                                        <p:tgtEl>
                                          <p:spTgt spid="18"/>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box(in)">
                                      <p:cBhvr>
                                        <p:cTn id="68"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p:cTn id="73" dur="500" fill="hold"/>
                                        <p:tgtEl>
                                          <p:spTgt spid="24"/>
                                        </p:tgtEl>
                                        <p:attrNameLst>
                                          <p:attrName>ppt_w</p:attrName>
                                        </p:attrNameLst>
                                      </p:cBhvr>
                                      <p:tavLst>
                                        <p:tav tm="0">
                                          <p:val>
                                            <p:fltVal val="0"/>
                                          </p:val>
                                        </p:tav>
                                        <p:tav tm="100000">
                                          <p:val>
                                            <p:strVal val="#ppt_w"/>
                                          </p:val>
                                        </p:tav>
                                      </p:tavLst>
                                    </p:anim>
                                    <p:anim calcmode="lin" valueType="num">
                                      <p:cBhvr>
                                        <p:cTn id="74"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p:cTn id="79" dur="500" fill="hold"/>
                                        <p:tgtEl>
                                          <p:spTgt spid="15"/>
                                        </p:tgtEl>
                                        <p:attrNameLst>
                                          <p:attrName>ppt_w</p:attrName>
                                        </p:attrNameLst>
                                      </p:cBhvr>
                                      <p:tavLst>
                                        <p:tav tm="0">
                                          <p:val>
                                            <p:fltVal val="0"/>
                                          </p:val>
                                        </p:tav>
                                        <p:tav tm="100000">
                                          <p:val>
                                            <p:strVal val="#ppt_w"/>
                                          </p:val>
                                        </p:tav>
                                      </p:tavLst>
                                    </p:anim>
                                    <p:anim calcmode="lin" valueType="num">
                                      <p:cBhvr>
                                        <p:cTn id="80"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box(in)">
                                      <p:cBhvr>
                                        <p:cTn id="85" dur="500"/>
                                        <p:tgtEl>
                                          <p:spTgt spid="25"/>
                                        </p:tgtEl>
                                      </p:cBhvr>
                                    </p:animEffect>
                                  </p:childTnLst>
                                </p:cTn>
                              </p:par>
                              <p:par>
                                <p:cTn id="86" presetID="4" presetClass="entr" presetSubtype="16"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box(in)">
                                      <p:cBhvr>
                                        <p:cTn id="88" dur="500"/>
                                        <p:tgtEl>
                                          <p:spTgt spid="26"/>
                                        </p:tgtEl>
                                      </p:cBhvr>
                                    </p:animEffect>
                                  </p:childTnLst>
                                </p:cTn>
                              </p:par>
                              <p:par>
                                <p:cTn id="89" presetID="4" presetClass="entr" presetSubtype="16"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box(in)">
                                      <p:cBhvr>
                                        <p:cTn id="91" dur="500"/>
                                        <p:tgtEl>
                                          <p:spTgt spid="28"/>
                                        </p:tgtEl>
                                      </p:cBhvr>
                                    </p:animEffect>
                                  </p:childTnLst>
                                </p:cTn>
                              </p:par>
                              <p:par>
                                <p:cTn id="92" presetID="4" presetClass="entr" presetSubtype="16"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box(in)">
                                      <p:cBhvr>
                                        <p:cTn id="94" dur="500"/>
                                        <p:tgtEl>
                                          <p:spTgt spid="29"/>
                                        </p:tgtEl>
                                      </p:cBhvr>
                                    </p:animEffect>
                                  </p:childTnLst>
                                </p:cTn>
                              </p:par>
                            </p:childTnLst>
                          </p:cTn>
                        </p:par>
                      </p:childTnLst>
                    </p:cTn>
                  </p:par>
                  <p:par>
                    <p:cTn id="95" fill="hold">
                      <p:stCondLst>
                        <p:cond delay="indefinite"/>
                      </p:stCondLst>
                      <p:childTnLst>
                        <p:par>
                          <p:cTn id="96" fill="hold">
                            <p:stCondLst>
                              <p:cond delay="0"/>
                            </p:stCondLst>
                            <p:childTnLst>
                              <p:par>
                                <p:cTn id="97" presetID="23" presetClass="entr" presetSubtype="16"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p:cTn id="99" dur="500" fill="hold"/>
                                        <p:tgtEl>
                                          <p:spTgt spid="27"/>
                                        </p:tgtEl>
                                        <p:attrNameLst>
                                          <p:attrName>ppt_w</p:attrName>
                                        </p:attrNameLst>
                                      </p:cBhvr>
                                      <p:tavLst>
                                        <p:tav tm="0">
                                          <p:val>
                                            <p:fltVal val="0"/>
                                          </p:val>
                                        </p:tav>
                                        <p:tav tm="100000">
                                          <p:val>
                                            <p:strVal val="#ppt_w"/>
                                          </p:val>
                                        </p:tav>
                                      </p:tavLst>
                                    </p:anim>
                                    <p:anim calcmode="lin" valueType="num">
                                      <p:cBhvr>
                                        <p:cTn id="100" dur="500" fill="hold"/>
                                        <p:tgtEl>
                                          <p:spTgt spid="27"/>
                                        </p:tgtEl>
                                        <p:attrNameLst>
                                          <p:attrName>ppt_h</p:attrName>
                                        </p:attrNameLst>
                                      </p:cBhvr>
                                      <p:tavLst>
                                        <p:tav tm="0">
                                          <p:val>
                                            <p:fltVal val="0"/>
                                          </p:val>
                                        </p:tav>
                                        <p:tav tm="100000">
                                          <p:val>
                                            <p:strVal val="#ppt_h"/>
                                          </p:val>
                                        </p:tav>
                                      </p:tavLst>
                                    </p:anim>
                                  </p:childTnLst>
                                </p:cTn>
                              </p:par>
                              <p:par>
                                <p:cTn id="101" presetID="50" presetClass="entr" presetSubtype="0" decel="100000"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p:cTn id="103" dur="1000" fill="hold"/>
                                        <p:tgtEl>
                                          <p:spTgt spid="31"/>
                                        </p:tgtEl>
                                        <p:attrNameLst>
                                          <p:attrName>ppt_w</p:attrName>
                                        </p:attrNameLst>
                                      </p:cBhvr>
                                      <p:tavLst>
                                        <p:tav tm="0">
                                          <p:val>
                                            <p:strVal val="#ppt_w+.3"/>
                                          </p:val>
                                        </p:tav>
                                        <p:tav tm="100000">
                                          <p:val>
                                            <p:strVal val="#ppt_w"/>
                                          </p:val>
                                        </p:tav>
                                      </p:tavLst>
                                    </p:anim>
                                    <p:anim calcmode="lin" valueType="num">
                                      <p:cBhvr>
                                        <p:cTn id="104" dur="1000" fill="hold"/>
                                        <p:tgtEl>
                                          <p:spTgt spid="31"/>
                                        </p:tgtEl>
                                        <p:attrNameLst>
                                          <p:attrName>ppt_h</p:attrName>
                                        </p:attrNameLst>
                                      </p:cBhvr>
                                      <p:tavLst>
                                        <p:tav tm="0">
                                          <p:val>
                                            <p:strVal val="#ppt_h"/>
                                          </p:val>
                                        </p:tav>
                                        <p:tav tm="100000">
                                          <p:val>
                                            <p:strVal val="#ppt_h"/>
                                          </p:val>
                                        </p:tav>
                                      </p:tavLst>
                                    </p:anim>
                                    <p:animEffect transition="in" filter="fade">
                                      <p:cBhvr>
                                        <p:cTn id="105"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111" grpId="0" animBg="1" autoUpdateAnimBg="0"/>
      <p:bldP spid="386112" grpId="0" animBg="1" autoUpdateAnimBg="0"/>
      <p:bldP spid="386113" grpId="0" animBg="1" autoUpdateAnimBg="0"/>
      <p:bldP spid="13" grpId="0" autoUpdateAnimBg="0"/>
      <p:bldP spid="14" grpId="0" autoUpdateAnimBg="0"/>
      <p:bldP spid="15"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6" grpId="0" animBg="1" autoUpdateAnimBg="0"/>
      <p:bldP spid="27" grpId="0" autoUpdateAnimBg="0"/>
      <p:bldP spid="28" grpId="0" autoUpdateAnimBg="0"/>
      <p:bldP spid="29" grpId="0" autoUpdateAnimBg="0"/>
      <p:bldP spid="3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2.2  </a:t>
            </a:r>
            <a:r>
              <a:rPr kumimoji="1" lang="zh-CN" altLang="en-US" sz="3200" b="1" dirty="0">
                <a:latin typeface="Arial" panose="020B0604020202090204" pitchFamily="34" charset="0"/>
                <a:ea typeface="宋体" pitchFamily="2" charset="-122"/>
                <a:cs typeface="+mn-cs"/>
              </a:rPr>
              <a:t>线性表的顺序存储和实现</a:t>
            </a:r>
          </a:p>
        </p:txBody>
      </p:sp>
      <p:sp>
        <p:nvSpPr>
          <p:cNvPr id="4" name="日期占位符 3"/>
          <p:cNvSpPr>
            <a:spLocks noGrp="1"/>
          </p:cNvSpPr>
          <p:nvPr>
            <p:ph type="dt" sz="half" idx="10"/>
          </p:nvPr>
        </p:nvSpPr>
        <p:spPr/>
        <p:txBody>
          <a:bodyPr/>
          <a:lstStyle/>
          <a:p>
            <a:fld id="{22D2C3C7-DDDA-4B6A-AF82-4C3D1477770E}" type="datetime1">
              <a:rPr lang="zh-CN" altLang="en-US" b="1" smtClean="0">
                <a:solidFill>
                  <a:srgbClr val="F79646">
                    <a:lumMod val="75000"/>
                  </a:srgbClr>
                </a:solidFill>
              </a:rPr>
              <a:t>2025/11/20</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32</a:t>
            </a:fld>
            <a:endParaRPr lang="zh-CN" altLang="en-US" b="1" dirty="0">
              <a:solidFill>
                <a:srgbClr val="F79646">
                  <a:lumMod val="75000"/>
                </a:srgbClr>
              </a:solidFill>
            </a:endParaRPr>
          </a:p>
        </p:txBody>
      </p:sp>
      <p:cxnSp>
        <p:nvCxnSpPr>
          <p:cNvPr id="9" name="直接连接符 8"/>
          <p:cNvCxnSpPr/>
          <p:nvPr/>
        </p:nvCxnSpPr>
        <p:spPr>
          <a:xfrm>
            <a:off x="1981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981200" y="248479"/>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页脚占位符 4"/>
          <p:cNvSpPr txBox="1"/>
          <p:nvPr/>
        </p:nvSpPr>
        <p:spPr>
          <a:xfrm>
            <a:off x="1524000" y="-29816"/>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2</a:t>
            </a:r>
            <a:r>
              <a:rPr lang="zh-CN" altLang="en-US" b="1" dirty="0">
                <a:solidFill>
                  <a:srgbClr val="00B0F0"/>
                </a:solidFill>
              </a:rPr>
              <a:t>章 线性表</a:t>
            </a:r>
          </a:p>
        </p:txBody>
      </p:sp>
      <p:pic>
        <p:nvPicPr>
          <p:cNvPr id="2049" name="Picture 1" descr="C:\Users\Haijun\AppData\Roaming\Tencent\Users\2968516474\QQ\WinTemp\RichOle\O5)[OOM[}$H7(6{A~41GY`Q.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7141" y="5"/>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内容占位符 2"/>
          <p:cNvSpPr>
            <a:spLocks noGrp="1"/>
          </p:cNvSpPr>
          <p:nvPr>
            <p:custDataLst>
              <p:tags r:id="rId1"/>
            </p:custDataLst>
          </p:nvPr>
        </p:nvSpPr>
        <p:spPr>
          <a:xfrm>
            <a:off x="1847215" y="1340485"/>
            <a:ext cx="9279890" cy="5105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ts val="3600"/>
              </a:lnSpc>
              <a:buNone/>
            </a:pPr>
            <a:r>
              <a:rPr lang="zh-CN" altLang="en-US" b="1" dirty="0"/>
              <a:t>线性表中</a:t>
            </a:r>
            <a:r>
              <a:rPr lang="zh-CN" altLang="en-US" b="1" dirty="0">
                <a:solidFill>
                  <a:srgbClr val="FF0000"/>
                </a:solidFill>
              </a:rPr>
              <a:t>折半查找</a:t>
            </a:r>
            <a:r>
              <a:rPr lang="zh-CN" altLang="en-US" b="1" dirty="0"/>
              <a:t>一个数据元素</a:t>
            </a:r>
            <a:r>
              <a:rPr lang="en-US" altLang="zh-CN" b="1" dirty="0"/>
              <a:t>---</a:t>
            </a:r>
            <a:r>
              <a:rPr lang="zh-CN" altLang="en-US" b="1" dirty="0"/>
              <a:t>算法分析</a:t>
            </a:r>
          </a:p>
          <a:p>
            <a:pPr lvl="1">
              <a:lnSpc>
                <a:spcPts val="3600"/>
              </a:lnSpc>
              <a:buFont typeface="Wingdings" panose="05000000000000000000" pitchFamily="2" charset="2"/>
              <a:buChar char="ü"/>
            </a:pPr>
            <a:r>
              <a:rPr lang="zh-CN" altLang="en-US" b="1" dirty="0"/>
              <a:t>最好比较次数</a:t>
            </a:r>
            <a:r>
              <a:rPr lang="en-US" altLang="zh-CN" b="1" dirty="0"/>
              <a:t> 1</a:t>
            </a:r>
          </a:p>
          <a:p>
            <a:pPr lvl="1">
              <a:lnSpc>
                <a:spcPts val="3600"/>
              </a:lnSpc>
              <a:buFont typeface="Wingdings" panose="05000000000000000000" pitchFamily="2" charset="2"/>
              <a:buChar char="ü"/>
            </a:pPr>
            <a:r>
              <a:rPr lang="zh-CN" altLang="en-US" b="1" dirty="0"/>
              <a:t>最坏比较次数</a:t>
            </a:r>
            <a:r>
              <a:rPr lang="en-US" altLang="zh-CN" b="1" dirty="0">
                <a:sym typeface="+mn-ea"/>
              </a:rPr>
              <a:t>Log</a:t>
            </a:r>
            <a:r>
              <a:rPr lang="zh-CN" altLang="en-US" b="1" dirty="0">
                <a:sym typeface="+mn-ea"/>
              </a:rPr>
              <a:t>（</a:t>
            </a:r>
            <a:r>
              <a:rPr lang="en-US" altLang="zh-CN" b="1" dirty="0">
                <a:sym typeface="+mn-ea"/>
              </a:rPr>
              <a:t>n</a:t>
            </a:r>
            <a:r>
              <a:rPr lang="zh-CN" altLang="en-US" b="1" dirty="0">
                <a:sym typeface="+mn-ea"/>
              </a:rPr>
              <a:t>）</a:t>
            </a:r>
            <a:endParaRPr lang="zh-CN" altLang="en-US" b="1" dirty="0"/>
          </a:p>
          <a:p>
            <a:pPr lvl="1">
              <a:lnSpc>
                <a:spcPts val="3600"/>
              </a:lnSpc>
              <a:buFont typeface="Wingdings" panose="05000000000000000000" pitchFamily="2" charset="2"/>
              <a:buChar char="ü"/>
            </a:pPr>
            <a:r>
              <a:rPr lang="zh-CN" altLang="en-US" b="1" dirty="0"/>
              <a:t>平均比较次数为</a:t>
            </a:r>
            <a:r>
              <a:rPr lang="en-US" altLang="zh-CN" b="1" dirty="0"/>
              <a:t>(1+Log</a:t>
            </a:r>
            <a:r>
              <a:rPr lang="zh-CN" altLang="en-US" b="1" dirty="0"/>
              <a:t>（</a:t>
            </a:r>
            <a:r>
              <a:rPr lang="en-US" altLang="zh-CN" b="1" dirty="0"/>
              <a:t>n</a:t>
            </a:r>
            <a:r>
              <a:rPr lang="zh-CN" altLang="en-US" b="1" dirty="0"/>
              <a:t>）</a:t>
            </a:r>
            <a:r>
              <a:rPr lang="en-US" altLang="zh-CN" b="1" dirty="0"/>
              <a:t>)/2</a:t>
            </a:r>
            <a:r>
              <a:rPr lang="zh-CN" altLang="en-US" b="1" dirty="0"/>
              <a:t>，时间性能为</a:t>
            </a:r>
            <a:r>
              <a:rPr lang="en-US" altLang="zh-CN" b="1" dirty="0">
                <a:solidFill>
                  <a:srgbClr val="FF0000"/>
                </a:solidFill>
              </a:rPr>
              <a:t>O(log</a:t>
            </a:r>
            <a:r>
              <a:rPr lang="zh-CN" altLang="en-US" b="1" dirty="0">
                <a:solidFill>
                  <a:srgbClr val="FF0000"/>
                </a:solidFill>
              </a:rPr>
              <a:t>（</a:t>
            </a:r>
            <a:r>
              <a:rPr lang="en-US" altLang="zh-CN" b="1" dirty="0">
                <a:solidFill>
                  <a:srgbClr val="FF0000"/>
                </a:solidFill>
              </a:rPr>
              <a:t>n</a:t>
            </a:r>
            <a:r>
              <a:rPr lang="zh-CN" altLang="en-US" b="1" dirty="0">
                <a:solidFill>
                  <a:srgbClr val="FF0000"/>
                </a:solidFill>
              </a:rPr>
              <a:t>）</a:t>
            </a:r>
            <a:r>
              <a:rPr lang="en-US" altLang="zh-CN" b="1" dirty="0">
                <a:solidFill>
                  <a:srgbClr val="FF0000"/>
                </a:solidFill>
              </a:rPr>
              <a:t>)</a:t>
            </a:r>
            <a:r>
              <a:rPr lang="zh-CN" altLang="en-US" b="1" dirty="0"/>
              <a:t>。</a:t>
            </a:r>
          </a:p>
          <a:p>
            <a:pPr lvl="1">
              <a:lnSpc>
                <a:spcPts val="3400"/>
              </a:lnSpc>
              <a:buFont typeface="Wingdings" panose="05000000000000000000" pitchFamily="2" charset="2"/>
              <a:buChar char="ü"/>
            </a:pPr>
            <a:endParaRPr lang="en-US" altLang="zh-CN" b="1" dirty="0"/>
          </a:p>
          <a:p>
            <a:pPr lvl="1">
              <a:lnSpc>
                <a:spcPts val="3400"/>
              </a:lnSpc>
              <a:buFont typeface="Wingdings" panose="05000000000000000000" pitchFamily="2" charset="2"/>
              <a:buChar char="ü"/>
            </a:pPr>
            <a:endParaRPr lang="zh-CN" altLang="en-US" sz="20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5" name="Rectangle 3"/>
          <p:cNvSpPr>
            <a:spLocks noGrp="1" noChangeArrowheads="1"/>
          </p:cNvSpPr>
          <p:nvPr>
            <p:ph idx="1"/>
          </p:nvPr>
        </p:nvSpPr>
        <p:spPr>
          <a:xfrm>
            <a:off x="1343025" y="403225"/>
            <a:ext cx="9505950" cy="6027738"/>
          </a:xfrm>
          <a:solidFill>
            <a:schemeClr val="bg1"/>
          </a:solidFill>
          <a:ln w="38100">
            <a:solidFill>
              <a:srgbClr val="000080"/>
            </a:solidFill>
            <a:miter lim="800000"/>
          </a:ln>
        </p:spPr>
        <p:txBody>
          <a:bodyPr>
            <a:normAutofit lnSpcReduction="10000"/>
          </a:bodyPr>
          <a:lstStyle/>
          <a:p>
            <a:pPr eaLnBrk="1">
              <a:lnSpc>
                <a:spcPct val="85000"/>
              </a:lnSpc>
              <a:spcBef>
                <a:spcPct val="0"/>
              </a:spcBef>
              <a:spcAft>
                <a:spcPct val="0"/>
              </a:spcAft>
              <a:buFont typeface="Monotype Sorts" charset="2"/>
              <a:buNone/>
            </a:pPr>
            <a:r>
              <a:rPr lang="fr-FR" altLang="zh-CN" sz="2000" b="1" dirty="0">
                <a:solidFill>
                  <a:srgbClr val="C00000"/>
                </a:solidFill>
                <a:latin typeface="Courier New" panose="02070409020205090404" charset="0"/>
                <a:ea typeface="宋体" pitchFamily="2" charset="-122"/>
              </a:rPr>
              <a:t>int</a:t>
            </a:r>
            <a:r>
              <a:rPr lang="fr-FR" altLang="zh-CN" sz="2000" b="1" dirty="0">
                <a:latin typeface="Courier New" panose="02070409020205090404" charset="0"/>
                <a:ea typeface="宋体" pitchFamily="2" charset="-122"/>
              </a:rPr>
              <a:t>  BinSearch(</a:t>
            </a:r>
            <a:r>
              <a:rPr lang="fr-FR" altLang="zh-CN" sz="2000" b="1" dirty="0">
                <a:solidFill>
                  <a:srgbClr val="C00000"/>
                </a:solidFill>
                <a:latin typeface="Courier New" panose="02070409020205090404" charset="0"/>
                <a:ea typeface="宋体" pitchFamily="2" charset="-122"/>
              </a:rPr>
              <a:t>long</a:t>
            </a:r>
            <a:r>
              <a:rPr lang="fr-FR" altLang="zh-CN" sz="2000" b="1" dirty="0">
                <a:latin typeface="Courier New" panose="02070409020205090404" charset="0"/>
                <a:ea typeface="宋体" pitchFamily="2" charset="-122"/>
              </a:rPr>
              <a:t> </a:t>
            </a:r>
            <a:r>
              <a:rPr lang="en-US" altLang="zh-CN" sz="2000" b="1" dirty="0">
                <a:latin typeface="Courier New" panose="02070409020205090404" charset="0"/>
                <a:ea typeface="宋体" pitchFamily="2" charset="-122"/>
              </a:rPr>
              <a:t>num</a:t>
            </a: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long</a:t>
            </a:r>
            <a:r>
              <a:rPr lang="fr-FR" altLang="zh-CN" sz="2000" b="1" dirty="0">
                <a:latin typeface="Courier New" panose="02070409020205090404" charset="0"/>
                <a:ea typeface="宋体" pitchFamily="2" charset="-122"/>
              </a:rPr>
              <a:t> x, </a:t>
            </a:r>
            <a:r>
              <a:rPr lang="fr-FR" altLang="zh-CN" sz="2000" b="1" dirty="0">
                <a:solidFill>
                  <a:srgbClr val="C00000"/>
                </a:solidFill>
                <a:latin typeface="Courier New" panose="02070409020205090404" charset="0"/>
                <a:ea typeface="宋体" pitchFamily="2" charset="-122"/>
              </a:rPr>
              <a:t>int</a:t>
            </a:r>
            <a:r>
              <a:rPr lang="fr-FR" altLang="zh-CN" sz="2000" b="1" dirty="0">
                <a:latin typeface="Courier New" panose="02070409020205090404" charset="0"/>
                <a:ea typeface="宋体" pitchFamily="2" charset="-122"/>
              </a:rPr>
              <a:t> n)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int</a:t>
            </a:r>
            <a:r>
              <a:rPr lang="fr-FR" altLang="zh-CN" sz="2000" b="1" dirty="0">
                <a:latin typeface="Courier New" panose="02070409020205090404" charset="0"/>
                <a:ea typeface="宋体" pitchFamily="2" charset="-122"/>
              </a:rPr>
              <a:t>  low, high, mid;</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low = 0;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high = n - 1;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while</a:t>
            </a:r>
            <a:r>
              <a:rPr lang="fr-FR" altLang="zh-CN" sz="2000" b="1" dirty="0">
                <a:latin typeface="Courier New" panose="02070409020205090404" charset="0"/>
                <a:ea typeface="宋体" pitchFamily="2" charset="-122"/>
              </a:rPr>
              <a:t> (low &lt;= high)</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mid = (high + low) / 2;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if</a:t>
            </a:r>
            <a:r>
              <a:rPr lang="fr-FR" altLang="zh-CN" sz="2000" b="1" dirty="0">
                <a:latin typeface="Courier New" panose="02070409020205090404" charset="0"/>
                <a:ea typeface="宋体" pitchFamily="2" charset="-122"/>
              </a:rPr>
              <a:t> (x &gt; num[mid])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low = mid + 1;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else  if </a:t>
            </a:r>
            <a:r>
              <a:rPr lang="fr-FR" altLang="zh-CN" sz="2000" b="1" dirty="0">
                <a:latin typeface="Courier New" panose="02070409020205090404" charset="0"/>
                <a:ea typeface="宋体" pitchFamily="2" charset="-122"/>
              </a:rPr>
              <a:t>(x &lt; num[mid])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high = mid - 1;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else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return</a:t>
            </a:r>
            <a:r>
              <a:rPr lang="fr-FR" altLang="zh-CN" sz="2000" b="1" dirty="0">
                <a:latin typeface="Courier New" panose="02070409020205090404" charset="0"/>
                <a:ea typeface="宋体" pitchFamily="2" charset="-122"/>
              </a:rPr>
              <a:t> mid;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	</a:t>
            </a:r>
            <a:r>
              <a:rPr lang="fr-FR" altLang="zh-CN" sz="2000" b="1" dirty="0">
                <a:solidFill>
                  <a:srgbClr val="C00000"/>
                </a:solidFill>
                <a:latin typeface="Courier New" panose="02070409020205090404" charset="0"/>
                <a:ea typeface="宋体" pitchFamily="2" charset="-122"/>
              </a:rPr>
              <a:t>return</a:t>
            </a:r>
            <a:r>
              <a:rPr lang="fr-FR" altLang="zh-CN" sz="2000" b="1" dirty="0">
                <a:latin typeface="Courier New" panose="02070409020205090404" charset="0"/>
                <a:ea typeface="宋体" pitchFamily="2" charset="-122"/>
              </a:rPr>
              <a:t> -1; </a:t>
            </a:r>
          </a:p>
          <a:p>
            <a:pPr eaLnBrk="1">
              <a:lnSpc>
                <a:spcPct val="85000"/>
              </a:lnSpc>
              <a:spcBef>
                <a:spcPct val="0"/>
              </a:spcBef>
              <a:spcAft>
                <a:spcPct val="0"/>
              </a:spcAft>
              <a:buFont typeface="Monotype Sorts" charset="2"/>
              <a:buNone/>
            </a:pPr>
            <a:r>
              <a:rPr lang="fr-FR" altLang="zh-CN" sz="2000" b="1" dirty="0">
                <a:latin typeface="Courier New" panose="02070409020205090404" charset="0"/>
                <a:ea typeface="宋体" pitchFamily="2" charset="-122"/>
              </a:rPr>
              <a:t>}</a:t>
            </a:r>
            <a:endParaRPr lang="zh-CN" altLang="en-US" sz="2000" b="1" dirty="0">
              <a:latin typeface="Courier New" panose="02070409020205090404" charset="0"/>
              <a:ea typeface="宋体" pitchFamily="2" charset="-122"/>
            </a:endParaRPr>
          </a:p>
        </p:txBody>
      </p:sp>
      <p:sp>
        <p:nvSpPr>
          <p:cNvPr id="262148" name="Rectangle 4"/>
          <p:cNvSpPr>
            <a:spLocks noChangeArrowheads="1"/>
          </p:cNvSpPr>
          <p:nvPr/>
        </p:nvSpPr>
        <p:spPr bwMode="auto">
          <a:xfrm>
            <a:off x="1679575" y="1766889"/>
            <a:ext cx="4992688" cy="4110037"/>
          </a:xfrm>
          <a:prstGeom prst="rect">
            <a:avLst/>
          </a:prstGeom>
          <a:noFill/>
          <a:ln w="25400">
            <a:solidFill>
              <a:srgbClr val="00B050"/>
            </a:solidFill>
            <a:miter lim="800000"/>
            <a:headEnd type="none" w="sm" len="sm"/>
            <a:tailEnd type="none" w="sm" len="sm"/>
          </a:ln>
          <a:effectLst/>
        </p:spPr>
        <p:txBody>
          <a:bodyPr wrap="none" anchor="ctr"/>
          <a:lstStyle/>
          <a:p>
            <a:pPr>
              <a:lnSpc>
                <a:spcPct val="90000"/>
              </a:lnSpc>
              <a:spcAft>
                <a:spcPts val="590"/>
              </a:spcAft>
              <a:buClr>
                <a:schemeClr val="tx2"/>
              </a:buClr>
              <a:buSzPct val="80000"/>
              <a:defRPr/>
            </a:pPr>
            <a:endParaRPr lang="zh-CN" altLang="en-US" sz="2400">
              <a:effectLst>
                <a:outerShdw blurRad="38100" dist="38100" dir="2700000" algn="tl">
                  <a:srgbClr val="C0C0C0"/>
                </a:outerShdw>
              </a:effectLst>
            </a:endParaRPr>
          </a:p>
        </p:txBody>
      </p:sp>
      <p:grpSp>
        <p:nvGrpSpPr>
          <p:cNvPr id="2" name="Group 8"/>
          <p:cNvGrpSpPr/>
          <p:nvPr/>
        </p:nvGrpSpPr>
        <p:grpSpPr bwMode="auto">
          <a:xfrm>
            <a:off x="2268538" y="2497139"/>
            <a:ext cx="4070350" cy="3081337"/>
            <a:chOff x="664" y="1525"/>
            <a:chExt cx="2367" cy="2177"/>
          </a:xfrm>
        </p:grpSpPr>
        <p:sp>
          <p:nvSpPr>
            <p:cNvPr id="262149" name="Rectangle 5"/>
            <p:cNvSpPr>
              <a:spLocks noChangeArrowheads="1"/>
            </p:cNvSpPr>
            <p:nvPr/>
          </p:nvSpPr>
          <p:spPr bwMode="auto">
            <a:xfrm>
              <a:off x="673" y="1525"/>
              <a:ext cx="2358" cy="2177"/>
            </a:xfrm>
            <a:prstGeom prst="rect">
              <a:avLst/>
            </a:prstGeom>
            <a:noFill/>
            <a:ln w="25400">
              <a:solidFill>
                <a:srgbClr val="FF6600"/>
              </a:solidFill>
              <a:miter lim="800000"/>
              <a:headEnd type="none" w="sm" len="sm"/>
              <a:tailEnd type="none" w="sm" len="sm"/>
            </a:ln>
            <a:effectLst/>
          </p:spPr>
          <p:txBody>
            <a:bodyPr wrap="none" anchor="ctr"/>
            <a:lstStyle/>
            <a:p>
              <a:pPr>
                <a:lnSpc>
                  <a:spcPct val="90000"/>
                </a:lnSpc>
                <a:spcAft>
                  <a:spcPts val="590"/>
                </a:spcAft>
                <a:buClr>
                  <a:schemeClr val="tx2"/>
                </a:buClr>
                <a:buSzPct val="80000"/>
                <a:defRPr/>
              </a:pPr>
              <a:endParaRPr lang="zh-CN" altLang="en-US" sz="2400">
                <a:effectLst>
                  <a:outerShdw blurRad="38100" dist="38100" dir="2700000" algn="tl">
                    <a:srgbClr val="C0C0C0"/>
                  </a:outerShdw>
                </a:effectLst>
              </a:endParaRPr>
            </a:p>
          </p:txBody>
        </p:sp>
        <p:sp>
          <p:nvSpPr>
            <p:cNvPr id="262150" name="Line 6"/>
            <p:cNvSpPr>
              <a:spLocks noChangeShapeType="1"/>
            </p:cNvSpPr>
            <p:nvPr/>
          </p:nvSpPr>
          <p:spPr bwMode="auto">
            <a:xfrm>
              <a:off x="667" y="2992"/>
              <a:ext cx="2361" cy="0"/>
            </a:xfrm>
            <a:prstGeom prst="line">
              <a:avLst/>
            </a:prstGeom>
            <a:noFill/>
            <a:ln w="25400">
              <a:solidFill>
                <a:srgbClr val="FF6600"/>
              </a:solidFill>
              <a:round/>
              <a:headEnd type="none" w="sm" len="sm"/>
              <a:tailEnd type="none" w="sm" len="sm"/>
            </a:ln>
            <a:effectLst/>
          </p:spPr>
          <p:txBody>
            <a:bodyPr/>
            <a:lstStyle/>
            <a:p>
              <a:pPr>
                <a:lnSpc>
                  <a:spcPct val="90000"/>
                </a:lnSpc>
                <a:spcAft>
                  <a:spcPts val="590"/>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262151" name="Line 7"/>
            <p:cNvSpPr>
              <a:spLocks noChangeShapeType="1"/>
            </p:cNvSpPr>
            <p:nvPr/>
          </p:nvSpPr>
          <p:spPr bwMode="auto">
            <a:xfrm>
              <a:off x="664" y="2256"/>
              <a:ext cx="2359" cy="0"/>
            </a:xfrm>
            <a:prstGeom prst="line">
              <a:avLst/>
            </a:prstGeom>
            <a:noFill/>
            <a:ln w="25400">
              <a:solidFill>
                <a:srgbClr val="FF6600"/>
              </a:solidFill>
              <a:round/>
              <a:headEnd type="none" w="sm" len="sm"/>
              <a:tailEnd type="none" w="sm" len="sm"/>
            </a:ln>
            <a:effectLst/>
          </p:spPr>
          <p:txBody>
            <a:bodyPr/>
            <a:lstStyle/>
            <a:p>
              <a:pPr>
                <a:lnSpc>
                  <a:spcPct val="90000"/>
                </a:lnSpc>
                <a:spcAft>
                  <a:spcPts val="590"/>
                </a:spcAft>
                <a:buClr>
                  <a:schemeClr val="tx2"/>
                </a:buClr>
                <a:buSzPct val="80000"/>
                <a:defRPr/>
              </a:pPr>
              <a:endParaRPr lang="zh-CN" altLang="en-US" sz="2400">
                <a:effectLst>
                  <a:outerShdw blurRad="38100" dist="38100" dir="2700000" algn="tl">
                    <a:srgbClr val="000000">
                      <a:alpha val="43137"/>
                    </a:srgbClr>
                  </a:outerShdw>
                </a:effectLst>
              </a:endParaRPr>
            </a:p>
          </p:txBody>
        </p:sp>
      </p:grpSp>
      <p:sp>
        <p:nvSpPr>
          <p:cNvPr id="18" name="矩形 17"/>
          <p:cNvSpPr/>
          <p:nvPr/>
        </p:nvSpPr>
        <p:spPr>
          <a:xfrm>
            <a:off x="6664326" y="765176"/>
            <a:ext cx="4111625" cy="479425"/>
          </a:xfrm>
          <a:prstGeom prst="rect">
            <a:avLst/>
          </a:prstGeom>
        </p:spPr>
        <p:txBody>
          <a:bodyPr>
            <a:spAutoFit/>
          </a:bodyPr>
          <a:lstStyle>
            <a:lvl1pPr eaLnBrk="0" hangingPunct="0">
              <a:defRPr sz="2000">
                <a:solidFill>
                  <a:schemeClr val="tx1"/>
                </a:solidFill>
                <a:latin typeface="Arial" panose="020B0604020202090204" pitchFamily="34" charset="0"/>
                <a:ea typeface="宋体" charset="0"/>
              </a:defRPr>
            </a:lvl1pPr>
            <a:lvl2pPr marL="742950" indent="-285750" eaLnBrk="0" hangingPunct="0">
              <a:defRPr sz="2000">
                <a:solidFill>
                  <a:schemeClr val="tx1"/>
                </a:solidFill>
                <a:latin typeface="Arial" panose="020B0604020202090204" pitchFamily="34" charset="0"/>
                <a:ea typeface="宋体" charset="0"/>
              </a:defRPr>
            </a:lvl2pPr>
            <a:lvl3pPr marL="1143000" indent="-228600" eaLnBrk="0" hangingPunct="0">
              <a:defRPr sz="2000">
                <a:solidFill>
                  <a:schemeClr val="tx1"/>
                </a:solidFill>
                <a:latin typeface="Arial" panose="020B0604020202090204" pitchFamily="34" charset="0"/>
                <a:ea typeface="宋体" charset="0"/>
              </a:defRPr>
            </a:lvl3pPr>
            <a:lvl4pPr marL="1600200" indent="-228600" eaLnBrk="0" hangingPunct="0">
              <a:defRPr sz="2000">
                <a:solidFill>
                  <a:schemeClr val="tx1"/>
                </a:solidFill>
                <a:latin typeface="Arial" panose="020B0604020202090204" pitchFamily="34" charset="0"/>
                <a:ea typeface="宋体" charset="0"/>
              </a:defRPr>
            </a:lvl4pPr>
            <a:lvl5pPr marL="2057400" indent="-228600" eaLnBrk="0" hangingPunct="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nSpc>
                <a:spcPct val="90000"/>
              </a:lnSpc>
              <a:spcAft>
                <a:spcPts val="590"/>
              </a:spcAft>
              <a:buClr>
                <a:schemeClr val="tx2"/>
              </a:buClr>
              <a:buSzPct val="80000"/>
              <a:defRPr/>
            </a:pPr>
            <a:r>
              <a:rPr lang="en-US" altLang="zh-CN" sz="2800" b="1">
                <a:effectLst>
                  <a:outerShdw blurRad="38100" dist="38100" dir="2700000" algn="tl">
                    <a:srgbClr val="C0C0C0"/>
                  </a:outerShdw>
                </a:effectLst>
              </a:rPr>
              <a:t>【</a:t>
            </a:r>
            <a:r>
              <a:rPr lang="zh-CN" altLang="en-US" sz="2800" b="1">
                <a:effectLst>
                  <a:outerShdw blurRad="38100" dist="38100" dir="2700000" algn="tl">
                    <a:srgbClr val="C0C0C0"/>
                  </a:outerShdw>
                </a:effectLst>
              </a:rPr>
              <a:t>例</a:t>
            </a:r>
            <a:r>
              <a:rPr lang="en-US" altLang="zh-CN" sz="2800" b="1">
                <a:effectLst>
                  <a:outerShdw blurRad="38100" dist="38100" dir="2700000" algn="tl">
                    <a:srgbClr val="C0C0C0"/>
                  </a:outerShdw>
                </a:effectLst>
              </a:rPr>
              <a:t>8.11】</a:t>
            </a:r>
            <a:r>
              <a:rPr lang="zh-CN" altLang="en-US" sz="2800" b="1">
                <a:effectLst>
                  <a:outerShdw blurRad="38100" dist="38100" dir="2700000" algn="tl">
                    <a:srgbClr val="C0C0C0"/>
                  </a:outerShdw>
                </a:effectLst>
              </a:rPr>
              <a:t>折半查找学号</a:t>
            </a:r>
          </a:p>
        </p:txBody>
      </p:sp>
      <p:pic>
        <p:nvPicPr>
          <p:cNvPr id="63494" name="图片 7"/>
          <p:cNvPicPr>
            <a:picLocks noChangeAspect="1"/>
          </p:cNvPicPr>
          <p:nvPr/>
        </p:nvPicPr>
        <p:blipFill>
          <a:blip r:embed="rId3">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9696451" y="4437064"/>
            <a:ext cx="912813"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AutoShape 4"/>
          <p:cNvSpPr>
            <a:spLocks noChangeArrowheads="1"/>
          </p:cNvSpPr>
          <p:nvPr/>
        </p:nvSpPr>
        <p:spPr bwMode="auto">
          <a:xfrm>
            <a:off x="7464425" y="1844676"/>
            <a:ext cx="2630488" cy="1668463"/>
          </a:xfrm>
          <a:prstGeom prst="cloudCallout">
            <a:avLst>
              <a:gd name="adj1" fmla="val 38634"/>
              <a:gd name="adj2" fmla="val 105796"/>
            </a:avLst>
          </a:prstGeom>
          <a:solidFill>
            <a:srgbClr val="FFFFCC"/>
          </a:solidFill>
          <a:ln w="28575">
            <a:solidFill>
              <a:srgbClr val="00B050"/>
            </a:solidFill>
            <a:round/>
          </a:ln>
        </p:spPr>
        <p:txBody>
          <a:bodyPr lIns="0" tIns="0" rIns="0" bIns="0"/>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anose="05020102010507070707" pitchFamily="2"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2"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buChar char=""/>
              <a:defRPr sz="2000">
                <a:solidFill>
                  <a:schemeClr val="tx1"/>
                </a:solidFill>
                <a:latin typeface="Times New Roman" panose="02020503050405090304" pitchFamily="18" charset="0"/>
                <a:cs typeface="Times New Roman" panose="02020503050405090304" pitchFamily="18" charset="0"/>
              </a:defRPr>
            </a:lvl9pPr>
          </a:lstStyle>
          <a:p>
            <a:pPr>
              <a:lnSpc>
                <a:spcPct val="90000"/>
              </a:lnSpc>
              <a:spcBef>
                <a:spcPct val="0"/>
              </a:spcBef>
              <a:spcAft>
                <a:spcPts val="590"/>
              </a:spcAft>
              <a:buSzPct val="80000"/>
              <a:buNone/>
            </a:pPr>
            <a:r>
              <a:rPr lang="zh-CN" altLang="en-US" sz="2800">
                <a:solidFill>
                  <a:srgbClr val="000099"/>
                </a:solidFill>
                <a:latin typeface="黑体" panose="02010609060101010101" pitchFamily="49" charset="-122"/>
                <a:ea typeface="黑体" panose="02010609060101010101" pitchFamily="49" charset="-122"/>
              </a:rPr>
              <a:t>看似天衣无缝，完美无缺？</a:t>
            </a:r>
          </a:p>
        </p:txBody>
      </p:sp>
      <mc:AlternateContent xmlns:mc="http://schemas.openxmlformats.org/markup-compatibility/2006" xmlns:a14="http://schemas.microsoft.com/office/drawing/2010/main">
        <mc:Choice Requires="a14">
          <p:sp>
            <p:nvSpPr>
              <p:cNvPr id="3" name="文本框 2"/>
              <p:cNvSpPr txBox="1"/>
              <p:nvPr/>
            </p:nvSpPr>
            <p:spPr>
              <a:xfrm>
                <a:off x="6704322" y="4437063"/>
                <a:ext cx="3064087" cy="1687195"/>
              </a:xfrm>
              <a:prstGeom prst="rect">
                <a:avLst/>
              </a:prstGeom>
              <a:noFill/>
            </p:spPr>
            <p:txBody>
              <a:bodyPr wrap="square">
                <a:spAutoFit/>
              </a:bodyPr>
              <a:lstStyle/>
              <a:p>
                <a:r>
                  <a:rPr lang="en-US" altLang="zh-CN" b="1" kern="0" dirty="0">
                    <a:latin typeface="Courier New" panose="02070409020205090404" charset="0"/>
                  </a:rPr>
                  <a:t>While</a:t>
                </a:r>
                <a:r>
                  <a:rPr lang="zh-CN" altLang="en-US" b="1" kern="0" dirty="0">
                    <a:latin typeface="Courier New" panose="02070409020205090404" charset="0"/>
                  </a:rPr>
                  <a:t>循环体最多执行几次？</a:t>
                </a:r>
                <a:endParaRPr lang="en-US" altLang="zh-CN" b="1" kern="0" dirty="0">
                  <a:latin typeface="Courier New" panose="02070409020205090404" charset="0"/>
                </a:endParaRPr>
              </a:p>
              <a:p>
                <a:r>
                  <a:rPr lang="zh-CN" altLang="en-US" b="1" kern="0" dirty="0">
                    <a:latin typeface="Courier New" panose="02070409020205090404" charset="0"/>
                  </a:rPr>
                  <a:t>每执行一次，查询区间减半。假设</a:t>
                </a:r>
                <a14:m>
                  <m:oMath xmlns:m="http://schemas.openxmlformats.org/officeDocument/2006/math">
                    <m:r>
                      <a:rPr lang="zh-CN" altLang="en-US" b="1" i="1" kern="0" dirty="0">
                        <a:latin typeface="Cambria Math" panose="02040503050406030204" pitchFamily="18" charset="0"/>
                      </a:rPr>
                      <m:t>执行了</m:t>
                    </m:r>
                    <m:r>
                      <a:rPr lang="en-US" altLang="zh-CN" b="1" i="1" kern="0" dirty="0">
                        <a:latin typeface="Cambria Math" panose="02040503050406030204" pitchFamily="18" charset="0"/>
                      </a:rPr>
                      <m:t>𝒙</m:t>
                    </m:r>
                    <m:r>
                      <a:rPr lang="zh-CN" altLang="en-US" b="1" i="1" kern="0" dirty="0">
                        <a:latin typeface="Cambria Math" panose="02040503050406030204" pitchFamily="18" charset="0"/>
                      </a:rPr>
                      <m:t>次，</m:t>
                    </m:r>
                    <m:r>
                      <a:rPr lang="en-US" altLang="zh-CN" b="1" i="1" kern="0">
                        <a:latin typeface="Cambria Math" panose="02040503050406030204" pitchFamily="18" charset="0"/>
                      </a:rPr>
                      <m:t>𝒏</m:t>
                    </m:r>
                    <m:sSup>
                      <m:sSupPr>
                        <m:ctrlPr>
                          <a:rPr lang="en-US" altLang="zh-CN" b="1" i="1" kern="0">
                            <a:latin typeface="Cambria Math" panose="02040503050406030204" pitchFamily="18" charset="0"/>
                          </a:rPr>
                        </m:ctrlPr>
                      </m:sSupPr>
                      <m:e>
                        <m:d>
                          <m:dPr>
                            <m:ctrlPr>
                              <a:rPr lang="en-US" altLang="zh-CN" b="1" i="1" kern="0">
                                <a:latin typeface="Cambria Math" panose="02040503050406030204" pitchFamily="18" charset="0"/>
                              </a:rPr>
                            </m:ctrlPr>
                          </m:dPr>
                          <m:e>
                            <m:f>
                              <m:fPr>
                                <m:ctrlPr>
                                  <a:rPr lang="en-US" altLang="zh-CN" b="1" i="1" kern="0">
                                    <a:latin typeface="Cambria Math" panose="02040503050406030204" pitchFamily="18" charset="0"/>
                                  </a:rPr>
                                </m:ctrlPr>
                              </m:fPr>
                              <m:num>
                                <m:r>
                                  <a:rPr lang="en-US" altLang="zh-CN" b="1" i="1" kern="0">
                                    <a:latin typeface="Cambria Math" panose="02040503050406030204" pitchFamily="18" charset="0"/>
                                  </a:rPr>
                                  <m:t>𝟏</m:t>
                                </m:r>
                              </m:num>
                              <m:den>
                                <m:r>
                                  <a:rPr lang="en-US" altLang="zh-CN" b="1" i="1" kern="0">
                                    <a:latin typeface="Cambria Math" panose="02040503050406030204" pitchFamily="18" charset="0"/>
                                  </a:rPr>
                                  <m:t>𝟐</m:t>
                                </m:r>
                              </m:den>
                            </m:f>
                          </m:e>
                        </m:d>
                      </m:e>
                      <m:sup>
                        <m:r>
                          <a:rPr lang="en-US" altLang="zh-CN" b="1" i="1" kern="0">
                            <a:latin typeface="Cambria Math" panose="02040503050406030204" pitchFamily="18" charset="0"/>
                          </a:rPr>
                          <m:t>𝒙</m:t>
                        </m:r>
                      </m:sup>
                    </m:sSup>
                    <m:r>
                      <a:rPr lang="en-US" altLang="zh-CN" b="1" i="1" kern="0">
                        <a:latin typeface="Cambria Math" panose="02040503050406030204" pitchFamily="18" charset="0"/>
                      </a:rPr>
                      <m:t>=</m:t>
                    </m:r>
                    <m:r>
                      <a:rPr lang="en-US" altLang="zh-CN" b="1" i="1" kern="0">
                        <a:latin typeface="Cambria Math" panose="02040503050406030204" pitchFamily="18" charset="0"/>
                      </a:rPr>
                      <m:t>𝟏</m:t>
                    </m:r>
                  </m:oMath>
                </a14:m>
                <a:endParaRPr lang="en-US" altLang="zh-CN" b="1" kern="0" dirty="0">
                  <a:latin typeface="Courier New" panose="02070409020205090404" charset="0"/>
                </a:endParaRPr>
              </a:p>
              <a:p>
                <a:pP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rPr>
                        <m:t>𝒙</m:t>
                      </m:r>
                      <m:r>
                        <a:rPr lang="en-US" altLang="zh-CN" b="1" i="1" kern="0" dirty="0">
                          <a:latin typeface="Cambria Math" panose="02040503050406030204" pitchFamily="18" charset="0"/>
                        </a:rPr>
                        <m:t>=</m:t>
                      </m:r>
                      <m:r>
                        <a:rPr lang="en-US" altLang="zh-CN" b="1" kern="0" dirty="0">
                          <a:latin typeface="Cambria Math" panose="02040503050406030204" pitchFamily="18" charset="0"/>
                        </a:rPr>
                        <m:t>𝐥𝐨𝐠</m:t>
                      </m:r>
                      <m:r>
                        <a:rPr lang="en-US" altLang="zh-CN" b="1" i="1" kern="0" dirty="0">
                          <a:latin typeface="Cambria Math" panose="02040503050406030204" pitchFamily="18" charset="0"/>
                        </a:rPr>
                        <m:t>(</m:t>
                      </m:r>
                      <m:r>
                        <a:rPr lang="en-US" altLang="zh-CN" b="1" i="1" kern="0" dirty="0">
                          <a:latin typeface="Cambria Math" panose="02040503050406030204" pitchFamily="18" charset="0"/>
                        </a:rPr>
                        <m:t>𝒏</m:t>
                      </m:r>
                      <m:r>
                        <a:rPr lang="en-US" altLang="zh-CN" b="1" i="1" kern="0" dirty="0">
                          <a:latin typeface="Cambria Math" panose="02040503050406030204" pitchFamily="18" charset="0"/>
                        </a:rPr>
                        <m:t>)</m:t>
                      </m:r>
                    </m:oMath>
                  </m:oMathPara>
                </a14:m>
                <a:endParaRPr lang="en-US" altLang="zh-CN" b="1" kern="0" dirty="0">
                  <a:latin typeface="Courier New" panose="02070409020205090404" charset="0"/>
                </a:endParaRPr>
              </a:p>
              <a:p>
                <a:r>
                  <a:rPr lang="zh-CN" altLang="en-US" b="1" kern="0" dirty="0">
                    <a:latin typeface="Courier New" panose="02070409020205090404" charset="0"/>
                  </a:rPr>
                  <a:t>时间复杂度为</a:t>
                </a:r>
                <a:r>
                  <a:rPr lang="en-US" altLang="zh-CN" b="1" kern="0" dirty="0">
                    <a:latin typeface="Courier New" panose="02070409020205090404" charset="0"/>
                  </a:rPr>
                  <a:t>O(</a:t>
                </a:r>
                <a14:m>
                  <m:oMath xmlns:m="http://schemas.openxmlformats.org/officeDocument/2006/math">
                    <m:r>
                      <a:rPr lang="en-US" altLang="zh-CN" b="1" kern="0" dirty="0">
                        <a:latin typeface="Cambria Math" panose="02040503050406030204" pitchFamily="18" charset="0"/>
                      </a:rPr>
                      <m:t>𝐥𝐨𝐠</m:t>
                    </m:r>
                    <m:r>
                      <a:rPr lang="en-US" altLang="zh-CN" b="1" i="1" kern="0" dirty="0">
                        <a:latin typeface="Cambria Math" panose="02040503050406030204" pitchFamily="18" charset="0"/>
                      </a:rPr>
                      <m:t>(</m:t>
                    </m:r>
                    <m:r>
                      <a:rPr lang="en-US" altLang="zh-CN" b="1" i="1" kern="0" dirty="0">
                        <a:latin typeface="Cambria Math" panose="02040503050406030204" pitchFamily="18" charset="0"/>
                      </a:rPr>
                      <m:t>𝒏</m:t>
                    </m:r>
                    <m:r>
                      <a:rPr lang="en-US" altLang="zh-CN" b="1" i="1" kern="0" dirty="0">
                        <a:latin typeface="Cambria Math" panose="02040503050406030204" pitchFamily="18" charset="0"/>
                      </a:rPr>
                      <m:t>)</m:t>
                    </m:r>
                  </m:oMath>
                </a14:m>
                <a:r>
                  <a:rPr lang="en-US" altLang="zh-CN" b="1" kern="0" dirty="0">
                    <a:latin typeface="Courier New" panose="02070409020205090404" charset="0"/>
                  </a:rPr>
                  <a:t>)</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6704322" y="4437063"/>
                <a:ext cx="3064087" cy="1687195"/>
              </a:xfrm>
              <a:prstGeom prst="rect">
                <a:avLst/>
              </a:prstGeom>
              <a:blipFill rotWithShape="1">
                <a:blip r:embed="rId4"/>
                <a:stretch>
                  <a:fillRect l="-20" t="-19" r="-221" b="1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7C4E558B-5425-6346-B896-72F904F12E77}" type="slidenum">
              <a:rPr lang="en-US" altLang="zh-CN" smtClean="0"/>
              <a:t>33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62148"/>
                                        </p:tgtEl>
                                        <p:attrNameLst>
                                          <p:attrName>style.visibility</p:attrName>
                                        </p:attrNameLst>
                                      </p:cBhvr>
                                      <p:to>
                                        <p:strVal val="visible"/>
                                      </p:to>
                                    </p:set>
                                    <p:anim calcmode="lin" valueType="num">
                                      <p:cBhvr>
                                        <p:cTn id="7" dur="500" fill="hold"/>
                                        <p:tgtEl>
                                          <p:spTgt spid="262148"/>
                                        </p:tgtEl>
                                        <p:attrNameLst>
                                          <p:attrName>ppt_w</p:attrName>
                                        </p:attrNameLst>
                                      </p:cBhvr>
                                      <p:tavLst>
                                        <p:tav tm="0">
                                          <p:val>
                                            <p:fltVal val="0"/>
                                          </p:val>
                                        </p:tav>
                                        <p:tav tm="100000">
                                          <p:val>
                                            <p:strVal val="#ppt_w"/>
                                          </p:val>
                                        </p:tav>
                                      </p:tavLst>
                                    </p:anim>
                                    <p:anim calcmode="lin" valueType="num">
                                      <p:cBhvr>
                                        <p:cTn id="8" dur="500" fill="hold"/>
                                        <p:tgtEl>
                                          <p:spTgt spid="262148"/>
                                        </p:tgtEl>
                                        <p:attrNameLst>
                                          <p:attrName>ppt_h</p:attrName>
                                        </p:attrNameLst>
                                      </p:cBhvr>
                                      <p:tavLst>
                                        <p:tav tm="0">
                                          <p:val>
                                            <p:fltVal val="0"/>
                                          </p:val>
                                        </p:tav>
                                        <p:tav tm="100000">
                                          <p:val>
                                            <p:strVal val="#ppt_h"/>
                                          </p:val>
                                        </p:tav>
                                      </p:tavLst>
                                    </p:anim>
                                    <p:animEffect transition="in" filter="fade">
                                      <p:cBhvr>
                                        <p:cTn id="9" dur="500"/>
                                        <p:tgtEl>
                                          <p:spTgt spid="26214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3494"/>
                                        </p:tgtEl>
                                        <p:attrNameLst>
                                          <p:attrName>style.visibility</p:attrName>
                                        </p:attrNameLst>
                                      </p:cBhvr>
                                      <p:to>
                                        <p:strVal val="visible"/>
                                      </p:to>
                                    </p:set>
                                    <p:anim calcmode="lin" valueType="num">
                                      <p:cBhvr additive="base">
                                        <p:cTn id="21" dur="500" fill="hold"/>
                                        <p:tgtEl>
                                          <p:spTgt spid="63494"/>
                                        </p:tgtEl>
                                        <p:attrNameLst>
                                          <p:attrName>ppt_x</p:attrName>
                                        </p:attrNameLst>
                                      </p:cBhvr>
                                      <p:tavLst>
                                        <p:tav tm="0">
                                          <p:val>
                                            <p:strVal val="#ppt_x"/>
                                          </p:val>
                                        </p:tav>
                                        <p:tav tm="100000">
                                          <p:val>
                                            <p:strVal val="#ppt_x"/>
                                          </p:val>
                                        </p:tav>
                                      </p:tavLst>
                                    </p:anim>
                                    <p:anim calcmode="lin" valueType="num">
                                      <p:cBhvr additive="base">
                                        <p:cTn id="22" dur="500" fill="hold"/>
                                        <p:tgtEl>
                                          <p:spTgt spid="63494"/>
                                        </p:tgtEl>
                                        <p:attrNameLst>
                                          <p:attrName>ppt_y</p:attrName>
                                        </p:attrNameLst>
                                      </p:cBhvr>
                                      <p:tavLst>
                                        <p:tav tm="0">
                                          <p:val>
                                            <p:strVal val="1+#ppt_h/2"/>
                                          </p:val>
                                        </p:tav>
                                        <p:tav tm="100000">
                                          <p:val>
                                            <p:strVal val="#ppt_y"/>
                                          </p:val>
                                        </p:tav>
                                      </p:tavLst>
                                    </p:anim>
                                  </p:childTnLst>
                                </p:cTn>
                              </p:par>
                              <p:par>
                                <p:cTn id="23" presetID="1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slide(fromBottom)">
                                      <p:cBhvr>
                                        <p:cTn id="2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8"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p:cNvSpPr>
          <p:nvPr>
            <p:ph type="title"/>
          </p:nvPr>
        </p:nvSpPr>
        <p:spPr>
          <a:xfrm>
            <a:off x="1638300" y="269875"/>
            <a:ext cx="8915400" cy="1143000"/>
          </a:xfrm>
        </p:spPr>
        <p:txBody>
          <a:bodyPr/>
          <a:lstStyle/>
          <a:p>
            <a:r>
              <a:rPr lang="zh-CN" altLang="en-US"/>
              <a:t>并非吹毛求疵，鸡蛋里挑骨头</a:t>
            </a:r>
          </a:p>
        </p:txBody>
      </p:sp>
      <p:sp>
        <p:nvSpPr>
          <p:cNvPr id="3" name="内容占位符 2"/>
          <p:cNvSpPr>
            <a:spLocks noGrp="1"/>
          </p:cNvSpPr>
          <p:nvPr>
            <p:ph idx="1"/>
          </p:nvPr>
        </p:nvSpPr>
        <p:spPr>
          <a:xfrm>
            <a:off x="1703388" y="1412876"/>
            <a:ext cx="8775700" cy="4824413"/>
          </a:xfrm>
        </p:spPr>
        <p:txBody>
          <a:bodyPr/>
          <a:lstStyle/>
          <a:p>
            <a:pPr marL="0" indent="0">
              <a:buNone/>
            </a:pPr>
            <a:r>
              <a:rPr lang="fr-FR" altLang="zh-CN" b="1" dirty="0">
                <a:solidFill>
                  <a:srgbClr val="C00000"/>
                </a:solidFill>
                <a:latin typeface="Courier New" panose="02070409020205090404" charset="0"/>
                <a:ea typeface="宋体" pitchFamily="2" charset="-122"/>
              </a:rPr>
              <a:t>mid = (high + low) / 2;</a:t>
            </a:r>
            <a:endParaRPr lang="en-US" altLang="zh-CN" b="1" dirty="0">
              <a:solidFill>
                <a:srgbClr val="C00000"/>
              </a:solidFill>
              <a:latin typeface="华文仿宋" panose="02010600040101010101" pitchFamily="2" charset="-122"/>
              <a:ea typeface="华文仿宋" panose="02010600040101010101" pitchFamily="2" charset="-122"/>
            </a:endParaRPr>
          </a:p>
          <a:p>
            <a:r>
              <a:rPr lang="zh-CN" altLang="en-US" dirty="0">
                <a:latin typeface="Arial" panose="020B0604020202090204" pitchFamily="34" charset="0"/>
                <a:cs typeface="Arial" panose="020B0604020202090204" pitchFamily="34" charset="0"/>
              </a:rPr>
              <a:t>如果数组很大，</a:t>
            </a:r>
            <a:r>
              <a:rPr lang="en-US" altLang="zh-CN" dirty="0">
                <a:latin typeface="Arial" panose="020B0604020202090204" pitchFamily="34" charset="0"/>
                <a:cs typeface="Arial" panose="020B0604020202090204" pitchFamily="34" charset="0"/>
              </a:rPr>
              <a:t>low</a:t>
            </a:r>
            <a:r>
              <a:rPr lang="zh-CN" altLang="en-US" dirty="0">
                <a:latin typeface="Arial" panose="020B0604020202090204" pitchFamily="34" charset="0"/>
                <a:cs typeface="Arial" panose="020B0604020202090204" pitchFamily="34" charset="0"/>
              </a:rPr>
              <a:t>和</a:t>
            </a:r>
            <a:r>
              <a:rPr lang="en-US" altLang="zh-CN" dirty="0">
                <a:latin typeface="Arial" panose="020B0604020202090204" pitchFamily="34" charset="0"/>
                <a:cs typeface="Arial" panose="020B0604020202090204" pitchFamily="34" charset="0"/>
              </a:rPr>
              <a:t>high</a:t>
            </a:r>
            <a:r>
              <a:rPr lang="zh-CN" altLang="en-US" dirty="0">
                <a:latin typeface="Arial" panose="020B0604020202090204" pitchFamily="34" charset="0"/>
                <a:cs typeface="Arial" panose="020B0604020202090204" pitchFamily="34" charset="0"/>
              </a:rPr>
              <a:t>之和大于有符号整数的极限值（在</a:t>
            </a:r>
            <a:r>
              <a:rPr lang="en-US" altLang="zh-CN" dirty="0" err="1">
                <a:latin typeface="Arial" panose="020B0604020202090204" pitchFamily="34" charset="0"/>
                <a:cs typeface="Arial" panose="020B0604020202090204" pitchFamily="34" charset="0"/>
              </a:rPr>
              <a:t>limits.h</a:t>
            </a:r>
            <a:r>
              <a:rPr lang="zh-CN" altLang="en-US" dirty="0">
                <a:latin typeface="Arial" panose="020B0604020202090204" pitchFamily="34" charset="0"/>
                <a:cs typeface="Arial" panose="020B0604020202090204" pitchFamily="34" charset="0"/>
              </a:rPr>
              <a:t>中定义）</a:t>
            </a:r>
            <a:endParaRPr lang="en-US" altLang="zh-CN" dirty="0">
              <a:latin typeface="Arial" panose="020B0604020202090204" pitchFamily="34" charset="0"/>
              <a:cs typeface="Arial" panose="020B0604020202090204" pitchFamily="34" charset="0"/>
            </a:endParaRPr>
          </a:p>
          <a:p>
            <a:pPr lvl="1"/>
            <a:r>
              <a:rPr lang="zh-CN" altLang="en-US" dirty="0">
                <a:latin typeface="Arial" panose="020B0604020202090204" pitchFamily="34" charset="0"/>
                <a:ea typeface="黑体" panose="02010609060101010101" pitchFamily="49" charset="-122"/>
                <a:cs typeface="Arial" panose="020B0604020202090204" pitchFamily="34" charset="0"/>
              </a:rPr>
              <a:t>就会发生数值溢出，使</a:t>
            </a:r>
            <a:r>
              <a:rPr lang="en-US" altLang="zh-CN" dirty="0">
                <a:latin typeface="Arial" panose="020B0604020202090204" pitchFamily="34" charset="0"/>
                <a:ea typeface="黑体" panose="02010609060101010101" pitchFamily="49" charset="-122"/>
                <a:cs typeface="Arial" panose="020B0604020202090204" pitchFamily="34" charset="0"/>
              </a:rPr>
              <a:t>mid</a:t>
            </a:r>
            <a:r>
              <a:rPr lang="zh-CN" altLang="en-US" dirty="0">
                <a:latin typeface="Arial" panose="020B0604020202090204" pitchFamily="34" charset="0"/>
                <a:ea typeface="黑体" panose="02010609060101010101" pitchFamily="49" charset="-122"/>
                <a:cs typeface="Arial" panose="020B0604020202090204" pitchFamily="34" charset="0"/>
              </a:rPr>
              <a:t>成为一个负数</a:t>
            </a:r>
            <a:endParaRPr lang="en-US" altLang="zh-CN" dirty="0">
              <a:latin typeface="Arial" panose="020B0604020202090204" pitchFamily="34" charset="0"/>
              <a:ea typeface="黑体" panose="02010609060101010101" pitchFamily="49" charset="-122"/>
              <a:cs typeface="Arial" panose="020B0604020202090204" pitchFamily="34" charset="0"/>
            </a:endParaRPr>
          </a:p>
          <a:p>
            <a:r>
              <a:rPr lang="zh-CN" altLang="en-US" dirty="0">
                <a:latin typeface="Arial" panose="020B0604020202090204" pitchFamily="34" charset="0"/>
                <a:cs typeface="Arial" panose="020B0604020202090204" pitchFamily="34" charset="0"/>
              </a:rPr>
              <a:t>防止溢出的解决方案</a:t>
            </a:r>
            <a:endParaRPr lang="en-US" altLang="zh-CN" dirty="0">
              <a:latin typeface="Arial" panose="020B0604020202090204" pitchFamily="34" charset="0"/>
              <a:cs typeface="Arial" panose="020B0604020202090204" pitchFamily="34" charset="0"/>
            </a:endParaRPr>
          </a:p>
          <a:p>
            <a:pPr lvl="1"/>
            <a:r>
              <a:rPr lang="zh-CN" altLang="en-US" dirty="0">
                <a:latin typeface="Arial" panose="020B0604020202090204" pitchFamily="34" charset="0"/>
                <a:ea typeface="黑体" panose="02010609060101010101" pitchFamily="49" charset="-122"/>
                <a:cs typeface="Arial" panose="020B0604020202090204" pitchFamily="34" charset="0"/>
              </a:rPr>
              <a:t>修改计算中间值的方法，用减法代替加法</a:t>
            </a:r>
            <a:endParaRPr lang="en-US" altLang="zh-CN" dirty="0">
              <a:latin typeface="Arial" panose="020B0604020202090204" pitchFamily="34" charset="0"/>
              <a:ea typeface="黑体" panose="02010609060101010101" pitchFamily="49" charset="-122"/>
              <a:cs typeface="Arial" panose="020B0604020202090204" pitchFamily="34" charset="0"/>
            </a:endParaRPr>
          </a:p>
          <a:p>
            <a:pPr lvl="1"/>
            <a:r>
              <a:rPr lang="fr-FR" altLang="zh-CN" b="1" dirty="0">
                <a:solidFill>
                  <a:srgbClr val="C00000"/>
                </a:solidFill>
                <a:latin typeface="Courier New" panose="02070409020205090404" charset="0"/>
                <a:ea typeface="宋体" pitchFamily="2" charset="-122"/>
              </a:rPr>
              <a:t>mid = </a:t>
            </a:r>
            <a:r>
              <a:rPr lang="en-US" altLang="zh-CN" b="1" dirty="0">
                <a:solidFill>
                  <a:srgbClr val="C00000"/>
                </a:solidFill>
                <a:latin typeface="Courier New" panose="02070409020205090404" charset="0"/>
                <a:ea typeface="宋体" pitchFamily="2" charset="-122"/>
              </a:rPr>
              <a:t>low + </a:t>
            </a:r>
            <a:r>
              <a:rPr lang="fr-FR" altLang="zh-CN" b="1" dirty="0">
                <a:solidFill>
                  <a:srgbClr val="C00000"/>
                </a:solidFill>
                <a:latin typeface="Courier New" panose="02070409020205090404" charset="0"/>
                <a:ea typeface="宋体" pitchFamily="2" charset="-122"/>
              </a:rPr>
              <a:t>(high </a:t>
            </a:r>
            <a:r>
              <a:rPr lang="en-US" altLang="zh-CN" b="1" dirty="0">
                <a:solidFill>
                  <a:srgbClr val="C00000"/>
                </a:solidFill>
                <a:latin typeface="Courier New" panose="02070409020205090404" charset="0"/>
                <a:ea typeface="宋体" pitchFamily="2" charset="-122"/>
              </a:rPr>
              <a:t>-</a:t>
            </a:r>
            <a:r>
              <a:rPr lang="fr-FR" altLang="zh-CN" b="1" dirty="0">
                <a:solidFill>
                  <a:srgbClr val="C00000"/>
                </a:solidFill>
                <a:latin typeface="Courier New" panose="02070409020205090404" charset="0"/>
                <a:ea typeface="宋体" pitchFamily="2" charset="-122"/>
              </a:rPr>
              <a:t> low) / 2;</a:t>
            </a:r>
            <a:endParaRPr lang="en-US" altLang="zh-CN" b="1" dirty="0">
              <a:solidFill>
                <a:srgbClr val="C00000"/>
              </a:solidFill>
              <a:ea typeface="宋体" pitchFamily="2" charset="-122"/>
            </a:endParaRPr>
          </a:p>
          <a:p>
            <a:pPr lvl="1"/>
            <a:endParaRPr lang="zh-CN" altLang="en-US" dirty="0">
              <a:ea typeface="宋体" pitchFamily="2" charset="-122"/>
            </a:endParaRPr>
          </a:p>
        </p:txBody>
      </p:sp>
      <p:pic>
        <p:nvPicPr>
          <p:cNvPr id="94211" name="图片 7"/>
          <p:cNvPicPr>
            <a:picLocks noChangeAspect="1"/>
          </p:cNvPicPr>
          <p:nvPr/>
        </p:nvPicPr>
        <p:blipFill>
          <a:blip r:embed="rId3">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9707563" y="4595814"/>
            <a:ext cx="912812"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34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p:cTn id="16" dur="500" fill="hold"/>
                                        <p:tgtEl>
                                          <p:spTgt spid="3">
                                            <p:txEl>
                                              <p:pRg st="1" end="1"/>
                                            </p:txEl>
                                          </p:spTgt>
                                        </p:tgtEl>
                                        <p:attrNameLst>
                                          <p:attrName>ppt_w</p:attrName>
                                        </p:attrNameLst>
                                      </p:cBhvr>
                                      <p:tavLst>
                                        <p:tav tm="0">
                                          <p:val>
                                            <p:strVal val="#ppt_w*0.05"/>
                                          </p:val>
                                        </p:tav>
                                        <p:tav tm="100000">
                                          <p:val>
                                            <p:strVal val="#ppt_w"/>
                                          </p:val>
                                        </p:tav>
                                      </p:tavLst>
                                    </p:anim>
                                    <p:anim calcmode="lin" valueType="num">
                                      <p:cBhvr>
                                        <p:cTn id="17" dur="500" fill="hold"/>
                                        <p:tgtEl>
                                          <p:spTgt spid="3">
                                            <p:txEl>
                                              <p:pRg st="1" end="1"/>
                                            </p:txEl>
                                          </p:spTgt>
                                        </p:tgtEl>
                                        <p:attrNameLst>
                                          <p:attrName>ppt_h</p:attrName>
                                        </p:attrNameLst>
                                      </p:cBhvr>
                                      <p:tavLst>
                                        <p:tav tm="0">
                                          <p:val>
                                            <p:strVal val="#ppt_h"/>
                                          </p:val>
                                        </p:tav>
                                        <p:tav tm="100000">
                                          <p:val>
                                            <p:strVal val="#ppt_h"/>
                                          </p:val>
                                        </p:tav>
                                      </p:tavLst>
                                    </p:anim>
                                    <p:anim calcmode="lin" valueType="num">
                                      <p:cBhvr>
                                        <p:cTn id="18" dur="5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9" dur="500" fill="hold"/>
                                        <p:tgtEl>
                                          <p:spTgt spid="3">
                                            <p:txEl>
                                              <p:pRg st="1" end="1"/>
                                            </p:txEl>
                                          </p:spTgt>
                                        </p:tgtEl>
                                        <p:attrNameLst>
                                          <p:attrName>ppt_y</p:attrName>
                                        </p:attrNameLst>
                                      </p:cBhvr>
                                      <p:tavLst>
                                        <p:tav tm="0">
                                          <p:val>
                                            <p:strVal val="#ppt_y"/>
                                          </p:val>
                                        </p:tav>
                                        <p:tav tm="100000">
                                          <p:val>
                                            <p:strVal val="#ppt_y"/>
                                          </p:val>
                                        </p:tav>
                                      </p:tavLst>
                                    </p:anim>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p:cTn id="25" dur="500" fill="hold"/>
                                        <p:tgtEl>
                                          <p:spTgt spid="3">
                                            <p:txEl>
                                              <p:pRg st="2" end="2"/>
                                            </p:txEl>
                                          </p:spTgt>
                                        </p:tgtEl>
                                        <p:attrNameLst>
                                          <p:attrName>ppt_w</p:attrName>
                                        </p:attrNameLst>
                                      </p:cBhvr>
                                      <p:tavLst>
                                        <p:tav tm="0">
                                          <p:val>
                                            <p:strVal val="#ppt_w*0.05"/>
                                          </p:val>
                                        </p:tav>
                                        <p:tav tm="100000">
                                          <p:val>
                                            <p:strVal val="#ppt_w"/>
                                          </p:val>
                                        </p:tav>
                                      </p:tavLst>
                                    </p:anim>
                                    <p:anim calcmode="lin" valueType="num">
                                      <p:cBhvr>
                                        <p:cTn id="26" dur="500" fill="hold"/>
                                        <p:tgtEl>
                                          <p:spTgt spid="3">
                                            <p:txEl>
                                              <p:pRg st="2" end="2"/>
                                            </p:txEl>
                                          </p:spTgt>
                                        </p:tgtEl>
                                        <p:attrNameLst>
                                          <p:attrName>ppt_h</p:attrName>
                                        </p:attrNameLst>
                                      </p:cBhvr>
                                      <p:tavLst>
                                        <p:tav tm="0">
                                          <p:val>
                                            <p:strVal val="#ppt_h"/>
                                          </p:val>
                                        </p:tav>
                                        <p:tav tm="100000">
                                          <p:val>
                                            <p:strVal val="#ppt_h"/>
                                          </p:val>
                                        </p:tav>
                                      </p:tavLst>
                                    </p:anim>
                                    <p:anim calcmode="lin" valueType="num">
                                      <p:cBhvr>
                                        <p:cTn id="27" dur="5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8" dur="500" fill="hold"/>
                                        <p:tgtEl>
                                          <p:spTgt spid="3">
                                            <p:txEl>
                                              <p:pRg st="2" end="2"/>
                                            </p:txEl>
                                          </p:spTgt>
                                        </p:tgtEl>
                                        <p:attrNameLst>
                                          <p:attrName>ppt_y</p:attrName>
                                        </p:attrNameLst>
                                      </p:cBhvr>
                                      <p:tavLst>
                                        <p:tav tm="0">
                                          <p:val>
                                            <p:strVal val="#ppt_y"/>
                                          </p:val>
                                        </p:tav>
                                        <p:tav tm="100000">
                                          <p:val>
                                            <p:strVal val="#ppt_y"/>
                                          </p:val>
                                        </p:tav>
                                      </p:tavLst>
                                    </p:anim>
                                    <p:animEffect transition="in" filter="fade">
                                      <p:cBhvr>
                                        <p:cTn id="29" dur="500"/>
                                        <p:tgtEl>
                                          <p:spTgt spid="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4" presetClass="entr" presetSubtype="0" accel="10000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 calcmode="lin" valueType="num">
                                      <p:cBhvr>
                                        <p:cTn id="34" dur="500" fill="hold"/>
                                        <p:tgtEl>
                                          <p:spTgt spid="3">
                                            <p:txEl>
                                              <p:pRg st="3" end="3"/>
                                            </p:txEl>
                                          </p:spTgt>
                                        </p:tgtEl>
                                        <p:attrNameLst>
                                          <p:attrName>ppt_w</p:attrName>
                                        </p:attrNameLst>
                                      </p:cBhvr>
                                      <p:tavLst>
                                        <p:tav tm="0">
                                          <p:val>
                                            <p:strVal val="#ppt_w*0.05"/>
                                          </p:val>
                                        </p:tav>
                                        <p:tav tm="100000">
                                          <p:val>
                                            <p:strVal val="#ppt_w"/>
                                          </p:val>
                                        </p:tav>
                                      </p:tavLst>
                                    </p:anim>
                                    <p:anim calcmode="lin" valueType="num">
                                      <p:cBhvr>
                                        <p:cTn id="35" dur="500" fill="hold"/>
                                        <p:tgtEl>
                                          <p:spTgt spid="3">
                                            <p:txEl>
                                              <p:pRg st="3" end="3"/>
                                            </p:txEl>
                                          </p:spTgt>
                                        </p:tgtEl>
                                        <p:attrNameLst>
                                          <p:attrName>ppt_h</p:attrName>
                                        </p:attrNameLst>
                                      </p:cBhvr>
                                      <p:tavLst>
                                        <p:tav tm="0">
                                          <p:val>
                                            <p:strVal val="#ppt_h"/>
                                          </p:val>
                                        </p:tav>
                                        <p:tav tm="100000">
                                          <p:val>
                                            <p:strVal val="#ppt_h"/>
                                          </p:val>
                                        </p:tav>
                                      </p:tavLst>
                                    </p:anim>
                                    <p:anim calcmode="lin" valueType="num">
                                      <p:cBhvr>
                                        <p:cTn id="36" dur="5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37" dur="500" fill="hold"/>
                                        <p:tgtEl>
                                          <p:spTgt spid="3">
                                            <p:txEl>
                                              <p:pRg st="3" end="3"/>
                                            </p:txEl>
                                          </p:spTgt>
                                        </p:tgtEl>
                                        <p:attrNameLst>
                                          <p:attrName>ppt_y</p:attrName>
                                        </p:attrNameLst>
                                      </p:cBhvr>
                                      <p:tavLst>
                                        <p:tav tm="0">
                                          <p:val>
                                            <p:strVal val="#ppt_y"/>
                                          </p:val>
                                        </p:tav>
                                        <p:tav tm="100000">
                                          <p:val>
                                            <p:strVal val="#ppt_y"/>
                                          </p:val>
                                        </p:tav>
                                      </p:tavLst>
                                    </p:anim>
                                    <p:animEffect transition="in" filter="fade">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4" presetClass="entr" presetSubtype="0" accel="10000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p:cTn id="43" dur="500" fill="hold"/>
                                        <p:tgtEl>
                                          <p:spTgt spid="3">
                                            <p:txEl>
                                              <p:pRg st="4" end="4"/>
                                            </p:txEl>
                                          </p:spTgt>
                                        </p:tgtEl>
                                        <p:attrNameLst>
                                          <p:attrName>ppt_w</p:attrName>
                                        </p:attrNameLst>
                                      </p:cBhvr>
                                      <p:tavLst>
                                        <p:tav tm="0">
                                          <p:val>
                                            <p:strVal val="#ppt_w*0.05"/>
                                          </p:val>
                                        </p:tav>
                                        <p:tav tm="100000">
                                          <p:val>
                                            <p:strVal val="#ppt_w"/>
                                          </p:val>
                                        </p:tav>
                                      </p:tavLst>
                                    </p:anim>
                                    <p:anim calcmode="lin" valueType="num">
                                      <p:cBhvr>
                                        <p:cTn id="44" dur="500" fill="hold"/>
                                        <p:tgtEl>
                                          <p:spTgt spid="3">
                                            <p:txEl>
                                              <p:pRg st="4" end="4"/>
                                            </p:txEl>
                                          </p:spTgt>
                                        </p:tgtEl>
                                        <p:attrNameLst>
                                          <p:attrName>ppt_h</p:attrName>
                                        </p:attrNameLst>
                                      </p:cBhvr>
                                      <p:tavLst>
                                        <p:tav tm="0">
                                          <p:val>
                                            <p:strVal val="#ppt_h"/>
                                          </p:val>
                                        </p:tav>
                                        <p:tav tm="100000">
                                          <p:val>
                                            <p:strVal val="#ppt_h"/>
                                          </p:val>
                                        </p:tav>
                                      </p:tavLst>
                                    </p:anim>
                                    <p:anim calcmode="lin" valueType="num">
                                      <p:cBhvr>
                                        <p:cTn id="45" dur="5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46" dur="5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47" dur="500"/>
                                        <p:tgtEl>
                                          <p:spTgt spid="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4" presetClass="entr" presetSubtype="0" accel="100000" fill="hold" nodeType="click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anim calcmode="lin" valueType="num">
                                      <p:cBhvr>
                                        <p:cTn id="52" dur="500" fill="hold"/>
                                        <p:tgtEl>
                                          <p:spTgt spid="3">
                                            <p:txEl>
                                              <p:pRg st="5" end="5"/>
                                            </p:txEl>
                                          </p:spTgt>
                                        </p:tgtEl>
                                        <p:attrNameLst>
                                          <p:attrName>ppt_w</p:attrName>
                                        </p:attrNameLst>
                                      </p:cBhvr>
                                      <p:tavLst>
                                        <p:tav tm="0">
                                          <p:val>
                                            <p:strVal val="#ppt_w*0.05"/>
                                          </p:val>
                                        </p:tav>
                                        <p:tav tm="100000">
                                          <p:val>
                                            <p:strVal val="#ppt_w"/>
                                          </p:val>
                                        </p:tav>
                                      </p:tavLst>
                                    </p:anim>
                                    <p:anim calcmode="lin" valueType="num">
                                      <p:cBhvr>
                                        <p:cTn id="53" dur="500" fill="hold"/>
                                        <p:tgtEl>
                                          <p:spTgt spid="3">
                                            <p:txEl>
                                              <p:pRg st="5" end="5"/>
                                            </p:txEl>
                                          </p:spTgt>
                                        </p:tgtEl>
                                        <p:attrNameLst>
                                          <p:attrName>ppt_h</p:attrName>
                                        </p:attrNameLst>
                                      </p:cBhvr>
                                      <p:tavLst>
                                        <p:tav tm="0">
                                          <p:val>
                                            <p:strVal val="#ppt_h"/>
                                          </p:val>
                                        </p:tav>
                                        <p:tav tm="100000">
                                          <p:val>
                                            <p:strVal val="#ppt_h"/>
                                          </p:val>
                                        </p:tav>
                                      </p:tavLst>
                                    </p:anim>
                                    <p:anim calcmode="lin" valueType="num">
                                      <p:cBhvr>
                                        <p:cTn id="54" dur="5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55" dur="500" fill="hold"/>
                                        <p:tgtEl>
                                          <p:spTgt spid="3">
                                            <p:txEl>
                                              <p:pRg st="5" end="5"/>
                                            </p:txEl>
                                          </p:spTgt>
                                        </p:tgtEl>
                                        <p:attrNameLst>
                                          <p:attrName>ppt_y</p:attrName>
                                        </p:attrNameLst>
                                      </p:cBhvr>
                                      <p:tavLst>
                                        <p:tav tm="0">
                                          <p:val>
                                            <p:strVal val="#ppt_y"/>
                                          </p:val>
                                        </p:tav>
                                        <p:tav tm="100000">
                                          <p:val>
                                            <p:strVal val="#ppt_y"/>
                                          </p:val>
                                        </p:tav>
                                      </p:tavLst>
                                    </p:anim>
                                    <p:animEffect transition="in" filter="fade">
                                      <p:cBhvr>
                                        <p:cTn id="5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9"/>
          <p:cNvSpPr txBox="1">
            <a:spLocks noChangeArrowheads="1"/>
          </p:cNvSpPr>
          <p:nvPr/>
        </p:nvSpPr>
        <p:spPr bwMode="auto">
          <a:xfrm>
            <a:off x="4639734" y="1133125"/>
            <a:ext cx="2712156" cy="60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2755900" algn="l"/>
              </a:tabLst>
              <a:defRPr>
                <a:solidFill>
                  <a:schemeClr val="tx1"/>
                </a:solidFill>
                <a:latin typeface="Calibri" panose="020F0502020204030204" pitchFamily="34" charset="0"/>
                <a:ea typeface="宋体" pitchFamily="2" charset="-122"/>
                <a:cs typeface="宋体" pitchFamily="2" charset="-122"/>
              </a:defRPr>
            </a:lvl1pPr>
            <a:lvl2pPr marL="742950" indent="-285750">
              <a:tabLst>
                <a:tab pos="2755900" algn="l"/>
              </a:tabLst>
              <a:defRPr>
                <a:solidFill>
                  <a:schemeClr val="tx1"/>
                </a:solidFill>
                <a:latin typeface="Calibri" panose="020F0502020204030204" pitchFamily="34" charset="0"/>
                <a:ea typeface="宋体" pitchFamily="2" charset="-122"/>
              </a:defRPr>
            </a:lvl2pPr>
            <a:lvl3pPr marL="1143000" indent="-228600">
              <a:tabLst>
                <a:tab pos="2755900" algn="l"/>
              </a:tabLst>
              <a:defRPr>
                <a:solidFill>
                  <a:schemeClr val="tx1"/>
                </a:solidFill>
                <a:latin typeface="Calibri" panose="020F0502020204030204" pitchFamily="34" charset="0"/>
                <a:ea typeface="宋体" pitchFamily="2" charset="-122"/>
              </a:defRPr>
            </a:lvl3pPr>
            <a:lvl4pPr marL="1600200" indent="-228600">
              <a:tabLst>
                <a:tab pos="2755900" algn="l"/>
              </a:tabLst>
              <a:defRPr>
                <a:solidFill>
                  <a:schemeClr val="tx1"/>
                </a:solidFill>
                <a:latin typeface="Calibri" panose="020F0502020204030204" pitchFamily="34" charset="0"/>
                <a:ea typeface="宋体" pitchFamily="2" charset="-122"/>
              </a:defRPr>
            </a:lvl4pPr>
            <a:lvl5pPr marL="2057400" indent="-228600">
              <a:tabLst>
                <a:tab pos="2755900" algn="l"/>
              </a:tabLst>
              <a:defRPr>
                <a:solidFill>
                  <a:schemeClr val="tx1"/>
                </a:solidFill>
                <a:latin typeface="Calibri" panose="020F0502020204030204" pitchFamily="34" charset="0"/>
                <a:ea typeface="宋体" pitchFamily="2" charset="-122"/>
              </a:defRPr>
            </a:lvl5pPr>
            <a:lvl6pPr marL="25146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6pPr>
            <a:lvl7pPr marL="29718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7pPr>
            <a:lvl8pPr marL="34290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8pPr>
            <a:lvl9pPr marL="3886200" indent="-228600" fontAlgn="base">
              <a:spcBef>
                <a:spcPct val="0"/>
              </a:spcBef>
              <a:spcAft>
                <a:spcPct val="0"/>
              </a:spcAft>
              <a:tabLst>
                <a:tab pos="2755900" algn="l"/>
              </a:tabLst>
              <a:defRPr>
                <a:solidFill>
                  <a:schemeClr val="tx1"/>
                </a:solidFill>
                <a:latin typeface="Calibri" panose="020F0502020204030204" pitchFamily="34" charset="0"/>
                <a:ea typeface="宋体" pitchFamily="2" charset="-122"/>
              </a:defRPr>
            </a:lvl9pPr>
          </a:lstStyle>
          <a:p>
            <a:pPr eaLnBrk="1" hangingPunct="1">
              <a:defRPr/>
            </a:pPr>
            <a:r>
              <a:rPr lang="zh-CN" altLang="en-US" sz="3910" b="1" dirty="0">
                <a:solidFill>
                  <a:srgbClr val="1F497D">
                    <a:lumMod val="60000"/>
                    <a:lumOff val="40000"/>
                  </a:srgbClr>
                </a:solidFill>
                <a:latin typeface="+mn-lt"/>
                <a:ea typeface="+mn-ea"/>
                <a:cs typeface="+mn-ea"/>
                <a:sym typeface="+mn-lt"/>
              </a:rPr>
              <a:t>本讲内容</a:t>
            </a:r>
          </a:p>
        </p:txBody>
      </p:sp>
      <p:sp>
        <p:nvSpPr>
          <p:cNvPr id="73734" name="TextBox 1"/>
          <p:cNvSpPr txBox="1">
            <a:spLocks noChangeArrowheads="1"/>
          </p:cNvSpPr>
          <p:nvPr/>
        </p:nvSpPr>
        <p:spPr bwMode="auto">
          <a:xfrm>
            <a:off x="2686756" y="2321278"/>
            <a:ext cx="7121878" cy="300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lvl="1">
              <a:spcBef>
                <a:spcPct val="0"/>
              </a:spcBef>
              <a:buFontTx/>
              <a:buNone/>
            </a:pPr>
            <a:r>
              <a:rPr lang="en-US" altLang="zh-CN" sz="3910" dirty="0">
                <a:solidFill>
                  <a:srgbClr val="000000"/>
                </a:solidFill>
                <a:latin typeface="+mn-lt"/>
                <a:ea typeface="+mn-ea"/>
                <a:cs typeface="+mn-ea"/>
                <a:sym typeface="+mn-lt"/>
              </a:rPr>
              <a:t>12.1 </a:t>
            </a:r>
            <a:r>
              <a:rPr lang="zh-CN" altLang="zh-CN" sz="3910" dirty="0">
                <a:solidFill>
                  <a:srgbClr val="000000"/>
                </a:solidFill>
                <a:latin typeface="+mn-lt"/>
                <a:ea typeface="+mn-ea"/>
                <a:cs typeface="+mn-ea"/>
                <a:sym typeface="+mn-lt"/>
              </a:rPr>
              <a:t>什么是算法？</a:t>
            </a:r>
          </a:p>
          <a:p>
            <a:pPr lvl="1">
              <a:spcBef>
                <a:spcPct val="0"/>
              </a:spcBef>
              <a:buFontTx/>
              <a:buNone/>
            </a:pPr>
            <a:r>
              <a:rPr lang="en-US" altLang="zh-CN" sz="3910" dirty="0">
                <a:solidFill>
                  <a:srgbClr val="000000"/>
                </a:solidFill>
                <a:latin typeface="+mn-lt"/>
                <a:ea typeface="+mn-ea"/>
                <a:cs typeface="+mn-ea"/>
                <a:sym typeface="+mn-lt"/>
              </a:rPr>
              <a:t>12.2 </a:t>
            </a:r>
            <a:r>
              <a:rPr lang="zh-CN" altLang="zh-CN" sz="3910" dirty="0">
                <a:solidFill>
                  <a:srgbClr val="000000"/>
                </a:solidFill>
                <a:latin typeface="+mn-lt"/>
                <a:ea typeface="+mn-ea"/>
                <a:cs typeface="+mn-ea"/>
                <a:sym typeface="+mn-lt"/>
              </a:rPr>
              <a:t>算法分析</a:t>
            </a:r>
          </a:p>
          <a:p>
            <a:pPr lvl="1">
              <a:spcBef>
                <a:spcPct val="0"/>
              </a:spcBef>
              <a:buFontTx/>
              <a:buNone/>
            </a:pPr>
            <a:r>
              <a:rPr lang="en-US" altLang="zh-CN" sz="3910" dirty="0">
                <a:solidFill>
                  <a:srgbClr val="000000"/>
                </a:solidFill>
                <a:latin typeface="+mn-lt"/>
                <a:ea typeface="+mn-ea"/>
                <a:cs typeface="+mn-ea"/>
                <a:sym typeface="+mn-lt"/>
              </a:rPr>
              <a:t>12.3 </a:t>
            </a:r>
            <a:r>
              <a:rPr lang="zh-CN" altLang="en-US" sz="3910" dirty="0">
                <a:solidFill>
                  <a:srgbClr val="000000"/>
                </a:solidFill>
                <a:latin typeface="+mn-lt"/>
                <a:ea typeface="+mn-ea"/>
                <a:cs typeface="+mn-ea"/>
                <a:sym typeface="+mn-lt"/>
              </a:rPr>
              <a:t>应用举例：查找算法</a:t>
            </a:r>
            <a:endParaRPr lang="en-US" altLang="zh-CN" sz="3910" dirty="0">
              <a:solidFill>
                <a:srgbClr val="000000"/>
              </a:solidFill>
              <a:latin typeface="+mn-lt"/>
              <a:ea typeface="+mn-ea"/>
              <a:cs typeface="+mn-ea"/>
              <a:sym typeface="+mn-lt"/>
            </a:endParaRPr>
          </a:p>
          <a:p>
            <a:pPr lvl="1">
              <a:spcBef>
                <a:spcPct val="0"/>
              </a:spcBef>
              <a:buFontTx/>
              <a:buNone/>
            </a:pPr>
            <a:r>
              <a:rPr lang="en-US" altLang="zh-CN" sz="3910" b="1" dirty="0">
                <a:solidFill>
                  <a:srgbClr val="000000"/>
                </a:solidFill>
                <a:latin typeface="+mn-lt"/>
                <a:ea typeface="+mn-ea"/>
                <a:cs typeface="+mn-ea"/>
                <a:sym typeface="+mn-lt"/>
              </a:rPr>
              <a:t>12.4 </a:t>
            </a:r>
            <a:r>
              <a:rPr lang="zh-CN" altLang="en-US" sz="3910" b="1" dirty="0">
                <a:solidFill>
                  <a:srgbClr val="000000"/>
                </a:solidFill>
                <a:latin typeface="+mn-lt"/>
                <a:ea typeface="+mn-ea"/>
                <a:cs typeface="+mn-ea"/>
                <a:sym typeface="+mn-lt"/>
              </a:rPr>
              <a:t>应用举例：数组修改</a:t>
            </a:r>
            <a:endParaRPr lang="zh-CN" altLang="zh-CN" sz="3910" b="1"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90" dirty="0">
              <a:solidFill>
                <a:srgbClr val="1A9EE9"/>
              </a:solidFill>
              <a:latin typeface="+mn-lt"/>
              <a:ea typeface="+mn-ea"/>
              <a:cs typeface="+mn-ea"/>
              <a:sym typeface="+mn-lt"/>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479376" y="248445"/>
            <a:ext cx="8915400" cy="1143000"/>
          </a:xfrm>
        </p:spPr>
        <p:txBody>
          <a:bodyPr/>
          <a:lstStyle/>
          <a:p>
            <a:r>
              <a:rPr lang="zh-CN" altLang="en-US" dirty="0"/>
              <a:t>例</a:t>
            </a:r>
            <a:r>
              <a:rPr lang="en-US" altLang="zh-CN" dirty="0"/>
              <a:t>2</a:t>
            </a:r>
            <a:r>
              <a:rPr lang="zh-CN" altLang="en-US" dirty="0"/>
              <a:t>：一维数组的元素修改</a:t>
            </a:r>
          </a:p>
        </p:txBody>
      </p:sp>
      <p:sp>
        <p:nvSpPr>
          <p:cNvPr id="58371" name="Rectangle 3"/>
          <p:cNvSpPr>
            <a:spLocks noGrp="1" noChangeArrowheads="1"/>
          </p:cNvSpPr>
          <p:nvPr>
            <p:ph idx="1"/>
          </p:nvPr>
        </p:nvSpPr>
        <p:spPr>
          <a:xfrm>
            <a:off x="911424" y="1398028"/>
            <a:ext cx="8915400" cy="4686300"/>
          </a:xfrm>
        </p:spPr>
        <p:txBody>
          <a:bodyPr>
            <a:normAutofit fontScale="92500" lnSpcReduction="20000"/>
          </a:bodyPr>
          <a:lstStyle/>
          <a:p>
            <a:pPr eaLnBrk="1">
              <a:lnSpc>
                <a:spcPct val="135000"/>
              </a:lnSpc>
            </a:pPr>
            <a:r>
              <a:rPr lang="zh-CN" altLang="en-US" sz="3600" dirty="0"/>
              <a:t>数组的元素修改</a:t>
            </a:r>
            <a:endParaRPr lang="en-US" altLang="zh-CN" sz="3600" dirty="0"/>
          </a:p>
          <a:p>
            <a:pPr lvl="1">
              <a:lnSpc>
                <a:spcPct val="135000"/>
              </a:lnSpc>
            </a:pPr>
            <a:r>
              <a:rPr lang="zh-CN" altLang="en-US" sz="2875" dirty="0">
                <a:latin typeface="Arial" panose="020B0604020202090204" pitchFamily="34" charset="0"/>
                <a:ea typeface="黑体" panose="02010609060101010101" pitchFamily="49" charset="-122"/>
                <a:cs typeface="Arial" panose="020B0604020202090204" pitchFamily="34" charset="0"/>
              </a:rPr>
              <a:t>修改操作：插入和删除</a:t>
            </a:r>
            <a:endParaRPr lang="en-US" altLang="zh-CN" sz="2875" dirty="0">
              <a:latin typeface="Arial" panose="020B0604020202090204" pitchFamily="34" charset="0"/>
              <a:ea typeface="黑体" panose="02010609060101010101" pitchFamily="49" charset="-122"/>
              <a:cs typeface="Arial" panose="020B0604020202090204" pitchFamily="34" charset="0"/>
            </a:endParaRPr>
          </a:p>
          <a:p>
            <a:pPr lvl="1">
              <a:lnSpc>
                <a:spcPct val="135000"/>
              </a:lnSpc>
            </a:pPr>
            <a:r>
              <a:rPr lang="zh-CN" altLang="en-US" sz="2875" dirty="0">
                <a:latin typeface="Arial" panose="020B0604020202090204" pitchFamily="34" charset="0"/>
                <a:ea typeface="黑体" panose="02010609060101010101" pitchFamily="49" charset="-122"/>
                <a:cs typeface="Arial" panose="020B0604020202090204" pitchFamily="34" charset="0"/>
              </a:rPr>
              <a:t>约定数组里的元素是连续存放的，也即元素中间不能存在未放入元素的空格</a:t>
            </a:r>
            <a:endParaRPr lang="en-US" altLang="zh-CN" sz="2875" dirty="0">
              <a:latin typeface="Arial" panose="020B0604020202090204" pitchFamily="34" charset="0"/>
              <a:ea typeface="黑体" panose="02010609060101010101" pitchFamily="49" charset="-122"/>
              <a:cs typeface="Arial" panose="020B0604020202090204" pitchFamily="34" charset="0"/>
            </a:endParaRPr>
          </a:p>
          <a:p>
            <a:pPr eaLnBrk="1">
              <a:lnSpc>
                <a:spcPct val="135000"/>
              </a:lnSpc>
            </a:pPr>
            <a:r>
              <a:rPr lang="zh-CN" altLang="en-US" sz="3200" dirty="0">
                <a:latin typeface="Arial" panose="020B0604020202090204" pitchFamily="34" charset="0"/>
                <a:ea typeface="黑体" panose="02010609060101010101" pitchFamily="49" charset="-122"/>
                <a:cs typeface="Arial" panose="020B0604020202090204" pitchFamily="34" charset="0"/>
              </a:rPr>
              <a:t>应用场景：</a:t>
            </a:r>
            <a:endParaRPr lang="en-US" altLang="zh-CN" sz="3200" dirty="0">
              <a:latin typeface="Arial" panose="020B0604020202090204" pitchFamily="34" charset="0"/>
              <a:ea typeface="黑体" panose="02010609060101010101" pitchFamily="49" charset="-122"/>
              <a:cs typeface="Arial" panose="020B0604020202090204" pitchFamily="34" charset="0"/>
            </a:endParaRPr>
          </a:p>
          <a:p>
            <a:pPr marL="371475" lvl="1" indent="0">
              <a:lnSpc>
                <a:spcPct val="135000"/>
              </a:lnSpc>
              <a:buNone/>
            </a:pPr>
            <a:r>
              <a:rPr lang="zh-CN" altLang="en-US" sz="2875" dirty="0">
                <a:latin typeface="Arial" panose="020B0604020202090204" pitchFamily="34" charset="0"/>
                <a:ea typeface="黑体" panose="02010609060101010101" pitchFamily="49" charset="-122"/>
                <a:cs typeface="Arial" panose="020B0604020202090204" pitchFamily="34" charset="0"/>
              </a:rPr>
              <a:t>场景一、在给定位置插入和删除</a:t>
            </a:r>
            <a:endParaRPr lang="en-US" altLang="zh-CN" sz="2875" dirty="0">
              <a:latin typeface="Arial" panose="020B0604020202090204" pitchFamily="34" charset="0"/>
              <a:ea typeface="黑体" panose="02010609060101010101" pitchFamily="49" charset="-122"/>
              <a:cs typeface="Arial" panose="020B0604020202090204" pitchFamily="34" charset="0"/>
            </a:endParaRPr>
          </a:p>
          <a:p>
            <a:pPr marL="371475" lvl="1" indent="0">
              <a:lnSpc>
                <a:spcPct val="135000"/>
              </a:lnSpc>
              <a:buNone/>
            </a:pPr>
            <a:r>
              <a:rPr lang="zh-CN" altLang="en-US" sz="2875" dirty="0">
                <a:latin typeface="Arial" panose="020B0604020202090204" pitchFamily="34" charset="0"/>
                <a:ea typeface="黑体" panose="02010609060101010101" pitchFamily="49" charset="-122"/>
                <a:cs typeface="Arial" panose="020B0604020202090204" pitchFamily="34" charset="0"/>
              </a:rPr>
              <a:t>场景二、无序数组的插入和删除</a:t>
            </a:r>
            <a:endParaRPr lang="en-US" altLang="zh-CN" sz="2875" dirty="0">
              <a:latin typeface="Arial" panose="020B0604020202090204" pitchFamily="34" charset="0"/>
              <a:ea typeface="黑体" panose="02010609060101010101" pitchFamily="49" charset="-122"/>
              <a:cs typeface="Arial" panose="020B0604020202090204" pitchFamily="34" charset="0"/>
            </a:endParaRPr>
          </a:p>
          <a:p>
            <a:pPr marL="371475" lvl="1" indent="0">
              <a:lnSpc>
                <a:spcPct val="135000"/>
              </a:lnSpc>
              <a:buNone/>
            </a:pPr>
            <a:r>
              <a:rPr lang="zh-CN" altLang="en-US" sz="2875" dirty="0">
                <a:latin typeface="Arial" panose="020B0604020202090204" pitchFamily="34" charset="0"/>
                <a:ea typeface="黑体" panose="02010609060101010101" pitchFamily="49" charset="-122"/>
                <a:cs typeface="Arial" panose="020B0604020202090204" pitchFamily="34" charset="0"/>
              </a:rPr>
              <a:t>场景三、有序数组的插入和删除</a:t>
            </a:r>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36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wipe(left)">
                                      <p:cBhvr>
                                        <p:cTn id="12" dur="5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wipe(left)">
                                      <p:cBhvr>
                                        <p:cTn id="17" dur="500"/>
                                        <p:tgtEl>
                                          <p:spTgt spid="58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8371">
                                            <p:txEl>
                                              <p:pRg st="3" end="3"/>
                                            </p:txEl>
                                          </p:spTgt>
                                        </p:tgtEl>
                                        <p:attrNameLst>
                                          <p:attrName>style.visibility</p:attrName>
                                        </p:attrNameLst>
                                      </p:cBhvr>
                                      <p:to>
                                        <p:strVal val="visible"/>
                                      </p:to>
                                    </p:set>
                                    <p:animEffect transition="in" filter="wipe(left)">
                                      <p:cBhvr>
                                        <p:cTn id="22" dur="500"/>
                                        <p:tgtEl>
                                          <p:spTgt spid="58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8371">
                                            <p:txEl>
                                              <p:pRg st="4" end="4"/>
                                            </p:txEl>
                                          </p:spTgt>
                                        </p:tgtEl>
                                        <p:attrNameLst>
                                          <p:attrName>style.visibility</p:attrName>
                                        </p:attrNameLst>
                                      </p:cBhvr>
                                      <p:to>
                                        <p:strVal val="visible"/>
                                      </p:to>
                                    </p:set>
                                    <p:animEffect transition="in" filter="wipe(left)">
                                      <p:cBhvr>
                                        <p:cTn id="27" dur="500"/>
                                        <p:tgtEl>
                                          <p:spTgt spid="583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371">
                                            <p:txEl>
                                              <p:pRg st="5" end="5"/>
                                            </p:txEl>
                                          </p:spTgt>
                                        </p:tgtEl>
                                        <p:attrNameLst>
                                          <p:attrName>style.visibility</p:attrName>
                                        </p:attrNameLst>
                                      </p:cBhvr>
                                      <p:to>
                                        <p:strVal val="visible"/>
                                      </p:to>
                                    </p:set>
                                    <p:animEffect transition="in" filter="wipe(left)">
                                      <p:cBhvr>
                                        <p:cTn id="32" dur="500"/>
                                        <p:tgtEl>
                                          <p:spTgt spid="583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371">
                                            <p:txEl>
                                              <p:pRg st="6" end="6"/>
                                            </p:txEl>
                                          </p:spTgt>
                                        </p:tgtEl>
                                        <p:attrNameLst>
                                          <p:attrName>style.visibility</p:attrName>
                                        </p:attrNameLst>
                                      </p:cBhvr>
                                      <p:to>
                                        <p:strVal val="visible"/>
                                      </p:to>
                                    </p:set>
                                    <p:animEffect transition="in" filter="wipe(left)">
                                      <p:cBhvr>
                                        <p:cTn id="37" dur="500"/>
                                        <p:tgtEl>
                                          <p:spTgt spid="58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Arial" panose="020B0604020202090204" pitchFamily="34" charset="0"/>
                <a:ea typeface="黑体" panose="02010609060101010101" pitchFamily="49" charset="-122"/>
                <a:cs typeface="Arial" panose="020B0604020202090204" pitchFamily="34" charset="0"/>
              </a:rPr>
              <a:t>场景一、在给定位置插入和删除</a:t>
            </a:r>
            <a:endParaRPr lang="zh-CN" altLang="en-US" dirty="0"/>
          </a:p>
        </p:txBody>
      </p:sp>
      <p:sp>
        <p:nvSpPr>
          <p:cNvPr id="3" name="内容占位符 2"/>
          <p:cNvSpPr>
            <a:spLocks noGrp="1"/>
          </p:cNvSpPr>
          <p:nvPr>
            <p:ph idx="1"/>
          </p:nvPr>
        </p:nvSpPr>
        <p:spPr>
          <a:xfrm>
            <a:off x="1824038" y="1716189"/>
            <a:ext cx="8543925" cy="4351338"/>
          </a:xfrm>
        </p:spPr>
        <p:txBody>
          <a:bodyPr/>
          <a:lstStyle/>
          <a:p>
            <a:r>
              <a:rPr lang="zh-CN" altLang="en-US" dirty="0"/>
              <a:t>在数组里</a:t>
            </a:r>
            <a:r>
              <a:rPr lang="en-US" altLang="zh-CN" dirty="0"/>
              <a:t>Index</a:t>
            </a:r>
            <a:r>
              <a:rPr lang="zh-CN" altLang="en-US" dirty="0"/>
              <a:t>为</a:t>
            </a:r>
            <a:r>
              <a:rPr lang="en-US" altLang="zh-CN" dirty="0"/>
              <a:t>4</a:t>
            </a:r>
            <a:r>
              <a:rPr lang="zh-CN" altLang="en-US" dirty="0"/>
              <a:t>的位置插入一个数</a:t>
            </a:r>
            <a:r>
              <a:rPr lang="en-US" altLang="zh-CN" dirty="0"/>
              <a:t>11</a:t>
            </a:r>
            <a:endParaRPr lang="zh-CN" altLang="en-US" dirty="0"/>
          </a:p>
        </p:txBody>
      </p:sp>
      <p:graphicFrame>
        <p:nvGraphicFramePr>
          <p:cNvPr id="7" name="Group 3"/>
          <p:cNvGraphicFramePr>
            <a:graphicFrameLocks noGrp="1"/>
          </p:cNvGraphicFramePr>
          <p:nvPr/>
        </p:nvGraphicFramePr>
        <p:xfrm>
          <a:off x="2711625" y="2492896"/>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8" name="Group 3"/>
          <p:cNvGraphicFramePr>
            <a:graphicFrameLocks noGrp="1"/>
          </p:cNvGraphicFramePr>
          <p:nvPr/>
        </p:nvGraphicFramePr>
        <p:xfrm>
          <a:off x="2735058" y="3284984"/>
          <a:ext cx="5161140" cy="457200"/>
        </p:xfrm>
        <a:graphic>
          <a:graphicData uri="http://schemas.openxmlformats.org/drawingml/2006/table">
            <a:tbl>
              <a:tblPr>
                <a:tableStyleId>{5940675A-B579-460E-94D1-54222C63F5DA}</a:tableStyleId>
              </a:tblPr>
              <a:tblGrid>
                <a:gridCol w="573460">
                  <a:extLst>
                    <a:ext uri="{9D8B030D-6E8A-4147-A177-3AD203B41FA5}">
                      <a16:colId xmlns:a16="http://schemas.microsoft.com/office/drawing/2014/main" val="20000"/>
                    </a:ext>
                  </a:extLst>
                </a:gridCol>
                <a:gridCol w="573460">
                  <a:extLst>
                    <a:ext uri="{9D8B030D-6E8A-4147-A177-3AD203B41FA5}">
                      <a16:colId xmlns:a16="http://schemas.microsoft.com/office/drawing/2014/main" val="20001"/>
                    </a:ext>
                  </a:extLst>
                </a:gridCol>
                <a:gridCol w="573460">
                  <a:extLst>
                    <a:ext uri="{9D8B030D-6E8A-4147-A177-3AD203B41FA5}">
                      <a16:colId xmlns:a16="http://schemas.microsoft.com/office/drawing/2014/main" val="20002"/>
                    </a:ext>
                  </a:extLst>
                </a:gridCol>
                <a:gridCol w="573460">
                  <a:extLst>
                    <a:ext uri="{9D8B030D-6E8A-4147-A177-3AD203B41FA5}">
                      <a16:colId xmlns:a16="http://schemas.microsoft.com/office/drawing/2014/main" val="20003"/>
                    </a:ext>
                  </a:extLst>
                </a:gridCol>
                <a:gridCol w="573460">
                  <a:extLst>
                    <a:ext uri="{9D8B030D-6E8A-4147-A177-3AD203B41FA5}">
                      <a16:colId xmlns:a16="http://schemas.microsoft.com/office/drawing/2014/main" val="20004"/>
                    </a:ext>
                  </a:extLst>
                </a:gridCol>
                <a:gridCol w="573460">
                  <a:extLst>
                    <a:ext uri="{9D8B030D-6E8A-4147-A177-3AD203B41FA5}">
                      <a16:colId xmlns:a16="http://schemas.microsoft.com/office/drawing/2014/main" val="20005"/>
                    </a:ext>
                  </a:extLst>
                </a:gridCol>
                <a:gridCol w="573460">
                  <a:extLst>
                    <a:ext uri="{9D8B030D-6E8A-4147-A177-3AD203B41FA5}">
                      <a16:colId xmlns:a16="http://schemas.microsoft.com/office/drawing/2014/main" val="20006"/>
                    </a:ext>
                  </a:extLst>
                </a:gridCol>
                <a:gridCol w="573460">
                  <a:extLst>
                    <a:ext uri="{9D8B030D-6E8A-4147-A177-3AD203B41FA5}">
                      <a16:colId xmlns:a16="http://schemas.microsoft.com/office/drawing/2014/main" val="20007"/>
                    </a:ext>
                  </a:extLst>
                </a:gridCol>
                <a:gridCol w="573460">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4</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6</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7</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10</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9" name="Group 3"/>
          <p:cNvGraphicFramePr>
            <a:graphicFrameLocks noGrp="1"/>
          </p:cNvGraphicFramePr>
          <p:nvPr/>
        </p:nvGraphicFramePr>
        <p:xfrm>
          <a:off x="2711624" y="4077072"/>
          <a:ext cx="5161140" cy="457200"/>
        </p:xfrm>
        <a:graphic>
          <a:graphicData uri="http://schemas.openxmlformats.org/drawingml/2006/table">
            <a:tbl>
              <a:tblPr>
                <a:tableStyleId>{5940675A-B579-460E-94D1-54222C63F5DA}</a:tableStyleId>
              </a:tblPr>
              <a:tblGrid>
                <a:gridCol w="573460">
                  <a:extLst>
                    <a:ext uri="{9D8B030D-6E8A-4147-A177-3AD203B41FA5}">
                      <a16:colId xmlns:a16="http://schemas.microsoft.com/office/drawing/2014/main" val="20000"/>
                    </a:ext>
                  </a:extLst>
                </a:gridCol>
                <a:gridCol w="573460">
                  <a:extLst>
                    <a:ext uri="{9D8B030D-6E8A-4147-A177-3AD203B41FA5}">
                      <a16:colId xmlns:a16="http://schemas.microsoft.com/office/drawing/2014/main" val="20001"/>
                    </a:ext>
                  </a:extLst>
                </a:gridCol>
                <a:gridCol w="573460">
                  <a:extLst>
                    <a:ext uri="{9D8B030D-6E8A-4147-A177-3AD203B41FA5}">
                      <a16:colId xmlns:a16="http://schemas.microsoft.com/office/drawing/2014/main" val="20002"/>
                    </a:ext>
                  </a:extLst>
                </a:gridCol>
                <a:gridCol w="573460">
                  <a:extLst>
                    <a:ext uri="{9D8B030D-6E8A-4147-A177-3AD203B41FA5}">
                      <a16:colId xmlns:a16="http://schemas.microsoft.com/office/drawing/2014/main" val="20003"/>
                    </a:ext>
                  </a:extLst>
                </a:gridCol>
                <a:gridCol w="573460">
                  <a:extLst>
                    <a:ext uri="{9D8B030D-6E8A-4147-A177-3AD203B41FA5}">
                      <a16:colId xmlns:a16="http://schemas.microsoft.com/office/drawing/2014/main" val="20004"/>
                    </a:ext>
                  </a:extLst>
                </a:gridCol>
                <a:gridCol w="573460">
                  <a:extLst>
                    <a:ext uri="{9D8B030D-6E8A-4147-A177-3AD203B41FA5}">
                      <a16:colId xmlns:a16="http://schemas.microsoft.com/office/drawing/2014/main" val="20005"/>
                    </a:ext>
                  </a:extLst>
                </a:gridCol>
                <a:gridCol w="573460">
                  <a:extLst>
                    <a:ext uri="{9D8B030D-6E8A-4147-A177-3AD203B41FA5}">
                      <a16:colId xmlns:a16="http://schemas.microsoft.com/office/drawing/2014/main" val="20006"/>
                    </a:ext>
                  </a:extLst>
                </a:gridCol>
                <a:gridCol w="573460">
                  <a:extLst>
                    <a:ext uri="{9D8B030D-6E8A-4147-A177-3AD203B41FA5}">
                      <a16:colId xmlns:a16="http://schemas.microsoft.com/office/drawing/2014/main" val="20007"/>
                    </a:ext>
                  </a:extLst>
                </a:gridCol>
                <a:gridCol w="573460">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4</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FF0000"/>
                          </a:solidFill>
                          <a:effectLst/>
                          <a:latin typeface="Courier New" panose="02070409020205090404" charset="0"/>
                          <a:ea typeface="宋体" charset="0"/>
                        </a:rPr>
                        <a:t>11</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0" name="文本框 9"/>
          <p:cNvSpPr txBox="1"/>
          <p:nvPr/>
        </p:nvSpPr>
        <p:spPr>
          <a:xfrm>
            <a:off x="8120679" y="3328918"/>
            <a:ext cx="2672526" cy="369332"/>
          </a:xfrm>
          <a:prstGeom prst="rect">
            <a:avLst/>
          </a:prstGeom>
          <a:noFill/>
        </p:spPr>
        <p:txBody>
          <a:bodyPr wrap="none" rtlCol="0">
            <a:spAutoFit/>
          </a:bodyPr>
          <a:lstStyle/>
          <a:p>
            <a:r>
              <a:rPr lang="zh-CN" altLang="en-US" dirty="0"/>
              <a:t>把</a:t>
            </a:r>
            <a:r>
              <a:rPr lang="en-US" altLang="zh-CN" dirty="0"/>
              <a:t>Index</a:t>
            </a:r>
            <a:r>
              <a:rPr lang="zh-CN" altLang="en-US" dirty="0"/>
              <a:t>为</a:t>
            </a:r>
            <a:r>
              <a:rPr lang="en-US" altLang="zh-CN" dirty="0"/>
              <a:t>4</a:t>
            </a:r>
            <a:r>
              <a:rPr lang="zh-CN" altLang="en-US" dirty="0"/>
              <a:t>的位置空出来</a:t>
            </a:r>
          </a:p>
        </p:txBody>
      </p:sp>
      <p:sp>
        <p:nvSpPr>
          <p:cNvPr id="11" name="文本框 10"/>
          <p:cNvSpPr txBox="1"/>
          <p:nvPr/>
        </p:nvSpPr>
        <p:spPr>
          <a:xfrm>
            <a:off x="8148409" y="4121006"/>
            <a:ext cx="2663934" cy="369332"/>
          </a:xfrm>
          <a:prstGeom prst="rect">
            <a:avLst/>
          </a:prstGeom>
          <a:noFill/>
        </p:spPr>
        <p:txBody>
          <a:bodyPr wrap="none" rtlCol="0">
            <a:spAutoFit/>
          </a:bodyPr>
          <a:lstStyle/>
          <a:p>
            <a:r>
              <a:rPr lang="zh-CN" altLang="en-US" dirty="0"/>
              <a:t>在</a:t>
            </a:r>
            <a:r>
              <a:rPr lang="en-US" altLang="zh-CN" dirty="0"/>
              <a:t>Index</a:t>
            </a:r>
            <a:r>
              <a:rPr lang="zh-CN" altLang="en-US" dirty="0"/>
              <a:t>为</a:t>
            </a:r>
            <a:r>
              <a:rPr lang="en-US" altLang="zh-CN" dirty="0"/>
              <a:t>4</a:t>
            </a:r>
            <a:r>
              <a:rPr lang="zh-CN" altLang="en-US" dirty="0"/>
              <a:t>的位置填入</a:t>
            </a:r>
            <a:r>
              <a:rPr lang="en-US" altLang="zh-CN" dirty="0"/>
              <a:t>11</a:t>
            </a:r>
            <a:endParaRPr lang="zh-CN" altLang="en-US" dirty="0"/>
          </a:p>
        </p:txBody>
      </p:sp>
      <p:sp>
        <p:nvSpPr>
          <p:cNvPr id="5" name="灯片编号占位符 4"/>
          <p:cNvSpPr>
            <a:spLocks noGrp="1"/>
          </p:cNvSpPr>
          <p:nvPr>
            <p:ph type="sldNum" sz="quarter" idx="12"/>
          </p:nvPr>
        </p:nvSpPr>
        <p:spPr/>
        <p:txBody>
          <a:bodyPr/>
          <a:lstStyle/>
          <a:p>
            <a:pPr>
              <a:defRPr/>
            </a:pPr>
            <a:fld id="{7C4E558B-5425-6346-B896-72F904F12E77}" type="slidenum">
              <a:rPr lang="en-US" altLang="zh-CN" smtClean="0"/>
              <a:t>37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631504" y="444639"/>
            <a:ext cx="8928992" cy="5909310"/>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006699"/>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insert_at_position</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pos,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 (pos &gt; n || pos &lt; 0)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printf</a:t>
            </a:r>
            <a:r>
              <a:rPr lang="en-US" altLang="zh-CN" dirty="0">
                <a:solidFill>
                  <a:srgbClr val="000000"/>
                </a:solidFill>
                <a:highlight>
                  <a:srgbClr val="F8F8F8"/>
                </a:highlight>
                <a:latin typeface="Consolas" panose="020B0609020204030204" pitchFamily="49" charset="0"/>
              </a:rPr>
              <a:t>(</a:t>
            </a:r>
            <a:r>
              <a:rPr lang="en-US" altLang="zh-CN" dirty="0">
                <a:solidFill>
                  <a:srgbClr val="0000FF"/>
                </a:solidFill>
                <a:highlight>
                  <a:srgbClr val="F8F8F8"/>
                </a:highlight>
                <a:latin typeface="Consolas" panose="020B0609020204030204" pitchFamily="49" charset="0"/>
              </a:rPr>
              <a:t>"Invalid position\n"</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 </a:t>
            </a:r>
            <a:r>
              <a:rPr lang="en-US" altLang="zh-CN" b="1" dirty="0">
                <a:highlight>
                  <a:srgbClr val="FFFFFF"/>
                </a:highlight>
                <a:latin typeface="Consolas" panose="020B0609020204030204" pitchFamily="49" charset="0"/>
              </a:rPr>
              <a:t>n</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&gt; pos;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[pos] = value;  </a:t>
            </a: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n+1;</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main()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[100] = {1, 2, 3, 4,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n = </a:t>
            </a:r>
            <a:r>
              <a:rPr lang="en-US" altLang="zh-CN" dirty="0" err="1">
                <a:solidFill>
                  <a:srgbClr val="000000"/>
                </a:solidFill>
                <a:highlight>
                  <a:srgbClr val="FFFFFF"/>
                </a:highlight>
                <a:latin typeface="Consolas" panose="020B0609020204030204" pitchFamily="49" charset="0"/>
              </a:rPr>
              <a:t>insert_at_position</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n, 2, 99);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0;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&lt; 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printf</a:t>
            </a:r>
            <a:r>
              <a:rPr lang="en-US" altLang="zh-CN" dirty="0">
                <a:solidFill>
                  <a:srgbClr val="000000"/>
                </a:solidFill>
                <a:highlight>
                  <a:srgbClr val="F8F8F8"/>
                </a:highlight>
                <a:latin typeface="Consolas" panose="020B0609020204030204" pitchFamily="49" charset="0"/>
              </a:rPr>
              <a:t>(</a:t>
            </a:r>
            <a:r>
              <a:rPr lang="en-US" altLang="zh-CN" dirty="0">
                <a:solidFill>
                  <a:srgbClr val="0000FF"/>
                </a:solidFill>
                <a:highlight>
                  <a:srgbClr val="F8F8F8"/>
                </a:highlight>
                <a:latin typeface="Consolas" panose="020B0609020204030204" pitchFamily="49" charset="0"/>
              </a:rPr>
              <a:t>"%d "</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0;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7" name="文本框 6"/>
          <p:cNvSpPr txBox="1"/>
          <p:nvPr/>
        </p:nvSpPr>
        <p:spPr>
          <a:xfrm>
            <a:off x="6888088" y="1916832"/>
            <a:ext cx="3600400" cy="1938992"/>
          </a:xfrm>
          <a:prstGeom prst="rect">
            <a:avLst/>
          </a:prstGeom>
          <a:noFill/>
        </p:spPr>
        <p:txBody>
          <a:bodyPr wrap="square" rtlCol="0">
            <a:spAutoFit/>
          </a:bodyPr>
          <a:lstStyle/>
          <a:p>
            <a:r>
              <a:rPr lang="zh-CN" altLang="en-US" sz="2400" dirty="0"/>
              <a:t>第</a:t>
            </a:r>
            <a:r>
              <a:rPr lang="en-US" altLang="zh-CN" sz="2400" dirty="0"/>
              <a:t>3-6</a:t>
            </a:r>
            <a:r>
              <a:rPr lang="zh-CN" altLang="en-US" sz="2400" dirty="0"/>
              <a:t>行：</a:t>
            </a:r>
            <a:r>
              <a:rPr lang="en-US" altLang="zh-CN" sz="2400" dirty="0"/>
              <a:t>O(1)</a:t>
            </a:r>
          </a:p>
          <a:p>
            <a:r>
              <a:rPr lang="zh-CN" altLang="en-US" sz="2400" dirty="0"/>
              <a:t>第</a:t>
            </a:r>
            <a:r>
              <a:rPr lang="en-US" altLang="zh-CN" sz="2400" dirty="0"/>
              <a:t>7-9</a:t>
            </a:r>
            <a:r>
              <a:rPr lang="zh-CN" altLang="en-US" sz="2400" dirty="0"/>
              <a:t>行：最多执行</a:t>
            </a:r>
            <a:r>
              <a:rPr lang="en-US" altLang="zh-CN" sz="2400" dirty="0"/>
              <a:t>n-pos</a:t>
            </a:r>
            <a:r>
              <a:rPr lang="zh-CN" altLang="en-US" sz="2400" dirty="0"/>
              <a:t>次，</a:t>
            </a:r>
            <a:r>
              <a:rPr lang="en-US" altLang="zh-CN" sz="2400" dirty="0"/>
              <a:t> O(n)</a:t>
            </a:r>
          </a:p>
          <a:p>
            <a:r>
              <a:rPr lang="zh-CN" altLang="en-US" sz="2400" dirty="0"/>
              <a:t>在给定位置插入时间复杂度为</a:t>
            </a:r>
            <a:r>
              <a:rPr lang="en-US" altLang="zh-CN" sz="2400" dirty="0"/>
              <a:t>O(n)</a:t>
            </a:r>
            <a:endParaRPr lang="zh-CN" altLang="en-US" sz="2400" dirty="0"/>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38</a:t>
            </a:fld>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Arial" panose="020B0604020202090204" pitchFamily="34" charset="0"/>
                <a:ea typeface="黑体" panose="02010609060101010101" pitchFamily="49" charset="-122"/>
                <a:cs typeface="Arial" panose="020B0604020202090204" pitchFamily="34" charset="0"/>
              </a:rPr>
              <a:t>场景一、在给定位置插入和删除</a:t>
            </a:r>
            <a:endParaRPr lang="zh-CN" altLang="en-US" dirty="0"/>
          </a:p>
        </p:txBody>
      </p:sp>
      <p:sp>
        <p:nvSpPr>
          <p:cNvPr id="3" name="内容占位符 2"/>
          <p:cNvSpPr>
            <a:spLocks noGrp="1"/>
          </p:cNvSpPr>
          <p:nvPr>
            <p:ph idx="1"/>
          </p:nvPr>
        </p:nvSpPr>
        <p:spPr>
          <a:xfrm>
            <a:off x="1824038" y="1716189"/>
            <a:ext cx="8543925" cy="4351338"/>
          </a:xfrm>
        </p:spPr>
        <p:txBody>
          <a:bodyPr/>
          <a:lstStyle/>
          <a:p>
            <a:r>
              <a:rPr lang="zh-CN" altLang="en-US" dirty="0"/>
              <a:t>删除数组里</a:t>
            </a:r>
            <a:r>
              <a:rPr lang="en-US" altLang="zh-CN" dirty="0"/>
              <a:t>Index</a:t>
            </a:r>
            <a:r>
              <a:rPr lang="zh-CN" altLang="en-US" dirty="0"/>
              <a:t>为</a:t>
            </a:r>
            <a:r>
              <a:rPr lang="en-US" altLang="zh-CN" dirty="0"/>
              <a:t>4</a:t>
            </a:r>
            <a:r>
              <a:rPr lang="zh-CN" altLang="en-US" dirty="0"/>
              <a:t>的位置上的数</a:t>
            </a:r>
          </a:p>
        </p:txBody>
      </p:sp>
      <p:graphicFrame>
        <p:nvGraphicFramePr>
          <p:cNvPr id="7" name="Group 3"/>
          <p:cNvGraphicFramePr>
            <a:graphicFrameLocks noGrp="1"/>
          </p:cNvGraphicFramePr>
          <p:nvPr/>
        </p:nvGraphicFramePr>
        <p:xfrm>
          <a:off x="2711624" y="2492896"/>
          <a:ext cx="4622800" cy="457200"/>
        </p:xfrm>
        <a:graphic>
          <a:graphicData uri="http://schemas.openxmlformats.org/drawingml/2006/table">
            <a:tbl>
              <a:tblPr>
                <a:tableStyleId>{5940675A-B579-460E-94D1-54222C63F5DA}</a:tableStyleId>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9" name="Group 3"/>
          <p:cNvGraphicFramePr>
            <a:graphicFrameLocks noGrp="1"/>
          </p:cNvGraphicFramePr>
          <p:nvPr/>
        </p:nvGraphicFramePr>
        <p:xfrm>
          <a:off x="2711624" y="4077072"/>
          <a:ext cx="4608512"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4</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7</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10</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0" name="文本框 9"/>
          <p:cNvSpPr txBox="1"/>
          <p:nvPr/>
        </p:nvSpPr>
        <p:spPr>
          <a:xfrm>
            <a:off x="7815600" y="4164940"/>
            <a:ext cx="2492990" cy="369332"/>
          </a:xfrm>
          <a:prstGeom prst="rect">
            <a:avLst/>
          </a:prstGeom>
          <a:noFill/>
        </p:spPr>
        <p:txBody>
          <a:bodyPr wrap="none" rtlCol="0">
            <a:spAutoFit/>
          </a:bodyPr>
          <a:lstStyle/>
          <a:p>
            <a:r>
              <a:rPr lang="zh-CN" altLang="en-US" dirty="0"/>
              <a:t>把后面的元素往前移动</a:t>
            </a:r>
          </a:p>
        </p:txBody>
      </p:sp>
      <p:sp>
        <p:nvSpPr>
          <p:cNvPr id="11" name="文本框 10"/>
          <p:cNvSpPr txBox="1"/>
          <p:nvPr/>
        </p:nvSpPr>
        <p:spPr>
          <a:xfrm>
            <a:off x="7815601" y="3303457"/>
            <a:ext cx="3134191" cy="369332"/>
          </a:xfrm>
          <a:prstGeom prst="rect">
            <a:avLst/>
          </a:prstGeom>
          <a:noFill/>
        </p:spPr>
        <p:txBody>
          <a:bodyPr wrap="none" rtlCol="0">
            <a:spAutoFit/>
          </a:bodyPr>
          <a:lstStyle/>
          <a:p>
            <a:r>
              <a:rPr lang="zh-CN" altLang="en-US" dirty="0"/>
              <a:t>删除</a:t>
            </a:r>
            <a:r>
              <a:rPr lang="en-US" altLang="zh-CN" dirty="0"/>
              <a:t>Index</a:t>
            </a:r>
            <a:r>
              <a:rPr lang="zh-CN" altLang="en-US" dirty="0"/>
              <a:t>为</a:t>
            </a:r>
            <a:r>
              <a:rPr lang="en-US" altLang="zh-CN" dirty="0"/>
              <a:t>4</a:t>
            </a:r>
            <a:r>
              <a:rPr lang="zh-CN" altLang="en-US" dirty="0"/>
              <a:t>的位置上的元素</a:t>
            </a:r>
          </a:p>
        </p:txBody>
      </p:sp>
      <p:graphicFrame>
        <p:nvGraphicFramePr>
          <p:cNvPr id="5" name="Group 3"/>
          <p:cNvGraphicFramePr>
            <a:graphicFrameLocks noGrp="1"/>
          </p:cNvGraphicFramePr>
          <p:nvPr/>
        </p:nvGraphicFramePr>
        <p:xfrm>
          <a:off x="2711624" y="3259523"/>
          <a:ext cx="4622800" cy="457200"/>
        </p:xfrm>
        <a:graphic>
          <a:graphicData uri="http://schemas.openxmlformats.org/drawingml/2006/table">
            <a:tbl>
              <a:tblPr>
                <a:tableStyleId>{5940675A-B579-460E-94D1-54222C63F5DA}</a:tableStyleId>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6" name="灯片编号占位符 5"/>
          <p:cNvSpPr>
            <a:spLocks noGrp="1"/>
          </p:cNvSpPr>
          <p:nvPr>
            <p:ph type="sldNum" sz="quarter" idx="12"/>
          </p:nvPr>
        </p:nvSpPr>
        <p:spPr/>
        <p:txBody>
          <a:bodyPr/>
          <a:lstStyle/>
          <a:p>
            <a:pPr>
              <a:defRPr/>
            </a:pPr>
            <a:fld id="{7C4E558B-5425-6346-B896-72F904F12E77}" type="slidenum">
              <a:rPr lang="en-US" altLang="zh-CN" smtClean="0"/>
              <a:t>39</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991544" y="476672"/>
            <a:ext cx="8697416" cy="5909310"/>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006699"/>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delete_at_position</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pos)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 (pos &gt;= n || pos &lt; 0)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printf</a:t>
            </a:r>
            <a:r>
              <a:rPr lang="en-US" altLang="zh-CN" dirty="0">
                <a:solidFill>
                  <a:srgbClr val="000000"/>
                </a:solidFill>
                <a:highlight>
                  <a:srgbClr val="F8F8F8"/>
                </a:highlight>
                <a:latin typeface="Consolas" panose="020B0609020204030204" pitchFamily="49" charset="0"/>
              </a:rPr>
              <a:t>(</a:t>
            </a:r>
            <a:r>
              <a:rPr lang="en-US" altLang="zh-CN" dirty="0">
                <a:solidFill>
                  <a:srgbClr val="0000FF"/>
                </a:solidFill>
                <a:highlight>
                  <a:srgbClr val="F8F8F8"/>
                </a:highlight>
                <a:latin typeface="Consolas" panose="020B0609020204030204" pitchFamily="49" charset="0"/>
              </a:rPr>
              <a:t>"Invalid position\n"</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 </a:t>
            </a:r>
            <a:r>
              <a:rPr lang="en-US" altLang="zh-CN" dirty="0">
                <a:solidFill>
                  <a:srgbClr val="000000"/>
                </a:solidFill>
                <a:highlight>
                  <a:srgbClr val="FFFFFF"/>
                </a:highlight>
                <a:latin typeface="Consolas" panose="020B0609020204030204" pitchFamily="49" charset="0"/>
              </a:rPr>
              <a:t>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pos;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&lt; n - 1;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n-1;</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main()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[100] = {1, 2, 3, 4,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delete_at_position</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n, 2);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7" name="文本框 6"/>
          <p:cNvSpPr txBox="1"/>
          <p:nvPr/>
        </p:nvSpPr>
        <p:spPr>
          <a:xfrm>
            <a:off x="7392144" y="2564904"/>
            <a:ext cx="3600400" cy="2308324"/>
          </a:xfrm>
          <a:prstGeom prst="rect">
            <a:avLst/>
          </a:prstGeom>
          <a:noFill/>
        </p:spPr>
        <p:txBody>
          <a:bodyPr wrap="square" rtlCol="0">
            <a:spAutoFit/>
          </a:bodyPr>
          <a:lstStyle/>
          <a:p>
            <a:r>
              <a:rPr lang="zh-CN" altLang="en-US" sz="2400" dirty="0"/>
              <a:t>第</a:t>
            </a:r>
            <a:r>
              <a:rPr lang="en-US" altLang="zh-CN" sz="2400" dirty="0"/>
              <a:t>3-6</a:t>
            </a:r>
            <a:r>
              <a:rPr lang="zh-CN" altLang="en-US" sz="2400" dirty="0"/>
              <a:t>行：</a:t>
            </a:r>
            <a:r>
              <a:rPr lang="en-US" altLang="zh-CN" sz="2400" dirty="0"/>
              <a:t>O(1)</a:t>
            </a:r>
          </a:p>
          <a:p>
            <a:r>
              <a:rPr lang="zh-CN" altLang="en-US" sz="2400" dirty="0"/>
              <a:t>第</a:t>
            </a:r>
            <a:r>
              <a:rPr lang="en-US" altLang="zh-CN" sz="2400" dirty="0"/>
              <a:t>7-9</a:t>
            </a:r>
            <a:r>
              <a:rPr lang="zh-CN" altLang="en-US" sz="2400" dirty="0"/>
              <a:t>行：最多执行</a:t>
            </a:r>
            <a:r>
              <a:rPr lang="en-US" altLang="zh-CN" sz="2400" dirty="0"/>
              <a:t>n-pos</a:t>
            </a:r>
            <a:r>
              <a:rPr lang="zh-CN" altLang="en-US" sz="2400" dirty="0"/>
              <a:t>次，</a:t>
            </a:r>
            <a:r>
              <a:rPr lang="en-US" altLang="zh-CN" sz="2400" dirty="0"/>
              <a:t> O(n)</a:t>
            </a:r>
          </a:p>
          <a:p>
            <a:r>
              <a:rPr lang="zh-CN" altLang="en-US" sz="2400" dirty="0"/>
              <a:t>第</a:t>
            </a:r>
            <a:r>
              <a:rPr lang="en-US" altLang="zh-CN" sz="2400" dirty="0"/>
              <a:t>10</a:t>
            </a:r>
            <a:r>
              <a:rPr lang="zh-CN" altLang="en-US" sz="2400" dirty="0"/>
              <a:t>行：</a:t>
            </a:r>
            <a:r>
              <a:rPr lang="en-US" altLang="zh-CN" sz="2400" dirty="0"/>
              <a:t> O(1)</a:t>
            </a:r>
          </a:p>
          <a:p>
            <a:r>
              <a:rPr lang="zh-CN" altLang="en-US" sz="2400" dirty="0"/>
              <a:t>在给定位置插入时间复杂度为</a:t>
            </a:r>
            <a:r>
              <a:rPr lang="en-US" altLang="zh-CN" sz="2400" dirty="0"/>
              <a:t>O(n)</a:t>
            </a:r>
            <a:endParaRPr lang="zh-CN" altLang="en-US" sz="2400" dirty="0"/>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40</a:t>
            </a:fld>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Arial" panose="020B0604020202090204" pitchFamily="34" charset="0"/>
                <a:ea typeface="黑体" panose="02010609060101010101" pitchFamily="49" charset="-122"/>
                <a:cs typeface="Arial" panose="020B0604020202090204" pitchFamily="34" charset="0"/>
              </a:rPr>
              <a:t>场景二、无序数组插入和删除</a:t>
            </a:r>
            <a:endParaRPr lang="zh-CN" altLang="en-US" dirty="0"/>
          </a:p>
        </p:txBody>
      </p:sp>
      <p:sp>
        <p:nvSpPr>
          <p:cNvPr id="3" name="内容占位符 2"/>
          <p:cNvSpPr>
            <a:spLocks noGrp="1"/>
          </p:cNvSpPr>
          <p:nvPr>
            <p:ph idx="1"/>
          </p:nvPr>
        </p:nvSpPr>
        <p:spPr>
          <a:xfrm>
            <a:off x="1824038" y="1716189"/>
            <a:ext cx="8543925" cy="4351338"/>
          </a:xfrm>
        </p:spPr>
        <p:txBody>
          <a:bodyPr/>
          <a:lstStyle/>
          <a:p>
            <a:r>
              <a:rPr lang="zh-CN" altLang="en-US" dirty="0"/>
              <a:t>在数组里插入一个数</a:t>
            </a:r>
            <a:r>
              <a:rPr lang="en-US" altLang="zh-CN" dirty="0"/>
              <a:t>11</a:t>
            </a:r>
            <a:endParaRPr lang="zh-CN" altLang="en-US" dirty="0"/>
          </a:p>
        </p:txBody>
      </p:sp>
      <p:graphicFrame>
        <p:nvGraphicFramePr>
          <p:cNvPr id="7" name="Group 3"/>
          <p:cNvGraphicFramePr>
            <a:graphicFrameLocks noGrp="1"/>
          </p:cNvGraphicFramePr>
          <p:nvPr/>
        </p:nvGraphicFramePr>
        <p:xfrm>
          <a:off x="2711624" y="2492896"/>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6" name="Group 3"/>
          <p:cNvGraphicFramePr>
            <a:graphicFrameLocks noGrp="1"/>
          </p:cNvGraphicFramePr>
          <p:nvPr/>
        </p:nvGraphicFramePr>
        <p:xfrm>
          <a:off x="2718232" y="3337720"/>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11</a:t>
                      </a:r>
                    </a:p>
                  </a:txBody>
                  <a:tcPr marL="99060" marR="99060" horzOverflow="overflow"/>
                </a:tc>
                <a:extLst>
                  <a:ext uri="{0D108BD9-81ED-4DB2-BD59-A6C34878D82A}">
                    <a16:rowId xmlns:a16="http://schemas.microsoft.com/office/drawing/2014/main" val="10000"/>
                  </a:ext>
                </a:extLst>
              </a:tr>
            </a:tbl>
          </a:graphicData>
        </a:graphic>
      </p:graphicFrame>
      <p:sp>
        <p:nvSpPr>
          <p:cNvPr id="12" name="文本框 11"/>
          <p:cNvSpPr txBox="1"/>
          <p:nvPr/>
        </p:nvSpPr>
        <p:spPr>
          <a:xfrm>
            <a:off x="3359697" y="4139479"/>
            <a:ext cx="3877985" cy="369332"/>
          </a:xfrm>
          <a:prstGeom prst="rect">
            <a:avLst/>
          </a:prstGeom>
          <a:noFill/>
        </p:spPr>
        <p:txBody>
          <a:bodyPr wrap="none" rtlCol="0">
            <a:spAutoFit/>
          </a:bodyPr>
          <a:lstStyle/>
          <a:p>
            <a:r>
              <a:rPr lang="zh-CN" altLang="en-US" dirty="0"/>
              <a:t>在数组里第一个未被利用的位置插入</a:t>
            </a:r>
          </a:p>
        </p:txBody>
      </p:sp>
      <p:sp>
        <p:nvSpPr>
          <p:cNvPr id="5" name="灯片编号占位符 4"/>
          <p:cNvSpPr>
            <a:spLocks noGrp="1"/>
          </p:cNvSpPr>
          <p:nvPr>
            <p:ph type="sldNum" sz="quarter" idx="12"/>
          </p:nvPr>
        </p:nvSpPr>
        <p:spPr/>
        <p:txBody>
          <a:bodyPr/>
          <a:lstStyle/>
          <a:p>
            <a:pPr>
              <a:defRPr/>
            </a:pPr>
            <a:fld id="{7C4E558B-5425-6346-B896-72F904F12E77}" type="slidenum">
              <a:rPr lang="en-US" altLang="zh-CN" smtClean="0"/>
              <a:t>41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135561" y="1196752"/>
            <a:ext cx="8208913" cy="3970318"/>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006699"/>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insert_unordered</a:t>
            </a:r>
            <a:r>
              <a:rPr lang="en-US" altLang="zh-CN" dirty="0">
                <a:solidFill>
                  <a:srgbClr val="000000"/>
                </a:solidFill>
                <a:highlight>
                  <a:srgbClr val="FFFFFF"/>
                </a:highlight>
                <a:latin typeface="Consolas" panose="020B0609020204030204" pitchFamily="49" charset="0"/>
              </a:rPr>
              <a:t>(</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value)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[n] = value;  </a:t>
            </a:r>
          </a:p>
          <a:p>
            <a:pPr algn="l">
              <a:buFont typeface="+mj-lt"/>
              <a:buAutoNum type="arabicPeriod"/>
            </a:pPr>
            <a:r>
              <a:rPr lang="en-US" altLang="zh-CN" dirty="0">
                <a:solidFill>
                  <a:srgbClr val="000000"/>
                </a:solidFill>
                <a:highlight>
                  <a:srgbClr val="F8F8F8"/>
                </a:highlight>
                <a:latin typeface="Consolas" panose="020B0609020204030204" pitchFamily="49" charset="0"/>
              </a:rPr>
              <a:t>    return n+1;</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main()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[100] = {1, 2, 3, 4,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n = </a:t>
            </a:r>
            <a:r>
              <a:rPr lang="en-US" altLang="zh-CN" dirty="0" err="1">
                <a:solidFill>
                  <a:srgbClr val="000000"/>
                </a:solidFill>
                <a:highlight>
                  <a:srgbClr val="F8F8F8"/>
                </a:highlight>
                <a:latin typeface="Consolas" panose="020B0609020204030204" pitchFamily="49" charset="0"/>
              </a:rPr>
              <a:t>insert_unordered</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n, 99);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8" name="文本框 7"/>
          <p:cNvSpPr txBox="1"/>
          <p:nvPr/>
        </p:nvSpPr>
        <p:spPr>
          <a:xfrm>
            <a:off x="5807968" y="5222484"/>
            <a:ext cx="3600400" cy="369332"/>
          </a:xfrm>
          <a:prstGeom prst="rect">
            <a:avLst/>
          </a:prstGeom>
          <a:noFill/>
        </p:spPr>
        <p:txBody>
          <a:bodyPr wrap="square">
            <a:spAutoFit/>
          </a:bodyPr>
          <a:lstStyle/>
          <a:p>
            <a:r>
              <a:rPr lang="zh-CN" altLang="en-US" dirty="0"/>
              <a:t>无序数组插入时间复杂度为</a:t>
            </a:r>
            <a:r>
              <a:rPr lang="en-US" altLang="zh-CN" dirty="0"/>
              <a:t>O(1)</a:t>
            </a:r>
            <a:endParaRPr lang="zh-CN" altLang="en-US" dirty="0"/>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42</a:t>
            </a:fld>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Arial" panose="020B0604020202090204" pitchFamily="34" charset="0"/>
                <a:ea typeface="黑体" panose="02010609060101010101" pitchFamily="49" charset="-122"/>
                <a:cs typeface="Arial" panose="020B0604020202090204" pitchFamily="34" charset="0"/>
              </a:rPr>
              <a:t>场景二、无序数组插入和删除</a:t>
            </a:r>
            <a:endParaRPr lang="zh-CN" altLang="en-US" dirty="0"/>
          </a:p>
        </p:txBody>
      </p:sp>
      <p:sp>
        <p:nvSpPr>
          <p:cNvPr id="3" name="内容占位符 2"/>
          <p:cNvSpPr>
            <a:spLocks noGrp="1"/>
          </p:cNvSpPr>
          <p:nvPr>
            <p:ph idx="1"/>
          </p:nvPr>
        </p:nvSpPr>
        <p:spPr>
          <a:xfrm>
            <a:off x="1824038" y="1716189"/>
            <a:ext cx="8543925" cy="4351338"/>
          </a:xfrm>
        </p:spPr>
        <p:txBody>
          <a:bodyPr>
            <a:normAutofit fontScale="92500" lnSpcReduction="10000"/>
          </a:bodyPr>
          <a:lstStyle/>
          <a:p>
            <a:r>
              <a:rPr lang="zh-CN" altLang="en-US" dirty="0"/>
              <a:t>在数组里删除</a:t>
            </a:r>
            <a:r>
              <a:rPr lang="en-US" altLang="zh-CN" dirty="0"/>
              <a:t>6</a:t>
            </a:r>
            <a:r>
              <a:rPr lang="zh-CN" altLang="en-US" dirty="0"/>
              <a:t>（分情况删除第一个出现的</a:t>
            </a:r>
            <a:r>
              <a:rPr lang="en-US" altLang="zh-CN" dirty="0"/>
              <a:t>6</a:t>
            </a:r>
            <a:r>
              <a:rPr lang="zh-CN" altLang="en-US" dirty="0"/>
              <a:t>，删除所有的</a:t>
            </a:r>
            <a:r>
              <a:rPr lang="en-US" altLang="zh-CN" dirty="0"/>
              <a:t>6</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a:p>
            <a:r>
              <a:rPr lang="zh-CN" altLang="en-US" dirty="0"/>
              <a:t>思考：如果不存在</a:t>
            </a:r>
            <a:r>
              <a:rPr lang="en-US" altLang="zh-CN" dirty="0"/>
              <a:t>6</a:t>
            </a:r>
            <a:r>
              <a:rPr lang="zh-CN" altLang="en-US" dirty="0"/>
              <a:t>怎么办？如果有多个</a:t>
            </a:r>
            <a:r>
              <a:rPr lang="en-US" altLang="zh-CN" dirty="0"/>
              <a:t>6</a:t>
            </a:r>
            <a:r>
              <a:rPr lang="zh-CN" altLang="en-US" dirty="0"/>
              <a:t>怎么办？</a:t>
            </a:r>
          </a:p>
        </p:txBody>
      </p:sp>
      <p:graphicFrame>
        <p:nvGraphicFramePr>
          <p:cNvPr id="7" name="Group 3"/>
          <p:cNvGraphicFramePr>
            <a:graphicFrameLocks noGrp="1"/>
          </p:cNvGraphicFramePr>
          <p:nvPr/>
        </p:nvGraphicFramePr>
        <p:xfrm>
          <a:off x="2711624" y="2492896"/>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5" name="Group 3"/>
          <p:cNvGraphicFramePr>
            <a:graphicFrameLocks noGrp="1"/>
          </p:cNvGraphicFramePr>
          <p:nvPr/>
        </p:nvGraphicFramePr>
        <p:xfrm>
          <a:off x="2711624" y="3200400"/>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6</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8" name="文本框 7"/>
          <p:cNvSpPr txBox="1"/>
          <p:nvPr/>
        </p:nvSpPr>
        <p:spPr>
          <a:xfrm>
            <a:off x="8112224" y="3299416"/>
            <a:ext cx="2377574" cy="369332"/>
          </a:xfrm>
          <a:prstGeom prst="rect">
            <a:avLst/>
          </a:prstGeom>
          <a:noFill/>
        </p:spPr>
        <p:txBody>
          <a:bodyPr wrap="none" rtlCol="0">
            <a:spAutoFit/>
          </a:bodyPr>
          <a:lstStyle/>
          <a:p>
            <a:r>
              <a:rPr lang="zh-CN" altLang="en-US" dirty="0"/>
              <a:t>找到数组里的第一个</a:t>
            </a:r>
            <a:r>
              <a:rPr lang="en-US" altLang="zh-CN" dirty="0"/>
              <a:t>6</a:t>
            </a:r>
            <a:endParaRPr lang="zh-CN" altLang="en-US" dirty="0"/>
          </a:p>
        </p:txBody>
      </p:sp>
      <p:graphicFrame>
        <p:nvGraphicFramePr>
          <p:cNvPr id="9" name="Group 3"/>
          <p:cNvGraphicFramePr>
            <a:graphicFrameLocks noGrp="1"/>
          </p:cNvGraphicFramePr>
          <p:nvPr/>
        </p:nvGraphicFramePr>
        <p:xfrm>
          <a:off x="2743941" y="4077072"/>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000066"/>
                          </a:solidFill>
                          <a:effectLst/>
                          <a:latin typeface="Courier New" panose="02070409020205090404"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2</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10</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6" name="灯片编号占位符 5"/>
          <p:cNvSpPr>
            <a:spLocks noGrp="1"/>
          </p:cNvSpPr>
          <p:nvPr>
            <p:ph type="sldNum" sz="quarter" idx="12"/>
          </p:nvPr>
        </p:nvSpPr>
        <p:spPr/>
        <p:txBody>
          <a:bodyPr/>
          <a:lstStyle/>
          <a:p>
            <a:pPr>
              <a:defRPr/>
            </a:pPr>
            <a:fld id="{7C4E558B-5425-6346-B896-72F904F12E77}" type="slidenum">
              <a:rPr lang="en-US" altLang="zh-CN" smtClean="0"/>
              <a:t>43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631504" y="764705"/>
            <a:ext cx="8496944" cy="5078313"/>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delete_unordered</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 {  //</a:t>
            </a:r>
            <a:r>
              <a:rPr lang="zh-CN" altLang="en-US" dirty="0">
                <a:solidFill>
                  <a:srgbClr val="000000"/>
                </a:solidFill>
                <a:highlight>
                  <a:srgbClr val="F8F8F8"/>
                </a:highlight>
                <a:latin typeface="Consolas" panose="020B0609020204030204" pitchFamily="49" charset="0"/>
              </a:rPr>
              <a:t>删除数组中的第一个值为</a:t>
            </a:r>
            <a:r>
              <a:rPr lang="en-US" altLang="zh-CN" dirty="0">
                <a:solidFill>
                  <a:srgbClr val="000000"/>
                </a:solidFill>
                <a:highlight>
                  <a:srgbClr val="F8F8F8"/>
                </a:highlight>
                <a:latin typeface="Consolas" panose="020B0609020204030204" pitchFamily="49" charset="0"/>
              </a:rPr>
              <a:t>value</a:t>
            </a:r>
            <a:r>
              <a:rPr lang="zh-CN" altLang="en-US" dirty="0">
                <a:solidFill>
                  <a:srgbClr val="000000"/>
                </a:solidFill>
                <a:highlight>
                  <a:srgbClr val="F8F8F8"/>
                </a:highlight>
                <a:latin typeface="Consolas" panose="020B0609020204030204" pitchFamily="49" charset="0"/>
              </a:rPr>
              <a:t>的元素，并返回删除后数组中元素数量。</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loc=-1;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r>
              <a:rPr lang="zh-CN" altLang="en-US" dirty="0">
                <a:solidFill>
                  <a:srgbClr val="000000"/>
                </a:solidFill>
                <a:highlight>
                  <a:srgbClr val="F8F8F8"/>
                </a:highlight>
                <a:latin typeface="Consolas" panose="020B0609020204030204" pitchFamily="49" charset="0"/>
              </a:rPr>
              <a:t>找到</a:t>
            </a:r>
            <a:r>
              <a:rPr lang="en-US" altLang="zh-CN" dirty="0">
                <a:solidFill>
                  <a:srgbClr val="000000"/>
                </a:solidFill>
                <a:highlight>
                  <a:srgbClr val="F8F8F8"/>
                </a:highlight>
                <a:latin typeface="Consolas" panose="020B0609020204030204" pitchFamily="49" charset="0"/>
              </a:rPr>
              <a:t>value</a:t>
            </a:r>
            <a:r>
              <a:rPr lang="zh-CN" altLang="en-US" dirty="0">
                <a:solidFill>
                  <a:srgbClr val="000000"/>
                </a:solidFill>
                <a:highlight>
                  <a:srgbClr val="F8F8F8"/>
                </a:highlight>
                <a:latin typeface="Consolas" panose="020B0609020204030204" pitchFamily="49" charset="0"/>
              </a:rPr>
              <a:t>的位置，赋值给</a:t>
            </a:r>
            <a:r>
              <a:rPr lang="en-US" altLang="zh-CN" dirty="0">
                <a:solidFill>
                  <a:srgbClr val="000000"/>
                </a:solidFill>
                <a:highlight>
                  <a:srgbClr val="F8F8F8"/>
                </a:highlight>
                <a:latin typeface="Consolas" panose="020B0609020204030204" pitchFamily="49" charset="0"/>
              </a:rPr>
              <a:t>loc</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value)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loc =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break</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if</a:t>
            </a:r>
            <a:r>
              <a:rPr lang="en-US" altLang="zh-CN" dirty="0">
                <a:solidFill>
                  <a:srgbClr val="000000"/>
                </a:solidFill>
                <a:highlight>
                  <a:srgbClr val="F8F8F8"/>
                </a:highlight>
                <a:latin typeface="Consolas" panose="020B0609020204030204" pitchFamily="49" charset="0"/>
              </a:rPr>
              <a:t>(loc&lt;0) {  //</a:t>
            </a:r>
            <a:r>
              <a:rPr lang="zh-CN" altLang="en-US" dirty="0">
                <a:solidFill>
                  <a:srgbClr val="000000"/>
                </a:solidFill>
                <a:highlight>
                  <a:srgbClr val="F8F8F8"/>
                </a:highlight>
                <a:latin typeface="Consolas" panose="020B0609020204030204" pitchFamily="49" charset="0"/>
              </a:rPr>
              <a:t>数组中没有值为</a:t>
            </a:r>
            <a:r>
              <a:rPr lang="en-US" altLang="zh-CN" dirty="0">
                <a:solidFill>
                  <a:srgbClr val="000000"/>
                </a:solidFill>
                <a:highlight>
                  <a:srgbClr val="F8F8F8"/>
                </a:highlight>
                <a:latin typeface="Consolas" panose="020B0609020204030204" pitchFamily="49" charset="0"/>
              </a:rPr>
              <a:t>value</a:t>
            </a:r>
            <a:r>
              <a:rPr lang="zh-CN" altLang="en-US" dirty="0">
                <a:solidFill>
                  <a:srgbClr val="000000"/>
                </a:solidFill>
                <a:highlight>
                  <a:srgbClr val="F8F8F8"/>
                </a:highlight>
                <a:latin typeface="Consolas" panose="020B0609020204030204" pitchFamily="49" charset="0"/>
              </a:rPr>
              <a:t>的元素</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"Value not found\n"</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n;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loc;i</a:t>
            </a:r>
            <a:r>
              <a:rPr lang="en-US" altLang="zh-CN" dirty="0">
                <a:solidFill>
                  <a:srgbClr val="000000"/>
                </a:solidFill>
                <a:highlight>
                  <a:srgbClr val="F8F8F8"/>
                </a:highlight>
                <a:latin typeface="Consolas" panose="020B0609020204030204" pitchFamily="49" charset="0"/>
              </a:rPr>
              <a:t>&lt;n-1;i++)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[i+1];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n-1;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7" name="文本框 6"/>
          <p:cNvSpPr txBox="1"/>
          <p:nvPr/>
        </p:nvSpPr>
        <p:spPr>
          <a:xfrm>
            <a:off x="6584504" y="4149080"/>
            <a:ext cx="4464496" cy="2677656"/>
          </a:xfrm>
          <a:prstGeom prst="rect">
            <a:avLst/>
          </a:prstGeom>
          <a:noFill/>
        </p:spPr>
        <p:txBody>
          <a:bodyPr wrap="square" rtlCol="0">
            <a:spAutoFit/>
          </a:bodyPr>
          <a:lstStyle/>
          <a:p>
            <a:r>
              <a:rPr lang="zh-CN" altLang="en-US" sz="2400" dirty="0"/>
              <a:t>第</a:t>
            </a:r>
            <a:r>
              <a:rPr lang="en-US" altLang="zh-CN" sz="2400" dirty="0"/>
              <a:t>3</a:t>
            </a:r>
            <a:r>
              <a:rPr lang="zh-CN" altLang="en-US" sz="2400" dirty="0"/>
              <a:t>行：</a:t>
            </a:r>
            <a:r>
              <a:rPr lang="en-US" altLang="zh-CN" sz="2400" dirty="0"/>
              <a:t>O(1)</a:t>
            </a:r>
          </a:p>
          <a:p>
            <a:r>
              <a:rPr lang="zh-CN" altLang="en-US" sz="2400" dirty="0"/>
              <a:t>第</a:t>
            </a:r>
            <a:r>
              <a:rPr lang="en-US" altLang="zh-CN" sz="2400" dirty="0"/>
              <a:t>10-13</a:t>
            </a:r>
            <a:r>
              <a:rPr lang="zh-CN" altLang="en-US" sz="2400" dirty="0"/>
              <a:t>行：</a:t>
            </a:r>
            <a:r>
              <a:rPr lang="en-US" altLang="zh-CN" sz="2400" dirty="0"/>
              <a:t> O(1)</a:t>
            </a:r>
          </a:p>
          <a:p>
            <a:r>
              <a:rPr lang="zh-CN" altLang="en-US" sz="2400" dirty="0"/>
              <a:t>第</a:t>
            </a:r>
            <a:r>
              <a:rPr lang="en-US" altLang="zh-CN" sz="2400" dirty="0"/>
              <a:t>4-9</a:t>
            </a:r>
            <a:r>
              <a:rPr lang="zh-CN" altLang="en-US" sz="2400" dirty="0"/>
              <a:t>行：执行</a:t>
            </a:r>
            <a:r>
              <a:rPr lang="en-US" altLang="zh-CN" sz="2400" dirty="0"/>
              <a:t>loc+1</a:t>
            </a:r>
            <a:r>
              <a:rPr lang="zh-CN" altLang="en-US" sz="2400" dirty="0"/>
              <a:t>次</a:t>
            </a:r>
            <a:endParaRPr lang="en-US" altLang="zh-CN" sz="2400" dirty="0"/>
          </a:p>
          <a:p>
            <a:r>
              <a:rPr lang="zh-CN" altLang="en-US" sz="2400" dirty="0"/>
              <a:t>第</a:t>
            </a:r>
            <a:r>
              <a:rPr lang="en-US" altLang="zh-CN" sz="2400" dirty="0"/>
              <a:t>14-15</a:t>
            </a:r>
            <a:r>
              <a:rPr lang="zh-CN" altLang="en-US" sz="2400" dirty="0"/>
              <a:t>行：执行</a:t>
            </a:r>
            <a:r>
              <a:rPr lang="en-US" altLang="zh-CN" sz="2400" dirty="0"/>
              <a:t>n-loc</a:t>
            </a:r>
            <a:r>
              <a:rPr lang="zh-CN" altLang="en-US" sz="2400" dirty="0"/>
              <a:t>次</a:t>
            </a:r>
            <a:endParaRPr lang="en-US" altLang="zh-CN" sz="2400" dirty="0"/>
          </a:p>
          <a:p>
            <a:r>
              <a:rPr lang="zh-CN" altLang="en-US" sz="2400" dirty="0"/>
              <a:t>两个循环总计执行</a:t>
            </a:r>
            <a:r>
              <a:rPr lang="en-US" altLang="zh-CN" sz="2400" dirty="0"/>
              <a:t>n+1</a:t>
            </a:r>
            <a:r>
              <a:rPr lang="zh-CN" altLang="en-US" sz="2400" dirty="0"/>
              <a:t>次，</a:t>
            </a:r>
            <a:r>
              <a:rPr lang="en-US" altLang="zh-CN" sz="2400" dirty="0"/>
              <a:t> O(n)</a:t>
            </a:r>
          </a:p>
          <a:p>
            <a:r>
              <a:rPr lang="zh-CN" altLang="en-US" sz="2400" dirty="0"/>
              <a:t>在无序数组删除元素时间复杂度为</a:t>
            </a:r>
            <a:r>
              <a:rPr lang="en-US" altLang="zh-CN" sz="2400" dirty="0"/>
              <a:t>O(n)</a:t>
            </a:r>
            <a:endParaRPr lang="zh-CN" altLang="en-US" sz="2400" dirty="0"/>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44</a:t>
            </a:fld>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063552" y="692697"/>
            <a:ext cx="7560840" cy="3693319"/>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p>
          <a:p>
            <a:pPr algn="l">
              <a:buFont typeface="+mj-lt"/>
              <a:buAutoNum type="arabicPeriod"/>
            </a:pP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delete_unordered</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a:t>
            </a:r>
            <a:r>
              <a:rPr lang="zh-CN" altLang="en-US" dirty="0">
                <a:solidFill>
                  <a:srgbClr val="000000"/>
                </a:solidFill>
                <a:highlight>
                  <a:srgbClr val="F8F8F8"/>
                </a:highlight>
                <a:latin typeface="Consolas" panose="020B0609020204030204" pitchFamily="49" charset="0"/>
              </a:rPr>
              <a:t>；</a:t>
            </a:r>
            <a:endParaRPr lang="en-US" altLang="zh-CN" dirty="0">
              <a:solidFill>
                <a:srgbClr val="000000"/>
              </a:solidFill>
              <a:highlight>
                <a:srgbClr val="F8F8F8"/>
              </a:highlight>
              <a:latin typeface="Consolas" panose="020B0609020204030204" pitchFamily="49" charset="0"/>
            </a:endParaRPr>
          </a:p>
          <a:p>
            <a:pPr algn="l">
              <a:buFont typeface="+mj-lt"/>
              <a:buAutoNum type="arabicPeriod"/>
            </a:pPr>
            <a:endParaRPr lang="en-US" altLang="zh-CN" dirty="0">
              <a:solidFill>
                <a:srgbClr val="000000"/>
              </a:solidFill>
              <a:highlight>
                <a:srgbClr val="F8F8F8"/>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main()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[100] = {1, 2, 3, 4,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n = </a:t>
            </a:r>
            <a:r>
              <a:rPr lang="en-US" altLang="zh-CN" dirty="0" err="1">
                <a:solidFill>
                  <a:srgbClr val="000000"/>
                </a:solidFill>
                <a:highlight>
                  <a:srgbClr val="FFFFFF"/>
                </a:highlight>
                <a:latin typeface="Consolas" panose="020B0609020204030204" pitchFamily="49" charset="0"/>
              </a:rPr>
              <a:t>delete_unordered</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n, 3);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45</a:t>
            </a:fld>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Arial" panose="020B0604020202090204" pitchFamily="34" charset="0"/>
                <a:ea typeface="黑体" panose="02010609060101010101" pitchFamily="49" charset="-122"/>
                <a:cs typeface="Arial" panose="020B0604020202090204" pitchFamily="34" charset="0"/>
              </a:rPr>
              <a:t>场景三、在有序数组插入和删除</a:t>
            </a:r>
            <a:endParaRPr lang="zh-CN" altLang="en-US" dirty="0"/>
          </a:p>
        </p:txBody>
      </p:sp>
      <p:sp>
        <p:nvSpPr>
          <p:cNvPr id="3" name="内容占位符 2"/>
          <p:cNvSpPr>
            <a:spLocks noGrp="1"/>
          </p:cNvSpPr>
          <p:nvPr>
            <p:ph idx="1"/>
          </p:nvPr>
        </p:nvSpPr>
        <p:spPr>
          <a:xfrm>
            <a:off x="1824038" y="1716189"/>
            <a:ext cx="8543925" cy="4351338"/>
          </a:xfrm>
        </p:spPr>
        <p:txBody>
          <a:bodyPr/>
          <a:lstStyle/>
          <a:p>
            <a:r>
              <a:rPr lang="zh-CN" altLang="en-US" dirty="0"/>
              <a:t>在数组里插入一个数</a:t>
            </a:r>
            <a:r>
              <a:rPr lang="en-US" altLang="zh-CN" dirty="0"/>
              <a:t>11</a:t>
            </a:r>
            <a:endParaRPr lang="zh-CN" altLang="en-US" dirty="0"/>
          </a:p>
        </p:txBody>
      </p:sp>
      <p:graphicFrame>
        <p:nvGraphicFramePr>
          <p:cNvPr id="7" name="Group 3"/>
          <p:cNvGraphicFramePr>
            <a:graphicFrameLocks noGrp="1"/>
          </p:cNvGraphicFramePr>
          <p:nvPr/>
        </p:nvGraphicFramePr>
        <p:xfrm>
          <a:off x="2723340" y="2474745"/>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5" name="Group 3"/>
          <p:cNvGraphicFramePr>
            <a:graphicFrameLocks noGrp="1"/>
          </p:cNvGraphicFramePr>
          <p:nvPr/>
        </p:nvGraphicFramePr>
        <p:xfrm>
          <a:off x="2723340" y="3233301"/>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6" name="Group 3"/>
          <p:cNvGraphicFramePr>
            <a:graphicFrameLocks noGrp="1"/>
          </p:cNvGraphicFramePr>
          <p:nvPr/>
        </p:nvGraphicFramePr>
        <p:xfrm>
          <a:off x="2723340" y="3954205"/>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FF0000"/>
                          </a:solidFill>
                          <a:effectLst/>
                          <a:latin typeface="Courier New" panose="02070409020205090404" charset="0"/>
                          <a:ea typeface="宋体" charset="0"/>
                        </a:rPr>
                        <a:t>12</a:t>
                      </a: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12" name="Group 3"/>
          <p:cNvGraphicFramePr>
            <a:graphicFrameLocks noGrp="1"/>
          </p:cNvGraphicFramePr>
          <p:nvPr/>
        </p:nvGraphicFramePr>
        <p:xfrm>
          <a:off x="2732805" y="4703188"/>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FF0000"/>
                          </a:solidFill>
                          <a:effectLst/>
                          <a:latin typeface="Courier New" panose="02070409020205090404" charset="0"/>
                          <a:ea typeface="宋体" charset="0"/>
                        </a:rPr>
                        <a:t>11</a:t>
                      </a: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FF0000"/>
                          </a:solidFill>
                          <a:effectLst/>
                          <a:latin typeface="Courier New" panose="02070409020205090404" charset="0"/>
                          <a:ea typeface="宋体" charset="0"/>
                        </a:rPr>
                        <a:t>12</a:t>
                      </a:r>
                    </a:p>
                  </a:txBody>
                  <a:tcPr marL="99060" marR="99060" horzOverflow="overflow"/>
                </a:tc>
                <a:extLst>
                  <a:ext uri="{0D108BD9-81ED-4DB2-BD59-A6C34878D82A}">
                    <a16:rowId xmlns:a16="http://schemas.microsoft.com/office/drawing/2014/main" val="10000"/>
                  </a:ext>
                </a:extLst>
              </a:tr>
            </a:tbl>
          </a:graphicData>
        </a:graphic>
      </p:graphicFrame>
      <p:sp>
        <p:nvSpPr>
          <p:cNvPr id="13" name="文本框 12"/>
          <p:cNvSpPr txBox="1"/>
          <p:nvPr/>
        </p:nvSpPr>
        <p:spPr>
          <a:xfrm>
            <a:off x="8139113" y="3138736"/>
            <a:ext cx="2736304" cy="646331"/>
          </a:xfrm>
          <a:prstGeom prst="rect">
            <a:avLst/>
          </a:prstGeom>
          <a:noFill/>
        </p:spPr>
        <p:txBody>
          <a:bodyPr wrap="square" rtlCol="0">
            <a:spAutoFit/>
          </a:bodyPr>
          <a:lstStyle/>
          <a:p>
            <a:r>
              <a:rPr lang="zh-CN" altLang="en-US" dirty="0"/>
              <a:t>找到数组里的第一个不小于</a:t>
            </a:r>
            <a:r>
              <a:rPr lang="en-US" altLang="zh-CN" dirty="0"/>
              <a:t>11</a:t>
            </a:r>
            <a:r>
              <a:rPr lang="zh-CN" altLang="en-US" dirty="0"/>
              <a:t>的元素</a:t>
            </a:r>
          </a:p>
        </p:txBody>
      </p:sp>
      <p:sp>
        <p:nvSpPr>
          <p:cNvPr id="14" name="文本框 13"/>
          <p:cNvSpPr txBox="1"/>
          <p:nvPr/>
        </p:nvSpPr>
        <p:spPr>
          <a:xfrm>
            <a:off x="8100508" y="3810567"/>
            <a:ext cx="2736304" cy="646331"/>
          </a:xfrm>
          <a:prstGeom prst="rect">
            <a:avLst/>
          </a:prstGeom>
          <a:noFill/>
        </p:spPr>
        <p:txBody>
          <a:bodyPr wrap="square" rtlCol="0">
            <a:spAutoFit/>
          </a:bodyPr>
          <a:lstStyle/>
          <a:p>
            <a:r>
              <a:rPr lang="zh-CN" altLang="en-US" dirty="0"/>
              <a:t>将该元素和后面的元素后移，空出一个位置</a:t>
            </a:r>
          </a:p>
        </p:txBody>
      </p:sp>
      <p:sp>
        <p:nvSpPr>
          <p:cNvPr id="15" name="文本框 14"/>
          <p:cNvSpPr txBox="1"/>
          <p:nvPr/>
        </p:nvSpPr>
        <p:spPr>
          <a:xfrm>
            <a:off x="8156836" y="4684143"/>
            <a:ext cx="2736304" cy="369332"/>
          </a:xfrm>
          <a:prstGeom prst="rect">
            <a:avLst/>
          </a:prstGeom>
          <a:noFill/>
        </p:spPr>
        <p:txBody>
          <a:bodyPr wrap="square" rtlCol="0">
            <a:spAutoFit/>
          </a:bodyPr>
          <a:lstStyle/>
          <a:p>
            <a:r>
              <a:rPr lang="zh-CN" altLang="en-US" dirty="0"/>
              <a:t>在空出位置上填</a:t>
            </a:r>
            <a:r>
              <a:rPr lang="en-US" altLang="zh-CN" dirty="0"/>
              <a:t>11</a:t>
            </a:r>
            <a:endParaRPr lang="zh-CN" altLang="en-US" dirty="0"/>
          </a:p>
        </p:txBody>
      </p:sp>
      <p:sp>
        <p:nvSpPr>
          <p:cNvPr id="8" name="灯片编号占位符 7"/>
          <p:cNvSpPr>
            <a:spLocks noGrp="1"/>
          </p:cNvSpPr>
          <p:nvPr>
            <p:ph type="sldNum" sz="quarter" idx="12"/>
          </p:nvPr>
        </p:nvSpPr>
        <p:spPr/>
        <p:txBody>
          <a:bodyPr/>
          <a:lstStyle/>
          <a:p>
            <a:pPr>
              <a:defRPr/>
            </a:pPr>
            <a:fld id="{7C4E558B-5425-6346-B896-72F904F12E77}" type="slidenum">
              <a:rPr lang="en-US" altLang="zh-CN" smtClean="0"/>
              <a:t>46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i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877093" y="908721"/>
            <a:ext cx="8520435" cy="4524315"/>
          </a:xfrm>
          <a:prstGeom prst="rect">
            <a:avLst/>
          </a:prstGeom>
          <a:noFill/>
        </p:spPr>
        <p:txBody>
          <a:bodyPr wrap="square">
            <a:spAutoFit/>
          </a:bodyPr>
          <a:lstStyle/>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BinSearchGE</a:t>
            </a:r>
            <a:r>
              <a:rPr lang="en-US" altLang="zh-CN" dirty="0">
                <a:solidFill>
                  <a:srgbClr val="000000"/>
                </a:solidFill>
                <a:highlight>
                  <a:srgbClr val="FFFFFF"/>
                </a:highlight>
                <a:latin typeface="Consolas" panose="020B0609020204030204" pitchFamily="49" charset="0"/>
              </a:rPr>
              <a:t>(</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num[],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x,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a:t>
            </a:r>
            <a:r>
              <a:rPr lang="zh-CN" altLang="en-US" dirty="0">
                <a:solidFill>
                  <a:srgbClr val="000000"/>
                </a:solidFill>
                <a:highlight>
                  <a:srgbClr val="FFFFFF"/>
                </a:highlight>
                <a:latin typeface="Consolas" panose="020B0609020204030204" pitchFamily="49" charset="0"/>
              </a:rPr>
              <a:t>返回数组里第一个大于等于</a:t>
            </a:r>
            <a:r>
              <a:rPr lang="en-US" altLang="zh-CN" dirty="0">
                <a:solidFill>
                  <a:srgbClr val="000000"/>
                </a:solidFill>
                <a:highlight>
                  <a:srgbClr val="FFFFFF"/>
                </a:highlight>
                <a:latin typeface="Consolas" panose="020B0609020204030204" pitchFamily="49" charset="0"/>
              </a:rPr>
              <a:t>x</a:t>
            </a:r>
            <a:r>
              <a:rPr lang="zh-CN" altLang="en-US" dirty="0">
                <a:solidFill>
                  <a:srgbClr val="000000"/>
                </a:solidFill>
                <a:highlight>
                  <a:srgbClr val="FFFFFF"/>
                </a:highlight>
                <a:latin typeface="Consolas" panose="020B0609020204030204" pitchFamily="49" charset="0"/>
              </a:rPr>
              <a:t>的元素的位置，如果所有元素均小于</a:t>
            </a:r>
            <a:r>
              <a:rPr lang="en-US" altLang="zh-CN" dirty="0">
                <a:solidFill>
                  <a:srgbClr val="000000"/>
                </a:solidFill>
                <a:highlight>
                  <a:srgbClr val="FFFFFF"/>
                </a:highlight>
                <a:latin typeface="Consolas" panose="020B0609020204030204" pitchFamily="49" charset="0"/>
              </a:rPr>
              <a:t>x</a:t>
            </a:r>
            <a:r>
              <a:rPr lang="zh-CN" altLang="en-US" dirty="0">
                <a:solidFill>
                  <a:srgbClr val="000000"/>
                </a:solidFill>
                <a:highlight>
                  <a:srgbClr val="FFFFFF"/>
                </a:highlight>
                <a:latin typeface="Consolas" panose="020B0609020204030204" pitchFamily="49" charset="0"/>
              </a:rPr>
              <a:t>，返回</a:t>
            </a:r>
            <a:r>
              <a:rPr lang="en-US" altLang="zh-CN" dirty="0">
                <a:solidFill>
                  <a:srgbClr val="000000"/>
                </a:solidFill>
                <a:highlight>
                  <a:srgbClr val="FFFFFF"/>
                </a:highlight>
                <a:latin typeface="Consolas" panose="020B0609020204030204" pitchFamily="49" charset="0"/>
              </a:rPr>
              <a:t>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low, high,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low = 0;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high = n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while</a:t>
            </a:r>
            <a:r>
              <a:rPr lang="en-US" altLang="zh-CN" dirty="0">
                <a:solidFill>
                  <a:srgbClr val="000000"/>
                </a:solidFill>
                <a:highlight>
                  <a:srgbClr val="F8F8F8"/>
                </a:highlight>
                <a:latin typeface="Consolas" panose="020B0609020204030204" pitchFamily="49" charset="0"/>
              </a:rPr>
              <a:t> (low &lt; high){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mid = (high + low) / 2;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if</a:t>
            </a:r>
            <a:r>
              <a:rPr lang="en-US" altLang="zh-CN" dirty="0">
                <a:solidFill>
                  <a:srgbClr val="000000"/>
                </a:solidFill>
                <a:highlight>
                  <a:srgbClr val="F8F8F8"/>
                </a:highlight>
                <a:latin typeface="Consolas" panose="020B0609020204030204" pitchFamily="49" charset="0"/>
              </a:rPr>
              <a:t> (x &gt; num[mid])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low = mid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else</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high =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(num[low]&lt;x)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else</a:t>
            </a: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low;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47</a:t>
            </a:fld>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063552" y="692696"/>
            <a:ext cx="7560840" cy="5354320"/>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p>
          <a:p>
            <a:pPr>
              <a:buFont typeface="+mj-lt"/>
              <a:buAutoNum type="arabicPeriod"/>
            </a:pPr>
            <a:r>
              <a:rPr lang="fr-FR" altLang="zh-CN" b="1" dirty="0">
                <a:solidFill>
                  <a:srgbClr val="C00000"/>
                </a:solidFill>
                <a:latin typeface="Courier New" panose="02070409020205090404" charset="0"/>
                <a:ea typeface="宋体" pitchFamily="2" charset="-122"/>
              </a:rPr>
              <a:t>int</a:t>
            </a:r>
            <a:r>
              <a:rPr lang="fr-FR" altLang="zh-CN" b="1" dirty="0">
                <a:latin typeface="Courier New" panose="02070409020205090404" charset="0"/>
                <a:ea typeface="宋体" pitchFamily="2" charset="-122"/>
              </a:rPr>
              <a:t>  BinSearchGE(</a:t>
            </a:r>
            <a:r>
              <a:rPr lang="fr-FR" altLang="zh-CN" b="1" dirty="0">
                <a:solidFill>
                  <a:srgbClr val="C00000"/>
                </a:solidFill>
                <a:latin typeface="Courier New" panose="02070409020205090404" charset="0"/>
                <a:ea typeface="宋体" pitchFamily="2" charset="-122"/>
              </a:rPr>
              <a:t>int</a:t>
            </a:r>
            <a:r>
              <a:rPr lang="fr-FR" altLang="zh-CN" b="1" dirty="0">
                <a:latin typeface="Courier New" panose="02070409020205090404" charset="0"/>
                <a:ea typeface="宋体" pitchFamily="2" charset="-122"/>
              </a:rPr>
              <a:t> </a:t>
            </a:r>
            <a:r>
              <a:rPr lang="en-US" altLang="zh-CN" b="1" dirty="0" err="1">
                <a:latin typeface="Courier New" panose="02070409020205090404" charset="0"/>
                <a:ea typeface="宋体" pitchFamily="2" charset="-122"/>
              </a:rPr>
              <a:t>arr</a:t>
            </a:r>
            <a:r>
              <a:rPr lang="fr-FR" altLang="zh-CN" b="1" dirty="0">
                <a:latin typeface="Courier New" panose="02070409020205090404" charset="0"/>
                <a:ea typeface="宋体" pitchFamily="2" charset="-122"/>
              </a:rPr>
              <a:t>[], </a:t>
            </a:r>
            <a:r>
              <a:rPr lang="fr-FR" altLang="zh-CN" b="1" dirty="0">
                <a:solidFill>
                  <a:srgbClr val="C00000"/>
                </a:solidFill>
                <a:latin typeface="Courier New" panose="02070409020205090404" charset="0"/>
                <a:ea typeface="宋体" pitchFamily="2" charset="-122"/>
              </a:rPr>
              <a:t>int value</a:t>
            </a:r>
            <a:r>
              <a:rPr lang="fr-FR" altLang="zh-CN" b="1" dirty="0">
                <a:latin typeface="Courier New" panose="02070409020205090404" charset="0"/>
                <a:ea typeface="宋体" pitchFamily="2" charset="-122"/>
              </a:rPr>
              <a:t> , </a:t>
            </a:r>
            <a:r>
              <a:rPr lang="fr-FR" altLang="zh-CN" b="1" dirty="0">
                <a:solidFill>
                  <a:srgbClr val="C00000"/>
                </a:solidFill>
                <a:latin typeface="Courier New" panose="02070409020205090404" charset="0"/>
                <a:ea typeface="宋体" pitchFamily="2" charset="-122"/>
              </a:rPr>
              <a:t>int</a:t>
            </a:r>
            <a:r>
              <a:rPr lang="fr-FR" altLang="zh-CN" b="1" dirty="0">
                <a:latin typeface="Courier New" panose="02070409020205090404" charset="0"/>
                <a:ea typeface="宋体" pitchFamily="2" charset="-122"/>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insert_ordered</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a:t>
            </a:r>
          </a:p>
          <a:p>
            <a:pPr algn="l">
              <a:buFont typeface="+mj-lt"/>
              <a:buAutoNum type="arabicPeriod"/>
            </a:pPr>
            <a:r>
              <a:rPr lang="en-US" altLang="zh-CN" dirty="0">
                <a:solidFill>
                  <a:srgbClr val="000000"/>
                </a:solidFill>
                <a:highlight>
                  <a:srgbClr val="F8F8F8"/>
                </a:highlight>
                <a:latin typeface="Consolas" panose="020B0609020204030204" pitchFamily="49" charset="0"/>
              </a:rPr>
              <a:t>   int pos = </a:t>
            </a:r>
            <a:r>
              <a:rPr lang="en-US" altLang="zh-CN" dirty="0" err="1">
                <a:solidFill>
                  <a:srgbClr val="000000"/>
                </a:solidFill>
                <a:highlight>
                  <a:srgbClr val="F8F8F8"/>
                </a:highlight>
                <a:latin typeface="Consolas" panose="020B0609020204030204" pitchFamily="49" charset="0"/>
              </a:rPr>
              <a:t>BinSearchGE</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arr,value,n</a:t>
            </a:r>
            <a:r>
              <a:rPr lang="en-US" altLang="zh-CN" dirty="0">
                <a:solidFill>
                  <a:srgbClr val="000000"/>
                </a:solidFill>
                <a:highlight>
                  <a:srgbClr val="F8F8F8"/>
                </a:highlight>
                <a:latin typeface="Consolas" panose="020B0609020204030204" pitchFamily="49" charset="0"/>
              </a:rPr>
              <a:t>);</a:t>
            </a:r>
          </a:p>
          <a:p>
            <a:pPr algn="l">
              <a:buFont typeface="+mj-lt"/>
              <a:buAutoNum type="arabicPeriod"/>
            </a:pPr>
            <a:r>
              <a:rPr lang="en-US" altLang="zh-CN" b="1" dirty="0">
                <a:solidFill>
                  <a:srgbClr val="006699"/>
                </a:solidFill>
                <a:highlight>
                  <a:srgbClr val="FFFFFF"/>
                </a:highlight>
                <a:latin typeface="Consolas" panose="020B0609020204030204" pitchFamily="49" charset="0"/>
              </a:rPr>
              <a:t>   for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&gt; pos;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[pos] = value;  </a:t>
            </a: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n+1;</a:t>
            </a:r>
          </a:p>
          <a:p>
            <a:pPr algn="l">
              <a:buFont typeface="+mj-lt"/>
              <a:buAutoNum type="arabicPeriod"/>
            </a:pPr>
            <a:r>
              <a:rPr lang="en-US" altLang="zh-CN" dirty="0">
                <a:solidFill>
                  <a:srgbClr val="000000"/>
                </a:solidFill>
                <a:highlight>
                  <a:srgbClr val="F8F8F8"/>
                </a:highlight>
                <a:latin typeface="Consolas" panose="020B0609020204030204" pitchFamily="49" charset="0"/>
              </a:rPr>
              <a:t>}</a:t>
            </a: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main()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[100] = {1, 2, 3, 4,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n = </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insert</a:t>
            </a:r>
            <a:r>
              <a:rPr lang="en-US" altLang="zh-CN" dirty="0" err="1">
                <a:solidFill>
                  <a:srgbClr val="000000"/>
                </a:solidFill>
                <a:highlight>
                  <a:srgbClr val="FFFFFF"/>
                </a:highlight>
                <a:latin typeface="Consolas" panose="020B0609020204030204" pitchFamily="49" charset="0"/>
              </a:rPr>
              <a:t>_ordered</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n, 11);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2" name="文本框 1"/>
          <p:cNvSpPr txBox="1"/>
          <p:nvPr/>
        </p:nvSpPr>
        <p:spPr>
          <a:xfrm>
            <a:off x="7248128" y="2132856"/>
            <a:ext cx="3600400" cy="1938992"/>
          </a:xfrm>
          <a:prstGeom prst="rect">
            <a:avLst/>
          </a:prstGeom>
          <a:noFill/>
        </p:spPr>
        <p:txBody>
          <a:bodyPr wrap="square" rtlCol="0">
            <a:spAutoFit/>
          </a:bodyPr>
          <a:lstStyle/>
          <a:p>
            <a:r>
              <a:rPr lang="zh-CN" altLang="en-US" sz="2400" dirty="0"/>
              <a:t>第</a:t>
            </a:r>
            <a:r>
              <a:rPr lang="en-US" altLang="zh-CN" sz="2400" dirty="0"/>
              <a:t>4</a:t>
            </a:r>
            <a:r>
              <a:rPr lang="zh-CN" altLang="en-US" sz="2400" dirty="0"/>
              <a:t>行：</a:t>
            </a:r>
            <a:r>
              <a:rPr lang="en-US" altLang="zh-CN" sz="2400" dirty="0"/>
              <a:t>O(log(n))</a:t>
            </a:r>
          </a:p>
          <a:p>
            <a:r>
              <a:rPr lang="zh-CN" altLang="en-US" sz="2400" dirty="0"/>
              <a:t>第</a:t>
            </a:r>
            <a:r>
              <a:rPr lang="en-US" altLang="zh-CN" sz="2400" dirty="0"/>
              <a:t>5-7</a:t>
            </a:r>
            <a:r>
              <a:rPr lang="zh-CN" altLang="en-US" sz="2400" dirty="0"/>
              <a:t>行：</a:t>
            </a:r>
            <a:r>
              <a:rPr lang="en-US" altLang="zh-CN" sz="2400" dirty="0"/>
              <a:t> O(n)</a:t>
            </a:r>
          </a:p>
          <a:p>
            <a:r>
              <a:rPr lang="zh-CN" altLang="en-US" sz="2400" dirty="0"/>
              <a:t>第</a:t>
            </a:r>
            <a:r>
              <a:rPr lang="en-US" altLang="zh-CN" sz="2400" dirty="0"/>
              <a:t>9-9</a:t>
            </a:r>
            <a:r>
              <a:rPr lang="zh-CN" altLang="en-US" sz="2400" dirty="0"/>
              <a:t>行：</a:t>
            </a:r>
            <a:r>
              <a:rPr lang="en-US" altLang="zh-CN" sz="2400" dirty="0"/>
              <a:t> O(1)</a:t>
            </a:r>
          </a:p>
          <a:p>
            <a:r>
              <a:rPr lang="zh-CN" altLang="en-US" sz="2400" dirty="0"/>
              <a:t>有序数组插入元素时间复杂度为</a:t>
            </a:r>
            <a:r>
              <a:rPr lang="en-US" altLang="zh-CN" sz="2400" dirty="0"/>
              <a:t>O(n)</a:t>
            </a:r>
            <a:endParaRPr lang="zh-CN" altLang="en-US" sz="2400" dirty="0"/>
          </a:p>
        </p:txBody>
      </p:sp>
      <p:sp>
        <p:nvSpPr>
          <p:cNvPr id="3" name="灯片编号占位符 2"/>
          <p:cNvSpPr>
            <a:spLocks noGrp="1"/>
          </p:cNvSpPr>
          <p:nvPr>
            <p:ph type="sldNum" sz="quarter" idx="12"/>
          </p:nvPr>
        </p:nvSpPr>
        <p:spPr/>
        <p:txBody>
          <a:bodyPr/>
          <a:lstStyle/>
          <a:p>
            <a:pPr>
              <a:defRPr/>
            </a:pPr>
            <a:fld id="{7C4E558B-5425-6346-B896-72F904F12E77}" type="slidenum">
              <a:rPr lang="en-US" altLang="zh-CN" smtClean="0"/>
              <a:t>48</a:t>
            </a:fld>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Arial" panose="020B0604020202090204" pitchFamily="34" charset="0"/>
                <a:ea typeface="黑体" panose="02010609060101010101" pitchFamily="49" charset="-122"/>
                <a:cs typeface="Arial" panose="020B0604020202090204" pitchFamily="34" charset="0"/>
              </a:rPr>
              <a:t>场景三、在有序数组插入和删除</a:t>
            </a:r>
            <a:endParaRPr lang="zh-CN" altLang="en-US" dirty="0"/>
          </a:p>
        </p:txBody>
      </p:sp>
      <p:sp>
        <p:nvSpPr>
          <p:cNvPr id="3" name="内容占位符 2"/>
          <p:cNvSpPr>
            <a:spLocks noGrp="1"/>
          </p:cNvSpPr>
          <p:nvPr>
            <p:ph idx="1"/>
          </p:nvPr>
        </p:nvSpPr>
        <p:spPr>
          <a:xfrm>
            <a:off x="1824038" y="1716189"/>
            <a:ext cx="8543925" cy="4351338"/>
          </a:xfrm>
        </p:spPr>
        <p:txBody>
          <a:bodyPr/>
          <a:lstStyle/>
          <a:p>
            <a:r>
              <a:rPr lang="zh-CN" altLang="en-US" dirty="0"/>
              <a:t>在数组里删除一个数</a:t>
            </a:r>
            <a:r>
              <a:rPr lang="en-US" altLang="zh-CN" dirty="0"/>
              <a:t>6</a:t>
            </a:r>
            <a:endParaRPr lang="zh-CN" altLang="en-US" dirty="0"/>
          </a:p>
        </p:txBody>
      </p:sp>
      <p:graphicFrame>
        <p:nvGraphicFramePr>
          <p:cNvPr id="7" name="Group 3"/>
          <p:cNvGraphicFramePr>
            <a:graphicFrameLocks noGrp="1"/>
          </p:cNvGraphicFramePr>
          <p:nvPr/>
        </p:nvGraphicFramePr>
        <p:xfrm>
          <a:off x="2723340" y="2474745"/>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5" name="Group 3"/>
          <p:cNvGraphicFramePr>
            <a:graphicFrameLocks noGrp="1"/>
          </p:cNvGraphicFramePr>
          <p:nvPr/>
        </p:nvGraphicFramePr>
        <p:xfrm>
          <a:off x="2723340" y="3233301"/>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6</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chemeClr val="tx1"/>
                          </a:solidFill>
                          <a:effectLst/>
                        </a:rPr>
                        <a:t>12</a:t>
                      </a:r>
                      <a:endParaRPr kumimoji="0" lang="en-US" altLang="zh-CN" sz="2400" b="1" i="0" u="none" strike="noStrike" cap="none" normalizeH="0" baseline="0" dirty="0">
                        <a:ln>
                          <a:noFill/>
                        </a:ln>
                        <a:solidFill>
                          <a:schemeClr val="tx1"/>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3" name="文本框 12"/>
          <p:cNvSpPr txBox="1"/>
          <p:nvPr/>
        </p:nvSpPr>
        <p:spPr>
          <a:xfrm>
            <a:off x="8139113" y="3138735"/>
            <a:ext cx="2736304" cy="369332"/>
          </a:xfrm>
          <a:prstGeom prst="rect">
            <a:avLst/>
          </a:prstGeom>
          <a:noFill/>
        </p:spPr>
        <p:txBody>
          <a:bodyPr wrap="square" rtlCol="0">
            <a:spAutoFit/>
          </a:bodyPr>
          <a:lstStyle/>
          <a:p>
            <a:r>
              <a:rPr lang="zh-CN" altLang="en-US" dirty="0"/>
              <a:t>找到数组里的第一个</a:t>
            </a:r>
            <a:r>
              <a:rPr lang="en-US" altLang="zh-CN" dirty="0"/>
              <a:t>6</a:t>
            </a:r>
            <a:endParaRPr lang="zh-CN" altLang="en-US" dirty="0"/>
          </a:p>
        </p:txBody>
      </p:sp>
      <p:sp>
        <p:nvSpPr>
          <p:cNvPr id="14" name="文本框 13"/>
          <p:cNvSpPr txBox="1"/>
          <p:nvPr/>
        </p:nvSpPr>
        <p:spPr>
          <a:xfrm>
            <a:off x="8134018" y="4930613"/>
            <a:ext cx="2736304" cy="369332"/>
          </a:xfrm>
          <a:prstGeom prst="rect">
            <a:avLst/>
          </a:prstGeom>
          <a:noFill/>
        </p:spPr>
        <p:txBody>
          <a:bodyPr wrap="square" rtlCol="0">
            <a:spAutoFit/>
          </a:bodyPr>
          <a:lstStyle/>
          <a:p>
            <a:r>
              <a:rPr lang="zh-CN" altLang="en-US" dirty="0"/>
              <a:t>将该元素后面的元素前移</a:t>
            </a:r>
          </a:p>
        </p:txBody>
      </p:sp>
      <p:sp>
        <p:nvSpPr>
          <p:cNvPr id="15" name="文本框 14"/>
          <p:cNvSpPr txBox="1"/>
          <p:nvPr/>
        </p:nvSpPr>
        <p:spPr>
          <a:xfrm>
            <a:off x="8139113" y="4121006"/>
            <a:ext cx="2736304" cy="369332"/>
          </a:xfrm>
          <a:prstGeom prst="rect">
            <a:avLst/>
          </a:prstGeom>
          <a:noFill/>
        </p:spPr>
        <p:txBody>
          <a:bodyPr wrap="square" rtlCol="0">
            <a:spAutoFit/>
          </a:bodyPr>
          <a:lstStyle/>
          <a:p>
            <a:r>
              <a:rPr lang="zh-CN" altLang="en-US" dirty="0"/>
              <a:t>删除</a:t>
            </a:r>
            <a:r>
              <a:rPr lang="en-US" altLang="zh-CN" dirty="0"/>
              <a:t>6</a:t>
            </a:r>
            <a:endParaRPr lang="zh-CN" altLang="en-US" dirty="0"/>
          </a:p>
        </p:txBody>
      </p:sp>
      <p:graphicFrame>
        <p:nvGraphicFramePr>
          <p:cNvPr id="8" name="Group 3"/>
          <p:cNvGraphicFramePr>
            <a:graphicFrameLocks noGrp="1"/>
          </p:cNvGraphicFramePr>
          <p:nvPr/>
        </p:nvGraphicFramePr>
        <p:xfrm>
          <a:off x="2723340" y="4077072"/>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 </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chemeClr val="tx1"/>
                          </a:solidFill>
                          <a:effectLst/>
                        </a:rPr>
                        <a:t>12</a:t>
                      </a:r>
                      <a:endParaRPr kumimoji="0" lang="en-US" altLang="zh-CN" sz="2400" b="1" i="0" u="none" strike="noStrike" cap="none" normalizeH="0" baseline="0" dirty="0">
                        <a:ln>
                          <a:noFill/>
                        </a:ln>
                        <a:solidFill>
                          <a:schemeClr val="tx1"/>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9" name="Group 3"/>
          <p:cNvGraphicFramePr>
            <a:graphicFrameLocks noGrp="1"/>
          </p:cNvGraphicFramePr>
          <p:nvPr/>
        </p:nvGraphicFramePr>
        <p:xfrm>
          <a:off x="2723340" y="4843699"/>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tblGrid>
              <a:tr h="457200">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u="none" strike="noStrike" cap="none" normalizeH="0" baseline="0" dirty="0">
                          <a:ln>
                            <a:noFill/>
                          </a:ln>
                          <a:solidFill>
                            <a:srgbClr val="FF0000"/>
                          </a:solidFill>
                          <a:effectLst/>
                        </a:rPr>
                        <a:t> 7</a:t>
                      </a:r>
                      <a:endParaRPr kumimoji="0" lang="en-US" altLang="zh-CN" sz="2400" b="1" i="0" u="none" strike="noStrike" cap="none" normalizeH="0" baseline="0" dirty="0">
                        <a:ln>
                          <a:noFill/>
                        </a:ln>
                        <a:solidFill>
                          <a:srgbClr val="FF0000"/>
                        </a:solidFill>
                        <a:effectLst/>
                        <a:latin typeface="Courier New" panose="02070409020205090404"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FF0000"/>
                          </a:solidFill>
                          <a:effectLst/>
                          <a:latin typeface="Courier New" panose="02070409020205090404" charset="0"/>
                          <a:ea typeface="宋体" charset="0"/>
                        </a:rPr>
                        <a:t>10</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dirty="0">
                          <a:ln>
                            <a:noFill/>
                          </a:ln>
                          <a:solidFill>
                            <a:srgbClr val="FF0000"/>
                          </a:solidFill>
                          <a:effectLst/>
                          <a:latin typeface="Courier New" panose="02070409020205090404" charset="0"/>
                          <a:ea typeface="宋体" charset="0"/>
                        </a:rPr>
                        <a:t>12</a:t>
                      </a:r>
                    </a:p>
                  </a:txBody>
                  <a:tcPr marL="99060" marR="99060" horzOverflow="overflow"/>
                </a:tc>
                <a:tc>
                  <a:txBody>
                    <a:bodyPr/>
                    <a:lstStyle>
                      <a:lvl1pPr eaLnBrk="0" hangingPunct="0">
                        <a:lnSpc>
                          <a:spcPct val="120000"/>
                        </a:lnSpc>
                        <a:spcBef>
                          <a:spcPts val="600"/>
                        </a:spcBef>
                        <a:buClr>
                          <a:schemeClr val="tx2"/>
                        </a:buClr>
                        <a:buSzPct val="50000"/>
                        <a:buFont typeface="Wingdings" panose="05000000000000000000" pitchFamily="2" charset="2"/>
                        <a:defRPr sz="2800">
                          <a:solidFill>
                            <a:schemeClr val="tx1"/>
                          </a:solidFill>
                          <a:latin typeface="Franklin Gothic Book" panose="020B0503020102020204" pitchFamily="34" charset="0"/>
                        </a:defRPr>
                      </a:lvl1pPr>
                      <a:lvl2pPr marL="742950" indent="-285750" eaLnBrk="0" hangingPunct="0">
                        <a:lnSpc>
                          <a:spcPct val="120000"/>
                        </a:lnSpc>
                        <a:spcBef>
                          <a:spcPts val="600"/>
                        </a:spcBef>
                        <a:buClr>
                          <a:schemeClr val="tx2"/>
                        </a:buClr>
                        <a:buSzPct val="50000"/>
                        <a:buFont typeface="Wingdings 2" panose="05020102010507070707" pitchFamily="2" charset="2"/>
                        <a:defRPr sz="2400">
                          <a:solidFill>
                            <a:srgbClr val="333399"/>
                          </a:solidFill>
                          <a:latin typeface="Times New Roman" panose="02020503050405090304" pitchFamily="18" charset="0"/>
                          <a:ea typeface="Times New Roman" panose="02020503050405090304" pitchFamily="18" charset="0"/>
                          <a:cs typeface="Times New Roman" panose="02020503050405090304" pitchFamily="18" charset="0"/>
                        </a:defRPr>
                      </a:lvl2pPr>
                      <a:lvl3pPr marL="1143000" indent="-228600" eaLnBrk="0" hangingPunct="0">
                        <a:lnSpc>
                          <a:spcPct val="120000"/>
                        </a:lnSpc>
                        <a:spcBef>
                          <a:spcPts val="600"/>
                        </a:spcBef>
                        <a:buClr>
                          <a:schemeClr val="tx2"/>
                        </a:buClr>
                        <a:buSzPct val="50000"/>
                        <a:buFont typeface="Wingdings 2" panose="05020102010507070707" pitchFamily="2" charset="2"/>
                        <a:defRPr sz="2000">
                          <a:solidFill>
                            <a:srgbClr val="3333CC"/>
                          </a:solidFill>
                          <a:latin typeface="Times New Roman" panose="02020503050405090304" pitchFamily="18" charset="0"/>
                          <a:ea typeface="Times New Roman" panose="02020503050405090304" pitchFamily="18" charset="0"/>
                          <a:cs typeface="Times New Roman" panose="02020503050405090304" pitchFamily="18" charset="0"/>
                        </a:defRPr>
                      </a:lvl3pPr>
                      <a:lvl4pPr marL="16002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4pPr>
                      <a:lvl5pPr marL="2057400" indent="-228600" eaLnBrk="0" hangingPunct="0">
                        <a:lnSpc>
                          <a:spcPct val="120000"/>
                        </a:lnSpc>
                        <a:spcBef>
                          <a:spcPts val="600"/>
                        </a:spcBef>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2" charset="2"/>
                        <a:defRPr>
                          <a:solidFill>
                            <a:schemeClr val="tx1"/>
                          </a:solidFill>
                          <a:latin typeface="Times New Roman" panose="02020503050405090304" pitchFamily="18" charset="0"/>
                          <a:ea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chemeClr val="tx1"/>
                        </a:solidFill>
                        <a:effectLst/>
                        <a:latin typeface="Courier New" panose="02070409020205090404"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dirty="0">
                        <a:ln>
                          <a:noFill/>
                        </a:ln>
                        <a:solidFill>
                          <a:srgbClr val="000066"/>
                        </a:solidFill>
                        <a:effectLst/>
                        <a:latin typeface="Courier New" panose="02070409020205090404"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6" name="灯片编号占位符 5"/>
          <p:cNvSpPr>
            <a:spLocks noGrp="1"/>
          </p:cNvSpPr>
          <p:nvPr>
            <p:ph type="sldNum" sz="quarter" idx="12"/>
          </p:nvPr>
        </p:nvSpPr>
        <p:spPr/>
        <p:txBody>
          <a:bodyPr/>
          <a:lstStyle/>
          <a:p>
            <a:pPr>
              <a:defRPr/>
            </a:pPr>
            <a:fld id="{7C4E558B-5425-6346-B896-72F904F12E77}" type="slidenum">
              <a:rPr lang="en-US" altLang="zh-CN" smtClean="0"/>
              <a:t>49</a:t>
            </a:fld>
            <a:endParaRPr lang="zh-CN" altLang="en-US" dirty="0"/>
          </a:p>
        </p:txBody>
      </p:sp>
      <p:sp>
        <p:nvSpPr>
          <p:cNvPr id="11" name="文本框 10"/>
          <p:cNvSpPr txBox="1"/>
          <p:nvPr/>
        </p:nvSpPr>
        <p:spPr>
          <a:xfrm>
            <a:off x="1954495" y="5758343"/>
            <a:ext cx="6203814" cy="461665"/>
          </a:xfrm>
          <a:prstGeom prst="rect">
            <a:avLst/>
          </a:prstGeom>
          <a:noFill/>
        </p:spPr>
        <p:txBody>
          <a:bodyPr wrap="square">
            <a:spAutoFit/>
          </a:bodyPr>
          <a:lstStyle/>
          <a:p>
            <a:r>
              <a:rPr lang="zh-CN" altLang="en-US" sz="2400" dirty="0"/>
              <a:t>没有</a:t>
            </a:r>
            <a:r>
              <a:rPr lang="en-US" altLang="zh-CN" sz="2400" dirty="0"/>
              <a:t>6</a:t>
            </a:r>
            <a:r>
              <a:rPr lang="zh-CN" altLang="en-US" sz="2400" dirty="0"/>
              <a:t>怎么办？如果有多个</a:t>
            </a:r>
            <a:r>
              <a:rPr lang="en-US" altLang="zh-CN" sz="2400" dirty="0"/>
              <a:t>6</a:t>
            </a:r>
            <a:r>
              <a:rPr lang="zh-CN" altLang="en-US" sz="2400" dirty="0"/>
              <a:t>怎么办？</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063552" y="692696"/>
            <a:ext cx="8064896" cy="5355312"/>
          </a:xfrm>
          <a:prstGeom prst="rect">
            <a:avLst/>
          </a:prstGeom>
          <a:noFill/>
        </p:spPr>
        <p:txBody>
          <a:bodyPr wrap="square">
            <a:spAutoFit/>
          </a:bodyPr>
          <a:lstStyle/>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BinSearch</a:t>
            </a:r>
            <a:r>
              <a:rPr lang="en-US" altLang="zh-CN" dirty="0">
                <a:solidFill>
                  <a:srgbClr val="000000"/>
                </a:solidFill>
                <a:highlight>
                  <a:srgbClr val="FFFFFF"/>
                </a:highlight>
                <a:latin typeface="Consolas" panose="020B0609020204030204" pitchFamily="49" charset="0"/>
              </a:rPr>
              <a:t>(</a:t>
            </a:r>
            <a:r>
              <a:rPr lang="en-US" altLang="zh-CN" b="1" dirty="0">
                <a:solidFill>
                  <a:srgbClr val="2E8B57"/>
                </a:solidFill>
                <a:highlight>
                  <a:srgbClr val="FFFFFF"/>
                </a:highlight>
                <a:latin typeface="Consolas" panose="020B0609020204030204" pitchFamily="49" charset="0"/>
              </a:rPr>
              <a:t>long</a:t>
            </a:r>
            <a:r>
              <a:rPr lang="en-US" altLang="zh-CN" dirty="0">
                <a:solidFill>
                  <a:srgbClr val="000000"/>
                </a:solidFill>
                <a:highlight>
                  <a:srgbClr val="FFFFFF"/>
                </a:highlight>
                <a:latin typeface="Consolas" panose="020B0609020204030204" pitchFamily="49" charset="0"/>
              </a:rPr>
              <a:t> num[], </a:t>
            </a:r>
            <a:r>
              <a:rPr lang="en-US" altLang="zh-CN" b="1" dirty="0">
                <a:solidFill>
                  <a:srgbClr val="2E8B57"/>
                </a:solidFill>
                <a:highlight>
                  <a:srgbClr val="FFFFFF"/>
                </a:highlight>
                <a:latin typeface="Consolas" panose="020B0609020204030204" pitchFamily="49" charset="0"/>
              </a:rPr>
              <a:t>long</a:t>
            </a:r>
            <a:r>
              <a:rPr lang="en-US" altLang="zh-CN" dirty="0">
                <a:solidFill>
                  <a:srgbClr val="000000"/>
                </a:solidFill>
                <a:highlight>
                  <a:srgbClr val="FFFFFF"/>
                </a:highlight>
                <a:latin typeface="Consolas" panose="020B0609020204030204" pitchFamily="49" charset="0"/>
              </a:rPr>
              <a:t> x,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low, high,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low = 0;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high = n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while</a:t>
            </a:r>
            <a:r>
              <a:rPr lang="en-US" altLang="zh-CN" dirty="0">
                <a:solidFill>
                  <a:srgbClr val="000000"/>
                </a:solidFill>
                <a:highlight>
                  <a:srgbClr val="F8F8F8"/>
                </a:highlight>
                <a:latin typeface="Consolas" panose="020B0609020204030204" pitchFamily="49" charset="0"/>
              </a:rPr>
              <a:t> (low &lt;= high){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mid = (high + low) / 2;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if</a:t>
            </a:r>
            <a:r>
              <a:rPr lang="en-US" altLang="zh-CN" dirty="0">
                <a:solidFill>
                  <a:srgbClr val="000000"/>
                </a:solidFill>
                <a:highlight>
                  <a:srgbClr val="F8F8F8"/>
                </a:highlight>
                <a:latin typeface="Consolas" panose="020B0609020204030204" pitchFamily="49" charset="0"/>
              </a:rPr>
              <a:t> (x &gt; num[mid])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low = mid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else</a:t>
            </a: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 (x &lt; num[mid])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high = mid - 1;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else</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50</a:t>
            </a:fld>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991544" y="260648"/>
            <a:ext cx="7560840" cy="5909310"/>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p>
          <a:p>
            <a:pPr>
              <a:buFont typeface="+mj-lt"/>
              <a:buAutoNum type="arabicPeriod"/>
            </a:pPr>
            <a:r>
              <a:rPr lang="fr-FR" altLang="zh-CN" b="1" dirty="0">
                <a:solidFill>
                  <a:srgbClr val="C00000"/>
                </a:solidFill>
                <a:latin typeface="Courier New" panose="02070409020205090404" charset="0"/>
                <a:ea typeface="宋体" pitchFamily="2" charset="-122"/>
              </a:rPr>
              <a:t>int</a:t>
            </a:r>
            <a:r>
              <a:rPr lang="fr-FR" altLang="zh-CN" b="1" dirty="0">
                <a:latin typeface="Courier New" panose="02070409020205090404" charset="0"/>
                <a:ea typeface="宋体" pitchFamily="2" charset="-122"/>
              </a:rPr>
              <a:t>  BinSearch(</a:t>
            </a:r>
            <a:r>
              <a:rPr lang="fr-FR" altLang="zh-CN" b="1" dirty="0">
                <a:solidFill>
                  <a:srgbClr val="C00000"/>
                </a:solidFill>
                <a:latin typeface="Courier New" panose="02070409020205090404" charset="0"/>
                <a:ea typeface="宋体" pitchFamily="2" charset="-122"/>
              </a:rPr>
              <a:t>int</a:t>
            </a:r>
            <a:r>
              <a:rPr lang="fr-FR" altLang="zh-CN" b="1" dirty="0">
                <a:latin typeface="Courier New" panose="02070409020205090404" charset="0"/>
                <a:ea typeface="宋体" pitchFamily="2" charset="-122"/>
              </a:rPr>
              <a:t> </a:t>
            </a:r>
            <a:r>
              <a:rPr lang="en-US" altLang="zh-CN" b="1" dirty="0" err="1">
                <a:latin typeface="Courier New" panose="02070409020205090404" charset="0"/>
                <a:ea typeface="宋体" pitchFamily="2" charset="-122"/>
              </a:rPr>
              <a:t>arr</a:t>
            </a:r>
            <a:r>
              <a:rPr lang="fr-FR" altLang="zh-CN" b="1" dirty="0">
                <a:latin typeface="Courier New" panose="02070409020205090404" charset="0"/>
                <a:ea typeface="宋体" pitchFamily="2" charset="-122"/>
              </a:rPr>
              <a:t>[], </a:t>
            </a:r>
            <a:r>
              <a:rPr lang="fr-FR" altLang="zh-CN" b="1" dirty="0">
                <a:solidFill>
                  <a:srgbClr val="C00000"/>
                </a:solidFill>
                <a:latin typeface="Courier New" panose="02070409020205090404" charset="0"/>
                <a:ea typeface="宋体" pitchFamily="2" charset="-122"/>
              </a:rPr>
              <a:t>int value</a:t>
            </a:r>
            <a:r>
              <a:rPr lang="fr-FR" altLang="zh-CN" b="1" dirty="0">
                <a:latin typeface="Courier New" panose="02070409020205090404" charset="0"/>
                <a:ea typeface="宋体" pitchFamily="2" charset="-122"/>
              </a:rPr>
              <a:t> , </a:t>
            </a:r>
            <a:r>
              <a:rPr lang="fr-FR" altLang="zh-CN" b="1" dirty="0">
                <a:solidFill>
                  <a:srgbClr val="C00000"/>
                </a:solidFill>
                <a:latin typeface="Courier New" panose="02070409020205090404" charset="0"/>
                <a:ea typeface="宋体" pitchFamily="2" charset="-122"/>
              </a:rPr>
              <a:t>int</a:t>
            </a:r>
            <a:r>
              <a:rPr lang="fr-FR" altLang="zh-CN" b="1" dirty="0">
                <a:latin typeface="Courier New" panose="02070409020205090404" charset="0"/>
                <a:ea typeface="宋体" pitchFamily="2" charset="-122"/>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delete_ordered</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a:t>
            </a:r>
          </a:p>
          <a:p>
            <a:pPr algn="l">
              <a:buFont typeface="+mj-lt"/>
              <a:buAutoNum type="arabicPeriod"/>
            </a:pPr>
            <a:r>
              <a:rPr lang="en-US" altLang="zh-CN" dirty="0">
                <a:solidFill>
                  <a:srgbClr val="000000"/>
                </a:solidFill>
                <a:highlight>
                  <a:srgbClr val="F8F8F8"/>
                </a:highlight>
                <a:latin typeface="Consolas" panose="020B0609020204030204" pitchFamily="49" charset="0"/>
              </a:rPr>
              <a:t>   int pos = </a:t>
            </a:r>
            <a:r>
              <a:rPr lang="en-US" altLang="zh-CN" dirty="0" err="1">
                <a:solidFill>
                  <a:srgbClr val="000000"/>
                </a:solidFill>
                <a:highlight>
                  <a:srgbClr val="F8F8F8"/>
                </a:highlight>
                <a:latin typeface="Consolas" panose="020B0609020204030204" pitchFamily="49" charset="0"/>
              </a:rPr>
              <a:t>BinSearch</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arr,value,n</a:t>
            </a:r>
            <a:r>
              <a:rPr lang="en-US" altLang="zh-CN" dirty="0">
                <a:solidFill>
                  <a:srgbClr val="000000"/>
                </a:solidFill>
                <a:highlight>
                  <a:srgbClr val="F8F8F8"/>
                </a:highlight>
                <a:latin typeface="Consolas" panose="020B0609020204030204" pitchFamily="49" charset="0"/>
              </a:rPr>
              <a:t>);</a:t>
            </a:r>
          </a:p>
          <a:p>
            <a:pPr algn="l">
              <a:buFont typeface="+mj-lt"/>
              <a:buAutoNum type="arabicPeriod"/>
            </a:pPr>
            <a:r>
              <a:rPr lang="en-US" altLang="zh-CN" dirty="0">
                <a:solidFill>
                  <a:srgbClr val="000000"/>
                </a:solidFill>
                <a:highlight>
                  <a:srgbClr val="F8F8F8"/>
                </a:highlight>
                <a:latin typeface="Consolas" panose="020B0609020204030204" pitchFamily="49" charset="0"/>
              </a:rPr>
              <a:t>   if(pos&lt;0){</a:t>
            </a:r>
          </a:p>
          <a:p>
            <a:pPr>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"Value not found\n"</a:t>
            </a:r>
            <a:r>
              <a:rPr lang="en-US" altLang="zh-CN" dirty="0">
                <a:solidFill>
                  <a:srgbClr val="000000"/>
                </a:solidFill>
                <a:highlight>
                  <a:srgbClr val="FFFFFF"/>
                </a:highlight>
                <a:latin typeface="Consolas" panose="020B0609020204030204" pitchFamily="49" charset="0"/>
              </a:rPr>
              <a:t>);  </a:t>
            </a:r>
            <a:endParaRPr lang="en-US" altLang="zh-CN" dirty="0">
              <a:solidFill>
                <a:srgbClr val="000000"/>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return n;</a:t>
            </a: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p>
          <a:p>
            <a:pPr algn="l">
              <a:buFont typeface="+mj-lt"/>
              <a:buAutoNum type="arabicPeriod"/>
            </a:pPr>
            <a:r>
              <a:rPr lang="en-US" altLang="zh-CN" b="1" dirty="0">
                <a:solidFill>
                  <a:srgbClr val="006699"/>
                </a:solidFill>
                <a:highlight>
                  <a:srgbClr val="FFFFFF"/>
                </a:highlight>
                <a:latin typeface="Consolas" panose="020B0609020204030204" pitchFamily="49" charset="0"/>
              </a:rPr>
              <a:t>   for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pos;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&lt; n-1;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006699"/>
                </a:solidFill>
                <a:highlight>
                  <a:srgbClr val="FFFFFF"/>
                </a:highlight>
                <a:latin typeface="Consolas" panose="020B0609020204030204" pitchFamily="49" charset="0"/>
              </a:rPr>
              <a:t>   return</a:t>
            </a:r>
            <a:r>
              <a:rPr lang="en-US" altLang="zh-CN" dirty="0">
                <a:solidFill>
                  <a:srgbClr val="000000"/>
                </a:solidFill>
                <a:highlight>
                  <a:srgbClr val="F8F8F8"/>
                </a:highlight>
                <a:latin typeface="Consolas" panose="020B0609020204030204" pitchFamily="49" charset="0"/>
              </a:rPr>
              <a:t> n+1;</a:t>
            </a:r>
          </a:p>
          <a:p>
            <a:pPr algn="l">
              <a:buFont typeface="+mj-lt"/>
              <a:buAutoNum type="arabicPeriod"/>
            </a:pPr>
            <a:r>
              <a:rPr lang="en-US" altLang="zh-CN" dirty="0">
                <a:solidFill>
                  <a:srgbClr val="000000"/>
                </a:solidFill>
                <a:highlight>
                  <a:srgbClr val="F8F8F8"/>
                </a:highlight>
                <a:latin typeface="Consolas" panose="020B0609020204030204" pitchFamily="49" charset="0"/>
              </a:rPr>
              <a:t>}</a:t>
            </a: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main()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[100] = {1, 2, 3, 4,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n = </a:t>
            </a:r>
            <a:r>
              <a:rPr lang="en-US" altLang="zh-CN" dirty="0" err="1">
                <a:solidFill>
                  <a:srgbClr val="000000"/>
                </a:solidFill>
                <a:highlight>
                  <a:srgbClr val="FFFFFF"/>
                </a:highlight>
                <a:latin typeface="Consolas" panose="020B0609020204030204" pitchFamily="49" charset="0"/>
              </a:rPr>
              <a:t>delete_ordered</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n, 3);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2" name="文本框 1"/>
          <p:cNvSpPr txBox="1"/>
          <p:nvPr/>
        </p:nvSpPr>
        <p:spPr>
          <a:xfrm>
            <a:off x="7248128" y="2245807"/>
            <a:ext cx="3600400" cy="1938992"/>
          </a:xfrm>
          <a:prstGeom prst="rect">
            <a:avLst/>
          </a:prstGeom>
          <a:noFill/>
        </p:spPr>
        <p:txBody>
          <a:bodyPr wrap="square" rtlCol="0">
            <a:spAutoFit/>
          </a:bodyPr>
          <a:lstStyle/>
          <a:p>
            <a:r>
              <a:rPr lang="zh-CN" altLang="en-US" sz="2400" dirty="0"/>
              <a:t>第</a:t>
            </a:r>
            <a:r>
              <a:rPr lang="en-US" altLang="zh-CN" sz="2400" dirty="0"/>
              <a:t>4</a:t>
            </a:r>
            <a:r>
              <a:rPr lang="zh-CN" altLang="en-US" sz="2400" dirty="0"/>
              <a:t>行：</a:t>
            </a:r>
            <a:r>
              <a:rPr lang="en-US" altLang="zh-CN" sz="2400" dirty="0"/>
              <a:t>O(log(n))</a:t>
            </a:r>
          </a:p>
          <a:p>
            <a:r>
              <a:rPr lang="zh-CN" altLang="en-US" sz="2400" dirty="0"/>
              <a:t>第</a:t>
            </a:r>
            <a:r>
              <a:rPr lang="en-US" altLang="zh-CN" sz="2400" dirty="0"/>
              <a:t>5-8</a:t>
            </a:r>
            <a:r>
              <a:rPr lang="zh-CN" altLang="en-US" sz="2400" dirty="0"/>
              <a:t>行：</a:t>
            </a:r>
            <a:r>
              <a:rPr lang="en-US" altLang="zh-CN" sz="2400" dirty="0"/>
              <a:t> O(1)</a:t>
            </a:r>
          </a:p>
          <a:p>
            <a:r>
              <a:rPr lang="zh-CN" altLang="en-US" sz="2400" dirty="0"/>
              <a:t>第</a:t>
            </a:r>
            <a:r>
              <a:rPr lang="en-US" altLang="zh-CN" sz="2400" dirty="0"/>
              <a:t>9-10</a:t>
            </a:r>
            <a:r>
              <a:rPr lang="zh-CN" altLang="en-US" sz="2400" dirty="0"/>
              <a:t>行：</a:t>
            </a:r>
            <a:r>
              <a:rPr lang="en-US" altLang="zh-CN" sz="2400" dirty="0"/>
              <a:t> O(n)</a:t>
            </a:r>
          </a:p>
          <a:p>
            <a:r>
              <a:rPr lang="zh-CN" altLang="en-US" sz="2400" dirty="0"/>
              <a:t>有序数组删除元素时间复杂度为</a:t>
            </a:r>
            <a:r>
              <a:rPr lang="en-US" altLang="zh-CN" sz="2400" dirty="0"/>
              <a:t>O(n)</a:t>
            </a:r>
            <a:endParaRPr lang="zh-CN" altLang="en-US" sz="2400" dirty="0"/>
          </a:p>
        </p:txBody>
      </p:sp>
      <p:sp>
        <p:nvSpPr>
          <p:cNvPr id="3" name="灯片编号占位符 2"/>
          <p:cNvSpPr>
            <a:spLocks noGrp="1"/>
          </p:cNvSpPr>
          <p:nvPr>
            <p:ph type="sldNum" sz="quarter" idx="12"/>
          </p:nvPr>
        </p:nvSpPr>
        <p:spPr/>
        <p:txBody>
          <a:bodyPr/>
          <a:lstStyle/>
          <a:p>
            <a:pPr>
              <a:defRPr/>
            </a:pPr>
            <a:fld id="{7C4E558B-5425-6346-B896-72F904F12E77}" type="slidenum">
              <a:rPr lang="en-US" altLang="zh-CN" smtClean="0"/>
              <a:t>51</a:t>
            </a:fld>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767408" y="622743"/>
            <a:ext cx="9781728" cy="1143000"/>
          </a:xfrm>
        </p:spPr>
        <p:txBody>
          <a:bodyPr>
            <a:normAutofit fontScale="90000"/>
          </a:bodyPr>
          <a:lstStyle/>
          <a:p>
            <a:r>
              <a:rPr lang="zh-CN" altLang="en-US" dirty="0"/>
              <a:t>例</a:t>
            </a:r>
            <a:r>
              <a:rPr lang="en-US" altLang="zh-CN" dirty="0"/>
              <a:t>2</a:t>
            </a:r>
            <a:r>
              <a:rPr lang="zh-CN" altLang="en-US" dirty="0"/>
              <a:t>：一维数组的元素修改</a:t>
            </a:r>
            <a:r>
              <a:rPr lang="en-US" altLang="zh-CN" dirty="0"/>
              <a:t>——</a:t>
            </a:r>
            <a:r>
              <a:rPr lang="zh-CN" altLang="en-US" dirty="0"/>
              <a:t>复杂度分析</a:t>
            </a:r>
          </a:p>
        </p:txBody>
      </p:sp>
      <p:graphicFrame>
        <p:nvGraphicFramePr>
          <p:cNvPr id="5" name="表格 4"/>
          <p:cNvGraphicFramePr>
            <a:graphicFrameLocks noGrp="1"/>
          </p:cNvGraphicFramePr>
          <p:nvPr/>
        </p:nvGraphicFramePr>
        <p:xfrm>
          <a:off x="2577976" y="2379793"/>
          <a:ext cx="6604000" cy="111252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tblGrid>
              <a:tr h="370840">
                <a:tc>
                  <a:txBody>
                    <a:bodyPr/>
                    <a:lstStyle/>
                    <a:p>
                      <a:pPr marL="0" marR="0" lvl="0" indent="0" algn="l" defTabSz="742950" rtl="0" eaLnBrk="1" fontAlgn="auto" latinLnBrk="0" hangingPunct="1">
                        <a:lnSpc>
                          <a:spcPct val="100000"/>
                        </a:lnSpc>
                        <a:spcBef>
                          <a:spcPts val="0"/>
                        </a:spcBef>
                        <a:spcAft>
                          <a:spcPts val="0"/>
                        </a:spcAft>
                        <a:buClrTx/>
                        <a:buSzTx/>
                        <a:buFontTx/>
                        <a:buNone/>
                        <a:defRPr/>
                      </a:pPr>
                      <a:r>
                        <a:rPr lang="zh-CN" altLang="en-US" dirty="0"/>
                        <a:t>时间复杂度</a:t>
                      </a:r>
                    </a:p>
                  </a:txBody>
                  <a:tcPr/>
                </a:tc>
                <a:tc>
                  <a:txBody>
                    <a:bodyPr/>
                    <a:lstStyle/>
                    <a:p>
                      <a:r>
                        <a:rPr lang="zh-CN" altLang="en-US" dirty="0"/>
                        <a:t>指定位置</a:t>
                      </a:r>
                    </a:p>
                  </a:txBody>
                  <a:tcPr/>
                </a:tc>
                <a:tc>
                  <a:txBody>
                    <a:bodyPr/>
                    <a:lstStyle/>
                    <a:p>
                      <a:r>
                        <a:rPr lang="zh-CN" altLang="en-US" dirty="0"/>
                        <a:t>无序</a:t>
                      </a:r>
                    </a:p>
                  </a:txBody>
                  <a:tcPr/>
                </a:tc>
                <a:tc>
                  <a:txBody>
                    <a:bodyPr/>
                    <a:lstStyle/>
                    <a:p>
                      <a:r>
                        <a:rPr lang="zh-CN" altLang="en-US" dirty="0"/>
                        <a:t>有序</a:t>
                      </a:r>
                    </a:p>
                  </a:txBody>
                  <a:tcPr/>
                </a:tc>
                <a:extLst>
                  <a:ext uri="{0D108BD9-81ED-4DB2-BD59-A6C34878D82A}">
                    <a16:rowId xmlns:a16="http://schemas.microsoft.com/office/drawing/2014/main" val="10000"/>
                  </a:ext>
                </a:extLst>
              </a:tr>
              <a:tr h="370840">
                <a:tc>
                  <a:txBody>
                    <a:bodyPr/>
                    <a:lstStyle/>
                    <a:p>
                      <a:r>
                        <a:rPr lang="zh-CN" altLang="en-US" dirty="0"/>
                        <a:t>插入</a:t>
                      </a:r>
                    </a:p>
                  </a:txBody>
                  <a:tcPr/>
                </a:tc>
                <a:tc>
                  <a:txBody>
                    <a:bodyPr/>
                    <a:lstStyle/>
                    <a:p>
                      <a:r>
                        <a:rPr lang="en-US" altLang="zh-CN" sz="1600" dirty="0"/>
                        <a:t>O(n)</a:t>
                      </a:r>
                      <a:endParaRPr lang="zh-CN" altLang="en-US" dirty="0"/>
                    </a:p>
                  </a:txBody>
                  <a:tcPr/>
                </a:tc>
                <a:tc>
                  <a:txBody>
                    <a:bodyPr/>
                    <a:lstStyle/>
                    <a:p>
                      <a:r>
                        <a:rPr lang="en-US" altLang="zh-CN" sz="1600" dirty="0"/>
                        <a:t>O(1)</a:t>
                      </a:r>
                      <a:endParaRPr lang="zh-CN" altLang="en-US" dirty="0"/>
                    </a:p>
                  </a:txBody>
                  <a:tcPr/>
                </a:tc>
                <a:tc>
                  <a:txBody>
                    <a:bodyPr/>
                    <a:lstStyle/>
                    <a:p>
                      <a:r>
                        <a:rPr lang="en-US" altLang="zh-CN" sz="1600" dirty="0"/>
                        <a:t>O(n)</a:t>
                      </a:r>
                      <a:endParaRPr lang="zh-CN" altLang="en-US" dirty="0"/>
                    </a:p>
                  </a:txBody>
                  <a:tcPr/>
                </a:tc>
                <a:extLst>
                  <a:ext uri="{0D108BD9-81ED-4DB2-BD59-A6C34878D82A}">
                    <a16:rowId xmlns:a16="http://schemas.microsoft.com/office/drawing/2014/main" val="10001"/>
                  </a:ext>
                </a:extLst>
              </a:tr>
              <a:tr h="370840">
                <a:tc>
                  <a:txBody>
                    <a:bodyPr/>
                    <a:lstStyle/>
                    <a:p>
                      <a:r>
                        <a:rPr lang="zh-CN" altLang="en-US" dirty="0"/>
                        <a:t>删除</a:t>
                      </a:r>
                    </a:p>
                  </a:txBody>
                  <a:tcPr/>
                </a:tc>
                <a:tc>
                  <a:txBody>
                    <a:bodyPr/>
                    <a:lstStyle/>
                    <a:p>
                      <a:r>
                        <a:rPr lang="en-US" altLang="zh-CN" sz="1600" dirty="0"/>
                        <a:t>O(n)</a:t>
                      </a:r>
                      <a:endParaRPr lang="zh-CN" altLang="en-US" dirty="0"/>
                    </a:p>
                  </a:txBody>
                  <a:tcPr/>
                </a:tc>
                <a:tc>
                  <a:txBody>
                    <a:bodyPr/>
                    <a:lstStyle/>
                    <a:p>
                      <a:r>
                        <a:rPr lang="en-US" altLang="zh-CN" sz="1600" dirty="0"/>
                        <a:t>O(n)</a:t>
                      </a:r>
                      <a:endParaRPr lang="zh-CN" altLang="en-US" dirty="0"/>
                    </a:p>
                  </a:txBody>
                  <a:tcPr/>
                </a:tc>
                <a:tc>
                  <a:txBody>
                    <a:bodyPr/>
                    <a:lstStyle/>
                    <a:p>
                      <a:r>
                        <a:rPr lang="en-US" altLang="zh-CN" sz="1600" dirty="0"/>
                        <a:t>O(n)</a:t>
                      </a:r>
                      <a:endParaRPr lang="zh-CN" altLang="en-US" dirty="0"/>
                    </a:p>
                  </a:txBody>
                  <a:tcPr/>
                </a:tc>
                <a:extLst>
                  <a:ext uri="{0D108BD9-81ED-4DB2-BD59-A6C34878D82A}">
                    <a16:rowId xmlns:a16="http://schemas.microsoft.com/office/drawing/2014/main" val="10002"/>
                  </a:ext>
                </a:extLst>
              </a:tr>
            </a:tbl>
          </a:graphicData>
        </a:graphic>
      </p:graphicFrame>
      <p:graphicFrame>
        <p:nvGraphicFramePr>
          <p:cNvPr id="6" name="表格 5"/>
          <p:cNvGraphicFramePr>
            <a:graphicFrameLocks noGrp="1"/>
          </p:cNvGraphicFramePr>
          <p:nvPr/>
        </p:nvGraphicFramePr>
        <p:xfrm>
          <a:off x="4223792" y="3789040"/>
          <a:ext cx="4953000" cy="138176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tblGrid>
              <a:tr h="370840">
                <a:tc>
                  <a:txBody>
                    <a:bodyPr/>
                    <a:lstStyle/>
                    <a:p>
                      <a:pPr algn="ctr"/>
                      <a:r>
                        <a:rPr lang="zh-CN" altLang="en-US" dirty="0"/>
                        <a:t>查找位置</a:t>
                      </a:r>
                      <a:endParaRPr lang="en-US" altLang="zh-CN" dirty="0"/>
                    </a:p>
                    <a:p>
                      <a:pPr algn="ctr"/>
                      <a:r>
                        <a:rPr lang="zh-CN" altLang="en-US" dirty="0"/>
                        <a:t>时间复杂度</a:t>
                      </a:r>
                    </a:p>
                  </a:txBody>
                  <a:tcPr/>
                </a:tc>
                <a:tc>
                  <a:txBody>
                    <a:bodyPr/>
                    <a:lstStyle/>
                    <a:p>
                      <a:r>
                        <a:rPr lang="zh-CN" altLang="en-US" dirty="0"/>
                        <a:t>无序</a:t>
                      </a:r>
                    </a:p>
                  </a:txBody>
                  <a:tcPr/>
                </a:tc>
                <a:tc>
                  <a:txBody>
                    <a:bodyPr/>
                    <a:lstStyle/>
                    <a:p>
                      <a:r>
                        <a:rPr lang="zh-CN" altLang="en-US" dirty="0"/>
                        <a:t>有序</a:t>
                      </a:r>
                    </a:p>
                  </a:txBody>
                  <a:tcPr/>
                </a:tc>
                <a:extLst>
                  <a:ext uri="{0D108BD9-81ED-4DB2-BD59-A6C34878D82A}">
                    <a16:rowId xmlns:a16="http://schemas.microsoft.com/office/drawing/2014/main" val="10000"/>
                  </a:ext>
                </a:extLst>
              </a:tr>
              <a:tr h="370840">
                <a:tc>
                  <a:txBody>
                    <a:bodyPr/>
                    <a:lstStyle/>
                    <a:p>
                      <a:r>
                        <a:rPr lang="zh-CN" altLang="en-US" dirty="0"/>
                        <a:t>插入</a:t>
                      </a:r>
                    </a:p>
                  </a:txBody>
                  <a:tcPr/>
                </a:tc>
                <a:tc>
                  <a:txBody>
                    <a:bodyPr/>
                    <a:lstStyle/>
                    <a:p>
                      <a:r>
                        <a:rPr lang="en-US" altLang="zh-CN" sz="1600" dirty="0"/>
                        <a:t>O(1)</a:t>
                      </a:r>
                      <a:endParaRPr lang="zh-CN" altLang="en-US" dirty="0"/>
                    </a:p>
                  </a:txBody>
                  <a:tcPr/>
                </a:tc>
                <a:tc>
                  <a:txBody>
                    <a:bodyPr/>
                    <a:lstStyle/>
                    <a:p>
                      <a:r>
                        <a:rPr lang="en-US" altLang="zh-CN" sz="1600" dirty="0"/>
                        <a:t>O(log(n))</a:t>
                      </a:r>
                      <a:endParaRPr lang="zh-CN" altLang="en-US" dirty="0"/>
                    </a:p>
                  </a:txBody>
                  <a:tcPr/>
                </a:tc>
                <a:extLst>
                  <a:ext uri="{0D108BD9-81ED-4DB2-BD59-A6C34878D82A}">
                    <a16:rowId xmlns:a16="http://schemas.microsoft.com/office/drawing/2014/main" val="10001"/>
                  </a:ext>
                </a:extLst>
              </a:tr>
              <a:tr h="370840">
                <a:tc>
                  <a:txBody>
                    <a:bodyPr/>
                    <a:lstStyle/>
                    <a:p>
                      <a:r>
                        <a:rPr lang="zh-CN" altLang="en-US" dirty="0"/>
                        <a:t>删除</a:t>
                      </a:r>
                    </a:p>
                  </a:txBody>
                  <a:tcPr/>
                </a:tc>
                <a:tc>
                  <a:txBody>
                    <a:bodyPr/>
                    <a:lstStyle/>
                    <a:p>
                      <a:r>
                        <a:rPr lang="en-US" altLang="zh-CN" sz="1600" dirty="0"/>
                        <a:t>O(n)</a:t>
                      </a:r>
                      <a:endParaRPr lang="zh-CN" altLang="en-US" dirty="0"/>
                    </a:p>
                  </a:txBody>
                  <a:tcPr/>
                </a:tc>
                <a:tc>
                  <a:txBody>
                    <a:bodyPr/>
                    <a:lstStyle/>
                    <a:p>
                      <a:r>
                        <a:rPr lang="en-US" altLang="zh-CN" sz="1600" dirty="0"/>
                        <a:t>O(log(n))</a:t>
                      </a:r>
                      <a:endParaRPr lang="zh-CN" altLang="en-US" dirty="0"/>
                    </a:p>
                  </a:txBody>
                  <a:tcPr/>
                </a:tc>
                <a:extLst>
                  <a:ext uri="{0D108BD9-81ED-4DB2-BD59-A6C34878D82A}">
                    <a16:rowId xmlns:a16="http://schemas.microsoft.com/office/drawing/2014/main" val="10002"/>
                  </a:ext>
                </a:extLst>
              </a:tr>
            </a:tbl>
          </a:graphicData>
        </a:graphic>
      </p:graphicFrame>
      <p:sp>
        <p:nvSpPr>
          <p:cNvPr id="2" name="灯片编号占位符 1"/>
          <p:cNvSpPr>
            <a:spLocks noGrp="1"/>
          </p:cNvSpPr>
          <p:nvPr>
            <p:ph type="sldNum" sz="quarter" idx="12"/>
          </p:nvPr>
        </p:nvSpPr>
        <p:spPr/>
        <p:txBody>
          <a:bodyPr/>
          <a:lstStyle/>
          <a:p>
            <a:pPr>
              <a:defRPr/>
            </a:pPr>
            <a:fld id="{7C4E558B-5425-6346-B896-72F904F12E77}" type="slidenum">
              <a:rPr lang="en-US" altLang="zh-CN" smtClean="0"/>
              <a:t>52</a:t>
            </a:fld>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6310</Words>
  <Application>Microsoft Macintosh PowerPoint</Application>
  <PresentationFormat>宽屏</PresentationFormat>
  <Paragraphs>1014</Paragraphs>
  <Slides>52</Slides>
  <Notes>30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52</vt:i4>
      </vt:variant>
    </vt:vector>
  </HeadingPairs>
  <TitlesOfParts>
    <vt:vector size="72" baseType="lpstr">
      <vt:lpstr>等线</vt:lpstr>
      <vt:lpstr>黑体</vt:lpstr>
      <vt:lpstr>华文仿宋</vt:lpstr>
      <vt:lpstr>华文行楷</vt:lpstr>
      <vt:lpstr>楷体_GB2312</vt:lpstr>
      <vt:lpstr>微软雅黑</vt:lpstr>
      <vt:lpstr>Times New Roman Regular</vt:lpstr>
      <vt:lpstr>Arial</vt:lpstr>
      <vt:lpstr>Calibri</vt:lpstr>
      <vt:lpstr>Calibri Light</vt:lpstr>
      <vt:lpstr>Cambria Math</vt:lpstr>
      <vt:lpstr>Consolas</vt:lpstr>
      <vt:lpstr>Courier New</vt:lpstr>
      <vt:lpstr>Franklin Gothic Book</vt:lpstr>
      <vt:lpstr>Monotype Sorts</vt:lpstr>
      <vt:lpstr>Tahoma</vt:lpstr>
      <vt:lpstr>Times New Roman</vt:lpstr>
      <vt:lpstr>Wingdings</vt:lpstr>
      <vt:lpstr>Wingdings 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程序调试的基本方法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例1：一维数组的元素查找</vt:lpstr>
      <vt:lpstr>顺序查找原理</vt:lpstr>
      <vt:lpstr>【例8.10】顺序查找某学号对应的学生的成绩</vt:lpstr>
      <vt:lpstr>2.2  线性表的顺序存储和实现</vt:lpstr>
      <vt:lpstr>猜数游戏中的问题求解方法</vt:lpstr>
      <vt:lpstr>折半查找</vt:lpstr>
      <vt:lpstr>折半查找原理</vt:lpstr>
      <vt:lpstr>折半查找原理</vt:lpstr>
      <vt:lpstr>2.2  线性表的顺序存储和实现</vt:lpstr>
      <vt:lpstr>PowerPoint 演示文稿</vt:lpstr>
      <vt:lpstr>并非吹毛求疵，鸡蛋里挑骨头</vt:lpstr>
      <vt:lpstr>PowerPoint 演示文稿</vt:lpstr>
      <vt:lpstr>例2：一维数组的元素修改</vt:lpstr>
      <vt:lpstr>场景一、在给定位置插入和删除</vt:lpstr>
      <vt:lpstr>PowerPoint 演示文稿</vt:lpstr>
      <vt:lpstr>场景一、在给定位置插入和删除</vt:lpstr>
      <vt:lpstr>PowerPoint 演示文稿</vt:lpstr>
      <vt:lpstr>场景二、无序数组插入和删除</vt:lpstr>
      <vt:lpstr>PowerPoint 演示文稿</vt:lpstr>
      <vt:lpstr>场景二、无序数组插入和删除</vt:lpstr>
      <vt:lpstr>PowerPoint 演示文稿</vt:lpstr>
      <vt:lpstr>PowerPoint 演示文稿</vt:lpstr>
      <vt:lpstr>场景三、在有序数组插入和删除</vt:lpstr>
      <vt:lpstr>PowerPoint 演示文稿</vt:lpstr>
      <vt:lpstr>PowerPoint 演示文稿</vt:lpstr>
      <vt:lpstr>场景三、在有序数组插入和删除</vt:lpstr>
      <vt:lpstr>PowerPoint 演示文稿</vt:lpstr>
      <vt:lpstr>PowerPoint 演示文稿</vt:lpstr>
      <vt:lpstr>例2：一维数组的元素修改——复杂度分析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Microsoft Office User</cp:lastModifiedBy>
  <cp:revision>112</cp:revision>
  <dcterms:created xsi:type="dcterms:W3CDTF">2025-11-18T11:43:35Z</dcterms:created>
  <dcterms:modified xsi:type="dcterms:W3CDTF">2025-11-20T10:24:13Z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6CB178902C28D2D562793567421FEE83_42</vt:lpwstr>
  </property>
  <property fmtid="{D5CDD505-2E9C-101B-9397-08002B2CF9AE}" pid="3" name="KSOProductBuildVer">
    <vt:lpwstr>2052-12.1.22522.22522</vt:lpwstr>
  </property>
</Properties>
</file>