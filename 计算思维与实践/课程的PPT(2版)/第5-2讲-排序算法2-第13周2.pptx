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1"/>
  </p:notesMasterIdLst>
  <p:handoutMasterIdLst>
    <p:handoutMasterId r:id="rId32"/>
  </p:handoutMasterIdLst>
  <p:sldIdLst>
    <p:sldId id="675" r:id="rId2"/>
    <p:sldId id="676" r:id="rId3"/>
    <p:sldId id="677" r:id="rId4"/>
    <p:sldId id="678" r:id="rId5"/>
    <p:sldId id="679" r:id="rId6"/>
    <p:sldId id="688" r:id="rId7"/>
    <p:sldId id="680" r:id="rId8"/>
    <p:sldId id="549" r:id="rId9"/>
    <p:sldId id="550" r:id="rId10"/>
    <p:sldId id="551" r:id="rId11"/>
    <p:sldId id="552" r:id="rId12"/>
    <p:sldId id="536" r:id="rId13"/>
    <p:sldId id="553" r:id="rId14"/>
    <p:sldId id="682" r:id="rId15"/>
    <p:sldId id="683" r:id="rId16"/>
    <p:sldId id="684" r:id="rId17"/>
    <p:sldId id="685" r:id="rId18"/>
    <p:sldId id="686" r:id="rId19"/>
    <p:sldId id="687" r:id="rId20"/>
    <p:sldId id="665" r:id="rId21"/>
    <p:sldId id="666" r:id="rId22"/>
    <p:sldId id="667" r:id="rId23"/>
    <p:sldId id="673" r:id="rId24"/>
    <p:sldId id="668" r:id="rId25"/>
    <p:sldId id="669" r:id="rId26"/>
    <p:sldId id="672" r:id="rId27"/>
    <p:sldId id="326" r:id="rId28"/>
    <p:sldId id="710" r:id="rId29"/>
    <p:sldId id="711" r:id="rId30"/>
  </p:sldIdLst>
  <p:sldSz cx="12192000" cy="6858000"/>
  <p:notesSz cx="6858000" cy="9144000"/>
  <p:embeddedFontLst>
    <p:embeddedFont>
      <p:font typeface="等线" panose="02010600030101010101" pitchFamily="2" charset="-122"/>
      <p:regular r:id="rId33"/>
      <p:bold r:id="rId34"/>
    </p:embeddedFont>
    <p:embeddedFont>
      <p:font typeface="黑体" panose="02010609060101010101" pitchFamily="49" charset="-122"/>
      <p:regular r:id="rId35"/>
    </p:embeddedFont>
    <p:embeddedFont>
      <p:font typeface="华文行楷" panose="02010800040101010101" pitchFamily="2" charset="-122"/>
      <p:regular r:id="rId36"/>
    </p:embeddedFont>
    <p:embeddedFont>
      <p:font typeface="华文中宋" panose="02010600040101010101" pitchFamily="2" charset="-122"/>
      <p:regular r:id="rId37"/>
    </p:embeddedFont>
    <p:embeddedFont>
      <p:font typeface="Calibri" panose="020F0502020204030204" pitchFamily="34" charset="0"/>
      <p:regular r:id="rId38"/>
      <p:bold r:id="rId39"/>
      <p:italic r:id="rId40"/>
      <p:boldItalic r:id="rId41"/>
    </p:embeddedFont>
    <p:embeddedFont>
      <p:font typeface="Cambria Math" panose="02040503050406030204" pitchFamily="18" charset="0"/>
      <p:regular r:id="rId42"/>
    </p:embeddedFont>
    <p:embeddedFont>
      <p:font typeface="DejaVu Math TeX Gyre" panose="02000503000000000000" pitchFamily="2" charset="0"/>
      <p:regular r:id="rId43"/>
    </p:embeddedFont>
    <p:embeddedFont>
      <p:font typeface="Monotype Sorts" pitchFamily="2" charset="2"/>
      <p:regular r:id="rId44"/>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4" userDrawn="1">
          <p15:clr>
            <a:srgbClr val="A4A3A4"/>
          </p15:clr>
        </p15:guide>
        <p15:guide id="2" pos="37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3300"/>
    <a:srgbClr val="840C26"/>
    <a:srgbClr val="FF7D27"/>
    <a:srgbClr val="1B06BA"/>
    <a:srgbClr val="1801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77593" autoAdjust="0"/>
  </p:normalViewPr>
  <p:slideViewPr>
    <p:cSldViewPr showGuides="1">
      <p:cViewPr varScale="1">
        <p:scale>
          <a:sx n="96" d="100"/>
          <a:sy n="96" d="100"/>
        </p:scale>
        <p:origin x="1352" y="168"/>
      </p:cViewPr>
      <p:guideLst>
        <p:guide orient="horz" pos="2174"/>
        <p:guide pos="3768"/>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9.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zh-CN" altLang="en-US"/>
              <a:t>第</a:t>
            </a:r>
            <a:r>
              <a:rPr lang="en-US" altLang="zh-CN"/>
              <a:t>1</a:t>
            </a:r>
            <a:r>
              <a:rPr lang="zh-CN" altLang="en-US"/>
              <a:t>章 绪论</a:t>
            </a: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24B3334-8B19-41FD-BA5B-2CDDAB13B5AB}" type="datetimeFigureOut">
              <a:rPr lang="zh-CN" altLang="en-US" smtClean="0"/>
              <a:t>2025/11/27</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F5231CD-A0B8-4499-BF13-ACF9615008C5}"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zh-CN" altLang="en-US"/>
              <a:t>第</a:t>
            </a:r>
            <a:r>
              <a:rPr lang="en-US" altLang="zh-CN"/>
              <a:t>1</a:t>
            </a:r>
            <a:r>
              <a:rPr lang="zh-CN" altLang="en-US"/>
              <a:t>章 绪论</a:t>
            </a: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1426617-0DE9-4FCC-BA51-2984BBE67358}" type="datetimeFigureOut">
              <a:rPr lang="zh-CN" altLang="en-US" smtClean="0"/>
              <a:t>2025/11/27</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73ADF5C-0B53-4BD5-BF19-A16D1C70E8AA}"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Rot="1" noChangeAspect="1" noChangeArrowheads="1" noTextEdit="1"/>
          </p:cNvSpPr>
          <p:nvPr>
            <p:ph type="sldImg"/>
          </p:nvPr>
        </p:nvSpPr>
        <p:spPr>
          <a:xfrm>
            <a:off x="88900" y="739775"/>
            <a:ext cx="6580188" cy="3702050"/>
          </a:xfrm>
        </p:spPr>
      </p:sp>
      <p:sp>
        <p:nvSpPr>
          <p:cNvPr id="12291" name="Rectangle 3"/>
          <p:cNvSpPr>
            <a:spLocks noGrp="1" noChangeArrowheads="1"/>
          </p:cNvSpPr>
          <p:nvPr>
            <p:ph type="body" idx="1"/>
          </p:nvPr>
        </p:nvSpPr>
        <p:spPr>
          <a:xfrm>
            <a:off x="677863" y="4686300"/>
            <a:ext cx="5405437" cy="4440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800" kern="100" dirty="0">
              <a:effectLst/>
              <a:latin typeface="等线" panose="02010600030101010101" pitchFamily="2" charset="-122"/>
              <a:ea typeface="等线" panose="02010600030101010101" pitchFamily="2" charset="-122"/>
              <a:cs typeface="Times New Roman" panose="0202050305040509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dirty="0">
                <a:effectLst/>
                <a:ea typeface="等线" panose="02010600030101010101" pitchFamily="2" charset="-122"/>
                <a:cs typeface="Times New Roman" panose="02020503050405090304" pitchFamily="18" charset="0"/>
              </a:rPr>
              <a:t>比如它前面有</a:t>
            </a:r>
            <a:r>
              <a:rPr lang="en-US" altLang="zh-CN" sz="1800" dirty="0">
                <a:effectLst/>
                <a:ea typeface="等线" panose="02010600030101010101" pitchFamily="2" charset="-122"/>
                <a:cs typeface="Times New Roman" panose="02020503050405090304" pitchFamily="18" charset="0"/>
              </a:rPr>
              <a:t>k</a:t>
            </a:r>
            <a:r>
              <a:rPr lang="zh-CN" altLang="zh-CN" sz="1800" dirty="0">
                <a:effectLst/>
                <a:ea typeface="等线" panose="02010600030101010101" pitchFamily="2" charset="-122"/>
                <a:cs typeface="Times New Roman" panose="02020503050405090304" pitchFamily="18" charset="0"/>
              </a:rPr>
              <a:t>个元素，那么它就排在有序数组下标为</a:t>
            </a:r>
            <a:r>
              <a:rPr lang="en-US" altLang="zh-CN" sz="1800" dirty="0">
                <a:effectLst/>
                <a:ea typeface="等线" panose="02010600030101010101" pitchFamily="2" charset="-122"/>
                <a:cs typeface="Times New Roman" panose="02020503050405090304" pitchFamily="18" charset="0"/>
              </a:rPr>
              <a:t>k</a:t>
            </a:r>
            <a:r>
              <a:rPr lang="zh-CN" altLang="zh-CN" sz="1800" dirty="0">
                <a:effectLst/>
                <a:ea typeface="等线" panose="02010600030101010101" pitchFamily="2" charset="-122"/>
                <a:cs typeface="Times New Roman" panose="02020503050405090304" pitchFamily="18" charset="0"/>
              </a:rPr>
              <a:t>的位置。</a:t>
            </a:r>
            <a:endParaRPr lang="en-US" altLang="zh-CN" sz="1800" dirty="0">
              <a:effectLst/>
              <a:ea typeface="等线" panose="02010600030101010101" pitchFamily="2" charset="-122"/>
              <a:cs typeface="Times New Roman" panose="0202050305040509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dirty="0">
                <a:effectLst/>
                <a:ea typeface="等线" panose="02010600030101010101" pitchFamily="2" charset="-122"/>
                <a:cs typeface="Times New Roman" panose="02020503050405090304" pitchFamily="18" charset="0"/>
              </a:rPr>
              <a:t>这样做有什么好处呢？</a:t>
            </a:r>
            <a:endParaRPr lang="en-US" altLang="zh-CN" sz="1800" kern="100" dirty="0">
              <a:effectLst/>
              <a:latin typeface="等线" panose="02010600030101010101" pitchFamily="2" charset="-122"/>
              <a:ea typeface="等线" panose="02010600030101010101" pitchFamily="2" charset="-122"/>
              <a:cs typeface="Times New Roman" panose="0202050305040509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dirty="0">
                <a:effectLst/>
                <a:ea typeface="等线" panose="02010600030101010101" pitchFamily="2" charset="-122"/>
                <a:cs typeface="Times New Roman" panose="02020503050405090304" pitchFamily="18" charset="0"/>
              </a:rPr>
              <a:t>这个绿块确定后，我们可以发现，剩余的无序元素被分成了两块，我们对这些元素进行遍历，让其变得有序的时候遍历的空间变成了一半，这个就跟我们的折半查找很像了。</a:t>
            </a:r>
            <a:endParaRPr lang="zh-CN" altLang="en-US" sz="2800"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800" kern="100" dirty="0">
              <a:effectLst/>
              <a:latin typeface="等线" panose="02010600030101010101" pitchFamily="2" charset="-122"/>
              <a:ea typeface="等线" panose="02010600030101010101" pitchFamily="2" charset="-122"/>
              <a:cs typeface="Times New Roman" panose="0202050305040509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kern="100" dirty="0">
                <a:effectLst/>
                <a:latin typeface="等线" panose="02010600030101010101" pitchFamily="2" charset="-122"/>
                <a:ea typeface="等线" panose="02010600030101010101" pitchFamily="2" charset="-122"/>
                <a:cs typeface="Times New Roman" panose="02020503050405090304" pitchFamily="18" charset="0"/>
              </a:rPr>
              <a:t>但是，这里有一个问题。如何恰好找到一个元素，让这个元素把无序区间分成数量相等的两份，一份都比这个元素大，一份都比这个元素小。这个问题相当复杂，当前阶段我们能想到的办法，就是对这个无序数组排个序，取中间的那个元素。但是，这样就本末倒置了。我们想要加速排序算法，结果要先排个序来确定一个有序元素。那么，寻找这样的元素有没有其他办法。其实是有的，这个问题的简化版本就是中位数问题，大家后面学习数据结构和算法的时候还会碰到这个问题，到时候大家再深入探究。</a:t>
            </a:r>
          </a:p>
          <a:p>
            <a:endParaRPr lang="zh-CN" altLang="en-US" dirty="0"/>
          </a:p>
          <a:p>
            <a:r>
              <a:rPr lang="zh-CN" altLang="en-US" dirty="0"/>
              <a:t>那既然很难在O（n）的时间内找到理想元素来划分区间，那我们能不能退而求其次。随便找个元素来做这件事呢。其实是可以的，我们的快排就是这样做的。选择哪个元素呢，我们可以直接选择，无序区间的第一个元素，用它来做我们的基准元素。通过移动，把它放到排序后它应该在的位置，然后它左侧的元素都比它小，右侧元素都比它大。这样，我们就完成了一次迭代。让一个元素变得有序了。后面我们可以用递归的思想，分别对左侧无序区间和右侧无序区间进行同样的递归操作。直到每个区间只有一个元素的时候终止。</a:t>
            </a:r>
          </a:p>
        </p:txBody>
      </p:sp>
      <p:sp>
        <p:nvSpPr>
          <p:cNvPr id="4" name="页眉占位符 3"/>
          <p:cNvSpPr>
            <a:spLocks noGrp="1"/>
          </p:cNvSpPr>
          <p:nvPr>
            <p:ph type="hdr" sz="quarter"/>
          </p:nvPr>
        </p:nvSpPr>
        <p:spPr/>
        <p:txBody>
          <a:bodyPr/>
          <a:lstStyle/>
          <a:p>
            <a:r>
              <a:rPr lang="zh-CN" altLang="en-US"/>
              <a:t>第</a:t>
            </a:r>
            <a:r>
              <a:rPr lang="en-US" altLang="zh-CN"/>
              <a:t>1</a:t>
            </a:r>
            <a:r>
              <a:rPr lang="zh-CN" altLang="en-US"/>
              <a:t>章 绪论</a:t>
            </a:r>
          </a:p>
        </p:txBody>
      </p:sp>
      <p:sp>
        <p:nvSpPr>
          <p:cNvPr id="5" name="页脚占位符 4"/>
          <p:cNvSpPr>
            <a:spLocks noGrp="1"/>
          </p:cNvSpPr>
          <p:nvPr>
            <p:ph type="ftr" sz="quarter" idx="4"/>
          </p:nvPr>
        </p:nvSpPr>
        <p:spPr/>
        <p:txBody>
          <a:bodyPr/>
          <a:lstStyle/>
          <a:p>
            <a:endParaRPr lang="zh-CN" altLang="en-US"/>
          </a:p>
        </p:txBody>
      </p:sp>
      <p:sp>
        <p:nvSpPr>
          <p:cNvPr id="6" name="灯片编号占位符 5"/>
          <p:cNvSpPr>
            <a:spLocks noGrp="1"/>
          </p:cNvSpPr>
          <p:nvPr>
            <p:ph type="sldNum" sz="quarter" idx="5"/>
          </p:nvPr>
        </p:nvSpPr>
        <p:spPr/>
        <p:txBody>
          <a:bodyPr/>
          <a:lstStyle/>
          <a:p>
            <a:fld id="{D73ADF5C-0B53-4BD5-BF19-A16D1C70E8AA}" type="slidenum">
              <a:rPr lang="zh-CN" altLang="en-US" smtClean="0"/>
              <a:t>7</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好，思想很简单。难点在哪？怎么操作能把这个基准元素放到它应该在的位置，使得它左侧的元素都不大于它，它右侧的元素都不小于它呢？这里呢，我们给大家介绍一种方法。</a:t>
            </a:r>
          </a:p>
          <a:p>
            <a:r>
              <a:rPr lang="zh-CN" altLang="en-US" dirty="0"/>
              <a:t>由于我们选择最左侧的元素作为基准，刚开始基准在最左侧。从最右侧开始找比基准小的元素，这个元素在基准右侧但是比基准小，不合理。为了让它变得合理，我们把它和基准换一下。然后，我们再从左侧找，找到第一个比基准大的元素，这个元素比基准大且再基准左侧，也不合理。我们再次将其与基准交换。然后，我们再取右边找不合理元素与基准交换，之前已经找过的区域可以排除，不重复找。然后左右交替寻找不合理的元素与基准交换，直到左侧遍历的下标跟右侧的下标相遇。这时候我们就成功把基准移动到了它应该在的位置。具体</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8</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通常可选第一个记录作为枢轴；</a:t>
            </a:r>
            <a:endParaRPr lang="en-US" altLang="zh-CN" dirty="0"/>
          </a:p>
          <a:p>
            <a:r>
              <a:rPr lang="zh-CN" altLang="en-US" dirty="0"/>
              <a:t>可以不用交换</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9</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数组实现方法；</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10</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11</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一趟排序，一次划分。。。</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12</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递归调用，多次划分</a:t>
            </a:r>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13</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p:nvPr>
        </p:nvSpPr>
        <p:spPr/>
        <p:txBody>
          <a:bodyPr/>
          <a:lstStyle/>
          <a:p>
            <a:r>
              <a:rPr lang="zh-CN" altLang="en-US"/>
              <a:t>第</a:t>
            </a:r>
            <a:r>
              <a:rPr lang="en-US" altLang="zh-CN"/>
              <a:t>1</a:t>
            </a:r>
            <a:r>
              <a:rPr lang="zh-CN" altLang="en-US"/>
              <a:t>章 绪论</a:t>
            </a:r>
          </a:p>
        </p:txBody>
      </p:sp>
      <p:sp>
        <p:nvSpPr>
          <p:cNvPr id="5" name="页脚占位符 4"/>
          <p:cNvSpPr>
            <a:spLocks noGrp="1"/>
          </p:cNvSpPr>
          <p:nvPr>
            <p:ph type="ftr" sz="quarter" idx="4"/>
          </p:nvPr>
        </p:nvSpPr>
        <p:spPr/>
        <p:txBody>
          <a:bodyPr/>
          <a:lstStyle/>
          <a:p>
            <a:endParaRPr lang="zh-CN" altLang="en-US"/>
          </a:p>
        </p:txBody>
      </p:sp>
      <p:sp>
        <p:nvSpPr>
          <p:cNvPr id="6" name="灯片编号占位符 5"/>
          <p:cNvSpPr>
            <a:spLocks noGrp="1"/>
          </p:cNvSpPr>
          <p:nvPr>
            <p:ph type="sldNum" sz="quarter" idx="5"/>
          </p:nvPr>
        </p:nvSpPr>
        <p:spPr/>
        <p:txBody>
          <a:bodyPr/>
          <a:lstStyle/>
          <a:p>
            <a:fld id="{D73ADF5C-0B53-4BD5-BF19-A16D1C70E8AA}" type="slidenum">
              <a:rPr lang="zh-CN" altLang="en-US" smtClean="0"/>
              <a:t>16</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现在我们来计算</a:t>
            </a:r>
            <a:r>
              <a:rPr lang="en-US" altLang="zh-CN" sz="1200" b="0" i="0" kern="1200" dirty="0">
                <a:solidFill>
                  <a:schemeClr val="tx1"/>
                </a:solidFill>
                <a:effectLst/>
                <a:latin typeface="+mn-lt"/>
                <a:ea typeface="+mn-ea"/>
                <a:cs typeface="+mn-cs"/>
              </a:rPr>
              <a:t>X</a:t>
            </a:r>
            <a:r>
              <a:rPr lang="zh-CN" altLang="en-US" sz="1200" b="0" i="0" kern="1200" dirty="0">
                <a:solidFill>
                  <a:schemeClr val="tx1"/>
                </a:solidFill>
                <a:effectLst/>
                <a:latin typeface="+mn-lt"/>
                <a:ea typeface="+mn-ea"/>
                <a:cs typeface="+mn-cs"/>
              </a:rPr>
              <a:t>的期望。对于每个可能的划分，我们都可以计算出其对应的划分深度，然后计算所有这些划分深度与其对应的概率的乘积之和，这就是</a:t>
            </a:r>
            <a:r>
              <a:rPr lang="en-US" altLang="zh-CN" sz="1200" b="0" i="0" kern="1200" dirty="0">
                <a:solidFill>
                  <a:schemeClr val="tx1"/>
                </a:solidFill>
                <a:effectLst/>
                <a:latin typeface="+mn-lt"/>
                <a:ea typeface="+mn-ea"/>
                <a:cs typeface="+mn-cs"/>
              </a:rPr>
              <a:t>X</a:t>
            </a:r>
            <a:r>
              <a:rPr lang="zh-CN" altLang="en-US" sz="1200" b="0" i="0" kern="1200" dirty="0">
                <a:solidFill>
                  <a:schemeClr val="tx1"/>
                </a:solidFill>
                <a:effectLst/>
                <a:latin typeface="+mn-lt"/>
                <a:ea typeface="+mn-ea"/>
                <a:cs typeface="+mn-cs"/>
              </a:rPr>
              <a:t>的期望。</a:t>
            </a:r>
            <a:endParaRPr lang="zh-CN" altLang="en-US" dirty="0"/>
          </a:p>
        </p:txBody>
      </p:sp>
      <p:sp>
        <p:nvSpPr>
          <p:cNvPr id="4" name="页眉占位符 3"/>
          <p:cNvSpPr>
            <a:spLocks noGrp="1"/>
          </p:cNvSpPr>
          <p:nvPr>
            <p:ph type="hdr" sz="quarter" idx="10"/>
          </p:nvPr>
        </p:nvSpPr>
        <p:spPr/>
        <p:txBody>
          <a:bodyPr/>
          <a:lstStyle/>
          <a:p>
            <a:r>
              <a:rPr lang="zh-CN" altLang="en-US"/>
              <a:t>第</a:t>
            </a:r>
            <a:r>
              <a:rPr lang="en-US" altLang="zh-CN"/>
              <a:t>1</a:t>
            </a:r>
            <a:r>
              <a:rPr lang="zh-CN" altLang="en-US"/>
              <a:t>章 绪论</a:t>
            </a:r>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73ADF5C-0B53-4BD5-BF19-A16D1C70E8AA}" type="slidenum">
              <a:rPr lang="zh-CN" altLang="en-US" smtClean="0"/>
              <a:t>21</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D73ADF5C-0B53-4BD5-BF19-A16D1C70E8AA}" type="slidenum">
              <a:rPr lang="zh-CN" altLang="en-US">
                <a:solidFill>
                  <a:prstClr val="black"/>
                </a:solidFill>
              </a:rPr>
              <a:t>27</a:t>
            </a:fld>
            <a:endParaRPr lang="zh-CN" altLang="en-US">
              <a:solidFill>
                <a:prstClr val="black"/>
              </a:solidFill>
            </a:endParaRPr>
          </a:p>
        </p:txBody>
      </p:sp>
      <p:sp>
        <p:nvSpPr>
          <p:cNvPr id="5" name="页脚占位符 4"/>
          <p:cNvSpPr>
            <a:spLocks noGrp="1"/>
          </p:cNvSpPr>
          <p:nvPr>
            <p:ph type="ftr" sz="quarter" idx="11"/>
          </p:nvPr>
        </p:nvSpPr>
        <p:spPr/>
        <p:txBody>
          <a:bodyPr/>
          <a:lstStyle/>
          <a:p>
            <a:endParaRPr lang="zh-CN" altLang="en-US">
              <a:solidFill>
                <a:prstClr val="black"/>
              </a:solidFill>
            </a:endParaRPr>
          </a:p>
        </p:txBody>
      </p:sp>
      <p:sp>
        <p:nvSpPr>
          <p:cNvPr id="6" name="页眉占位符 5"/>
          <p:cNvSpPr>
            <a:spLocks noGrp="1"/>
          </p:cNvSpPr>
          <p:nvPr>
            <p:ph type="hdr" sz="quarter" idx="12"/>
          </p:nvPr>
        </p:nvSpPr>
        <p:spPr/>
        <p:txBody>
          <a:bodyPr/>
          <a:lstStyle/>
          <a:p>
            <a:r>
              <a:rPr lang="zh-CN" altLang="en-US">
                <a:solidFill>
                  <a:prstClr val="black"/>
                </a:solidFill>
              </a:rPr>
              <a:t>第</a:t>
            </a:r>
            <a:r>
              <a:rPr lang="en-US" altLang="zh-CN">
                <a:solidFill>
                  <a:prstClr val="black"/>
                </a:solidFill>
              </a:rPr>
              <a:t>1</a:t>
            </a:r>
            <a:r>
              <a:rPr lang="zh-CN" altLang="en-US">
                <a:solidFill>
                  <a:prstClr val="black"/>
                </a:solidFill>
              </a:rPr>
              <a:t>章 绪论</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这里</a:t>
            </a:r>
            <a:r>
              <a:rPr kumimoji="1" lang="en-US" altLang="zh-CN" dirty="0"/>
              <a:t>Status</a:t>
            </a:r>
            <a:r>
              <a:rPr kumimoji="1" lang="zh-CN" altLang="en-US" dirty="0"/>
              <a:t> 是一个预定义的枚举类型，包括</a:t>
            </a:r>
            <a:r>
              <a:rPr kumimoji="1" lang="en-US" altLang="zh-CN" dirty="0"/>
              <a:t>{OK,</a:t>
            </a:r>
            <a:r>
              <a:rPr kumimoji="1" lang="zh-CN" altLang="en-US" dirty="0"/>
              <a:t> </a:t>
            </a:r>
            <a:r>
              <a:rPr kumimoji="1" lang="en-US" altLang="zh-CN" dirty="0"/>
              <a:t>ERROR}</a:t>
            </a:r>
            <a:r>
              <a:rPr kumimoji="1" lang="zh-CN" altLang="en-US" dirty="0"/>
              <a:t>等项</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111111"/>
                </a:solidFill>
                <a:effectLst/>
                <a:latin typeface="Arial" panose="020B0604020202090204" pitchFamily="34" charset="0"/>
              </a:rPr>
              <a:t>在</a:t>
            </a:r>
            <a:r>
              <a:rPr lang="en-US" altLang="zh-CN" b="0" i="0" dirty="0">
                <a:solidFill>
                  <a:srgbClr val="111111"/>
                </a:solidFill>
                <a:effectLst/>
                <a:latin typeface="Arial" panose="020B0604020202090204" pitchFamily="34" charset="0"/>
              </a:rPr>
              <a:t>C</a:t>
            </a:r>
            <a:r>
              <a:rPr lang="zh-CN" altLang="en-US" b="0" i="0" dirty="0">
                <a:solidFill>
                  <a:srgbClr val="111111"/>
                </a:solidFill>
                <a:effectLst/>
                <a:latin typeface="Arial" panose="020B0604020202090204" pitchFamily="34" charset="0"/>
              </a:rPr>
              <a:t>语言中，指针减法是一种计算两个指针之间差异的操作，这种差异是以它们所指向的元素类型的大小为单位的。当两个相同类型的指针进行减法操作时，结果表示它们之间相隔的元素数量，而不是字节数。这种操作通常用于确定数组中两个元素之间的距离。</a:t>
            </a:r>
            <a:endParaRPr lang="en-US" altLang="zh-CN" b="0" i="0" dirty="0">
              <a:solidFill>
                <a:srgbClr val="111111"/>
              </a:solidFill>
              <a:effectLst/>
              <a:latin typeface="Arial" panose="020B0604020202090204" pitchFamily="34" charset="0"/>
            </a:endParaRPr>
          </a:p>
          <a:p>
            <a:endParaRPr kumimoji="1" lang="en-US" altLang="zh-CN" b="0" i="0" dirty="0">
              <a:solidFill>
                <a:srgbClr val="111111"/>
              </a:solidFill>
              <a:effectLst/>
              <a:latin typeface="Arial" panose="020B0604020202090204" pitchFamily="34" charset="0"/>
            </a:endParaRPr>
          </a:p>
          <a:p>
            <a:pPr algn="l" latinLnBrk="1">
              <a:buFont typeface="Arial" panose="020B0604020202090204" pitchFamily="34" charset="0"/>
              <a:buChar char="•"/>
            </a:pPr>
            <a:r>
              <a:rPr lang="en-US" altLang="zh-CN" b="0" i="0" dirty="0" err="1">
                <a:solidFill>
                  <a:srgbClr val="333333"/>
                </a:solidFill>
                <a:effectLst/>
                <a:latin typeface="Helvetica Neue" panose="02000503000000020004" charset="0"/>
              </a:rPr>
              <a:t>realloc</a:t>
            </a:r>
            <a:r>
              <a:rPr lang="en-US" altLang="zh-CN" b="0" i="0" dirty="0">
                <a:solidFill>
                  <a:srgbClr val="333333"/>
                </a:solidFill>
                <a:effectLst/>
                <a:latin typeface="Helvetica Neue" panose="02000503000000020004" charset="0"/>
              </a:rPr>
              <a:t>() </a:t>
            </a:r>
            <a:r>
              <a:rPr lang="zh-CN" altLang="en-US" b="0" i="0" dirty="0">
                <a:solidFill>
                  <a:srgbClr val="333333"/>
                </a:solidFill>
                <a:effectLst/>
                <a:latin typeface="Helvetica Neue" panose="02000503000000020004" charset="0"/>
              </a:rPr>
              <a:t>可能会将内存块移动到新的位置（如果在原位置没有足够的空间容纳新的大小）。如果移动成功，</a:t>
            </a:r>
            <a:r>
              <a:rPr lang="en-US" altLang="zh-CN" b="0" i="0" dirty="0" err="1">
                <a:solidFill>
                  <a:srgbClr val="333333"/>
                </a:solidFill>
                <a:effectLst/>
                <a:latin typeface="Helvetica Neue" panose="02000503000000020004" charset="0"/>
              </a:rPr>
              <a:t>ptr</a:t>
            </a:r>
            <a:r>
              <a:rPr lang="en-US" altLang="zh-CN" b="0" i="0" dirty="0">
                <a:solidFill>
                  <a:srgbClr val="333333"/>
                </a:solidFill>
                <a:effectLst/>
                <a:latin typeface="Helvetica Neue" panose="02000503000000020004" charset="0"/>
              </a:rPr>
              <a:t> </a:t>
            </a:r>
            <a:r>
              <a:rPr lang="zh-CN" altLang="en-US" b="0" i="0" dirty="0">
                <a:solidFill>
                  <a:srgbClr val="333333"/>
                </a:solidFill>
                <a:effectLst/>
                <a:latin typeface="Helvetica Neue" panose="02000503000000020004" charset="0"/>
              </a:rPr>
              <a:t>会指向新位置。需要特别注意，旧的 </a:t>
            </a:r>
            <a:r>
              <a:rPr lang="en-US" altLang="zh-CN" b="0" i="0" dirty="0" err="1">
                <a:solidFill>
                  <a:srgbClr val="333333"/>
                </a:solidFill>
                <a:effectLst/>
                <a:latin typeface="Helvetica Neue" panose="02000503000000020004" charset="0"/>
              </a:rPr>
              <a:t>ptr</a:t>
            </a:r>
            <a:r>
              <a:rPr lang="en-US" altLang="zh-CN" b="0" i="0" dirty="0">
                <a:solidFill>
                  <a:srgbClr val="333333"/>
                </a:solidFill>
                <a:effectLst/>
                <a:latin typeface="Helvetica Neue" panose="02000503000000020004" charset="0"/>
              </a:rPr>
              <a:t> </a:t>
            </a:r>
            <a:r>
              <a:rPr lang="zh-CN" altLang="en-US" b="0" i="0" dirty="0">
                <a:solidFill>
                  <a:srgbClr val="333333"/>
                </a:solidFill>
                <a:effectLst/>
                <a:latin typeface="Helvetica Neue" panose="02000503000000020004" charset="0"/>
              </a:rPr>
              <a:t>指针需要被更新为 </a:t>
            </a:r>
            <a:r>
              <a:rPr lang="en-US" altLang="zh-CN" b="0" i="0" dirty="0" err="1">
                <a:solidFill>
                  <a:srgbClr val="333333"/>
                </a:solidFill>
                <a:effectLst/>
                <a:latin typeface="Helvetica Neue" panose="02000503000000020004" charset="0"/>
              </a:rPr>
              <a:t>realloc</a:t>
            </a:r>
            <a:r>
              <a:rPr lang="en-US" altLang="zh-CN" b="0" i="0" dirty="0">
                <a:solidFill>
                  <a:srgbClr val="333333"/>
                </a:solidFill>
                <a:effectLst/>
                <a:latin typeface="Helvetica Neue" panose="02000503000000020004" charset="0"/>
              </a:rPr>
              <a:t>() </a:t>
            </a:r>
            <a:r>
              <a:rPr lang="zh-CN" altLang="en-US" b="0" i="0" dirty="0">
                <a:solidFill>
                  <a:srgbClr val="333333"/>
                </a:solidFill>
                <a:effectLst/>
                <a:latin typeface="Helvetica Neue" panose="02000503000000020004" charset="0"/>
              </a:rPr>
              <a:t>返回的新地址。</a:t>
            </a:r>
          </a:p>
          <a:p>
            <a:pPr algn="l" latinLnBrk="1">
              <a:buFont typeface="Arial" panose="020B0604020202090204" pitchFamily="34" charset="0"/>
              <a:buChar char="•"/>
            </a:pPr>
            <a:r>
              <a:rPr lang="zh-CN" altLang="en-US" b="0" i="0" dirty="0">
                <a:solidFill>
                  <a:srgbClr val="333333"/>
                </a:solidFill>
                <a:effectLst/>
                <a:latin typeface="Helvetica Neue" panose="02000503000000020004" charset="0"/>
              </a:rPr>
              <a:t>如果内存分配失败，</a:t>
            </a:r>
            <a:r>
              <a:rPr lang="en-US" altLang="zh-CN" b="0" i="0" dirty="0" err="1">
                <a:solidFill>
                  <a:srgbClr val="333333"/>
                </a:solidFill>
                <a:effectLst/>
                <a:latin typeface="Helvetica Neue" panose="02000503000000020004" charset="0"/>
              </a:rPr>
              <a:t>realloc</a:t>
            </a:r>
            <a:r>
              <a:rPr lang="en-US" altLang="zh-CN" b="0" i="0" dirty="0">
                <a:solidFill>
                  <a:srgbClr val="333333"/>
                </a:solidFill>
                <a:effectLst/>
                <a:latin typeface="Helvetica Neue" panose="02000503000000020004" charset="0"/>
              </a:rPr>
              <a:t>() </a:t>
            </a:r>
            <a:r>
              <a:rPr lang="zh-CN" altLang="en-US" b="0" i="0" dirty="0">
                <a:solidFill>
                  <a:srgbClr val="333333"/>
                </a:solidFill>
                <a:effectLst/>
                <a:latin typeface="Helvetica Neue" panose="02000503000000020004" charset="0"/>
              </a:rPr>
              <a:t>返回 </a:t>
            </a:r>
            <a:r>
              <a:rPr lang="en-US" altLang="zh-CN" b="0" i="0" dirty="0">
                <a:solidFill>
                  <a:srgbClr val="333333"/>
                </a:solidFill>
                <a:effectLst/>
                <a:latin typeface="Helvetica Neue" panose="02000503000000020004" charset="0"/>
              </a:rPr>
              <a:t>NULL</a:t>
            </a:r>
            <a:r>
              <a:rPr lang="zh-CN" altLang="en-US" b="0" i="0" dirty="0">
                <a:solidFill>
                  <a:srgbClr val="333333"/>
                </a:solidFill>
                <a:effectLst/>
                <a:latin typeface="Helvetica Neue" panose="02000503000000020004" charset="0"/>
              </a:rPr>
              <a:t>，而原始的内存块不会被释放。为避免内存泄漏，应该使用一个临时指针来接收 </a:t>
            </a:r>
            <a:r>
              <a:rPr lang="en-US" altLang="zh-CN" b="0" i="0" dirty="0" err="1">
                <a:solidFill>
                  <a:srgbClr val="333333"/>
                </a:solidFill>
                <a:effectLst/>
                <a:latin typeface="Helvetica Neue" panose="02000503000000020004" charset="0"/>
              </a:rPr>
              <a:t>realloc</a:t>
            </a:r>
            <a:r>
              <a:rPr lang="en-US" altLang="zh-CN" b="0" i="0" dirty="0">
                <a:solidFill>
                  <a:srgbClr val="333333"/>
                </a:solidFill>
                <a:effectLst/>
                <a:latin typeface="Helvetica Neue" panose="02000503000000020004" charset="0"/>
              </a:rPr>
              <a:t>() </a:t>
            </a:r>
            <a:r>
              <a:rPr lang="zh-CN" altLang="en-US" b="0" i="0" dirty="0">
                <a:solidFill>
                  <a:srgbClr val="333333"/>
                </a:solidFill>
                <a:effectLst/>
                <a:latin typeface="Helvetica Neue" panose="02000503000000020004" charset="0"/>
              </a:rPr>
              <a:t>的返回值，并检查是否为 </a:t>
            </a:r>
            <a:r>
              <a:rPr lang="en-US" altLang="zh-CN" b="0" i="0" dirty="0">
                <a:solidFill>
                  <a:srgbClr val="333333"/>
                </a:solidFill>
                <a:effectLst/>
                <a:latin typeface="Helvetica Neue" panose="02000503000000020004" charset="0"/>
              </a:rPr>
              <a:t>NULL</a:t>
            </a:r>
            <a:r>
              <a:rPr lang="zh-CN" altLang="en-US" b="0" i="0" dirty="0">
                <a:solidFill>
                  <a:srgbClr val="333333"/>
                </a:solidFill>
                <a:effectLst/>
                <a:latin typeface="Helvetica Neue" panose="02000503000000020004" charset="0"/>
              </a:rPr>
              <a:t>。</a:t>
            </a:r>
          </a:p>
          <a:p>
            <a:endParaRPr kumimoji="1"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jpeg"/><Relationship Id="rId4" Type="http://schemas.openxmlformats.org/officeDocument/2006/relationships/image" Target="../media/image5.jpe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a:srcRect t="60500"/>
          <a:stretch>
            <a:fillRect/>
          </a:stretch>
        </p:blipFill>
        <p:spPr>
          <a:xfrm>
            <a:off x="0" y="4149080"/>
            <a:ext cx="12192000" cy="2708920"/>
          </a:xfrm>
          <a:prstGeom prst="rect">
            <a:avLst/>
          </a:prstGeom>
        </p:spPr>
      </p:pic>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Content Placeholder 2"/>
          <p:cNvSpPr>
            <a:spLocks noGrp="1"/>
          </p:cNvSpPr>
          <p:nvPr>
            <p:ph idx="1"/>
          </p:nvPr>
        </p:nvSpPr>
        <p:spPr>
          <a:xfrm>
            <a:off x="1127967" y="1556792"/>
            <a:ext cx="10656665" cy="4502297"/>
          </a:xfrm>
        </p:spPr>
        <p:txBody>
          <a:bodyPr/>
          <a:lstStyle>
            <a:lvl1pPr>
              <a:lnSpc>
                <a:spcPct val="120000"/>
              </a:lnSpc>
              <a:spcBef>
                <a:spcPts val="600"/>
              </a:spcBef>
              <a:defRPr/>
            </a:lvl1pPr>
            <a:lvl2pPr>
              <a:lnSpc>
                <a:spcPct val="120000"/>
              </a:lnSpc>
              <a:spcBef>
                <a:spcPts val="600"/>
              </a:spcBef>
              <a:defRPr/>
            </a:lvl2pPr>
            <a:lvl3pPr>
              <a:lnSpc>
                <a:spcPct val="120000"/>
              </a:lnSpc>
              <a:spcBef>
                <a:spcPts val="600"/>
              </a:spcBef>
              <a:defRPr sz="2400"/>
            </a:lvl3pPr>
            <a:lvl4pPr>
              <a:lnSpc>
                <a:spcPct val="120000"/>
              </a:lnSpc>
              <a:spcBef>
                <a:spcPts val="600"/>
              </a:spcBef>
              <a:defRPr sz="2000"/>
            </a:lvl4pPr>
            <a:lvl5pPr>
              <a:lnSpc>
                <a:spcPct val="120000"/>
              </a:lnSpc>
              <a:spcBef>
                <a:spcPts val="600"/>
              </a:spcBef>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Content Placeholder 2"/>
          <p:cNvSpPr>
            <a:spLocks noGrp="1"/>
          </p:cNvSpPr>
          <p:nvPr>
            <p:ph idx="1"/>
          </p:nvPr>
        </p:nvSpPr>
        <p:spPr>
          <a:xfrm>
            <a:off x="1127967" y="1556792"/>
            <a:ext cx="10656665" cy="4502297"/>
          </a:xfrm>
        </p:spPr>
        <p:txBody>
          <a:bodyPr/>
          <a:lstStyle>
            <a:lvl1pPr>
              <a:lnSpc>
                <a:spcPct val="90000"/>
              </a:lnSpc>
              <a:spcBef>
                <a:spcPts val="600"/>
              </a:spcBef>
              <a:defRPr/>
            </a:lvl1pPr>
            <a:lvl2pPr>
              <a:lnSpc>
                <a:spcPct val="90000"/>
              </a:lnSpc>
              <a:spcBef>
                <a:spcPts val="600"/>
              </a:spcBef>
              <a:defRPr/>
            </a:lvl2pPr>
            <a:lvl3pPr>
              <a:lnSpc>
                <a:spcPct val="90000"/>
              </a:lnSpc>
              <a:spcBef>
                <a:spcPts val="600"/>
              </a:spcBef>
              <a:defRPr sz="2400"/>
            </a:lvl3pPr>
            <a:lvl4pPr>
              <a:lnSpc>
                <a:spcPct val="90000"/>
              </a:lnSpc>
              <a:spcBef>
                <a:spcPts val="600"/>
              </a:spcBef>
              <a:defRPr sz="2000"/>
            </a:lvl4pPr>
            <a:lvl5pPr>
              <a:lnSpc>
                <a:spcPct val="90000"/>
              </a:lnSpc>
              <a:spcBef>
                <a:spcPts val="600"/>
              </a:spcBef>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54873" y="593794"/>
            <a:ext cx="11057101" cy="789491"/>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981200"/>
            <a:ext cx="508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981200"/>
            <a:ext cx="508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sldNum" sz="quarter" idx="10"/>
          </p:nvPr>
        </p:nvSpPr>
        <p:spPr/>
        <p:txBody>
          <a:bodyPr/>
          <a:lstStyle>
            <a:lvl1pPr>
              <a:defRPr/>
            </a:lvl1pPr>
          </a:lstStyle>
          <a:p>
            <a:pPr>
              <a:defRPr/>
            </a:pPr>
            <a:fld id="{D9D0C3DF-B10E-7F45-9C32-7B7F88BF2605}" type="slidenum">
              <a:rPr lang="en-US" altLang="zh-CN"/>
              <a:t>‹#›</a:t>
            </a:fld>
            <a:endParaRPr lang="en-US" altLang="zh-CN"/>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2_标题幻灯片">
    <p:spTree>
      <p:nvGrpSpPr>
        <p:cNvPr id="1" name=""/>
        <p:cNvGrpSpPr/>
        <p:nvPr/>
      </p:nvGrpSpPr>
      <p:grpSpPr>
        <a:xfrm>
          <a:off x="0" y="0"/>
          <a:ext cx="0" cy="0"/>
          <a:chOff x="0" y="0"/>
          <a:chExt cx="0" cy="0"/>
        </a:xfrm>
      </p:grpSpPr>
      <p:sp>
        <p:nvSpPr>
          <p:cNvPr id="3" name="矩形 2"/>
          <p:cNvSpPr/>
          <p:nvPr/>
        </p:nvSpPr>
        <p:spPr>
          <a:xfrm>
            <a:off x="0" y="6678613"/>
            <a:ext cx="12192000" cy="179387"/>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lnSpc>
                <a:spcPct val="90000"/>
              </a:lnSpc>
              <a:spcBef>
                <a:spcPts val="590"/>
              </a:spcBef>
              <a:spcAft>
                <a:spcPts val="590"/>
              </a:spcAft>
              <a:buClr>
                <a:schemeClr val="tx2"/>
              </a:buClr>
              <a:buSzPct val="80000"/>
              <a:buFont typeface="Wingdings" panose="05000000000000000000" pitchFamily="2" charset="2"/>
              <a:buNone/>
              <a:defRPr/>
            </a:pPr>
            <a:endParaRPr lang="zh-CN" altLang="en-US"/>
          </a:p>
        </p:txBody>
      </p:sp>
      <p:sp>
        <p:nvSpPr>
          <p:cNvPr id="4" name="矩形 3"/>
          <p:cNvSpPr/>
          <p:nvPr/>
        </p:nvSpPr>
        <p:spPr>
          <a:xfrm>
            <a:off x="0" y="0"/>
            <a:ext cx="12192000" cy="10795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lnSpc>
                <a:spcPct val="90000"/>
              </a:lnSpc>
              <a:spcBef>
                <a:spcPts val="590"/>
              </a:spcBef>
              <a:spcAft>
                <a:spcPts val="590"/>
              </a:spcAft>
              <a:buClr>
                <a:schemeClr val="tx2"/>
              </a:buClr>
              <a:buSzPct val="80000"/>
              <a:buFont typeface="Wingdings" panose="05000000000000000000" pitchFamily="2" charset="2"/>
              <a:buNone/>
              <a:defRPr/>
            </a:pPr>
            <a:endParaRPr lang="zh-CN" altLang="en-US"/>
          </a:p>
        </p:txBody>
      </p:sp>
      <p:sp>
        <p:nvSpPr>
          <p:cNvPr id="5" name="页脚占位符 6"/>
          <p:cNvSpPr>
            <a:spLocks noGrp="1"/>
          </p:cNvSpPr>
          <p:nvPr userDrawn="1"/>
        </p:nvSpPr>
        <p:spPr>
          <a:xfrm>
            <a:off x="10174288" y="115888"/>
            <a:ext cx="2214562" cy="360362"/>
          </a:xfrm>
          <a:prstGeom prst="rect">
            <a:avLst/>
          </a:prstGeom>
        </p:spPr>
        <p:txBody>
          <a:bodyPr/>
          <a:lstStyle>
            <a:defPPr>
              <a:defRPr lang="en-US"/>
            </a:defPPr>
            <a:lvl1pPr algn="l" rtl="0" eaLnBrk="0" fontAlgn="base" hangingPunct="0">
              <a:spcBef>
                <a:spcPct val="0"/>
              </a:spcBef>
              <a:spcAft>
                <a:spcPct val="0"/>
              </a:spcAft>
              <a:defRPr sz="2400" kern="1200">
                <a:solidFill>
                  <a:schemeClr val="tx1"/>
                </a:solidFill>
                <a:latin typeface="Times New Roman" panose="02020503050405090304" pitchFamily="18" charset="0"/>
                <a:ea typeface="宋体" pitchFamily="2" charset="-122"/>
                <a:cs typeface="+mn-cs"/>
              </a:defRPr>
            </a:lvl1pPr>
            <a:lvl2pPr marL="457200" algn="l" rtl="0" fontAlgn="base">
              <a:spcBef>
                <a:spcPct val="0"/>
              </a:spcBef>
              <a:spcAft>
                <a:spcPct val="0"/>
              </a:spcAft>
              <a:defRPr sz="2400" kern="1200">
                <a:solidFill>
                  <a:schemeClr val="tx1"/>
                </a:solidFill>
                <a:latin typeface="Times New Roman" panose="02020503050405090304" pitchFamily="18" charset="0"/>
                <a:ea typeface="宋体" pitchFamily="2" charset="-122"/>
                <a:cs typeface="+mn-cs"/>
              </a:defRPr>
            </a:lvl2pPr>
            <a:lvl3pPr marL="914400" algn="l" rtl="0" fontAlgn="base">
              <a:spcBef>
                <a:spcPct val="0"/>
              </a:spcBef>
              <a:spcAft>
                <a:spcPct val="0"/>
              </a:spcAft>
              <a:defRPr sz="2400" kern="1200">
                <a:solidFill>
                  <a:schemeClr val="tx1"/>
                </a:solidFill>
                <a:latin typeface="Times New Roman" panose="02020503050405090304" pitchFamily="18" charset="0"/>
                <a:ea typeface="宋体" pitchFamily="2" charset="-122"/>
                <a:cs typeface="+mn-cs"/>
              </a:defRPr>
            </a:lvl3pPr>
            <a:lvl4pPr marL="1371600" algn="l" rtl="0" fontAlgn="base">
              <a:spcBef>
                <a:spcPct val="0"/>
              </a:spcBef>
              <a:spcAft>
                <a:spcPct val="0"/>
              </a:spcAft>
              <a:defRPr sz="2400" kern="1200">
                <a:solidFill>
                  <a:schemeClr val="tx1"/>
                </a:solidFill>
                <a:latin typeface="Times New Roman" panose="02020503050405090304" pitchFamily="18" charset="0"/>
                <a:ea typeface="宋体" pitchFamily="2" charset="-122"/>
                <a:cs typeface="+mn-cs"/>
              </a:defRPr>
            </a:lvl4pPr>
            <a:lvl5pPr marL="1828800" algn="l" rtl="0" fontAlgn="base">
              <a:spcBef>
                <a:spcPct val="0"/>
              </a:spcBef>
              <a:spcAft>
                <a:spcPct val="0"/>
              </a:spcAft>
              <a:defRPr sz="2400" kern="1200">
                <a:solidFill>
                  <a:schemeClr val="tx1"/>
                </a:solidFill>
                <a:latin typeface="Times New Roman" panose="02020503050405090304" pitchFamily="18" charset="0"/>
                <a:ea typeface="宋体" pitchFamily="2" charset="-122"/>
                <a:cs typeface="+mn-cs"/>
              </a:defRPr>
            </a:lvl5pPr>
            <a:lvl6pPr marL="2286000" algn="l" defTabSz="914400" rtl="0" eaLnBrk="1" latinLnBrk="0" hangingPunct="1">
              <a:defRPr sz="2400" kern="1200">
                <a:solidFill>
                  <a:schemeClr val="tx1"/>
                </a:solidFill>
                <a:latin typeface="Times New Roman" panose="02020503050405090304" pitchFamily="18" charset="0"/>
                <a:ea typeface="宋体" pitchFamily="2" charset="-122"/>
                <a:cs typeface="+mn-cs"/>
              </a:defRPr>
            </a:lvl6pPr>
            <a:lvl7pPr marL="2743200" algn="l" defTabSz="914400" rtl="0" eaLnBrk="1" latinLnBrk="0" hangingPunct="1">
              <a:defRPr sz="2400" kern="1200">
                <a:solidFill>
                  <a:schemeClr val="tx1"/>
                </a:solidFill>
                <a:latin typeface="Times New Roman" panose="02020503050405090304" pitchFamily="18" charset="0"/>
                <a:ea typeface="宋体" pitchFamily="2" charset="-122"/>
                <a:cs typeface="+mn-cs"/>
              </a:defRPr>
            </a:lvl7pPr>
            <a:lvl8pPr marL="3200400" algn="l" defTabSz="914400" rtl="0" eaLnBrk="1" latinLnBrk="0" hangingPunct="1">
              <a:defRPr sz="2400" kern="1200">
                <a:solidFill>
                  <a:schemeClr val="tx1"/>
                </a:solidFill>
                <a:latin typeface="Times New Roman" panose="02020503050405090304" pitchFamily="18" charset="0"/>
                <a:ea typeface="宋体" pitchFamily="2" charset="-122"/>
                <a:cs typeface="+mn-cs"/>
              </a:defRPr>
            </a:lvl8pPr>
            <a:lvl9pPr marL="3657600" algn="l" defTabSz="914400" rtl="0" eaLnBrk="1" latinLnBrk="0" hangingPunct="1">
              <a:defRPr sz="2400" kern="1200">
                <a:solidFill>
                  <a:schemeClr val="tx1"/>
                </a:solidFill>
                <a:latin typeface="Times New Roman" panose="02020503050405090304" pitchFamily="18" charset="0"/>
                <a:ea typeface="宋体" pitchFamily="2" charset="-122"/>
                <a:cs typeface="+mn-cs"/>
              </a:defRPr>
            </a:lvl9pPr>
          </a:lstStyle>
          <a:p>
            <a:pPr>
              <a:lnSpc>
                <a:spcPct val="90000"/>
              </a:lnSpc>
              <a:buClr>
                <a:schemeClr val="tx2"/>
              </a:buClr>
              <a:buSzPct val="80000"/>
              <a:buFont typeface="Wingdings" panose="05000000000000000000" pitchFamily="2" charset="2"/>
              <a:buNone/>
              <a:defRPr/>
            </a:pPr>
            <a:r>
              <a:rPr lang="zh-CN" altLang="en-US" sz="2000" dirty="0">
                <a:solidFill>
                  <a:srgbClr val="663300"/>
                </a:solidFill>
                <a:latin typeface="华文行楷" pitchFamily="2" charset="-122"/>
                <a:ea typeface="华文行楷" pitchFamily="2" charset="-122"/>
              </a:rPr>
              <a:t>第</a:t>
            </a:r>
            <a:r>
              <a:rPr lang="en-US" altLang="zh-CN" sz="2000" dirty="0">
                <a:solidFill>
                  <a:srgbClr val="663300"/>
                </a:solidFill>
                <a:latin typeface="华文行楷" pitchFamily="2" charset="-122"/>
                <a:ea typeface="华文行楷" pitchFamily="2" charset="-122"/>
              </a:rPr>
              <a:t>10</a:t>
            </a:r>
            <a:r>
              <a:rPr lang="zh-CN" altLang="en-US" sz="2000" dirty="0">
                <a:solidFill>
                  <a:srgbClr val="663300"/>
                </a:solidFill>
                <a:latin typeface="华文行楷" pitchFamily="2" charset="-122"/>
                <a:ea typeface="华文行楷" pitchFamily="2" charset="-122"/>
              </a:rPr>
              <a:t>章  字符串</a:t>
            </a:r>
            <a:endParaRPr lang="en-US" altLang="zh-CN" sz="2000" dirty="0">
              <a:solidFill>
                <a:srgbClr val="663300"/>
              </a:solidFill>
              <a:latin typeface="华文行楷" pitchFamily="2" charset="-122"/>
              <a:ea typeface="华文行楷" pitchFamily="2" charset="-122"/>
            </a:endParaRPr>
          </a:p>
          <a:p>
            <a:pPr>
              <a:lnSpc>
                <a:spcPct val="90000"/>
              </a:lnSpc>
              <a:buClr>
                <a:schemeClr val="tx2"/>
              </a:buClr>
              <a:buSzPct val="80000"/>
              <a:buFont typeface="Wingdings" panose="05000000000000000000" pitchFamily="2" charset="2"/>
              <a:buNone/>
              <a:defRPr/>
            </a:pPr>
            <a:endParaRPr lang="en-US" altLang="zh-CN" sz="2000" dirty="0">
              <a:latin typeface="华文行楷" pitchFamily="2" charset="-122"/>
              <a:ea typeface="华文行楷" pitchFamily="2" charset="-122"/>
            </a:endParaRPr>
          </a:p>
          <a:p>
            <a:pPr>
              <a:lnSpc>
                <a:spcPct val="90000"/>
              </a:lnSpc>
              <a:buClr>
                <a:schemeClr val="tx2"/>
              </a:buClr>
              <a:buSzPct val="80000"/>
              <a:buFont typeface="Wingdings" panose="05000000000000000000" pitchFamily="2" charset="2"/>
              <a:buNone/>
              <a:defRPr/>
            </a:pPr>
            <a:endParaRPr lang="en-US" altLang="zh-CN" sz="2000" dirty="0">
              <a:latin typeface="楷体_GB2312" pitchFamily="49" charset="-122"/>
              <a:ea typeface="楷体_GB2312" pitchFamily="49" charset="-122"/>
            </a:endParaRPr>
          </a:p>
        </p:txBody>
      </p:sp>
      <p:sp>
        <p:nvSpPr>
          <p:cNvPr id="6" name="矩形 5"/>
          <p:cNvSpPr/>
          <p:nvPr/>
        </p:nvSpPr>
        <p:spPr>
          <a:xfrm>
            <a:off x="914400" y="3197225"/>
            <a:ext cx="10363200" cy="17463"/>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lnSpc>
                <a:spcPct val="90000"/>
              </a:lnSpc>
              <a:spcBef>
                <a:spcPts val="590"/>
              </a:spcBef>
              <a:spcAft>
                <a:spcPts val="590"/>
              </a:spcAft>
              <a:buClr>
                <a:schemeClr val="tx2"/>
              </a:buClr>
              <a:buSzPct val="80000"/>
              <a:buFont typeface="Wingdings" panose="05000000000000000000" pitchFamily="2" charset="2"/>
              <a:buNone/>
              <a:defRPr/>
            </a:pPr>
            <a:endParaRPr lang="zh-CN" altLang="en-US"/>
          </a:p>
        </p:txBody>
      </p:sp>
      <p:grpSp>
        <p:nvGrpSpPr>
          <p:cNvPr id="7" name="Group 10"/>
          <p:cNvGrpSpPr/>
          <p:nvPr userDrawn="1"/>
        </p:nvGrpSpPr>
        <p:grpSpPr bwMode="auto">
          <a:xfrm>
            <a:off x="736600" y="2924175"/>
            <a:ext cx="10410825" cy="1463675"/>
            <a:chOff x="336" y="1824"/>
            <a:chExt cx="5328" cy="922"/>
          </a:xfrm>
        </p:grpSpPr>
        <p:pic>
          <p:nvPicPr>
            <p:cNvPr id="8" name="Picture 8" descr="ANABNR2"/>
            <p:cNvPicPr>
              <a:picLocks noChangeAspect="1" noChangeArrowheads="1"/>
            </p:cNvPicPr>
            <p:nvPr userDrawn="1"/>
          </p:nvPicPr>
          <p:blipFill>
            <a:blip r:embed="rId2">
              <a:extLst>
                <a:ext uri="{28A0092B-C50C-407E-A947-70E740481C1C}">
                  <a14:useLocalDpi xmlns:a14="http://schemas.microsoft.com/office/drawing/2010/main" val="0"/>
                </a:ext>
              </a:extLst>
            </a:blip>
            <a:srcRect l="-900" t="-1314" r="-2" b="-36961"/>
            <a:stretch>
              <a:fillRect/>
            </a:stretch>
          </p:blipFill>
          <p:spPr bwMode="auto">
            <a:xfrm>
              <a:off x="336" y="2016"/>
              <a:ext cx="5328" cy="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9"/>
            <p:cNvSpPr>
              <a:spLocks noChangeArrowheads="1"/>
            </p:cNvSpPr>
            <p:nvPr userDrawn="1"/>
          </p:nvSpPr>
          <p:spPr bwMode="hidden">
            <a:xfrm>
              <a:off x="501" y="1824"/>
              <a:ext cx="192" cy="624"/>
            </a:xfrm>
            <a:prstGeom prst="rect">
              <a:avLst/>
            </a:prstGeom>
            <a:solidFill>
              <a:srgbClr val="FFCC99">
                <a:alpha val="50195"/>
              </a:srgbClr>
            </a:solidFill>
            <a:ln>
              <a:noFill/>
            </a:ln>
          </p:spPr>
          <p:txBody>
            <a:bodyPr wrap="none" anchor="ctr"/>
            <a:lstStyle>
              <a:lvl1pPr>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charset="0"/>
                </a:defRPr>
              </a:lvl1pPr>
              <a:lvl2pPr marL="742950" indent="-28575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charset="0"/>
                </a:defRPr>
              </a:lvl2pPr>
              <a:lvl3pPr marL="1143000" indent="-22860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charset="0"/>
                </a:defRPr>
              </a:lvl3pPr>
              <a:lvl4pPr marL="1600200" indent="-22860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charset="0"/>
                </a:defRPr>
              </a:lvl4pPr>
              <a:lvl5pPr marL="2057400" indent="-22860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charset="0"/>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charset="0"/>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charset="0"/>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charset="0"/>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charset="0"/>
                </a:defRPr>
              </a:lvl9pPr>
            </a:lstStyle>
            <a:p>
              <a:pPr algn="ctr">
                <a:defRPr/>
              </a:pPr>
              <a:endParaRPr kumimoji="1" lang="zh-CN" altLang="en-US"/>
            </a:p>
          </p:txBody>
        </p:sp>
      </p:grpSp>
      <p:pic>
        <p:nvPicPr>
          <p:cNvPr id="10" name="图片 5" descr="head.gif"/>
          <p:cNvPicPr>
            <a:picLocks noChangeAspect="1"/>
          </p:cNvPicPr>
          <p:nvPr userDrawn="1"/>
        </p:nvPicPr>
        <p:blipFill>
          <a:blip r:embed="rId3">
            <a:lum contrast="-14000"/>
            <a:extLst>
              <a:ext uri="{28A0092B-C50C-407E-A947-70E740481C1C}">
                <a14:useLocalDpi xmlns:a14="http://schemas.microsoft.com/office/drawing/2010/main" val="0"/>
              </a:ext>
            </a:extLst>
          </a:blip>
          <a:srcRect/>
          <a:stretch>
            <a:fillRect/>
          </a:stretch>
        </p:blipFill>
        <p:spPr bwMode="auto">
          <a:xfrm>
            <a:off x="0" y="0"/>
            <a:ext cx="12192000" cy="172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2" descr="D:\教学\教学报奖\扫描证书和佐证材料原件\2015扫描\新形态主教材封面.JP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66775" y="4149725"/>
            <a:ext cx="2216150" cy="224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 descr="D:\教学\教学报奖\扫描证书和佐证材料原件\2015扫描\新形态学习指导封面.JPG"/>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9020175" y="4149725"/>
            <a:ext cx="2178050" cy="224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页脚占位符 4"/>
          <p:cNvSpPr txBox="1"/>
          <p:nvPr userDrawn="1"/>
        </p:nvSpPr>
        <p:spPr>
          <a:xfrm>
            <a:off x="2092325" y="6384925"/>
            <a:ext cx="4978400" cy="284163"/>
          </a:xfrm>
          <a:prstGeom prst="rect">
            <a:avLst/>
          </a:prstGeom>
        </p:spPr>
        <p:txBody>
          <a:bodyPr anchor="ct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9pPr>
          </a:lstStyle>
          <a:p>
            <a:pPr algn="r" eaLnBrk="1" hangingPunct="1">
              <a:lnSpc>
                <a:spcPct val="90000"/>
              </a:lnSpc>
              <a:spcBef>
                <a:spcPts val="590"/>
              </a:spcBef>
              <a:spcAft>
                <a:spcPts val="590"/>
              </a:spcAft>
              <a:buClr>
                <a:schemeClr val="tx2"/>
              </a:buClr>
              <a:buSzPct val="80000"/>
              <a:buFont typeface="Wingdings" panose="05000000000000000000" pitchFamily="2" charset="2"/>
              <a:buNone/>
              <a:defRPr/>
            </a:pPr>
            <a:r>
              <a:rPr lang="zh-CN" altLang="en-US" sz="1100">
                <a:solidFill>
                  <a:srgbClr val="636363"/>
                </a:solidFill>
              </a:rPr>
              <a:t>版权所有，违者必究</a:t>
            </a:r>
            <a:endParaRPr lang="en-US" altLang="zh-CN" sz="1100">
              <a:solidFill>
                <a:srgbClr val="636363"/>
              </a:solidFill>
            </a:endParaRPr>
          </a:p>
        </p:txBody>
      </p:sp>
      <p:sp>
        <p:nvSpPr>
          <p:cNvPr id="2" name="标题 1"/>
          <p:cNvSpPr>
            <a:spLocks noGrp="1"/>
          </p:cNvSpPr>
          <p:nvPr>
            <p:ph type="ctrTitle"/>
          </p:nvPr>
        </p:nvSpPr>
        <p:spPr>
          <a:xfrm>
            <a:off x="914400" y="1676401"/>
            <a:ext cx="10363200" cy="1538286"/>
          </a:xfrm>
        </p:spPr>
        <p:txBody>
          <a:bodyPr anchor="b"/>
          <a:lstStyle/>
          <a:p>
            <a:r>
              <a:rPr lang="zh-CN" altLang="en-US" dirty="0"/>
              <a:t>单击此处编辑母版标题样式</a:t>
            </a:r>
            <a:endParaRPr lang="en-US" dirty="0"/>
          </a:p>
        </p:txBody>
      </p:sp>
      <p:sp>
        <p:nvSpPr>
          <p:cNvPr id="14" name="页脚占位符 4"/>
          <p:cNvSpPr>
            <a:spLocks noGrp="1"/>
          </p:cNvSpPr>
          <p:nvPr>
            <p:ph type="ftr" sz="quarter" idx="10"/>
          </p:nvPr>
        </p:nvSpPr>
        <p:spPr>
          <a:xfrm>
            <a:off x="4165600" y="6356351"/>
            <a:ext cx="3860800" cy="365125"/>
          </a:xfrm>
          <a:prstGeom prst="rect">
            <a:avLst/>
          </a:prstGeom>
        </p:spPr>
        <p:txBody>
          <a:bodyPr/>
          <a:lstStyle>
            <a:lvl1pPr>
              <a:defRPr/>
            </a:lvl1pPr>
          </a:lstStyle>
          <a:p>
            <a:pPr>
              <a:defRPr/>
            </a:pPr>
            <a:endParaRPr lang="zh-CN" altLang="en-US"/>
          </a:p>
        </p:txBody>
      </p:sp>
      <p:sp>
        <p:nvSpPr>
          <p:cNvPr id="15" name="灯片编号占位符 5"/>
          <p:cNvSpPr>
            <a:spLocks noGrp="1"/>
          </p:cNvSpPr>
          <p:nvPr>
            <p:ph type="sldNum" sz="quarter" idx="11"/>
          </p:nvPr>
        </p:nvSpPr>
        <p:spPr>
          <a:xfrm>
            <a:off x="8737600" y="6356351"/>
            <a:ext cx="2844800" cy="365125"/>
          </a:xfrm>
          <a:prstGeom prst="rect">
            <a:avLst/>
          </a:prstGeom>
        </p:spPr>
        <p:txBody>
          <a:bodyPr/>
          <a:lstStyle>
            <a:lvl1pPr>
              <a:defRPr/>
            </a:lvl1pPr>
          </a:lstStyle>
          <a:p>
            <a:pPr>
              <a:defRPr/>
            </a:pPr>
            <a:fld id="{D7DBE045-BA99-46F1-9B81-65E8F8BF2354}" type="slidenum">
              <a:rPr lang="en-US" altLang="zh-CN"/>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11" name="灯片编号占位符 10"/>
          <p:cNvSpPr>
            <a:spLocks noGrp="1"/>
          </p:cNvSpPr>
          <p:nvPr>
            <p:ph type="sldNum" sz="quarter" idx="10"/>
          </p:nvPr>
        </p:nvSpPr>
        <p:spPr>
          <a:xfrm>
            <a:off x="9448800" y="6376416"/>
            <a:ext cx="2743200" cy="369443"/>
          </a:xfrm>
        </p:spPr>
        <p:txBody>
          <a:bodyPr/>
          <a:lstStyle>
            <a:lvl1pPr>
              <a:defRPr sz="1800">
                <a:latin typeface="Times New Roman" panose="02020503050405090304" pitchFamily="18" charset="0"/>
                <a:cs typeface="Times New Roman" panose="02020503050405090304" pitchFamily="18" charset="0"/>
              </a:defRPr>
            </a:lvl1pPr>
          </a:lstStyle>
          <a:p>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54873" y="593794"/>
            <a:ext cx="11057101" cy="789491"/>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825625"/>
            <a:ext cx="11090448"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文本框 6"/>
          <p:cNvSpPr txBox="1"/>
          <p:nvPr userDrawn="1"/>
        </p:nvSpPr>
        <p:spPr>
          <a:xfrm>
            <a:off x="10067588" y="28482"/>
            <a:ext cx="2148880" cy="400110"/>
          </a:xfrm>
          <a:prstGeom prst="rect">
            <a:avLst/>
          </a:prstGeom>
          <a:noFill/>
        </p:spPr>
        <p:txBody>
          <a:bodyPr wrap="square" rtlCol="0">
            <a:spAutoFit/>
          </a:bodyPr>
          <a:lstStyle/>
          <a:p>
            <a:r>
              <a:rPr lang="zh-CN" altLang="en-US" sz="2000" b="1" dirty="0">
                <a:solidFill>
                  <a:srgbClr val="C00000"/>
                </a:solidFill>
              </a:rPr>
              <a:t>第</a:t>
            </a:r>
            <a:r>
              <a:rPr lang="en-US" altLang="zh-CN" sz="2000" b="1" dirty="0">
                <a:solidFill>
                  <a:srgbClr val="C00000"/>
                </a:solidFill>
              </a:rPr>
              <a:t>16</a:t>
            </a:r>
            <a:r>
              <a:rPr lang="zh-CN" altLang="en-US" sz="2000" b="1" dirty="0">
                <a:solidFill>
                  <a:srgbClr val="C00000"/>
                </a:solidFill>
              </a:rPr>
              <a:t>讲</a:t>
            </a:r>
            <a:r>
              <a:rPr lang="en-US" altLang="zh-CN" sz="2000" b="1" dirty="0">
                <a:solidFill>
                  <a:srgbClr val="C00000"/>
                </a:solidFill>
              </a:rPr>
              <a:t>——</a:t>
            </a:r>
            <a:r>
              <a:rPr lang="zh-CN" altLang="en-US" sz="2000" b="1" dirty="0">
                <a:solidFill>
                  <a:srgbClr val="C00000"/>
                </a:solidFill>
              </a:rPr>
              <a:t>排序</a:t>
            </a:r>
            <a:r>
              <a:rPr lang="en-US" altLang="zh-CN" sz="2000" b="1" dirty="0">
                <a:solidFill>
                  <a:srgbClr val="C00000"/>
                </a:solidFill>
              </a:rPr>
              <a:t>2</a:t>
            </a:r>
            <a:endParaRPr lang="zh-CN" altLang="en-US" sz="2000" b="1" dirty="0">
              <a:solidFill>
                <a:srgbClr val="C00000"/>
              </a:solidFill>
            </a:endParaRPr>
          </a:p>
        </p:txBody>
      </p:sp>
      <p:pic>
        <p:nvPicPr>
          <p:cNvPr id="10" name="图片 13" descr="HIT"/>
          <p:cNvPicPr>
            <a:picLocks noChangeAspect="1"/>
          </p:cNvPicPr>
          <p:nvPr userDrawn="1"/>
        </p:nvPicPr>
        <p:blipFill>
          <a:blip r:embed="rId10">
            <a:clrChange>
              <a:clrFrom>
                <a:srgbClr val="FFFFFF"/>
              </a:clrFrom>
              <a:clrTo>
                <a:srgbClr val="FFFFFF">
                  <a:alpha val="0"/>
                </a:srgbClr>
              </a:clrTo>
            </a:clrChange>
          </a:blip>
          <a:stretch>
            <a:fillRect/>
          </a:stretch>
        </p:blipFill>
        <p:spPr>
          <a:xfrm>
            <a:off x="-23071" y="28482"/>
            <a:ext cx="2461471" cy="399046"/>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1.e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4"/>
          <p:cNvSpPr txBox="1">
            <a:spLocks noChangeArrowheads="1"/>
          </p:cNvSpPr>
          <p:nvPr/>
        </p:nvSpPr>
        <p:spPr bwMode="auto">
          <a:xfrm>
            <a:off x="1416050" y="1919288"/>
            <a:ext cx="9632950" cy="1194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buClr>
                <a:schemeClr val="tx2"/>
              </a:buClr>
              <a:buSzPct val="50000"/>
              <a:buFont typeface="Wingdings" panose="05000000000000000000" pitchFamily="2" charset="2"/>
              <a:buChar char="n"/>
              <a:defRPr sz="3200" b="1">
                <a:solidFill>
                  <a:schemeClr val="tx1"/>
                </a:solidFill>
                <a:latin typeface="Franklin Gothic Book" pitchFamily="34" charset="0"/>
              </a:defRPr>
            </a:lvl1pPr>
            <a:lvl2pPr marL="742950" indent="-285750">
              <a:lnSpc>
                <a:spcPct val="120000"/>
              </a:lnSpc>
              <a:buClr>
                <a:schemeClr val="tx2"/>
              </a:buClr>
              <a:buSzPct val="50000"/>
              <a:buFont typeface="Wingdings 2" panose="05020102010507070707" pitchFamily="18" charset="2"/>
              <a:buChar char="Þ"/>
              <a:defRPr sz="2800" b="1">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buClr>
                <a:schemeClr val="tx2"/>
              </a:buClr>
              <a:buSzPct val="50000"/>
              <a:buFont typeface="Wingdings 2" panose="05020102010507070707" pitchFamily="18" charset="2"/>
              <a:buChar char=""/>
              <a:defRPr sz="2400" b="1">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buClr>
                <a:schemeClr val="tx2"/>
              </a:buClr>
              <a:buSzPct val="50000"/>
              <a:buFont typeface="Wingdings 2" panose="05020102010507070707" pitchFamily="18" charset="2"/>
              <a:buChar char=""/>
              <a:defRPr sz="2000" b="1">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buClr>
                <a:schemeClr val="tx2"/>
              </a:buClr>
              <a:buSzPct val="50000"/>
              <a:buFont typeface="Wingdings 2" panose="05020102010507070707" pitchFamily="18" charset="2"/>
              <a:buChar char=""/>
              <a:defRPr sz="2000" b="1">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b="1">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b="1">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b="1">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b="1">
                <a:solidFill>
                  <a:schemeClr val="tx1"/>
                </a:solidFill>
                <a:latin typeface="Times New Roman" panose="02020503050405090304" pitchFamily="18" charset="0"/>
                <a:cs typeface="Times New Roman" panose="02020503050405090304" pitchFamily="18" charset="0"/>
              </a:defRPr>
            </a:lvl9pPr>
          </a:lstStyle>
          <a:p>
            <a:pPr algn="ctr">
              <a:spcBef>
                <a:spcPts val="300"/>
              </a:spcBef>
              <a:buSzPct val="80000"/>
              <a:buFont typeface="Wingdings" panose="05000000000000000000" pitchFamily="2" charset="2"/>
              <a:buNone/>
            </a:pPr>
            <a:r>
              <a:rPr lang="zh-CN" altLang="en-US" sz="6600" b="0" dirty="0">
                <a:latin typeface="+mn-lt"/>
                <a:cs typeface="+mn-ea"/>
                <a:sym typeface="+mn-lt"/>
              </a:rPr>
              <a:t>第</a:t>
            </a:r>
            <a:r>
              <a:rPr lang="en-US" altLang="zh-CN" sz="6600" b="0" dirty="0">
                <a:latin typeface="+mn-lt"/>
                <a:cs typeface="+mn-ea"/>
                <a:sym typeface="+mn-lt"/>
              </a:rPr>
              <a:t>16</a:t>
            </a:r>
            <a:r>
              <a:rPr lang="zh-CN" altLang="en-US" sz="6600" b="0" dirty="0">
                <a:latin typeface="+mn-lt"/>
                <a:cs typeface="+mn-ea"/>
                <a:sym typeface="+mn-lt"/>
              </a:rPr>
              <a:t>讲 排序算法</a:t>
            </a:r>
            <a:r>
              <a:rPr lang="en-US" altLang="zh-CN" sz="6600" b="0" dirty="0">
                <a:latin typeface="+mn-lt"/>
                <a:cs typeface="+mn-ea"/>
                <a:sym typeface="+mn-lt"/>
              </a:rPr>
              <a:t>2</a:t>
            </a:r>
            <a:endParaRPr lang="zh-CN" altLang="en-US" sz="6600" b="0" dirty="0">
              <a:latin typeface="+mn-lt"/>
              <a:cs typeface="+mn-ea"/>
              <a:sym typeface="+mn-lt"/>
            </a:endParaRPr>
          </a:p>
        </p:txBody>
      </p:sp>
      <p:sp>
        <p:nvSpPr>
          <p:cNvPr id="11267" name="Text Box 21"/>
          <p:cNvSpPr txBox="1">
            <a:spLocks noChangeArrowheads="1"/>
          </p:cNvSpPr>
          <p:nvPr/>
        </p:nvSpPr>
        <p:spPr bwMode="auto">
          <a:xfrm>
            <a:off x="2927350" y="4117975"/>
            <a:ext cx="6121400" cy="1489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buClr>
                <a:schemeClr val="tx2"/>
              </a:buClr>
              <a:buSzPct val="50000"/>
              <a:buFont typeface="Wingdings" panose="05000000000000000000" pitchFamily="2" charset="2"/>
              <a:buChar char="n"/>
              <a:defRPr sz="3200" b="1">
                <a:solidFill>
                  <a:schemeClr val="tx1"/>
                </a:solidFill>
                <a:latin typeface="Franklin Gothic Book" pitchFamily="34" charset="0"/>
              </a:defRPr>
            </a:lvl1pPr>
            <a:lvl2pPr marL="742950" indent="-285750">
              <a:lnSpc>
                <a:spcPct val="120000"/>
              </a:lnSpc>
              <a:buClr>
                <a:schemeClr val="tx2"/>
              </a:buClr>
              <a:buSzPct val="50000"/>
              <a:buFont typeface="Wingdings 2" panose="05020102010507070707" pitchFamily="18" charset="2"/>
              <a:buChar char="Þ"/>
              <a:defRPr sz="2800" b="1">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buClr>
                <a:schemeClr val="tx2"/>
              </a:buClr>
              <a:buSzPct val="50000"/>
              <a:buFont typeface="Wingdings 2" panose="05020102010507070707" pitchFamily="18" charset="2"/>
              <a:buChar char=""/>
              <a:defRPr sz="2400" b="1">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buClr>
                <a:schemeClr val="tx2"/>
              </a:buClr>
              <a:buSzPct val="50000"/>
              <a:buFont typeface="Wingdings 2" panose="05020102010507070707" pitchFamily="18" charset="2"/>
              <a:buChar char=""/>
              <a:defRPr sz="2000" b="1">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buClr>
                <a:schemeClr val="tx2"/>
              </a:buClr>
              <a:buSzPct val="50000"/>
              <a:buFont typeface="Wingdings 2" panose="05020102010507070707" pitchFamily="18" charset="2"/>
              <a:buChar char=""/>
              <a:defRPr sz="2000" b="1">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b="1">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b="1">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b="1">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b="1">
                <a:solidFill>
                  <a:schemeClr val="tx1"/>
                </a:solidFill>
                <a:latin typeface="Times New Roman" panose="02020503050405090304" pitchFamily="18" charset="0"/>
                <a:cs typeface="Times New Roman" panose="02020503050405090304" pitchFamily="18" charset="0"/>
              </a:defRPr>
            </a:lvl9pPr>
          </a:lstStyle>
          <a:p>
            <a:pPr algn="ctr">
              <a:spcBef>
                <a:spcPts val="300"/>
              </a:spcBef>
              <a:buSzPct val="80000"/>
              <a:buFont typeface="Wingdings" panose="05000000000000000000" pitchFamily="2" charset="2"/>
              <a:buNone/>
            </a:pPr>
            <a:r>
              <a:rPr lang="zh-CN" altLang="en-US" sz="2400" b="0" dirty="0">
                <a:latin typeface="+mn-lt"/>
                <a:cs typeface="+mn-ea"/>
                <a:sym typeface="+mn-lt"/>
              </a:rPr>
              <a:t>哈尔滨工业大学（深圳）</a:t>
            </a:r>
          </a:p>
          <a:p>
            <a:pPr algn="ctr">
              <a:spcBef>
                <a:spcPts val="300"/>
              </a:spcBef>
              <a:buSzPct val="80000"/>
              <a:buFont typeface="Wingdings" panose="05000000000000000000" pitchFamily="2" charset="2"/>
              <a:buNone/>
            </a:pPr>
            <a:r>
              <a:rPr lang="zh-CN" altLang="en-US" sz="2400" b="0" dirty="0">
                <a:latin typeface="+mn-lt"/>
                <a:cs typeface="+mn-ea"/>
                <a:sym typeface="+mn-lt"/>
              </a:rPr>
              <a:t>计算机科学与技术学院</a:t>
            </a:r>
            <a:br>
              <a:rPr lang="en-US" altLang="zh-CN" sz="2800" b="0" dirty="0">
                <a:solidFill>
                  <a:srgbClr val="B9945B"/>
                </a:solidFill>
                <a:latin typeface="+mn-lt"/>
                <a:cs typeface="+mn-ea"/>
                <a:sym typeface="+mn-lt"/>
              </a:rPr>
            </a:br>
            <a:endParaRPr lang="en-US" altLang="zh-CN" sz="2800" b="0" dirty="0">
              <a:solidFill>
                <a:srgbClr val="B9945B"/>
              </a:solidFill>
              <a:latin typeface="+mn-lt"/>
              <a:cs typeface="+mn-ea"/>
              <a:sym typeface="+mn-lt"/>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zh-CN" sz="4400" dirty="0">
                <a:effectLst/>
                <a:latin typeface="+mn-lt"/>
                <a:ea typeface="+mn-ea"/>
                <a:cs typeface="+mn-ea"/>
                <a:sym typeface="+mn-lt"/>
              </a:rPr>
              <a:t>选择排序</a:t>
            </a:r>
            <a:endParaRPr lang="zh-CN" altLang="en-US" dirty="0">
              <a:latin typeface="+mn-lt"/>
              <a:ea typeface="+mn-ea"/>
              <a:cs typeface="+mn-ea"/>
              <a:sym typeface="+mn-lt"/>
            </a:endParaRPr>
          </a:p>
        </p:txBody>
      </p:sp>
      <p:sp>
        <p:nvSpPr>
          <p:cNvPr id="10" name="内容占位符 9"/>
          <p:cNvSpPr>
            <a:spLocks noGrp="1"/>
          </p:cNvSpPr>
          <p:nvPr>
            <p:ph idx="1"/>
          </p:nvPr>
        </p:nvSpPr>
        <p:spPr>
          <a:xfrm>
            <a:off x="1127967" y="1556792"/>
            <a:ext cx="6263433" cy="4502297"/>
          </a:xfrm>
        </p:spPr>
        <p:txBody>
          <a:bodyPr/>
          <a:lstStyle/>
          <a:p>
            <a:pPr>
              <a:lnSpc>
                <a:spcPct val="120000"/>
              </a:lnSpc>
              <a:spcBef>
                <a:spcPts val="300"/>
              </a:spcBef>
            </a:pPr>
            <a:r>
              <a:rPr lang="zh-CN" altLang="en-US" dirty="0">
                <a:cs typeface="+mn-ea"/>
                <a:sym typeface="+mn-lt"/>
              </a:rPr>
              <a:t>每次迭代开始前，数组前部为有序序列，后部为无序序列。</a:t>
            </a:r>
            <a:endParaRPr lang="en-US" altLang="zh-CN" dirty="0">
              <a:cs typeface="+mn-ea"/>
              <a:sym typeface="+mn-lt"/>
            </a:endParaRPr>
          </a:p>
          <a:p>
            <a:pPr>
              <a:lnSpc>
                <a:spcPct val="120000"/>
              </a:lnSpc>
              <a:spcBef>
                <a:spcPts val="300"/>
              </a:spcBef>
            </a:pPr>
            <a:r>
              <a:rPr lang="zh-CN" altLang="en-US" dirty="0">
                <a:cs typeface="+mn-ea"/>
                <a:sym typeface="+mn-lt"/>
              </a:rPr>
              <a:t>每一次迭代从无序序列中选取最小值，跟有序序列后的第一个元素交换，使得有序序列的长度增加</a:t>
            </a:r>
            <a:r>
              <a:rPr lang="en-US" altLang="zh-CN" dirty="0">
                <a:cs typeface="+mn-ea"/>
                <a:sym typeface="+mn-lt"/>
              </a:rPr>
              <a:t>1</a:t>
            </a:r>
            <a:r>
              <a:rPr lang="zh-CN" altLang="en-US" dirty="0">
                <a:cs typeface="+mn-ea"/>
                <a:sym typeface="+mn-lt"/>
              </a:rPr>
              <a:t>，无序数列的长度减少</a:t>
            </a:r>
            <a:r>
              <a:rPr lang="en-US" altLang="zh-CN" dirty="0">
                <a:cs typeface="+mn-ea"/>
                <a:sym typeface="+mn-lt"/>
              </a:rPr>
              <a:t>1</a:t>
            </a:r>
            <a:r>
              <a:rPr lang="zh-CN" altLang="en-US" dirty="0">
                <a:cs typeface="+mn-ea"/>
                <a:sym typeface="+mn-lt"/>
              </a:rPr>
              <a:t>。</a:t>
            </a:r>
            <a:endParaRPr lang="en-US" altLang="zh-CN" dirty="0">
              <a:cs typeface="+mn-ea"/>
              <a:sym typeface="+mn-lt"/>
            </a:endParaRPr>
          </a:p>
          <a:p>
            <a:pPr>
              <a:lnSpc>
                <a:spcPct val="120000"/>
              </a:lnSpc>
              <a:spcBef>
                <a:spcPts val="300"/>
              </a:spcBef>
            </a:pPr>
            <a:r>
              <a:rPr lang="zh-CN" altLang="en-US" dirty="0">
                <a:cs typeface="+mn-ea"/>
                <a:sym typeface="+mn-lt"/>
              </a:rPr>
              <a:t>算法迭代</a:t>
            </a:r>
            <a:r>
              <a:rPr lang="en-US" altLang="zh-CN" dirty="0">
                <a:cs typeface="+mn-ea"/>
                <a:sym typeface="+mn-lt"/>
              </a:rPr>
              <a:t>n-1</a:t>
            </a:r>
            <a:r>
              <a:rPr lang="zh-CN" altLang="en-US" dirty="0">
                <a:cs typeface="+mn-ea"/>
                <a:sym typeface="+mn-lt"/>
              </a:rPr>
              <a:t>次后，整个数组变得有序。复杂度为</a:t>
            </a:r>
            <a:r>
              <a:rPr lang="en-US" altLang="zh-CN" dirty="0">
                <a:cs typeface="+mn-ea"/>
                <a:sym typeface="+mn-lt"/>
              </a:rPr>
              <a:t>O(n^2)</a:t>
            </a:r>
            <a:r>
              <a:rPr lang="zh-CN" altLang="en-US" dirty="0">
                <a:cs typeface="+mn-ea"/>
                <a:sym typeface="+mn-lt"/>
              </a:rPr>
              <a:t>。</a:t>
            </a:r>
          </a:p>
          <a:p>
            <a:pPr>
              <a:lnSpc>
                <a:spcPct val="120000"/>
              </a:lnSpc>
              <a:spcBef>
                <a:spcPts val="300"/>
              </a:spcBef>
            </a:pPr>
            <a:endParaRPr lang="zh-CN" altLang="en-US" dirty="0">
              <a:cs typeface="+mn-ea"/>
              <a:sym typeface="+mn-lt"/>
            </a:endParaRPr>
          </a:p>
        </p:txBody>
      </p:sp>
      <p:sp>
        <p:nvSpPr>
          <p:cNvPr id="3" name="灯片编号占位符 2"/>
          <p:cNvSpPr>
            <a:spLocks noGrp="1"/>
          </p:cNvSpPr>
          <p:nvPr>
            <p:ph type="sldNum" sz="quarter" idx="4294967295"/>
          </p:nvPr>
        </p:nvSpPr>
        <p:spPr>
          <a:xfrm>
            <a:off x="9347200" y="6356350"/>
            <a:ext cx="2844800" cy="365125"/>
          </a:xfrm>
          <a:prstGeom prst="rect">
            <a:avLst/>
          </a:prstGeom>
        </p:spPr>
        <p:txBody>
          <a:bodyPr/>
          <a:lstStyle/>
          <a:p>
            <a:pPr algn="r">
              <a:lnSpc>
                <a:spcPct val="120000"/>
              </a:lnSpc>
              <a:spcBef>
                <a:spcPts val="300"/>
              </a:spcBef>
              <a:defRPr/>
            </a:pPr>
            <a:fld id="{D7DBE045-BA99-46F1-9B81-65E8F8BF2354}" type="slidenum">
              <a:rPr lang="en-US" altLang="zh-CN" smtClean="0">
                <a:cs typeface="+mn-ea"/>
                <a:sym typeface="+mn-lt"/>
              </a:rPr>
              <a:t>2</a:t>
            </a:fld>
            <a:endParaRPr lang="zh-CN" altLang="en-US">
              <a:cs typeface="+mn-ea"/>
              <a:sym typeface="+mn-lt"/>
            </a:endParaRPr>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20974" y="1247186"/>
            <a:ext cx="4191000" cy="4363627"/>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zh-CN" sz="4400" dirty="0">
                <a:effectLst/>
                <a:cs typeface="+mn-ea"/>
                <a:sym typeface="+mn-lt"/>
              </a:rPr>
              <a:t>插入排序</a:t>
            </a:r>
            <a:endParaRPr lang="zh-CN" altLang="en-US" dirty="0"/>
          </a:p>
        </p:txBody>
      </p:sp>
      <p:sp>
        <p:nvSpPr>
          <p:cNvPr id="3" name="灯片编号占位符 2"/>
          <p:cNvSpPr>
            <a:spLocks noGrp="1"/>
          </p:cNvSpPr>
          <p:nvPr>
            <p:ph type="sldNum" sz="quarter" idx="4294967295"/>
          </p:nvPr>
        </p:nvSpPr>
        <p:spPr>
          <a:xfrm>
            <a:off x="9347200" y="6356350"/>
            <a:ext cx="2844800" cy="365125"/>
          </a:xfrm>
          <a:prstGeom prst="rect">
            <a:avLst/>
          </a:prstGeom>
        </p:spPr>
        <p:txBody>
          <a:bodyPr/>
          <a:lstStyle/>
          <a:p>
            <a:pPr algn="r">
              <a:lnSpc>
                <a:spcPct val="120000"/>
              </a:lnSpc>
              <a:spcBef>
                <a:spcPts val="300"/>
              </a:spcBef>
              <a:defRPr/>
            </a:pPr>
            <a:fld id="{D7DBE045-BA99-46F1-9B81-65E8F8BF2354}" type="slidenum">
              <a:rPr lang="en-US" altLang="zh-CN" smtClean="0">
                <a:cs typeface="+mn-ea"/>
                <a:sym typeface="+mn-lt"/>
              </a:rPr>
              <a:t>3</a:t>
            </a:fld>
            <a:endParaRPr lang="zh-CN" altLang="en-US">
              <a:cs typeface="+mn-ea"/>
              <a:sym typeface="+mn-lt"/>
            </a:endParaRPr>
          </a:p>
        </p:txBody>
      </p:sp>
      <p:pic>
        <p:nvPicPr>
          <p:cNvPr id="2" name="图片 1"/>
          <p:cNvPicPr>
            <a:picLocks noChangeAspect="1"/>
          </p:cNvPicPr>
          <p:nvPr/>
        </p:nvPicPr>
        <p:blipFill rotWithShape="1">
          <a:blip r:embed="rId2">
            <a:extLst>
              <a:ext uri="{28A0092B-C50C-407E-A947-70E740481C1C}">
                <a14:useLocalDpi xmlns:a14="http://schemas.microsoft.com/office/drawing/2010/main" val="0"/>
              </a:ext>
            </a:extLst>
          </a:blip>
          <a:srcRect l="31252" t="4794" r="14326" b="12965"/>
          <a:stretch>
            <a:fillRect/>
          </a:stretch>
        </p:blipFill>
        <p:spPr bwMode="auto">
          <a:xfrm>
            <a:off x="854873" y="1981200"/>
            <a:ext cx="5043441" cy="3933266"/>
          </a:xfrm>
          <a:prstGeom prst="rect">
            <a:avLst/>
          </a:prstGeom>
          <a:noFill/>
          <a:ln>
            <a:noFill/>
          </a:ln>
        </p:spPr>
      </p:pic>
      <p:sp>
        <p:nvSpPr>
          <p:cNvPr id="6" name="文本框 5"/>
          <p:cNvSpPr txBox="1"/>
          <p:nvPr/>
        </p:nvSpPr>
        <p:spPr>
          <a:xfrm>
            <a:off x="6383423" y="1805628"/>
            <a:ext cx="5334000" cy="4115678"/>
          </a:xfrm>
          <a:prstGeom prst="rect">
            <a:avLst/>
          </a:prstGeom>
          <a:noFill/>
        </p:spPr>
        <p:txBody>
          <a:bodyPr wrap="square">
            <a:spAutoFit/>
          </a:bodyPr>
          <a:lstStyle/>
          <a:p>
            <a:pPr>
              <a:lnSpc>
                <a:spcPct val="120000"/>
              </a:lnSpc>
              <a:spcBef>
                <a:spcPts val="300"/>
              </a:spcBef>
            </a:pPr>
            <a:r>
              <a:rPr lang="zh-CN" altLang="en-US" sz="2400" dirty="0">
                <a:cs typeface="+mn-ea"/>
                <a:sym typeface="+mn-lt"/>
              </a:rPr>
              <a:t>每次迭代开始前，数组前部为有序序列，后部为无序序列。</a:t>
            </a:r>
            <a:endParaRPr lang="en-US" altLang="zh-CN" sz="2400" dirty="0">
              <a:cs typeface="+mn-ea"/>
              <a:sym typeface="+mn-lt"/>
            </a:endParaRPr>
          </a:p>
          <a:p>
            <a:pPr>
              <a:lnSpc>
                <a:spcPct val="120000"/>
              </a:lnSpc>
              <a:spcBef>
                <a:spcPts val="300"/>
              </a:spcBef>
            </a:pPr>
            <a:r>
              <a:rPr lang="zh-CN" altLang="en-US" sz="2400" dirty="0">
                <a:cs typeface="+mn-ea"/>
                <a:sym typeface="+mn-lt"/>
              </a:rPr>
              <a:t>每一次迭代，选择无序序列的第一个元素，将其插入到前面的有序序列中的合适位置，使得插入后新的序列依然有序，序序列的长度增加</a:t>
            </a:r>
            <a:r>
              <a:rPr lang="en-US" altLang="zh-CN" sz="2400" dirty="0">
                <a:cs typeface="+mn-ea"/>
                <a:sym typeface="+mn-lt"/>
              </a:rPr>
              <a:t>1</a:t>
            </a:r>
            <a:r>
              <a:rPr lang="zh-CN" altLang="en-US" sz="2400" dirty="0">
                <a:cs typeface="+mn-ea"/>
                <a:sym typeface="+mn-lt"/>
              </a:rPr>
              <a:t>，无序数列的长度减少</a:t>
            </a:r>
            <a:r>
              <a:rPr lang="en-US" altLang="zh-CN" sz="2400" dirty="0">
                <a:cs typeface="+mn-ea"/>
                <a:sym typeface="+mn-lt"/>
              </a:rPr>
              <a:t>1</a:t>
            </a:r>
            <a:r>
              <a:rPr lang="zh-CN" altLang="en-US" sz="2400" dirty="0">
                <a:cs typeface="+mn-ea"/>
                <a:sym typeface="+mn-lt"/>
              </a:rPr>
              <a:t>。</a:t>
            </a:r>
            <a:endParaRPr lang="en-US" altLang="zh-CN" sz="2400" dirty="0">
              <a:cs typeface="+mn-ea"/>
              <a:sym typeface="+mn-lt"/>
            </a:endParaRPr>
          </a:p>
          <a:p>
            <a:pPr>
              <a:lnSpc>
                <a:spcPct val="120000"/>
              </a:lnSpc>
              <a:spcBef>
                <a:spcPts val="300"/>
              </a:spcBef>
            </a:pPr>
            <a:r>
              <a:rPr lang="zh-CN" altLang="en-US" sz="2400" dirty="0">
                <a:cs typeface="+mn-ea"/>
                <a:sym typeface="+mn-lt"/>
              </a:rPr>
              <a:t>算法迭代</a:t>
            </a:r>
            <a:r>
              <a:rPr lang="en-US" altLang="zh-CN" sz="2400" dirty="0">
                <a:cs typeface="+mn-ea"/>
                <a:sym typeface="+mn-lt"/>
              </a:rPr>
              <a:t>n-1</a:t>
            </a:r>
            <a:r>
              <a:rPr lang="zh-CN" altLang="en-US" sz="2400" dirty="0">
                <a:cs typeface="+mn-ea"/>
                <a:sym typeface="+mn-lt"/>
              </a:rPr>
              <a:t>次后，整个数组变得有序。复杂度为</a:t>
            </a:r>
            <a:r>
              <a:rPr lang="en-US" altLang="zh-CN" sz="2400" dirty="0">
                <a:cs typeface="+mn-ea"/>
                <a:sym typeface="+mn-lt"/>
              </a:rPr>
              <a:t>O(n^2)</a:t>
            </a:r>
            <a:r>
              <a:rPr lang="zh-CN" altLang="en-US" sz="2400" dirty="0">
                <a:cs typeface="+mn-ea"/>
                <a:sym typeface="+mn-lt"/>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normAutofit/>
          </a:bodyPr>
          <a:lstStyle/>
          <a:p>
            <a:r>
              <a:rPr lang="zh-CN" altLang="zh-CN" sz="4400" kern="100" dirty="0">
                <a:effectLst/>
                <a:cs typeface="+mn-ea"/>
                <a:sym typeface="+mn-lt"/>
              </a:rPr>
              <a:t>冒泡排序</a:t>
            </a:r>
            <a:endParaRPr lang="zh-CN" altLang="en-US" dirty="0"/>
          </a:p>
        </p:txBody>
      </p:sp>
      <p:sp>
        <p:nvSpPr>
          <p:cNvPr id="3" name="灯片编号占位符 2"/>
          <p:cNvSpPr>
            <a:spLocks noGrp="1"/>
          </p:cNvSpPr>
          <p:nvPr>
            <p:ph type="sldNum" sz="quarter" idx="4294967295"/>
          </p:nvPr>
        </p:nvSpPr>
        <p:spPr>
          <a:xfrm>
            <a:off x="9347200" y="6356350"/>
            <a:ext cx="2844800" cy="365125"/>
          </a:xfrm>
          <a:prstGeom prst="rect">
            <a:avLst/>
          </a:prstGeom>
        </p:spPr>
        <p:txBody>
          <a:bodyPr/>
          <a:lstStyle/>
          <a:p>
            <a:pPr algn="r">
              <a:lnSpc>
                <a:spcPct val="120000"/>
              </a:lnSpc>
              <a:spcBef>
                <a:spcPts val="300"/>
              </a:spcBef>
              <a:defRPr/>
            </a:pPr>
            <a:fld id="{D7DBE045-BA99-46F1-9B81-65E8F8BF2354}" type="slidenum">
              <a:rPr lang="en-US" altLang="zh-CN" smtClean="0">
                <a:cs typeface="+mn-ea"/>
                <a:sym typeface="+mn-lt"/>
              </a:rPr>
              <a:t>4</a:t>
            </a:fld>
            <a:endParaRPr lang="zh-CN" altLang="en-US">
              <a:cs typeface="+mn-ea"/>
              <a:sym typeface="+mn-lt"/>
            </a:endParaRPr>
          </a:p>
        </p:txBody>
      </p:sp>
      <p:pic>
        <p:nvPicPr>
          <p:cNvPr id="2" name="图片 1"/>
          <p:cNvPicPr>
            <a:picLocks noChangeAspect="1"/>
          </p:cNvPicPr>
          <p:nvPr/>
        </p:nvPicPr>
        <p:blipFill rotWithShape="1">
          <a:blip r:embed="rId2"/>
          <a:srcRect l="9254" t="10020" r="2147" b="3589"/>
          <a:stretch>
            <a:fillRect/>
          </a:stretch>
        </p:blipFill>
        <p:spPr bwMode="auto">
          <a:xfrm>
            <a:off x="762000" y="2057400"/>
            <a:ext cx="5848054" cy="3048000"/>
          </a:xfrm>
          <a:prstGeom prst="rect">
            <a:avLst/>
          </a:prstGeom>
          <a:ln>
            <a:noFill/>
          </a:ln>
        </p:spPr>
      </p:pic>
      <p:sp>
        <p:nvSpPr>
          <p:cNvPr id="6" name="文本框 5"/>
          <p:cNvSpPr txBox="1"/>
          <p:nvPr/>
        </p:nvSpPr>
        <p:spPr>
          <a:xfrm>
            <a:off x="6781800" y="1600200"/>
            <a:ext cx="5233026" cy="4154151"/>
          </a:xfrm>
          <a:prstGeom prst="rect">
            <a:avLst/>
          </a:prstGeom>
          <a:noFill/>
        </p:spPr>
        <p:txBody>
          <a:bodyPr wrap="square">
            <a:spAutoFit/>
          </a:bodyPr>
          <a:lstStyle/>
          <a:p>
            <a:pPr>
              <a:lnSpc>
                <a:spcPct val="120000"/>
              </a:lnSpc>
              <a:spcBef>
                <a:spcPts val="300"/>
              </a:spcBef>
            </a:pPr>
            <a:r>
              <a:rPr lang="zh-CN" altLang="en-US" sz="2400" dirty="0">
                <a:cs typeface="+mn-ea"/>
                <a:sym typeface="+mn-lt"/>
              </a:rPr>
              <a:t>每次迭代开始前，数组后部为有序序列，前部为无序序列。</a:t>
            </a:r>
            <a:endParaRPr lang="en-US" altLang="zh-CN" sz="2400" dirty="0">
              <a:cs typeface="+mn-ea"/>
              <a:sym typeface="+mn-lt"/>
            </a:endParaRPr>
          </a:p>
          <a:p>
            <a:pPr>
              <a:lnSpc>
                <a:spcPct val="120000"/>
              </a:lnSpc>
              <a:spcBef>
                <a:spcPts val="300"/>
              </a:spcBef>
            </a:pPr>
            <a:r>
              <a:rPr lang="zh-CN" altLang="en-US" sz="2400" dirty="0">
                <a:cs typeface="+mn-ea"/>
                <a:sym typeface="+mn-lt"/>
              </a:rPr>
              <a:t>每一次迭代，通过比较相邻元素的大小，把无序数组中的最大值交换到无序序列的尾部。</a:t>
            </a:r>
            <a:endParaRPr lang="en-US" altLang="zh-CN" sz="2400" dirty="0">
              <a:cs typeface="+mn-ea"/>
              <a:sym typeface="+mn-lt"/>
            </a:endParaRPr>
          </a:p>
          <a:p>
            <a:pPr>
              <a:lnSpc>
                <a:spcPct val="120000"/>
              </a:lnSpc>
              <a:spcBef>
                <a:spcPts val="300"/>
              </a:spcBef>
            </a:pPr>
            <a:r>
              <a:rPr lang="zh-CN" altLang="en-US" sz="2400" dirty="0">
                <a:cs typeface="+mn-ea"/>
                <a:sym typeface="+mn-lt"/>
              </a:rPr>
              <a:t>这个无序序列中的最大值跟后面的有序数列组合，使得后部的有序序列长足增加</a:t>
            </a:r>
            <a:r>
              <a:rPr lang="en-US" altLang="zh-CN" sz="2400" dirty="0">
                <a:cs typeface="+mn-ea"/>
                <a:sym typeface="+mn-lt"/>
              </a:rPr>
              <a:t>1</a:t>
            </a:r>
            <a:r>
              <a:rPr lang="zh-CN" altLang="en-US" sz="2400" dirty="0">
                <a:cs typeface="+mn-ea"/>
                <a:sym typeface="+mn-lt"/>
              </a:rPr>
              <a:t>，无序数列的长度减少</a:t>
            </a:r>
            <a:r>
              <a:rPr lang="en-US" altLang="zh-CN" sz="2400" dirty="0">
                <a:cs typeface="+mn-ea"/>
                <a:sym typeface="+mn-lt"/>
              </a:rPr>
              <a:t>1</a:t>
            </a:r>
            <a:r>
              <a:rPr lang="zh-CN" altLang="en-US" sz="2400" dirty="0">
                <a:cs typeface="+mn-ea"/>
                <a:sym typeface="+mn-lt"/>
              </a:rPr>
              <a:t>。</a:t>
            </a:r>
            <a:endParaRPr lang="en-US" altLang="zh-CN" sz="2400" dirty="0">
              <a:cs typeface="+mn-ea"/>
              <a:sym typeface="+mn-lt"/>
            </a:endParaRPr>
          </a:p>
          <a:p>
            <a:pPr>
              <a:lnSpc>
                <a:spcPct val="120000"/>
              </a:lnSpc>
              <a:spcBef>
                <a:spcPts val="300"/>
              </a:spcBef>
            </a:pPr>
            <a:r>
              <a:rPr lang="zh-CN" altLang="en-US" sz="2400" dirty="0">
                <a:cs typeface="+mn-ea"/>
                <a:sym typeface="+mn-lt"/>
              </a:rPr>
              <a:t>复杂度为</a:t>
            </a:r>
            <a:r>
              <a:rPr lang="en-US" altLang="zh-CN" sz="2400" dirty="0">
                <a:cs typeface="+mn-ea"/>
                <a:sym typeface="+mn-lt"/>
              </a:rPr>
              <a:t>O(n^2)</a:t>
            </a:r>
            <a:r>
              <a:rPr lang="zh-CN" altLang="en-US" sz="2400" dirty="0">
                <a:cs typeface="+mn-ea"/>
                <a:sym typeface="+mn-lt"/>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r>
              <a:rPr lang="zh-CN" altLang="en-US" dirty="0"/>
              <a:t>现有排序算法分析</a:t>
            </a:r>
          </a:p>
        </p:txBody>
      </p:sp>
      <p:sp>
        <p:nvSpPr>
          <p:cNvPr id="11" name="内容占位符 10"/>
          <p:cNvSpPr>
            <a:spLocks noGrp="1"/>
          </p:cNvSpPr>
          <p:nvPr>
            <p:ph idx="1"/>
          </p:nvPr>
        </p:nvSpPr>
        <p:spPr/>
        <p:txBody>
          <a:bodyPr>
            <a:normAutofit/>
          </a:bodyPr>
          <a:lstStyle/>
          <a:p>
            <a:pPr>
              <a:lnSpc>
                <a:spcPct val="120000"/>
              </a:lnSpc>
              <a:spcBef>
                <a:spcPts val="600"/>
              </a:spcBef>
            </a:pPr>
            <a:r>
              <a:rPr lang="zh-CN" altLang="zh-CN" dirty="0">
                <a:effectLst/>
                <a:cs typeface="+mn-ea"/>
                <a:sym typeface="+mn-lt"/>
              </a:rPr>
              <a:t>三种排序方式都是从数组的一个端点开始，逐步增减有序数列的长度，每次迭代，就增加一个有序的元素。通过</a:t>
            </a:r>
            <a:r>
              <a:rPr lang="en-US" altLang="zh-CN" dirty="0">
                <a:effectLst/>
                <a:cs typeface="+mn-ea"/>
                <a:sym typeface="+mn-lt"/>
              </a:rPr>
              <a:t>n-1</a:t>
            </a:r>
            <a:r>
              <a:rPr lang="zh-CN" altLang="zh-CN" dirty="0">
                <a:effectLst/>
                <a:cs typeface="+mn-ea"/>
                <a:sym typeface="+mn-lt"/>
              </a:rPr>
              <a:t>次迭代后，整个数组变得有序。</a:t>
            </a:r>
            <a:endParaRPr lang="en-US" altLang="zh-CN" dirty="0">
              <a:effectLst/>
              <a:cs typeface="+mn-ea"/>
              <a:sym typeface="+mn-lt"/>
            </a:endParaRPr>
          </a:p>
          <a:p>
            <a:pPr>
              <a:lnSpc>
                <a:spcPct val="120000"/>
              </a:lnSpc>
              <a:spcBef>
                <a:spcPts val="600"/>
              </a:spcBef>
            </a:pPr>
            <a:r>
              <a:rPr lang="zh-CN" altLang="zh-CN" dirty="0">
                <a:effectLst/>
                <a:cs typeface="+mn-ea"/>
                <a:sym typeface="+mn-lt"/>
              </a:rPr>
              <a:t>固定了有序数组的增长方向，每次要增加一个有序元素</a:t>
            </a:r>
            <a:r>
              <a:rPr lang="zh-CN" altLang="en-US" dirty="0">
                <a:effectLst/>
                <a:cs typeface="+mn-ea"/>
                <a:sym typeface="+mn-lt"/>
              </a:rPr>
              <a:t>：</a:t>
            </a:r>
            <a:endParaRPr lang="en-US" altLang="zh-CN" dirty="0">
              <a:effectLst/>
              <a:cs typeface="+mn-ea"/>
              <a:sym typeface="+mn-lt"/>
            </a:endParaRPr>
          </a:p>
          <a:p>
            <a:pPr marL="800100" lvl="1" indent="-342900">
              <a:lnSpc>
                <a:spcPct val="120000"/>
              </a:lnSpc>
              <a:spcBef>
                <a:spcPts val="600"/>
              </a:spcBef>
              <a:buFont typeface="Arial" panose="020B0604020202090204" pitchFamily="34" charset="0"/>
              <a:buChar char="•"/>
            </a:pPr>
            <a:r>
              <a:rPr lang="zh-CN" altLang="zh-CN" dirty="0">
                <a:effectLst/>
                <a:cs typeface="+mn-ea"/>
                <a:sym typeface="+mn-lt"/>
              </a:rPr>
              <a:t>遍历剩下的无序元素（选择排序、冒泡排序）</a:t>
            </a:r>
            <a:endParaRPr lang="en-US" altLang="zh-CN" dirty="0">
              <a:effectLst/>
              <a:cs typeface="+mn-ea"/>
              <a:sym typeface="+mn-lt"/>
            </a:endParaRPr>
          </a:p>
          <a:p>
            <a:pPr marL="800100" lvl="1" indent="-342900">
              <a:lnSpc>
                <a:spcPct val="120000"/>
              </a:lnSpc>
              <a:spcBef>
                <a:spcPts val="600"/>
              </a:spcBef>
              <a:buFont typeface="Arial" panose="020B0604020202090204" pitchFamily="34" charset="0"/>
              <a:buChar char="•"/>
            </a:pPr>
            <a:r>
              <a:rPr lang="zh-CN" altLang="zh-CN" dirty="0">
                <a:effectLst/>
                <a:cs typeface="+mn-ea"/>
                <a:sym typeface="+mn-lt"/>
              </a:rPr>
              <a:t>遍历已经完成排序的有序元素（插入排序）</a:t>
            </a:r>
            <a:endParaRPr lang="en-US" altLang="zh-CN" dirty="0">
              <a:effectLst/>
              <a:cs typeface="+mn-ea"/>
              <a:sym typeface="+mn-lt"/>
            </a:endParaRPr>
          </a:p>
          <a:p>
            <a:pPr>
              <a:lnSpc>
                <a:spcPct val="120000"/>
              </a:lnSpc>
              <a:spcBef>
                <a:spcPts val="600"/>
              </a:spcBef>
            </a:pPr>
            <a:r>
              <a:rPr lang="zh-CN" altLang="zh-CN" dirty="0">
                <a:effectLst/>
                <a:cs typeface="+mn-ea"/>
                <a:sym typeface="+mn-lt"/>
              </a:rPr>
              <a:t>平均下来，每次遍历的复杂度都是</a:t>
            </a:r>
            <a:r>
              <a:rPr lang="en-US" altLang="zh-CN" dirty="0">
                <a:effectLst/>
                <a:cs typeface="+mn-ea"/>
                <a:sym typeface="+mn-lt"/>
              </a:rPr>
              <a:t>O(n)</a:t>
            </a:r>
            <a:r>
              <a:rPr lang="zh-CN" altLang="zh-CN" dirty="0">
                <a:effectLst/>
                <a:cs typeface="+mn-ea"/>
                <a:sym typeface="+mn-lt"/>
              </a:rPr>
              <a:t> </a:t>
            </a:r>
            <a:endParaRPr lang="en-US" altLang="zh-CN" dirty="0">
              <a:effectLst/>
              <a:cs typeface="+mn-ea"/>
              <a:sym typeface="+mn-lt"/>
            </a:endParaRPr>
          </a:p>
          <a:p>
            <a:pPr marL="0" indent="0">
              <a:lnSpc>
                <a:spcPct val="120000"/>
              </a:lnSpc>
              <a:spcBef>
                <a:spcPts val="600"/>
              </a:spcBef>
              <a:buNone/>
            </a:pPr>
            <a:r>
              <a:rPr lang="zh-CN" altLang="zh-CN" dirty="0">
                <a:effectLst/>
                <a:cs typeface="+mn-ea"/>
                <a:sym typeface="+mn-lt"/>
              </a:rPr>
              <a:t>有没有可能，不按照固定的顺序来增加有序元素的数量呢</a:t>
            </a:r>
            <a:r>
              <a:rPr lang="zh-CN" altLang="en-US" dirty="0">
                <a:effectLst/>
                <a:cs typeface="+mn-ea"/>
                <a:sym typeface="+mn-lt"/>
              </a:rPr>
              <a:t>？</a:t>
            </a:r>
            <a:endParaRPr lang="en-US" altLang="zh-CN" dirty="0">
              <a:effectLst/>
              <a:cs typeface="+mn-ea"/>
              <a:sym typeface="+mn-lt"/>
            </a:endParaRPr>
          </a:p>
          <a:p>
            <a:pPr marL="0" indent="0">
              <a:buNone/>
            </a:pPr>
            <a:endParaRPr lang="zh-CN" altLang="en-US" dirty="0"/>
          </a:p>
        </p:txBody>
      </p:sp>
      <p:sp>
        <p:nvSpPr>
          <p:cNvPr id="3" name="灯片编号占位符 2"/>
          <p:cNvSpPr>
            <a:spLocks noGrp="1"/>
          </p:cNvSpPr>
          <p:nvPr>
            <p:ph type="sldNum" sz="quarter" idx="4294967295"/>
          </p:nvPr>
        </p:nvSpPr>
        <p:spPr>
          <a:xfrm>
            <a:off x="9347200" y="6356350"/>
            <a:ext cx="2844800" cy="365125"/>
          </a:xfrm>
          <a:prstGeom prst="rect">
            <a:avLst/>
          </a:prstGeom>
        </p:spPr>
        <p:txBody>
          <a:bodyPr/>
          <a:lstStyle/>
          <a:p>
            <a:pPr algn="r">
              <a:lnSpc>
                <a:spcPct val="120000"/>
              </a:lnSpc>
              <a:spcBef>
                <a:spcPts val="300"/>
              </a:spcBef>
            </a:pPr>
            <a:fld id="{0063EC4C-CFD8-4F45-A0A2-30028C1F73DB}" type="slidenum">
              <a:rPr lang="zh-CN" altLang="en-US" smtClean="0">
                <a:cs typeface="+mn-ea"/>
                <a:sym typeface="+mn-lt"/>
              </a:rPr>
              <a:t>5</a:t>
            </a:fld>
            <a:endParaRPr lang="zh-CN" altLang="en-US">
              <a:cs typeface="+mn-ea"/>
              <a:sym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r>
              <a:rPr lang="zh-CN" altLang="en-US" dirty="0"/>
              <a:t>改进思路</a:t>
            </a:r>
          </a:p>
        </p:txBody>
      </p:sp>
      <p:sp>
        <p:nvSpPr>
          <p:cNvPr id="11" name="内容占位符 10"/>
          <p:cNvSpPr>
            <a:spLocks noGrp="1"/>
          </p:cNvSpPr>
          <p:nvPr>
            <p:ph idx="1"/>
          </p:nvPr>
        </p:nvSpPr>
        <p:spPr/>
        <p:txBody>
          <a:bodyPr/>
          <a:lstStyle/>
          <a:p>
            <a:pPr>
              <a:lnSpc>
                <a:spcPct val="120000"/>
              </a:lnSpc>
              <a:spcBef>
                <a:spcPts val="300"/>
              </a:spcBef>
            </a:pPr>
            <a:r>
              <a:rPr lang="zh-CN" altLang="zh-CN" sz="2400" dirty="0">
                <a:effectLst/>
                <a:cs typeface="+mn-ea"/>
                <a:sym typeface="+mn-lt"/>
              </a:rPr>
              <a:t>如果能像我们前面的折半查找那样，每确定一个有序的元素，就让剩下的无序元素的遍历空间减半，是不是就能让我们的排序算法的时间复杂度显著降低</a:t>
            </a:r>
            <a:r>
              <a:rPr lang="zh-CN" altLang="en-US" sz="2400" dirty="0">
                <a:effectLst/>
                <a:cs typeface="+mn-ea"/>
                <a:sym typeface="+mn-lt"/>
              </a:rPr>
              <a:t>？</a:t>
            </a:r>
            <a:endParaRPr lang="zh-CN" altLang="en-US" sz="2400" dirty="0">
              <a:cs typeface="+mn-ea"/>
              <a:sym typeface="+mn-lt"/>
            </a:endParaRPr>
          </a:p>
          <a:p>
            <a:pPr marL="0" indent="0">
              <a:buNone/>
            </a:pPr>
            <a:endParaRPr lang="zh-CN" altLang="en-US" dirty="0"/>
          </a:p>
        </p:txBody>
      </p:sp>
      <p:sp>
        <p:nvSpPr>
          <p:cNvPr id="3" name="灯片编号占位符 2"/>
          <p:cNvSpPr>
            <a:spLocks noGrp="1"/>
          </p:cNvSpPr>
          <p:nvPr>
            <p:ph type="sldNum" sz="quarter" idx="4294967295"/>
          </p:nvPr>
        </p:nvSpPr>
        <p:spPr>
          <a:xfrm>
            <a:off x="9347200" y="6356350"/>
            <a:ext cx="2844800" cy="365125"/>
          </a:xfrm>
          <a:prstGeom prst="rect">
            <a:avLst/>
          </a:prstGeom>
        </p:spPr>
        <p:txBody>
          <a:bodyPr/>
          <a:lstStyle/>
          <a:p>
            <a:pPr algn="r">
              <a:lnSpc>
                <a:spcPct val="120000"/>
              </a:lnSpc>
              <a:spcBef>
                <a:spcPts val="300"/>
              </a:spcBef>
            </a:pPr>
            <a:fld id="{0063EC4C-CFD8-4F45-A0A2-30028C1F73DB}" type="slidenum">
              <a:rPr lang="zh-CN" altLang="en-US" smtClean="0">
                <a:cs typeface="+mn-ea"/>
                <a:sym typeface="+mn-lt"/>
              </a:rPr>
              <a:t>6</a:t>
            </a:fld>
            <a:endParaRPr lang="zh-CN" altLang="en-US">
              <a:cs typeface="+mn-ea"/>
              <a:sym typeface="+mn-lt"/>
            </a:endParaRPr>
          </a:p>
        </p:txBody>
      </p:sp>
      <p:pic>
        <p:nvPicPr>
          <p:cNvPr id="2" name="图片 1"/>
          <p:cNvPicPr>
            <a:picLocks noChangeAspect="1"/>
          </p:cNvPicPr>
          <p:nvPr/>
        </p:nvPicPr>
        <p:blipFill>
          <a:blip r:embed="rId2"/>
          <a:stretch>
            <a:fillRect/>
          </a:stretch>
        </p:blipFill>
        <p:spPr>
          <a:xfrm>
            <a:off x="2237300" y="2936141"/>
            <a:ext cx="8292245" cy="1096187"/>
          </a:xfrm>
          <a:prstGeom prst="rect">
            <a:avLst/>
          </a:prstGeom>
        </p:spPr>
      </p:pic>
      <p:sp>
        <p:nvSpPr>
          <p:cNvPr id="4" name="文本框 3"/>
          <p:cNvSpPr txBox="1"/>
          <p:nvPr/>
        </p:nvSpPr>
        <p:spPr>
          <a:xfrm>
            <a:off x="1371600" y="4119082"/>
            <a:ext cx="10212278" cy="2419830"/>
          </a:xfrm>
          <a:prstGeom prst="rect">
            <a:avLst/>
          </a:prstGeom>
          <a:noFill/>
        </p:spPr>
        <p:txBody>
          <a:bodyPr wrap="square">
            <a:spAutoFit/>
          </a:bodyPr>
          <a:lstStyle/>
          <a:p>
            <a:pPr>
              <a:lnSpc>
                <a:spcPct val="120000"/>
              </a:lnSpc>
              <a:spcBef>
                <a:spcPts val="300"/>
              </a:spcBef>
            </a:pPr>
            <a:r>
              <a:rPr lang="zh-CN" altLang="zh-CN" sz="2400" dirty="0">
                <a:effectLst/>
                <a:cs typeface="+mn-ea"/>
                <a:sym typeface="+mn-lt"/>
              </a:rPr>
              <a:t>对于一个无序的数组，理想情况下，我们希望能够找到一个元素（绿块）。</a:t>
            </a:r>
            <a:endParaRPr lang="en-US" altLang="zh-CN" sz="2400" dirty="0">
              <a:effectLst/>
              <a:cs typeface="+mn-ea"/>
              <a:sym typeface="+mn-lt"/>
            </a:endParaRPr>
          </a:p>
          <a:p>
            <a:pPr>
              <a:lnSpc>
                <a:spcPct val="120000"/>
              </a:lnSpc>
              <a:spcBef>
                <a:spcPts val="300"/>
              </a:spcBef>
            </a:pPr>
            <a:r>
              <a:rPr lang="zh-CN" altLang="zh-CN" sz="2400" dirty="0">
                <a:effectLst/>
                <a:cs typeface="+mn-ea"/>
                <a:sym typeface="+mn-lt"/>
              </a:rPr>
              <a:t>这个元素恰好能把无序数组分成元素数量相等的两部分</a:t>
            </a:r>
            <a:r>
              <a:rPr lang="zh-CN" altLang="en-US" sz="2400" dirty="0">
                <a:effectLst/>
                <a:cs typeface="+mn-ea"/>
                <a:sym typeface="+mn-lt"/>
              </a:rPr>
              <a:t>：</a:t>
            </a:r>
            <a:endParaRPr lang="en-US" altLang="zh-CN" sz="2400" dirty="0">
              <a:effectLst/>
              <a:cs typeface="+mn-ea"/>
              <a:sym typeface="+mn-lt"/>
            </a:endParaRPr>
          </a:p>
          <a:p>
            <a:pPr marL="742950" lvl="1" indent="-285750">
              <a:lnSpc>
                <a:spcPct val="120000"/>
              </a:lnSpc>
              <a:spcBef>
                <a:spcPts val="300"/>
              </a:spcBef>
              <a:buFont typeface="Arial" panose="020B0604020202090204" pitchFamily="34" charset="0"/>
              <a:buChar char="•"/>
            </a:pPr>
            <a:r>
              <a:rPr lang="zh-CN" altLang="zh-CN" sz="2400" dirty="0">
                <a:effectLst/>
                <a:cs typeface="+mn-ea"/>
                <a:sym typeface="+mn-lt"/>
              </a:rPr>
              <a:t>前面的元素都比它小</a:t>
            </a:r>
            <a:endParaRPr lang="en-US" altLang="zh-CN" sz="2400" dirty="0">
              <a:effectLst/>
              <a:cs typeface="+mn-ea"/>
              <a:sym typeface="+mn-lt"/>
            </a:endParaRPr>
          </a:p>
          <a:p>
            <a:pPr marL="742950" lvl="1" indent="-285750">
              <a:lnSpc>
                <a:spcPct val="120000"/>
              </a:lnSpc>
              <a:spcBef>
                <a:spcPts val="300"/>
              </a:spcBef>
              <a:buFont typeface="Arial" panose="020B0604020202090204" pitchFamily="34" charset="0"/>
              <a:buChar char="•"/>
            </a:pPr>
            <a:r>
              <a:rPr lang="zh-CN" altLang="zh-CN" sz="2400" dirty="0">
                <a:effectLst/>
                <a:cs typeface="+mn-ea"/>
                <a:sym typeface="+mn-lt"/>
              </a:rPr>
              <a:t>后面的元素都比他大</a:t>
            </a:r>
            <a:endParaRPr lang="en-US" altLang="zh-CN" sz="2400" dirty="0">
              <a:effectLst/>
              <a:cs typeface="+mn-ea"/>
              <a:sym typeface="+mn-lt"/>
            </a:endParaRPr>
          </a:p>
          <a:p>
            <a:pPr>
              <a:lnSpc>
                <a:spcPct val="120000"/>
              </a:lnSpc>
              <a:spcBef>
                <a:spcPts val="300"/>
              </a:spcBef>
            </a:pPr>
            <a:r>
              <a:rPr lang="zh-CN" altLang="zh-CN" sz="2400" dirty="0">
                <a:effectLst/>
                <a:cs typeface="+mn-ea"/>
                <a:sym typeface="+mn-lt"/>
              </a:rPr>
              <a:t>这个绿块可以固定下来，它在有序数组中的位置也确定了。</a:t>
            </a:r>
            <a:endParaRPr lang="zh-CN" altLang="en-US" sz="2400" dirty="0">
              <a:cs typeface="+mn-ea"/>
              <a:sym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9347200" y="6356350"/>
            <a:ext cx="2844800" cy="365125"/>
          </a:xfrm>
          <a:prstGeom prst="rect">
            <a:avLst/>
          </a:prstGeom>
        </p:spPr>
        <p:txBody>
          <a:bodyPr/>
          <a:lstStyle/>
          <a:p>
            <a:pPr algn="r">
              <a:lnSpc>
                <a:spcPct val="120000"/>
              </a:lnSpc>
              <a:spcBef>
                <a:spcPts val="300"/>
              </a:spcBef>
            </a:pPr>
            <a:fld id="{0063EC4C-CFD8-4F45-A0A2-30028C1F73DB}" type="slidenum">
              <a:rPr lang="zh-CN" altLang="en-US" smtClean="0">
                <a:cs typeface="+mn-ea"/>
                <a:sym typeface="+mn-lt"/>
              </a:rPr>
              <a:t>7</a:t>
            </a:fld>
            <a:endParaRPr lang="zh-CN" altLang="en-US" dirty="0">
              <a:cs typeface="+mn-ea"/>
              <a:sym typeface="+mn-lt"/>
            </a:endParaRPr>
          </a:p>
        </p:txBody>
      </p:sp>
      <p:pic>
        <p:nvPicPr>
          <p:cNvPr id="8" name="图片 7"/>
          <p:cNvPicPr>
            <a:picLocks noChangeAspect="1"/>
          </p:cNvPicPr>
          <p:nvPr/>
        </p:nvPicPr>
        <p:blipFill>
          <a:blip r:embed="rId3"/>
          <a:stretch>
            <a:fillRect/>
          </a:stretch>
        </p:blipFill>
        <p:spPr>
          <a:xfrm>
            <a:off x="685061" y="1866044"/>
            <a:ext cx="10593278" cy="1400370"/>
          </a:xfrm>
          <a:prstGeom prst="rect">
            <a:avLst/>
          </a:prstGeom>
        </p:spPr>
      </p:pic>
      <p:sp>
        <p:nvSpPr>
          <p:cNvPr id="14" name="文本框 13"/>
          <p:cNvSpPr txBox="1"/>
          <p:nvPr/>
        </p:nvSpPr>
        <p:spPr>
          <a:xfrm>
            <a:off x="1524000" y="3749173"/>
            <a:ext cx="8915400" cy="1458595"/>
          </a:xfrm>
          <a:prstGeom prst="rect">
            <a:avLst/>
          </a:prstGeom>
          <a:noFill/>
        </p:spPr>
        <p:txBody>
          <a:bodyPr wrap="square">
            <a:spAutoFit/>
          </a:bodyPr>
          <a:lstStyle/>
          <a:p>
            <a:pPr marL="342900" indent="-342900">
              <a:lnSpc>
                <a:spcPct val="120000"/>
              </a:lnSpc>
              <a:spcBef>
                <a:spcPts val="300"/>
              </a:spcBef>
              <a:buFont typeface="Arial" panose="020B0604020202090204" pitchFamily="34" charset="0"/>
              <a:buChar char="•"/>
            </a:pPr>
            <a:r>
              <a:rPr lang="zh-CN" altLang="zh-CN" sz="2400" dirty="0">
                <a:effectLst/>
                <a:cs typeface="+mn-ea"/>
                <a:sym typeface="+mn-lt"/>
              </a:rPr>
              <a:t>在剩下的无序的区间上，接着重复上面操作，找一个元素把区间接着切成两半。</a:t>
            </a:r>
            <a:endParaRPr lang="en-US" altLang="zh-CN" sz="2400" dirty="0">
              <a:effectLst/>
              <a:cs typeface="+mn-ea"/>
              <a:sym typeface="+mn-lt"/>
            </a:endParaRPr>
          </a:p>
          <a:p>
            <a:pPr marL="342900" indent="-342900">
              <a:lnSpc>
                <a:spcPct val="120000"/>
              </a:lnSpc>
              <a:spcBef>
                <a:spcPts val="300"/>
              </a:spcBef>
              <a:buFont typeface="Arial" panose="020B0604020202090204" pitchFamily="34" charset="0"/>
              <a:buChar char="•"/>
            </a:pPr>
            <a:r>
              <a:rPr lang="zh-CN" altLang="zh-CN" sz="2400" dirty="0">
                <a:effectLst/>
                <a:cs typeface="+mn-ea"/>
                <a:sym typeface="+mn-lt"/>
              </a:rPr>
              <a:t>等到区间长度是</a:t>
            </a:r>
            <a:r>
              <a:rPr lang="en-US" altLang="zh-CN" sz="2400" dirty="0">
                <a:effectLst/>
                <a:cs typeface="+mn-ea"/>
                <a:sym typeface="+mn-lt"/>
              </a:rPr>
              <a:t>1</a:t>
            </a:r>
            <a:r>
              <a:rPr lang="zh-CN" altLang="zh-CN" sz="2400" dirty="0">
                <a:effectLst/>
                <a:cs typeface="+mn-ea"/>
                <a:sym typeface="+mn-lt"/>
              </a:rPr>
              <a:t>的时候，结束。</a:t>
            </a:r>
            <a:endParaRPr lang="zh-CN" altLang="en-US" sz="2400" dirty="0">
              <a:cs typeface="+mn-ea"/>
              <a:sym typeface="+mn-lt"/>
            </a:endParaRPr>
          </a:p>
        </p:txBody>
      </p:sp>
      <p:sp>
        <p:nvSpPr>
          <p:cNvPr id="15" name="标题 9"/>
          <p:cNvSpPr txBox="1"/>
          <p:nvPr/>
        </p:nvSpPr>
        <p:spPr>
          <a:xfrm>
            <a:off x="854873" y="593794"/>
            <a:ext cx="11057101" cy="78949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改进思路</a:t>
            </a:r>
          </a:p>
        </p:txBody>
      </p:sp>
      <p:sp>
        <p:nvSpPr>
          <p:cNvPr id="17" name="文本框 16"/>
          <p:cNvSpPr txBox="1"/>
          <p:nvPr/>
        </p:nvSpPr>
        <p:spPr>
          <a:xfrm>
            <a:off x="1219939" y="5373644"/>
            <a:ext cx="10058400" cy="461665"/>
          </a:xfrm>
          <a:prstGeom prst="rect">
            <a:avLst/>
          </a:prstGeom>
          <a:noFill/>
        </p:spPr>
        <p:txBody>
          <a:bodyPr wrap="square">
            <a:spAutoFit/>
          </a:bodyPr>
          <a:lstStyle/>
          <a:p>
            <a:r>
              <a:rPr lang="zh-CN" altLang="zh-CN" sz="2400" kern="100" dirty="0">
                <a:effectLst/>
                <a:latin typeface="+mj-ea"/>
                <a:ea typeface="+mj-ea"/>
                <a:cs typeface="Times New Roman" panose="02020503050405090304" pitchFamily="18" charset="0"/>
              </a:rPr>
              <a:t>如何恰好找到一个元素，让这个元素把无序区间分成数量相等的两份</a:t>
            </a:r>
            <a:r>
              <a:rPr lang="zh-CN" altLang="en-US" sz="2400" kern="100" dirty="0">
                <a:effectLst/>
                <a:latin typeface="+mj-ea"/>
                <a:ea typeface="+mj-ea"/>
                <a:cs typeface="Times New Roman" panose="02020503050405090304" pitchFamily="18" charset="0"/>
              </a:rPr>
              <a:t>？</a:t>
            </a:r>
            <a:endParaRPr lang="zh-CN" altLang="en-US" sz="2400" dirty="0">
              <a:latin typeface="+mj-ea"/>
              <a:ea typeface="+mj-ea"/>
            </a:endParaRPr>
          </a:p>
        </p:txBody>
      </p:sp>
      <p:sp>
        <p:nvSpPr>
          <p:cNvPr id="19" name="文本框 18"/>
          <p:cNvSpPr txBox="1"/>
          <p:nvPr/>
        </p:nvSpPr>
        <p:spPr>
          <a:xfrm>
            <a:off x="1219939" y="6003791"/>
            <a:ext cx="10489461" cy="461665"/>
          </a:xfrm>
          <a:prstGeom prst="rect">
            <a:avLst/>
          </a:prstGeom>
          <a:noFill/>
        </p:spPr>
        <p:txBody>
          <a:bodyPr wrap="square">
            <a:spAutoFit/>
          </a:bodyPr>
          <a:lstStyle/>
          <a:p>
            <a:r>
              <a:rPr lang="zh-CN" altLang="zh-CN" sz="2400" kern="100" dirty="0">
                <a:effectLst/>
                <a:cs typeface="+mn-ea"/>
                <a:sym typeface="+mn-lt"/>
              </a:rPr>
              <a:t>随便找个元素</a:t>
            </a:r>
            <a:r>
              <a:rPr lang="zh-CN" altLang="en-US" sz="2400" kern="100" dirty="0">
                <a:effectLst/>
                <a:cs typeface="+mn-ea"/>
                <a:sym typeface="+mn-lt"/>
              </a:rPr>
              <a:t>：</a:t>
            </a:r>
            <a:r>
              <a:rPr lang="zh-CN" altLang="zh-CN" sz="2400" kern="100" dirty="0">
                <a:effectLst/>
                <a:cs typeface="+mn-ea"/>
                <a:sym typeface="+mn-lt"/>
              </a:rPr>
              <a:t>直接选择无序区间的第一个元素，用它来做我们的基准元素</a:t>
            </a:r>
            <a:endParaRPr lang="en-US" altLang="zh-CN" sz="2400" kern="100" dirty="0">
              <a:effectLst/>
              <a:cs typeface="+mn-ea"/>
              <a:sym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lvl="0" fontAlgn="base">
              <a:lnSpc>
                <a:spcPct val="150000"/>
              </a:lnSpc>
              <a:spcBef>
                <a:spcPct val="5000"/>
              </a:spcBef>
              <a:spcAft>
                <a:spcPct val="5000"/>
              </a:spcAft>
            </a:pPr>
            <a:r>
              <a:rPr lang="zh-CN" altLang="en-US" dirty="0">
                <a:sym typeface="+mn-lt"/>
              </a:rPr>
              <a:t>快速排序</a:t>
            </a:r>
          </a:p>
        </p:txBody>
      </p:sp>
      <p:sp>
        <p:nvSpPr>
          <p:cNvPr id="3" name="内容占位符 2"/>
          <p:cNvSpPr>
            <a:spLocks noGrp="1"/>
          </p:cNvSpPr>
          <p:nvPr>
            <p:ph idx="1"/>
          </p:nvPr>
        </p:nvSpPr>
        <p:spPr/>
        <p:txBody>
          <a:bodyPr/>
          <a:lstStyle/>
          <a:p>
            <a:pPr marL="0" indent="0">
              <a:buNone/>
            </a:pPr>
            <a:r>
              <a:rPr kumimoji="1" lang="zh-CN" altLang="en-US" b="1" dirty="0">
                <a:solidFill>
                  <a:srgbClr val="003300"/>
                </a:solidFill>
                <a:cs typeface="+mn-ea"/>
                <a:sym typeface="+mn-lt"/>
              </a:rPr>
              <a:t>基本思想</a:t>
            </a:r>
            <a:endParaRPr lang="en-US" altLang="zh-CN" sz="2800" b="1" dirty="0">
              <a:solidFill>
                <a:srgbClr val="0000FF"/>
              </a:solidFill>
              <a:cs typeface="+mn-ea"/>
              <a:sym typeface="+mn-lt"/>
            </a:endParaRPr>
          </a:p>
          <a:p>
            <a:pPr>
              <a:lnSpc>
                <a:spcPct val="120000"/>
              </a:lnSpc>
            </a:pPr>
            <a:r>
              <a:rPr lang="zh-CN" altLang="en-US" sz="2800" b="1" dirty="0">
                <a:solidFill>
                  <a:srgbClr val="0000FF"/>
                </a:solidFill>
                <a:cs typeface="+mn-ea"/>
                <a:sym typeface="+mn-lt"/>
              </a:rPr>
              <a:t>任取待排序对象序列中的某个对象</a:t>
            </a:r>
            <a:r>
              <a:rPr lang="en-US" altLang="zh-CN" sz="2800" b="1" dirty="0">
                <a:solidFill>
                  <a:srgbClr val="0000FF"/>
                </a:solidFill>
                <a:cs typeface="+mn-ea"/>
                <a:sym typeface="+mn-lt"/>
              </a:rPr>
              <a:t>v</a:t>
            </a:r>
            <a:r>
              <a:rPr kumimoji="1" lang="en-US" altLang="zh-CN" sz="2800" b="1" u="sng" dirty="0">
                <a:solidFill>
                  <a:srgbClr val="FF3300"/>
                </a:solidFill>
                <a:cs typeface="+mn-ea"/>
                <a:sym typeface="+mn-lt"/>
              </a:rPr>
              <a:t>(</a:t>
            </a:r>
            <a:r>
              <a:rPr kumimoji="1" lang="zh-CN" altLang="en-US" sz="2800" b="1" u="sng" dirty="0">
                <a:solidFill>
                  <a:srgbClr val="FF3300"/>
                </a:solidFill>
                <a:cs typeface="+mn-ea"/>
                <a:sym typeface="+mn-lt"/>
              </a:rPr>
              <a:t>枢轴，基准，支点</a:t>
            </a:r>
            <a:r>
              <a:rPr kumimoji="1" lang="en-US" altLang="zh-CN" sz="2800" b="1" u="sng" dirty="0">
                <a:solidFill>
                  <a:srgbClr val="FF3300"/>
                </a:solidFill>
                <a:cs typeface="+mn-ea"/>
                <a:sym typeface="+mn-lt"/>
              </a:rPr>
              <a:t>)</a:t>
            </a:r>
            <a:r>
              <a:rPr lang="zh-CN" altLang="en-US" sz="2800" b="1" dirty="0">
                <a:solidFill>
                  <a:srgbClr val="0000FF"/>
                </a:solidFill>
                <a:cs typeface="+mn-ea"/>
                <a:sym typeface="+mn-lt"/>
              </a:rPr>
              <a:t>，按照该对象的关键字大小，将整个序列划分为左右两个子序列；</a:t>
            </a:r>
            <a:endParaRPr lang="zh-CN" altLang="en-US" dirty="0"/>
          </a:p>
        </p:txBody>
      </p:sp>
      <p:sp>
        <p:nvSpPr>
          <p:cNvPr id="6" name="灯片编号占位符 5"/>
          <p:cNvSpPr>
            <a:spLocks noGrp="1"/>
          </p:cNvSpPr>
          <p:nvPr>
            <p:ph type="sldNum" sz="quarter" idx="4294967295"/>
          </p:nvPr>
        </p:nvSpPr>
        <p:spPr>
          <a:xfrm>
            <a:off x="9347200" y="6356350"/>
            <a:ext cx="2844800" cy="365125"/>
          </a:xfrm>
          <a:prstGeom prst="rect">
            <a:avLst/>
          </a:prstGeom>
        </p:spPr>
        <p:txBody>
          <a:bodyPr/>
          <a:lstStyle/>
          <a:p>
            <a:pPr algn="r">
              <a:lnSpc>
                <a:spcPct val="120000"/>
              </a:lnSpc>
              <a:spcBef>
                <a:spcPts val="300"/>
              </a:spcBef>
            </a:pPr>
            <a:fld id="{0063EC4C-CFD8-4F45-A0A2-30028C1F73DB}" type="slidenum">
              <a:rPr lang="zh-CN" altLang="en-US" b="1">
                <a:solidFill>
                  <a:srgbClr val="F79646">
                    <a:lumMod val="75000"/>
                  </a:srgbClr>
                </a:solidFill>
                <a:cs typeface="+mn-ea"/>
                <a:sym typeface="+mn-lt"/>
              </a:rPr>
              <a:t>8</a:t>
            </a:fld>
            <a:endParaRPr lang="zh-CN" altLang="en-US" b="1" dirty="0">
              <a:solidFill>
                <a:srgbClr val="F79646">
                  <a:lumMod val="75000"/>
                </a:srgbClr>
              </a:solidFill>
              <a:cs typeface="+mn-ea"/>
              <a:sym typeface="+mn-lt"/>
            </a:endParaRPr>
          </a:p>
        </p:txBody>
      </p:sp>
      <p:sp>
        <p:nvSpPr>
          <p:cNvPr id="19" name="Rectangle 4"/>
          <p:cNvSpPr>
            <a:spLocks noChangeArrowheads="1"/>
          </p:cNvSpPr>
          <p:nvPr/>
        </p:nvSpPr>
        <p:spPr bwMode="auto">
          <a:xfrm>
            <a:off x="1316123" y="3352800"/>
            <a:ext cx="10134600" cy="1901803"/>
          </a:xfrm>
          <a:prstGeom prst="rect">
            <a:avLst/>
          </a:prstGeom>
          <a:noFill/>
          <a:ln w="9525" algn="ctr">
            <a:noFill/>
            <a:miter lim="800000"/>
          </a:ln>
          <a:effectLst/>
        </p:spPr>
        <p:txBody>
          <a:bodyPr wrap="square">
            <a:spAutoFit/>
          </a:bodyPr>
          <a:lstStyle/>
          <a:p>
            <a:pPr fontAlgn="base">
              <a:lnSpc>
                <a:spcPct val="120000"/>
              </a:lnSpc>
              <a:spcBef>
                <a:spcPts val="600"/>
              </a:spcBef>
              <a:spcAft>
                <a:spcPts val="600"/>
              </a:spcAft>
            </a:pPr>
            <a:r>
              <a:rPr lang="en-US" altLang="zh-CN" sz="2800" b="1" dirty="0">
                <a:solidFill>
                  <a:srgbClr val="0000FF"/>
                </a:solidFill>
                <a:cs typeface="+mn-ea"/>
                <a:sym typeface="+mn-lt"/>
              </a:rPr>
              <a:t>(1)</a:t>
            </a:r>
            <a:r>
              <a:rPr lang="zh-CN" altLang="en-US" sz="2800" b="1" dirty="0">
                <a:solidFill>
                  <a:srgbClr val="0000FF"/>
                </a:solidFill>
                <a:cs typeface="+mn-ea"/>
                <a:sym typeface="+mn-lt"/>
              </a:rPr>
              <a:t>左侧子序列中所有对象的关键字都小于或等于对象</a:t>
            </a:r>
            <a:r>
              <a:rPr lang="en-US" altLang="zh-CN" sz="2800" b="1" dirty="0">
                <a:solidFill>
                  <a:srgbClr val="0000FF"/>
                </a:solidFill>
                <a:cs typeface="+mn-ea"/>
                <a:sym typeface="+mn-lt"/>
              </a:rPr>
              <a:t>v</a:t>
            </a:r>
            <a:r>
              <a:rPr lang="zh-CN" altLang="en-US" sz="2800" b="1" dirty="0">
                <a:solidFill>
                  <a:srgbClr val="0000FF"/>
                </a:solidFill>
                <a:cs typeface="+mn-ea"/>
                <a:sym typeface="+mn-lt"/>
              </a:rPr>
              <a:t>的关键字；</a:t>
            </a:r>
          </a:p>
          <a:p>
            <a:pPr fontAlgn="base">
              <a:lnSpc>
                <a:spcPct val="120000"/>
              </a:lnSpc>
              <a:spcBef>
                <a:spcPts val="600"/>
              </a:spcBef>
              <a:spcAft>
                <a:spcPts val="600"/>
              </a:spcAft>
            </a:pPr>
            <a:r>
              <a:rPr lang="en-US" altLang="zh-CN" sz="2800" b="1" dirty="0">
                <a:solidFill>
                  <a:srgbClr val="0000FF"/>
                </a:solidFill>
                <a:cs typeface="+mn-ea"/>
                <a:sym typeface="+mn-lt"/>
              </a:rPr>
              <a:t>(2)</a:t>
            </a:r>
            <a:r>
              <a:rPr lang="zh-CN" altLang="en-US" sz="2800" b="1" dirty="0">
                <a:solidFill>
                  <a:srgbClr val="0000FF"/>
                </a:solidFill>
                <a:cs typeface="+mn-ea"/>
                <a:sym typeface="+mn-lt"/>
              </a:rPr>
              <a:t>右侧子序列中所有对象的关键字都大于或等于对象</a:t>
            </a:r>
            <a:r>
              <a:rPr lang="en-US" altLang="zh-CN" sz="2800" b="1" dirty="0">
                <a:solidFill>
                  <a:srgbClr val="0000FF"/>
                </a:solidFill>
                <a:cs typeface="+mn-ea"/>
                <a:sym typeface="+mn-lt"/>
              </a:rPr>
              <a:t>v</a:t>
            </a:r>
            <a:r>
              <a:rPr lang="zh-CN" altLang="en-US" sz="2800" b="1" dirty="0">
                <a:solidFill>
                  <a:srgbClr val="0000FF"/>
                </a:solidFill>
                <a:cs typeface="+mn-ea"/>
                <a:sym typeface="+mn-lt"/>
              </a:rPr>
              <a:t>的关键字；</a:t>
            </a:r>
          </a:p>
          <a:p>
            <a:pPr fontAlgn="base">
              <a:lnSpc>
                <a:spcPct val="120000"/>
              </a:lnSpc>
              <a:spcBef>
                <a:spcPts val="600"/>
              </a:spcBef>
              <a:spcAft>
                <a:spcPts val="600"/>
              </a:spcAft>
            </a:pPr>
            <a:r>
              <a:rPr lang="en-US" altLang="zh-CN" sz="2800" b="1" dirty="0">
                <a:solidFill>
                  <a:srgbClr val="0000FF"/>
                </a:solidFill>
                <a:cs typeface="+mn-ea"/>
                <a:sym typeface="+mn-lt"/>
              </a:rPr>
              <a:t>(3)</a:t>
            </a:r>
            <a:r>
              <a:rPr lang="zh-CN" altLang="en-US" sz="2800" b="1" dirty="0">
                <a:solidFill>
                  <a:srgbClr val="0000FF"/>
                </a:solidFill>
                <a:cs typeface="+mn-ea"/>
                <a:sym typeface="+mn-lt"/>
              </a:rPr>
              <a:t>对象</a:t>
            </a:r>
            <a:r>
              <a:rPr lang="en-US" altLang="zh-CN" sz="2800" b="1" dirty="0">
                <a:solidFill>
                  <a:srgbClr val="0000FF"/>
                </a:solidFill>
                <a:cs typeface="+mn-ea"/>
                <a:sym typeface="+mn-lt"/>
              </a:rPr>
              <a:t>v</a:t>
            </a:r>
            <a:r>
              <a:rPr lang="zh-CN" altLang="en-US" sz="2800" b="1" dirty="0">
                <a:solidFill>
                  <a:srgbClr val="0000FF"/>
                </a:solidFill>
                <a:cs typeface="+mn-ea"/>
                <a:sym typeface="+mn-lt"/>
              </a:rPr>
              <a:t>则排在这两个子序列中间</a:t>
            </a:r>
            <a:r>
              <a:rPr lang="en-US" altLang="zh-CN" sz="2800" b="1" dirty="0">
                <a:solidFill>
                  <a:srgbClr val="0000FF"/>
                </a:solidFill>
                <a:cs typeface="+mn-ea"/>
                <a:sym typeface="+mn-lt"/>
              </a:rPr>
              <a:t>(</a:t>
            </a:r>
            <a:r>
              <a:rPr lang="zh-CN" altLang="en-US" sz="2800" b="1" dirty="0">
                <a:solidFill>
                  <a:srgbClr val="0000FF"/>
                </a:solidFill>
                <a:cs typeface="+mn-ea"/>
                <a:sym typeface="+mn-lt"/>
              </a:rPr>
              <a:t>也是它最终的位置</a:t>
            </a:r>
            <a:r>
              <a:rPr lang="en-US" altLang="zh-CN" sz="2800" b="1" dirty="0">
                <a:solidFill>
                  <a:srgbClr val="0000FF"/>
                </a:solidFill>
                <a:cs typeface="+mn-ea"/>
                <a:sym typeface="+mn-lt"/>
              </a:rPr>
              <a:t>)</a:t>
            </a:r>
            <a:r>
              <a:rPr lang="zh-CN" altLang="en-US" sz="2800" b="1" dirty="0">
                <a:solidFill>
                  <a:srgbClr val="0000FF"/>
                </a:solidFill>
                <a:cs typeface="+mn-ea"/>
                <a:sym typeface="+mn-lt"/>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lvl="0" fontAlgn="base">
              <a:lnSpc>
                <a:spcPct val="150000"/>
              </a:lnSpc>
              <a:spcBef>
                <a:spcPct val="5000"/>
              </a:spcBef>
              <a:spcAft>
                <a:spcPct val="5000"/>
              </a:spcAft>
            </a:pPr>
            <a:r>
              <a:rPr lang="zh-CN" altLang="en-US" dirty="0">
                <a:sym typeface="+mn-lt"/>
              </a:rPr>
              <a:t>快速排序</a:t>
            </a:r>
          </a:p>
        </p:txBody>
      </p:sp>
      <p:graphicFrame>
        <p:nvGraphicFramePr>
          <p:cNvPr id="14" name="Object 3"/>
          <p:cNvGraphicFramePr>
            <a:graphicFrameLocks noChangeAspect="1"/>
          </p:cNvGraphicFramePr>
          <p:nvPr/>
        </p:nvGraphicFramePr>
        <p:xfrm>
          <a:off x="2590800" y="2220920"/>
          <a:ext cx="7848600" cy="838200"/>
        </p:xfrm>
        <a:graphic>
          <a:graphicData uri="http://schemas.openxmlformats.org/presentationml/2006/ole">
            <mc:AlternateContent xmlns:mc="http://schemas.openxmlformats.org/markup-compatibility/2006">
              <mc:Choice xmlns:v="urn:schemas-microsoft-com:vml" Requires="v">
                <p:oleObj name="文档" r:id="rId3" imgW="6097905" imgH="617220" progId="Word.Document.8">
                  <p:embed/>
                </p:oleObj>
              </mc:Choice>
              <mc:Fallback>
                <p:oleObj name="文档" r:id="rId3" imgW="6097905" imgH="617220" progId="Word.Document.8">
                  <p:embed/>
                  <p:pic>
                    <p:nvPicPr>
                      <p:cNvPr id="0" name="图片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2220920"/>
                        <a:ext cx="78486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 name="Line 4"/>
          <p:cNvSpPr>
            <a:spLocks noChangeShapeType="1"/>
          </p:cNvSpPr>
          <p:nvPr/>
        </p:nvSpPr>
        <p:spPr bwMode="auto">
          <a:xfrm>
            <a:off x="2971800" y="1611320"/>
            <a:ext cx="0" cy="609600"/>
          </a:xfrm>
          <a:prstGeom prst="line">
            <a:avLst/>
          </a:prstGeom>
          <a:noFill/>
          <a:ln w="9525">
            <a:solidFill>
              <a:srgbClr val="003366"/>
            </a:solidFill>
            <a:round/>
            <a:tailEnd type="triangle" w="med" len="med"/>
          </a:ln>
          <a:effectLst/>
        </p:spPr>
        <p:txBody>
          <a:bodyPr wrap="none" anchor="ctr"/>
          <a:lstStyle/>
          <a:p>
            <a:pPr algn="ctr" fontAlgn="base">
              <a:lnSpc>
                <a:spcPct val="120000"/>
              </a:lnSpc>
              <a:spcBef>
                <a:spcPct val="300000"/>
              </a:spcBef>
              <a:spcAft>
                <a:spcPct val="0"/>
              </a:spcAft>
            </a:pPr>
            <a:endParaRPr kumimoji="1" lang="zh-CN" altLang="en-US" sz="3000" b="1">
              <a:solidFill>
                <a:srgbClr val="6600CC"/>
              </a:solidFill>
              <a:cs typeface="+mn-ea"/>
              <a:sym typeface="+mn-lt"/>
            </a:endParaRPr>
          </a:p>
        </p:txBody>
      </p:sp>
      <p:sp>
        <p:nvSpPr>
          <p:cNvPr id="20" name="Text Box 6"/>
          <p:cNvSpPr txBox="1">
            <a:spLocks noChangeArrowheads="1"/>
          </p:cNvSpPr>
          <p:nvPr/>
        </p:nvSpPr>
        <p:spPr bwMode="auto">
          <a:xfrm>
            <a:off x="3009900" y="1401770"/>
            <a:ext cx="344966" cy="631711"/>
          </a:xfrm>
          <a:prstGeom prst="rect">
            <a:avLst/>
          </a:prstGeom>
          <a:noFill/>
          <a:ln w="9525">
            <a:noFill/>
            <a:miter lim="800000"/>
          </a:ln>
          <a:effectLst/>
        </p:spPr>
        <p:txBody>
          <a:bodyPr wrap="none">
            <a:spAutoFit/>
          </a:bodyPr>
          <a:lstStyle/>
          <a:p>
            <a:pPr fontAlgn="base">
              <a:lnSpc>
                <a:spcPct val="120000"/>
              </a:lnSpc>
              <a:spcBef>
                <a:spcPct val="300000"/>
              </a:spcBef>
              <a:spcAft>
                <a:spcPct val="0"/>
              </a:spcAft>
            </a:pPr>
            <a:r>
              <a:rPr kumimoji="1" lang="en-US" altLang="zh-CN" sz="3200" b="1">
                <a:solidFill>
                  <a:srgbClr val="003366"/>
                </a:solidFill>
                <a:cs typeface="+mn-ea"/>
                <a:sym typeface="+mn-lt"/>
              </a:rPr>
              <a:t>s</a:t>
            </a:r>
            <a:endParaRPr kumimoji="1" lang="en-US" altLang="zh-CN" sz="3200" b="1">
              <a:solidFill>
                <a:srgbClr val="6600CC"/>
              </a:solidFill>
              <a:cs typeface="+mn-ea"/>
              <a:sym typeface="+mn-lt"/>
            </a:endParaRPr>
          </a:p>
        </p:txBody>
      </p:sp>
      <p:sp>
        <p:nvSpPr>
          <p:cNvPr id="22" name="Line 8"/>
          <p:cNvSpPr>
            <a:spLocks noChangeShapeType="1"/>
          </p:cNvSpPr>
          <p:nvPr/>
        </p:nvSpPr>
        <p:spPr bwMode="auto">
          <a:xfrm flipV="1">
            <a:off x="3048000" y="2906720"/>
            <a:ext cx="0" cy="609600"/>
          </a:xfrm>
          <a:prstGeom prst="line">
            <a:avLst/>
          </a:prstGeom>
          <a:noFill/>
          <a:ln w="19050">
            <a:solidFill>
              <a:srgbClr val="006600"/>
            </a:solidFill>
            <a:round/>
            <a:tailEnd type="triangle" w="med" len="med"/>
          </a:ln>
          <a:effectLst/>
        </p:spPr>
        <p:txBody>
          <a:bodyPr wrap="none" anchor="ctr"/>
          <a:lstStyle/>
          <a:p>
            <a:pPr algn="ctr" fontAlgn="base">
              <a:lnSpc>
                <a:spcPct val="120000"/>
              </a:lnSpc>
              <a:spcBef>
                <a:spcPct val="300000"/>
              </a:spcBef>
              <a:spcAft>
                <a:spcPct val="0"/>
              </a:spcAft>
            </a:pPr>
            <a:endParaRPr kumimoji="1" lang="zh-CN" altLang="en-US" sz="3000" b="1">
              <a:solidFill>
                <a:srgbClr val="6600CC"/>
              </a:solidFill>
              <a:cs typeface="+mn-ea"/>
              <a:sym typeface="+mn-lt"/>
            </a:endParaRPr>
          </a:p>
        </p:txBody>
      </p:sp>
      <p:sp>
        <p:nvSpPr>
          <p:cNvPr id="23" name="Text Box 9"/>
          <p:cNvSpPr txBox="1">
            <a:spLocks noChangeArrowheads="1"/>
          </p:cNvSpPr>
          <p:nvPr/>
        </p:nvSpPr>
        <p:spPr bwMode="auto">
          <a:xfrm>
            <a:off x="2536826" y="3432183"/>
            <a:ext cx="739775" cy="564257"/>
          </a:xfrm>
          <a:prstGeom prst="rect">
            <a:avLst/>
          </a:prstGeom>
          <a:noFill/>
          <a:ln w="9525">
            <a:noFill/>
            <a:miter lim="800000"/>
          </a:ln>
          <a:effectLst/>
        </p:spPr>
        <p:txBody>
          <a:bodyPr>
            <a:spAutoFit/>
          </a:bodyPr>
          <a:lstStyle/>
          <a:p>
            <a:pPr fontAlgn="base">
              <a:lnSpc>
                <a:spcPct val="120000"/>
              </a:lnSpc>
              <a:spcBef>
                <a:spcPct val="300000"/>
              </a:spcBef>
              <a:spcAft>
                <a:spcPct val="0"/>
              </a:spcAft>
            </a:pPr>
            <a:r>
              <a:rPr kumimoji="1" lang="en-US" altLang="zh-CN" sz="2800" b="1" dirty="0">
                <a:solidFill>
                  <a:srgbClr val="006600"/>
                </a:solidFill>
                <a:cs typeface="+mn-ea"/>
                <a:sym typeface="+mn-lt"/>
              </a:rPr>
              <a:t>low</a:t>
            </a:r>
            <a:endParaRPr kumimoji="1" lang="en-US" altLang="zh-CN" sz="2800" b="1" dirty="0">
              <a:solidFill>
                <a:srgbClr val="6600CC"/>
              </a:solidFill>
              <a:cs typeface="+mn-ea"/>
              <a:sym typeface="+mn-lt"/>
            </a:endParaRPr>
          </a:p>
        </p:txBody>
      </p:sp>
      <p:sp>
        <p:nvSpPr>
          <p:cNvPr id="24" name="Line 10"/>
          <p:cNvSpPr>
            <a:spLocks noChangeShapeType="1"/>
          </p:cNvSpPr>
          <p:nvPr/>
        </p:nvSpPr>
        <p:spPr bwMode="auto">
          <a:xfrm flipV="1">
            <a:off x="9829800" y="2906720"/>
            <a:ext cx="0" cy="609600"/>
          </a:xfrm>
          <a:prstGeom prst="line">
            <a:avLst/>
          </a:prstGeom>
          <a:noFill/>
          <a:ln w="19050">
            <a:solidFill>
              <a:srgbClr val="800000"/>
            </a:solidFill>
            <a:round/>
            <a:tailEnd type="triangle" w="med" len="med"/>
          </a:ln>
          <a:effectLst/>
        </p:spPr>
        <p:txBody>
          <a:bodyPr wrap="none" anchor="ctr"/>
          <a:lstStyle/>
          <a:p>
            <a:pPr algn="ctr" fontAlgn="base">
              <a:lnSpc>
                <a:spcPct val="120000"/>
              </a:lnSpc>
              <a:spcBef>
                <a:spcPct val="300000"/>
              </a:spcBef>
              <a:spcAft>
                <a:spcPct val="0"/>
              </a:spcAft>
            </a:pPr>
            <a:endParaRPr kumimoji="1" lang="zh-CN" altLang="en-US" sz="3000" b="1">
              <a:solidFill>
                <a:srgbClr val="6600CC"/>
              </a:solidFill>
              <a:cs typeface="+mn-ea"/>
              <a:sym typeface="+mn-lt"/>
            </a:endParaRPr>
          </a:p>
        </p:txBody>
      </p:sp>
      <p:sp>
        <p:nvSpPr>
          <p:cNvPr id="25" name="Text Box 11"/>
          <p:cNvSpPr txBox="1">
            <a:spLocks noChangeArrowheads="1"/>
          </p:cNvSpPr>
          <p:nvPr/>
        </p:nvSpPr>
        <p:spPr bwMode="auto">
          <a:xfrm>
            <a:off x="9471026" y="3432183"/>
            <a:ext cx="892175" cy="564257"/>
          </a:xfrm>
          <a:prstGeom prst="rect">
            <a:avLst/>
          </a:prstGeom>
          <a:noFill/>
          <a:ln w="9525">
            <a:noFill/>
            <a:miter lim="800000"/>
          </a:ln>
          <a:effectLst/>
        </p:spPr>
        <p:txBody>
          <a:bodyPr>
            <a:spAutoFit/>
          </a:bodyPr>
          <a:lstStyle/>
          <a:p>
            <a:pPr fontAlgn="base">
              <a:lnSpc>
                <a:spcPct val="120000"/>
              </a:lnSpc>
              <a:spcBef>
                <a:spcPct val="300000"/>
              </a:spcBef>
              <a:spcAft>
                <a:spcPct val="0"/>
              </a:spcAft>
            </a:pPr>
            <a:r>
              <a:rPr kumimoji="1" lang="en-US" altLang="zh-CN" sz="2800" b="1">
                <a:solidFill>
                  <a:srgbClr val="800000"/>
                </a:solidFill>
                <a:cs typeface="+mn-ea"/>
                <a:sym typeface="+mn-lt"/>
              </a:rPr>
              <a:t>high</a:t>
            </a:r>
            <a:endParaRPr kumimoji="1" lang="en-US" altLang="zh-CN" sz="2800" b="1">
              <a:solidFill>
                <a:srgbClr val="6600CC"/>
              </a:solidFill>
              <a:cs typeface="+mn-ea"/>
              <a:sym typeface="+mn-lt"/>
            </a:endParaRPr>
          </a:p>
        </p:txBody>
      </p:sp>
      <p:sp>
        <p:nvSpPr>
          <p:cNvPr id="26" name="Text Box 12"/>
          <p:cNvSpPr txBox="1">
            <a:spLocks noChangeArrowheads="1"/>
          </p:cNvSpPr>
          <p:nvPr/>
        </p:nvSpPr>
        <p:spPr bwMode="auto">
          <a:xfrm>
            <a:off x="1774827" y="3976694"/>
            <a:ext cx="3962400" cy="559897"/>
          </a:xfrm>
          <a:prstGeom prst="rect">
            <a:avLst/>
          </a:prstGeom>
          <a:noFill/>
          <a:ln w="9525">
            <a:noFill/>
            <a:miter lim="800000"/>
          </a:ln>
          <a:effectLst/>
        </p:spPr>
        <p:txBody>
          <a:bodyPr>
            <a:spAutoFit/>
          </a:bodyPr>
          <a:lstStyle/>
          <a:p>
            <a:pPr fontAlgn="base">
              <a:lnSpc>
                <a:spcPct val="120000"/>
              </a:lnSpc>
              <a:spcBef>
                <a:spcPct val="300000"/>
              </a:spcBef>
              <a:spcAft>
                <a:spcPct val="0"/>
              </a:spcAft>
            </a:pPr>
            <a:r>
              <a:rPr kumimoji="1" lang="zh-CN" altLang="en-US" sz="2800" b="1" dirty="0">
                <a:solidFill>
                  <a:srgbClr val="0000FF"/>
                </a:solidFill>
                <a:cs typeface="+mn-ea"/>
                <a:sym typeface="+mn-lt"/>
              </a:rPr>
              <a:t>设 </a:t>
            </a:r>
            <a:r>
              <a:rPr kumimoji="1" lang="en-US" altLang="zh-CN" sz="2800" b="1" dirty="0">
                <a:solidFill>
                  <a:srgbClr val="0000FF"/>
                </a:solidFill>
                <a:cs typeface="+mn-ea"/>
                <a:sym typeface="+mn-lt"/>
              </a:rPr>
              <a:t>R[s]=52 </a:t>
            </a:r>
            <a:r>
              <a:rPr kumimoji="1" lang="zh-CN" altLang="en-US" sz="2800" b="1" dirty="0">
                <a:solidFill>
                  <a:srgbClr val="0000FF"/>
                </a:solidFill>
                <a:cs typeface="+mn-ea"/>
                <a:sym typeface="+mn-lt"/>
              </a:rPr>
              <a:t>为枢轴</a:t>
            </a:r>
          </a:p>
        </p:txBody>
      </p:sp>
      <p:sp>
        <p:nvSpPr>
          <p:cNvPr id="35" name="Text Box 22"/>
          <p:cNvSpPr txBox="1">
            <a:spLocks noChangeArrowheads="1"/>
          </p:cNvSpPr>
          <p:nvPr/>
        </p:nvSpPr>
        <p:spPr bwMode="auto">
          <a:xfrm>
            <a:off x="8667769" y="2203465"/>
            <a:ext cx="663575" cy="699102"/>
          </a:xfrm>
          <a:prstGeom prst="rect">
            <a:avLst/>
          </a:prstGeom>
          <a:solidFill>
            <a:srgbClr val="CCFFCC"/>
          </a:solidFill>
          <a:ln w="9525">
            <a:noFill/>
            <a:miter lim="800000"/>
          </a:ln>
          <a:effectLst/>
        </p:spPr>
        <p:txBody>
          <a:bodyPr>
            <a:spAutoFit/>
          </a:bodyPr>
          <a:lstStyle/>
          <a:p>
            <a:pPr algn="ctr" fontAlgn="base">
              <a:lnSpc>
                <a:spcPct val="120000"/>
              </a:lnSpc>
              <a:spcBef>
                <a:spcPct val="300000"/>
              </a:spcBef>
              <a:spcAft>
                <a:spcPct val="0"/>
              </a:spcAft>
            </a:pPr>
            <a:r>
              <a:rPr kumimoji="1" lang="en-US" altLang="zh-CN" sz="3600" b="1" dirty="0">
                <a:solidFill>
                  <a:srgbClr val="6600CC"/>
                </a:solidFill>
                <a:cs typeface="+mn-ea"/>
                <a:sym typeface="+mn-lt"/>
              </a:rPr>
              <a:t>52</a:t>
            </a:r>
          </a:p>
        </p:txBody>
      </p:sp>
      <p:sp>
        <p:nvSpPr>
          <p:cNvPr id="27" name="Text Box 13"/>
          <p:cNvSpPr txBox="1">
            <a:spLocks noChangeArrowheads="1"/>
          </p:cNvSpPr>
          <p:nvPr/>
        </p:nvSpPr>
        <p:spPr bwMode="auto">
          <a:xfrm>
            <a:off x="1828800" y="4456814"/>
            <a:ext cx="8839200" cy="559897"/>
          </a:xfrm>
          <a:prstGeom prst="rect">
            <a:avLst/>
          </a:prstGeom>
          <a:noFill/>
          <a:ln w="9525">
            <a:noFill/>
            <a:miter lim="800000"/>
          </a:ln>
          <a:effectLst/>
        </p:spPr>
        <p:txBody>
          <a:bodyPr>
            <a:spAutoFit/>
          </a:bodyPr>
          <a:lstStyle/>
          <a:p>
            <a:pPr fontAlgn="base">
              <a:lnSpc>
                <a:spcPct val="120000"/>
              </a:lnSpc>
              <a:spcBef>
                <a:spcPct val="300000"/>
              </a:spcBef>
              <a:spcAft>
                <a:spcPct val="0"/>
              </a:spcAft>
            </a:pPr>
            <a:r>
              <a:rPr kumimoji="1" lang="zh-CN" altLang="en-US" sz="2800" b="1" dirty="0">
                <a:solidFill>
                  <a:srgbClr val="0000FF"/>
                </a:solidFill>
                <a:cs typeface="+mn-ea"/>
                <a:sym typeface="+mn-lt"/>
              </a:rPr>
              <a:t>要求</a:t>
            </a:r>
            <a:r>
              <a:rPr kumimoji="1" lang="en-US" altLang="zh-CN" sz="2800" b="1" dirty="0">
                <a:solidFill>
                  <a:srgbClr val="FF3300"/>
                </a:solidFill>
                <a:cs typeface="+mn-ea"/>
                <a:sym typeface="+mn-lt"/>
              </a:rPr>
              <a:t>R[high].key ≥ </a:t>
            </a:r>
            <a:r>
              <a:rPr kumimoji="1" lang="zh-CN" altLang="en-US" sz="2800" b="1" dirty="0">
                <a:solidFill>
                  <a:srgbClr val="0000FF"/>
                </a:solidFill>
                <a:cs typeface="+mn-ea"/>
                <a:sym typeface="+mn-lt"/>
              </a:rPr>
              <a:t>枢轴的关键字</a:t>
            </a:r>
          </a:p>
        </p:txBody>
      </p:sp>
      <p:sp>
        <p:nvSpPr>
          <p:cNvPr id="28" name="Text Box 14"/>
          <p:cNvSpPr txBox="1">
            <a:spLocks noChangeArrowheads="1"/>
          </p:cNvSpPr>
          <p:nvPr/>
        </p:nvSpPr>
        <p:spPr bwMode="auto">
          <a:xfrm>
            <a:off x="1828800" y="5060984"/>
            <a:ext cx="8839200" cy="559897"/>
          </a:xfrm>
          <a:prstGeom prst="rect">
            <a:avLst/>
          </a:prstGeom>
          <a:noFill/>
          <a:ln w="9525">
            <a:noFill/>
            <a:miter lim="800000"/>
          </a:ln>
          <a:effectLst/>
        </p:spPr>
        <p:txBody>
          <a:bodyPr>
            <a:spAutoFit/>
          </a:bodyPr>
          <a:lstStyle/>
          <a:p>
            <a:pPr fontAlgn="base">
              <a:lnSpc>
                <a:spcPct val="120000"/>
              </a:lnSpc>
              <a:spcBef>
                <a:spcPct val="300000"/>
              </a:spcBef>
              <a:spcAft>
                <a:spcPct val="0"/>
              </a:spcAft>
            </a:pPr>
            <a:r>
              <a:rPr kumimoji="1" lang="zh-CN" altLang="en-US" sz="2800" b="1" dirty="0">
                <a:solidFill>
                  <a:srgbClr val="0000FF"/>
                </a:solidFill>
                <a:cs typeface="+mn-ea"/>
                <a:sym typeface="+mn-lt"/>
              </a:rPr>
              <a:t>要求</a:t>
            </a:r>
            <a:r>
              <a:rPr kumimoji="1" lang="en-US" altLang="zh-CN" sz="2800" b="1" dirty="0">
                <a:solidFill>
                  <a:srgbClr val="0000FF"/>
                </a:solidFill>
                <a:cs typeface="+mn-ea"/>
                <a:sym typeface="+mn-lt"/>
              </a:rPr>
              <a:t>R[low].key ≤ </a:t>
            </a:r>
            <a:r>
              <a:rPr kumimoji="1" lang="zh-CN" altLang="en-US" sz="2800" b="1" dirty="0">
                <a:solidFill>
                  <a:srgbClr val="0000FF"/>
                </a:solidFill>
                <a:cs typeface="+mn-ea"/>
                <a:sym typeface="+mn-lt"/>
              </a:rPr>
              <a:t>枢轴的关键字</a:t>
            </a:r>
          </a:p>
        </p:txBody>
      </p:sp>
      <p:sp>
        <p:nvSpPr>
          <p:cNvPr id="29" name="Line 15"/>
          <p:cNvSpPr>
            <a:spLocks noChangeShapeType="1"/>
          </p:cNvSpPr>
          <p:nvPr/>
        </p:nvSpPr>
        <p:spPr bwMode="auto">
          <a:xfrm flipV="1">
            <a:off x="8969375" y="2906720"/>
            <a:ext cx="0" cy="609600"/>
          </a:xfrm>
          <a:prstGeom prst="line">
            <a:avLst/>
          </a:prstGeom>
          <a:noFill/>
          <a:ln w="19050">
            <a:solidFill>
              <a:srgbClr val="800000"/>
            </a:solidFill>
            <a:round/>
            <a:tailEnd type="triangle" w="med" len="med"/>
          </a:ln>
          <a:effectLst/>
        </p:spPr>
        <p:txBody>
          <a:bodyPr wrap="none" anchor="ctr"/>
          <a:lstStyle/>
          <a:p>
            <a:pPr algn="ctr" fontAlgn="base">
              <a:lnSpc>
                <a:spcPct val="120000"/>
              </a:lnSpc>
              <a:spcBef>
                <a:spcPct val="300000"/>
              </a:spcBef>
              <a:spcAft>
                <a:spcPct val="0"/>
              </a:spcAft>
            </a:pPr>
            <a:endParaRPr kumimoji="1" lang="zh-CN" altLang="en-US" sz="3000" b="1">
              <a:solidFill>
                <a:srgbClr val="6600CC"/>
              </a:solidFill>
              <a:cs typeface="+mn-ea"/>
              <a:sym typeface="+mn-lt"/>
            </a:endParaRPr>
          </a:p>
        </p:txBody>
      </p:sp>
      <p:sp>
        <p:nvSpPr>
          <p:cNvPr id="30" name="Text Box 16"/>
          <p:cNvSpPr txBox="1">
            <a:spLocks noChangeArrowheads="1"/>
          </p:cNvSpPr>
          <p:nvPr/>
        </p:nvSpPr>
        <p:spPr bwMode="auto">
          <a:xfrm>
            <a:off x="8610601" y="3432183"/>
            <a:ext cx="892175" cy="564257"/>
          </a:xfrm>
          <a:prstGeom prst="rect">
            <a:avLst/>
          </a:prstGeom>
          <a:noFill/>
          <a:ln w="9525">
            <a:noFill/>
            <a:miter lim="800000"/>
          </a:ln>
          <a:effectLst/>
        </p:spPr>
        <p:txBody>
          <a:bodyPr>
            <a:spAutoFit/>
          </a:bodyPr>
          <a:lstStyle/>
          <a:p>
            <a:pPr fontAlgn="base">
              <a:lnSpc>
                <a:spcPct val="120000"/>
              </a:lnSpc>
              <a:spcBef>
                <a:spcPct val="300000"/>
              </a:spcBef>
              <a:spcAft>
                <a:spcPct val="0"/>
              </a:spcAft>
            </a:pPr>
            <a:r>
              <a:rPr kumimoji="1" lang="en-US" altLang="zh-CN" sz="2800" b="1">
                <a:solidFill>
                  <a:srgbClr val="800000"/>
                </a:solidFill>
                <a:cs typeface="+mn-ea"/>
                <a:sym typeface="+mn-lt"/>
              </a:rPr>
              <a:t>high</a:t>
            </a:r>
            <a:endParaRPr kumimoji="1" lang="en-US" altLang="zh-CN" sz="2800" b="1">
              <a:solidFill>
                <a:srgbClr val="6600CC"/>
              </a:solidFill>
              <a:cs typeface="+mn-ea"/>
              <a:sym typeface="+mn-lt"/>
            </a:endParaRPr>
          </a:p>
        </p:txBody>
      </p:sp>
      <p:sp useBgFill="1">
        <p:nvSpPr>
          <p:cNvPr id="31" name="Rectangle 17"/>
          <p:cNvSpPr>
            <a:spLocks noChangeArrowheads="1"/>
          </p:cNvSpPr>
          <p:nvPr/>
        </p:nvSpPr>
        <p:spPr bwMode="auto">
          <a:xfrm>
            <a:off x="9448800" y="2906720"/>
            <a:ext cx="838200" cy="1081766"/>
          </a:xfrm>
          <a:prstGeom prst="rect">
            <a:avLst/>
          </a:prstGeom>
          <a:ln w="9525">
            <a:noFill/>
            <a:miter lim="800000"/>
          </a:ln>
          <a:effectLst/>
        </p:spPr>
        <p:txBody>
          <a:bodyPr wrap="none" anchor="ctr"/>
          <a:lstStyle/>
          <a:p>
            <a:pPr algn="ctr" fontAlgn="base">
              <a:lnSpc>
                <a:spcPct val="120000"/>
              </a:lnSpc>
              <a:spcBef>
                <a:spcPct val="300000"/>
              </a:spcBef>
              <a:spcAft>
                <a:spcPct val="0"/>
              </a:spcAft>
            </a:pPr>
            <a:endParaRPr kumimoji="1" lang="zh-CN" altLang="en-US" sz="3000" b="1">
              <a:solidFill>
                <a:srgbClr val="6600CC"/>
              </a:solidFill>
              <a:cs typeface="+mn-ea"/>
              <a:sym typeface="+mn-lt"/>
            </a:endParaRPr>
          </a:p>
        </p:txBody>
      </p:sp>
      <p:sp>
        <p:nvSpPr>
          <p:cNvPr id="32" name="Line 19"/>
          <p:cNvSpPr>
            <a:spLocks noChangeShapeType="1"/>
          </p:cNvSpPr>
          <p:nvPr/>
        </p:nvSpPr>
        <p:spPr bwMode="auto">
          <a:xfrm flipV="1">
            <a:off x="4495800" y="2906720"/>
            <a:ext cx="0" cy="609600"/>
          </a:xfrm>
          <a:prstGeom prst="line">
            <a:avLst/>
          </a:prstGeom>
          <a:noFill/>
          <a:ln w="19050">
            <a:solidFill>
              <a:srgbClr val="006600"/>
            </a:solidFill>
            <a:round/>
            <a:tailEnd type="triangle" w="med" len="med"/>
          </a:ln>
          <a:effectLst/>
        </p:spPr>
        <p:txBody>
          <a:bodyPr wrap="none" anchor="ctr"/>
          <a:lstStyle/>
          <a:p>
            <a:pPr algn="ctr" fontAlgn="base">
              <a:lnSpc>
                <a:spcPct val="120000"/>
              </a:lnSpc>
              <a:spcBef>
                <a:spcPct val="300000"/>
              </a:spcBef>
              <a:spcAft>
                <a:spcPct val="0"/>
              </a:spcAft>
            </a:pPr>
            <a:endParaRPr kumimoji="1" lang="zh-CN" altLang="en-US" sz="3000" b="1">
              <a:solidFill>
                <a:srgbClr val="6600CC"/>
              </a:solidFill>
              <a:cs typeface="+mn-ea"/>
              <a:sym typeface="+mn-lt"/>
            </a:endParaRPr>
          </a:p>
        </p:txBody>
      </p:sp>
      <p:sp>
        <p:nvSpPr>
          <p:cNvPr id="33" name="Text Box 20"/>
          <p:cNvSpPr txBox="1">
            <a:spLocks noChangeArrowheads="1"/>
          </p:cNvSpPr>
          <p:nvPr/>
        </p:nvSpPr>
        <p:spPr bwMode="auto">
          <a:xfrm>
            <a:off x="3984626" y="3432183"/>
            <a:ext cx="739775" cy="564257"/>
          </a:xfrm>
          <a:prstGeom prst="rect">
            <a:avLst/>
          </a:prstGeom>
          <a:noFill/>
          <a:ln w="9525">
            <a:noFill/>
            <a:miter lim="800000"/>
          </a:ln>
          <a:effectLst/>
        </p:spPr>
        <p:txBody>
          <a:bodyPr>
            <a:spAutoFit/>
          </a:bodyPr>
          <a:lstStyle/>
          <a:p>
            <a:pPr fontAlgn="base">
              <a:lnSpc>
                <a:spcPct val="120000"/>
              </a:lnSpc>
              <a:spcBef>
                <a:spcPct val="300000"/>
              </a:spcBef>
              <a:spcAft>
                <a:spcPct val="0"/>
              </a:spcAft>
            </a:pPr>
            <a:r>
              <a:rPr kumimoji="1" lang="en-US" altLang="zh-CN" sz="2800" b="1">
                <a:solidFill>
                  <a:srgbClr val="006600"/>
                </a:solidFill>
                <a:cs typeface="+mn-ea"/>
                <a:sym typeface="+mn-lt"/>
              </a:rPr>
              <a:t>low</a:t>
            </a:r>
            <a:endParaRPr kumimoji="1" lang="en-US" altLang="zh-CN" sz="2800" b="1">
              <a:solidFill>
                <a:srgbClr val="6600CC"/>
              </a:solidFill>
              <a:cs typeface="+mn-ea"/>
              <a:sym typeface="+mn-lt"/>
            </a:endParaRPr>
          </a:p>
        </p:txBody>
      </p:sp>
      <p:sp useBgFill="1">
        <p:nvSpPr>
          <p:cNvPr id="34" name="Rectangle 21"/>
          <p:cNvSpPr>
            <a:spLocks noChangeArrowheads="1"/>
          </p:cNvSpPr>
          <p:nvPr/>
        </p:nvSpPr>
        <p:spPr bwMode="auto">
          <a:xfrm>
            <a:off x="2590800" y="2912741"/>
            <a:ext cx="609600" cy="973459"/>
          </a:xfrm>
          <a:prstGeom prst="rect">
            <a:avLst/>
          </a:prstGeom>
          <a:ln w="9525">
            <a:noFill/>
            <a:miter lim="800000"/>
          </a:ln>
          <a:effectLst/>
        </p:spPr>
        <p:txBody>
          <a:bodyPr wrap="none" anchor="ctr"/>
          <a:lstStyle/>
          <a:p>
            <a:pPr algn="ctr" fontAlgn="base">
              <a:lnSpc>
                <a:spcPct val="120000"/>
              </a:lnSpc>
              <a:spcBef>
                <a:spcPct val="300000"/>
              </a:spcBef>
              <a:spcAft>
                <a:spcPct val="0"/>
              </a:spcAft>
            </a:pPr>
            <a:endParaRPr kumimoji="1" lang="zh-CN" altLang="en-US" sz="3000" b="1">
              <a:solidFill>
                <a:srgbClr val="6600CC"/>
              </a:solidFill>
              <a:cs typeface="+mn-ea"/>
              <a:sym typeface="+mn-lt"/>
            </a:endParaRPr>
          </a:p>
        </p:txBody>
      </p:sp>
      <p:grpSp>
        <p:nvGrpSpPr>
          <p:cNvPr id="17" name="组合 16"/>
          <p:cNvGrpSpPr/>
          <p:nvPr/>
        </p:nvGrpSpPr>
        <p:grpSpPr>
          <a:xfrm>
            <a:off x="6042026" y="2906720"/>
            <a:ext cx="892175" cy="1089720"/>
            <a:chOff x="6042026" y="2906720"/>
            <a:chExt cx="892175" cy="1089720"/>
          </a:xfrm>
        </p:grpSpPr>
        <p:sp>
          <p:nvSpPr>
            <p:cNvPr id="36" name="Line 23"/>
            <p:cNvSpPr>
              <a:spLocks noChangeShapeType="1"/>
            </p:cNvSpPr>
            <p:nvPr/>
          </p:nvSpPr>
          <p:spPr bwMode="auto">
            <a:xfrm flipV="1">
              <a:off x="6149975" y="2906720"/>
              <a:ext cx="0" cy="609600"/>
            </a:xfrm>
            <a:prstGeom prst="line">
              <a:avLst/>
            </a:prstGeom>
            <a:noFill/>
            <a:ln w="19050">
              <a:solidFill>
                <a:srgbClr val="800000"/>
              </a:solidFill>
              <a:round/>
              <a:tailEnd type="triangle" w="med" len="med"/>
            </a:ln>
            <a:effectLst/>
          </p:spPr>
          <p:txBody>
            <a:bodyPr wrap="none" anchor="ctr"/>
            <a:lstStyle/>
            <a:p>
              <a:pPr algn="ctr" fontAlgn="base">
                <a:lnSpc>
                  <a:spcPct val="120000"/>
                </a:lnSpc>
                <a:spcBef>
                  <a:spcPct val="300000"/>
                </a:spcBef>
                <a:spcAft>
                  <a:spcPct val="0"/>
                </a:spcAft>
              </a:pPr>
              <a:endParaRPr kumimoji="1" lang="zh-CN" altLang="en-US" sz="3000" b="1">
                <a:solidFill>
                  <a:srgbClr val="6600CC"/>
                </a:solidFill>
                <a:cs typeface="+mn-ea"/>
                <a:sym typeface="+mn-lt"/>
              </a:endParaRPr>
            </a:p>
          </p:txBody>
        </p:sp>
        <p:sp>
          <p:nvSpPr>
            <p:cNvPr id="37" name="Text Box 24"/>
            <p:cNvSpPr txBox="1">
              <a:spLocks noChangeArrowheads="1"/>
            </p:cNvSpPr>
            <p:nvPr/>
          </p:nvSpPr>
          <p:spPr bwMode="auto">
            <a:xfrm>
              <a:off x="6042026" y="3432183"/>
              <a:ext cx="892175" cy="564257"/>
            </a:xfrm>
            <a:prstGeom prst="rect">
              <a:avLst/>
            </a:prstGeom>
            <a:noFill/>
            <a:ln w="9525">
              <a:noFill/>
              <a:miter lim="800000"/>
            </a:ln>
            <a:effectLst/>
          </p:spPr>
          <p:txBody>
            <a:bodyPr>
              <a:spAutoFit/>
            </a:bodyPr>
            <a:lstStyle/>
            <a:p>
              <a:pPr fontAlgn="base">
                <a:lnSpc>
                  <a:spcPct val="120000"/>
                </a:lnSpc>
                <a:spcBef>
                  <a:spcPct val="300000"/>
                </a:spcBef>
                <a:spcAft>
                  <a:spcPct val="0"/>
                </a:spcAft>
              </a:pPr>
              <a:r>
                <a:rPr kumimoji="1" lang="en-US" altLang="zh-CN" sz="2800" b="1" dirty="0">
                  <a:solidFill>
                    <a:srgbClr val="800000"/>
                  </a:solidFill>
                  <a:cs typeface="+mn-ea"/>
                  <a:sym typeface="+mn-lt"/>
                </a:rPr>
                <a:t>high</a:t>
              </a:r>
              <a:endParaRPr kumimoji="1" lang="en-US" altLang="zh-CN" sz="2800" b="1" dirty="0">
                <a:solidFill>
                  <a:srgbClr val="6600CC"/>
                </a:solidFill>
                <a:cs typeface="+mn-ea"/>
                <a:sym typeface="+mn-lt"/>
              </a:endParaRPr>
            </a:p>
          </p:txBody>
        </p:sp>
      </p:grpSp>
      <p:sp useBgFill="1">
        <p:nvSpPr>
          <p:cNvPr id="38" name="Rectangle 25"/>
          <p:cNvSpPr>
            <a:spLocks noChangeArrowheads="1"/>
          </p:cNvSpPr>
          <p:nvPr/>
        </p:nvSpPr>
        <p:spPr bwMode="auto">
          <a:xfrm>
            <a:off x="8610600" y="2906720"/>
            <a:ext cx="762000" cy="1219200"/>
          </a:xfrm>
          <a:prstGeom prst="rect">
            <a:avLst/>
          </a:prstGeom>
          <a:ln w="9525">
            <a:noFill/>
            <a:miter lim="800000"/>
          </a:ln>
          <a:effectLst/>
        </p:spPr>
        <p:txBody>
          <a:bodyPr wrap="none" anchor="ctr"/>
          <a:lstStyle/>
          <a:p>
            <a:pPr algn="ctr" fontAlgn="base">
              <a:lnSpc>
                <a:spcPct val="120000"/>
              </a:lnSpc>
              <a:spcBef>
                <a:spcPct val="300000"/>
              </a:spcBef>
              <a:spcAft>
                <a:spcPct val="0"/>
              </a:spcAft>
            </a:pPr>
            <a:endParaRPr kumimoji="1" lang="zh-CN" altLang="en-US" sz="3000" b="1">
              <a:solidFill>
                <a:srgbClr val="6600CC"/>
              </a:solidFill>
              <a:cs typeface="+mn-ea"/>
              <a:sym typeface="+mn-lt"/>
            </a:endParaRPr>
          </a:p>
        </p:txBody>
      </p:sp>
      <p:sp>
        <p:nvSpPr>
          <p:cNvPr id="39" name="Line 27"/>
          <p:cNvSpPr>
            <a:spLocks noChangeShapeType="1"/>
          </p:cNvSpPr>
          <p:nvPr/>
        </p:nvSpPr>
        <p:spPr bwMode="auto">
          <a:xfrm flipV="1">
            <a:off x="5943600" y="2906720"/>
            <a:ext cx="0" cy="609600"/>
          </a:xfrm>
          <a:prstGeom prst="line">
            <a:avLst/>
          </a:prstGeom>
          <a:noFill/>
          <a:ln w="19050">
            <a:solidFill>
              <a:srgbClr val="006600"/>
            </a:solidFill>
            <a:round/>
            <a:tailEnd type="triangle" w="med" len="med"/>
          </a:ln>
          <a:effectLst/>
        </p:spPr>
        <p:txBody>
          <a:bodyPr wrap="none" anchor="ctr"/>
          <a:lstStyle/>
          <a:p>
            <a:pPr algn="ctr" fontAlgn="base">
              <a:lnSpc>
                <a:spcPct val="120000"/>
              </a:lnSpc>
              <a:spcBef>
                <a:spcPct val="300000"/>
              </a:spcBef>
              <a:spcAft>
                <a:spcPct val="0"/>
              </a:spcAft>
            </a:pPr>
            <a:endParaRPr kumimoji="1" lang="zh-CN" altLang="en-US" sz="3000" b="1">
              <a:solidFill>
                <a:srgbClr val="6600CC"/>
              </a:solidFill>
              <a:cs typeface="+mn-ea"/>
              <a:sym typeface="+mn-lt"/>
            </a:endParaRPr>
          </a:p>
        </p:txBody>
      </p:sp>
      <p:sp>
        <p:nvSpPr>
          <p:cNvPr id="40" name="Text Box 28"/>
          <p:cNvSpPr txBox="1">
            <a:spLocks noChangeArrowheads="1"/>
          </p:cNvSpPr>
          <p:nvPr/>
        </p:nvSpPr>
        <p:spPr bwMode="auto">
          <a:xfrm>
            <a:off x="5432426" y="3432183"/>
            <a:ext cx="739775" cy="564257"/>
          </a:xfrm>
          <a:prstGeom prst="rect">
            <a:avLst/>
          </a:prstGeom>
          <a:noFill/>
          <a:ln w="9525">
            <a:noFill/>
            <a:miter lim="800000"/>
          </a:ln>
          <a:effectLst/>
        </p:spPr>
        <p:txBody>
          <a:bodyPr>
            <a:spAutoFit/>
          </a:bodyPr>
          <a:lstStyle/>
          <a:p>
            <a:pPr fontAlgn="base">
              <a:lnSpc>
                <a:spcPct val="120000"/>
              </a:lnSpc>
              <a:spcBef>
                <a:spcPct val="300000"/>
              </a:spcBef>
              <a:spcAft>
                <a:spcPct val="0"/>
              </a:spcAft>
            </a:pPr>
            <a:r>
              <a:rPr kumimoji="1" lang="en-US" altLang="zh-CN" sz="2800" b="1">
                <a:solidFill>
                  <a:srgbClr val="006600"/>
                </a:solidFill>
                <a:cs typeface="+mn-ea"/>
                <a:sym typeface="+mn-lt"/>
              </a:rPr>
              <a:t>low</a:t>
            </a:r>
            <a:endParaRPr kumimoji="1" lang="en-US" altLang="zh-CN" sz="2800" b="1">
              <a:solidFill>
                <a:srgbClr val="6600CC"/>
              </a:solidFill>
              <a:cs typeface="+mn-ea"/>
              <a:sym typeface="+mn-lt"/>
            </a:endParaRPr>
          </a:p>
        </p:txBody>
      </p:sp>
      <p:sp useBgFill="1">
        <p:nvSpPr>
          <p:cNvPr id="41" name="Rectangle 29"/>
          <p:cNvSpPr>
            <a:spLocks noChangeArrowheads="1"/>
          </p:cNvSpPr>
          <p:nvPr/>
        </p:nvSpPr>
        <p:spPr bwMode="auto">
          <a:xfrm>
            <a:off x="4027487" y="2902567"/>
            <a:ext cx="685800" cy="983642"/>
          </a:xfrm>
          <a:prstGeom prst="rect">
            <a:avLst/>
          </a:prstGeom>
          <a:ln w="9525">
            <a:noFill/>
            <a:miter lim="800000"/>
          </a:ln>
          <a:effectLst/>
        </p:spPr>
        <p:txBody>
          <a:bodyPr wrap="none" anchor="ctr"/>
          <a:lstStyle/>
          <a:p>
            <a:pPr algn="ctr" fontAlgn="base">
              <a:lnSpc>
                <a:spcPct val="120000"/>
              </a:lnSpc>
              <a:spcBef>
                <a:spcPct val="300000"/>
              </a:spcBef>
              <a:spcAft>
                <a:spcPct val="0"/>
              </a:spcAft>
            </a:pPr>
            <a:endParaRPr kumimoji="1" lang="zh-CN" altLang="en-US" sz="3000" b="1">
              <a:solidFill>
                <a:srgbClr val="6600CC"/>
              </a:solidFill>
              <a:cs typeface="+mn-ea"/>
              <a:sym typeface="+mn-lt"/>
            </a:endParaRPr>
          </a:p>
        </p:txBody>
      </p:sp>
      <p:sp>
        <p:nvSpPr>
          <p:cNvPr id="42" name="Text Box 32"/>
          <p:cNvSpPr txBox="1">
            <a:spLocks noChangeArrowheads="1"/>
          </p:cNvSpPr>
          <p:nvPr/>
        </p:nvSpPr>
        <p:spPr bwMode="auto">
          <a:xfrm>
            <a:off x="4632326" y="1336684"/>
            <a:ext cx="958917" cy="631711"/>
          </a:xfrm>
          <a:prstGeom prst="rect">
            <a:avLst/>
          </a:prstGeom>
          <a:noFill/>
          <a:ln w="9525">
            <a:noFill/>
            <a:miter lim="800000"/>
          </a:ln>
          <a:effectLst/>
        </p:spPr>
        <p:txBody>
          <a:bodyPr wrap="none">
            <a:spAutoFit/>
          </a:bodyPr>
          <a:lstStyle/>
          <a:p>
            <a:pPr fontAlgn="base">
              <a:lnSpc>
                <a:spcPct val="120000"/>
              </a:lnSpc>
              <a:spcBef>
                <a:spcPct val="300000"/>
              </a:spcBef>
              <a:spcAft>
                <a:spcPct val="0"/>
              </a:spcAft>
            </a:pPr>
            <a:r>
              <a:rPr kumimoji="1" lang="en-US" altLang="zh-CN" sz="3200" b="1" dirty="0">
                <a:solidFill>
                  <a:srgbClr val="005042"/>
                </a:solidFill>
                <a:cs typeface="+mn-ea"/>
                <a:sym typeface="+mn-lt"/>
              </a:rPr>
              <a:t>R[0]</a:t>
            </a:r>
            <a:endParaRPr kumimoji="1" lang="en-US" altLang="zh-CN" sz="3200" b="1" dirty="0">
              <a:solidFill>
                <a:srgbClr val="6600CC"/>
              </a:solidFill>
              <a:cs typeface="+mn-ea"/>
              <a:sym typeface="+mn-lt"/>
            </a:endParaRPr>
          </a:p>
        </p:txBody>
      </p:sp>
      <p:sp>
        <p:nvSpPr>
          <p:cNvPr id="43" name="Rectangle 33"/>
          <p:cNvSpPr>
            <a:spLocks noChangeArrowheads="1"/>
          </p:cNvSpPr>
          <p:nvPr/>
        </p:nvSpPr>
        <p:spPr bwMode="auto">
          <a:xfrm>
            <a:off x="5562601" y="1382721"/>
            <a:ext cx="646331" cy="699102"/>
          </a:xfrm>
          <a:prstGeom prst="rect">
            <a:avLst/>
          </a:prstGeom>
          <a:solidFill>
            <a:srgbClr val="99CCFF">
              <a:alpha val="50000"/>
            </a:srgbClr>
          </a:solidFill>
          <a:ln w="9525">
            <a:solidFill>
              <a:srgbClr val="009DD9"/>
            </a:solidFill>
            <a:miter lim="800000"/>
          </a:ln>
          <a:effectLst/>
        </p:spPr>
        <p:txBody>
          <a:bodyPr wrap="none">
            <a:spAutoFit/>
          </a:bodyPr>
          <a:lstStyle/>
          <a:p>
            <a:pPr fontAlgn="base">
              <a:lnSpc>
                <a:spcPct val="120000"/>
              </a:lnSpc>
              <a:spcBef>
                <a:spcPct val="300000"/>
              </a:spcBef>
              <a:spcAft>
                <a:spcPct val="0"/>
              </a:spcAft>
              <a:defRPr/>
            </a:pPr>
            <a:r>
              <a:rPr kumimoji="1" lang="en-US" altLang="zh-CN" sz="3600" b="1" kern="0">
                <a:solidFill>
                  <a:srgbClr val="FF0000"/>
                </a:solidFill>
                <a:cs typeface="+mn-ea"/>
                <a:sym typeface="+mn-lt"/>
              </a:rPr>
              <a:t>52</a:t>
            </a:r>
          </a:p>
        </p:txBody>
      </p:sp>
      <p:grpSp>
        <p:nvGrpSpPr>
          <p:cNvPr id="7" name="组合 6"/>
          <p:cNvGrpSpPr/>
          <p:nvPr/>
        </p:nvGrpSpPr>
        <p:grpSpPr>
          <a:xfrm>
            <a:off x="8175626" y="2906720"/>
            <a:ext cx="892175" cy="1089720"/>
            <a:chOff x="8175626" y="2906720"/>
            <a:chExt cx="892175" cy="1089720"/>
          </a:xfrm>
        </p:grpSpPr>
        <p:sp>
          <p:nvSpPr>
            <p:cNvPr id="46" name="Line 36"/>
            <p:cNvSpPr>
              <a:spLocks noChangeShapeType="1"/>
            </p:cNvSpPr>
            <p:nvPr/>
          </p:nvSpPr>
          <p:spPr bwMode="auto">
            <a:xfrm flipV="1">
              <a:off x="8283575" y="2906720"/>
              <a:ext cx="0" cy="609600"/>
            </a:xfrm>
            <a:prstGeom prst="line">
              <a:avLst/>
            </a:prstGeom>
            <a:noFill/>
            <a:ln w="19050">
              <a:solidFill>
                <a:srgbClr val="800000"/>
              </a:solidFill>
              <a:round/>
              <a:tailEnd type="triangle" w="med" len="med"/>
            </a:ln>
            <a:effectLst/>
          </p:spPr>
          <p:txBody>
            <a:bodyPr wrap="none" anchor="ctr"/>
            <a:lstStyle/>
            <a:p>
              <a:pPr algn="ctr" fontAlgn="base">
                <a:lnSpc>
                  <a:spcPct val="120000"/>
                </a:lnSpc>
                <a:spcBef>
                  <a:spcPct val="300000"/>
                </a:spcBef>
                <a:spcAft>
                  <a:spcPct val="0"/>
                </a:spcAft>
              </a:pPr>
              <a:endParaRPr kumimoji="1" lang="zh-CN" altLang="en-US" sz="3000" b="1">
                <a:solidFill>
                  <a:srgbClr val="6600CC"/>
                </a:solidFill>
                <a:cs typeface="+mn-ea"/>
                <a:sym typeface="+mn-lt"/>
              </a:endParaRPr>
            </a:p>
          </p:txBody>
        </p:sp>
        <p:sp>
          <p:nvSpPr>
            <p:cNvPr id="47" name="Text Box 37"/>
            <p:cNvSpPr txBox="1">
              <a:spLocks noChangeArrowheads="1"/>
            </p:cNvSpPr>
            <p:nvPr/>
          </p:nvSpPr>
          <p:spPr bwMode="auto">
            <a:xfrm>
              <a:off x="8175626" y="3432183"/>
              <a:ext cx="892175" cy="564257"/>
            </a:xfrm>
            <a:prstGeom prst="rect">
              <a:avLst/>
            </a:prstGeom>
            <a:noFill/>
            <a:ln w="9525">
              <a:noFill/>
              <a:miter lim="800000"/>
            </a:ln>
            <a:effectLst/>
          </p:spPr>
          <p:txBody>
            <a:bodyPr>
              <a:spAutoFit/>
            </a:bodyPr>
            <a:lstStyle/>
            <a:p>
              <a:pPr fontAlgn="base">
                <a:lnSpc>
                  <a:spcPct val="120000"/>
                </a:lnSpc>
                <a:spcBef>
                  <a:spcPct val="300000"/>
                </a:spcBef>
                <a:spcAft>
                  <a:spcPct val="0"/>
                </a:spcAft>
              </a:pPr>
              <a:r>
                <a:rPr kumimoji="1" lang="en-US" altLang="zh-CN" sz="2800" b="1" dirty="0">
                  <a:solidFill>
                    <a:srgbClr val="800000"/>
                  </a:solidFill>
                  <a:cs typeface="+mn-ea"/>
                  <a:sym typeface="+mn-lt"/>
                </a:rPr>
                <a:t>high</a:t>
              </a:r>
              <a:endParaRPr kumimoji="1" lang="en-US" altLang="zh-CN" sz="2800" b="1" dirty="0">
                <a:solidFill>
                  <a:srgbClr val="6600CC"/>
                </a:solidFill>
                <a:cs typeface="+mn-ea"/>
                <a:sym typeface="+mn-lt"/>
              </a:endParaRPr>
            </a:p>
          </p:txBody>
        </p:sp>
      </p:grpSp>
      <p:grpSp>
        <p:nvGrpSpPr>
          <p:cNvPr id="8" name="组合 7"/>
          <p:cNvGrpSpPr/>
          <p:nvPr/>
        </p:nvGrpSpPr>
        <p:grpSpPr>
          <a:xfrm>
            <a:off x="7413626" y="2906720"/>
            <a:ext cx="892175" cy="1089720"/>
            <a:chOff x="7413626" y="2906720"/>
            <a:chExt cx="892175" cy="1089720"/>
          </a:xfrm>
        </p:grpSpPr>
        <p:sp>
          <p:nvSpPr>
            <p:cNvPr id="48" name="Line 38"/>
            <p:cNvSpPr>
              <a:spLocks noChangeShapeType="1"/>
            </p:cNvSpPr>
            <p:nvPr/>
          </p:nvSpPr>
          <p:spPr bwMode="auto">
            <a:xfrm flipV="1">
              <a:off x="7521575" y="2906720"/>
              <a:ext cx="0" cy="609600"/>
            </a:xfrm>
            <a:prstGeom prst="line">
              <a:avLst/>
            </a:prstGeom>
            <a:noFill/>
            <a:ln w="19050">
              <a:solidFill>
                <a:srgbClr val="800000"/>
              </a:solidFill>
              <a:round/>
              <a:tailEnd type="triangle" w="med" len="med"/>
            </a:ln>
            <a:effectLst/>
          </p:spPr>
          <p:txBody>
            <a:bodyPr wrap="none" anchor="ctr"/>
            <a:lstStyle/>
            <a:p>
              <a:pPr algn="ctr" fontAlgn="base">
                <a:lnSpc>
                  <a:spcPct val="120000"/>
                </a:lnSpc>
                <a:spcBef>
                  <a:spcPct val="300000"/>
                </a:spcBef>
                <a:spcAft>
                  <a:spcPct val="0"/>
                </a:spcAft>
              </a:pPr>
              <a:endParaRPr kumimoji="1" lang="zh-CN" altLang="en-US" sz="3000" b="1">
                <a:solidFill>
                  <a:srgbClr val="6600CC"/>
                </a:solidFill>
                <a:cs typeface="+mn-ea"/>
                <a:sym typeface="+mn-lt"/>
              </a:endParaRPr>
            </a:p>
          </p:txBody>
        </p:sp>
        <p:sp>
          <p:nvSpPr>
            <p:cNvPr id="49" name="Text Box 39"/>
            <p:cNvSpPr txBox="1">
              <a:spLocks noChangeArrowheads="1"/>
            </p:cNvSpPr>
            <p:nvPr/>
          </p:nvSpPr>
          <p:spPr bwMode="auto">
            <a:xfrm>
              <a:off x="7413626" y="3432183"/>
              <a:ext cx="892175" cy="564257"/>
            </a:xfrm>
            <a:prstGeom prst="rect">
              <a:avLst/>
            </a:prstGeom>
            <a:noFill/>
            <a:ln w="9525">
              <a:noFill/>
              <a:miter lim="800000"/>
            </a:ln>
            <a:effectLst/>
          </p:spPr>
          <p:txBody>
            <a:bodyPr>
              <a:spAutoFit/>
            </a:bodyPr>
            <a:lstStyle/>
            <a:p>
              <a:pPr fontAlgn="base">
                <a:lnSpc>
                  <a:spcPct val="120000"/>
                </a:lnSpc>
                <a:spcBef>
                  <a:spcPct val="300000"/>
                </a:spcBef>
                <a:spcAft>
                  <a:spcPct val="0"/>
                </a:spcAft>
              </a:pPr>
              <a:r>
                <a:rPr kumimoji="1" lang="en-US" altLang="zh-CN" sz="2800" b="1" dirty="0">
                  <a:solidFill>
                    <a:srgbClr val="800000"/>
                  </a:solidFill>
                  <a:cs typeface="+mn-ea"/>
                  <a:sym typeface="+mn-lt"/>
                </a:rPr>
                <a:t>high</a:t>
              </a:r>
              <a:endParaRPr kumimoji="1" lang="en-US" altLang="zh-CN" sz="2800" b="1" dirty="0">
                <a:solidFill>
                  <a:srgbClr val="6600CC"/>
                </a:solidFill>
                <a:cs typeface="+mn-ea"/>
                <a:sym typeface="+mn-lt"/>
              </a:endParaRPr>
            </a:p>
          </p:txBody>
        </p:sp>
      </p:grpSp>
      <p:grpSp>
        <p:nvGrpSpPr>
          <p:cNvPr id="13" name="组合 12"/>
          <p:cNvGrpSpPr/>
          <p:nvPr/>
        </p:nvGrpSpPr>
        <p:grpSpPr>
          <a:xfrm>
            <a:off x="6651626" y="2906720"/>
            <a:ext cx="892175" cy="1089720"/>
            <a:chOff x="6651626" y="2906720"/>
            <a:chExt cx="892175" cy="1089720"/>
          </a:xfrm>
        </p:grpSpPr>
        <p:sp>
          <p:nvSpPr>
            <p:cNvPr id="50" name="Line 40"/>
            <p:cNvSpPr>
              <a:spLocks noChangeShapeType="1"/>
            </p:cNvSpPr>
            <p:nvPr/>
          </p:nvSpPr>
          <p:spPr bwMode="auto">
            <a:xfrm flipV="1">
              <a:off x="6759575" y="2906720"/>
              <a:ext cx="0" cy="609600"/>
            </a:xfrm>
            <a:prstGeom prst="line">
              <a:avLst/>
            </a:prstGeom>
            <a:noFill/>
            <a:ln w="19050">
              <a:solidFill>
                <a:srgbClr val="800000"/>
              </a:solidFill>
              <a:round/>
              <a:tailEnd type="triangle" w="med" len="med"/>
            </a:ln>
            <a:effectLst/>
          </p:spPr>
          <p:txBody>
            <a:bodyPr wrap="none" anchor="ctr"/>
            <a:lstStyle/>
            <a:p>
              <a:pPr algn="ctr" fontAlgn="base">
                <a:lnSpc>
                  <a:spcPct val="120000"/>
                </a:lnSpc>
                <a:spcBef>
                  <a:spcPct val="300000"/>
                </a:spcBef>
                <a:spcAft>
                  <a:spcPct val="0"/>
                </a:spcAft>
              </a:pPr>
              <a:endParaRPr kumimoji="1" lang="zh-CN" altLang="en-US" sz="3000" b="1">
                <a:solidFill>
                  <a:srgbClr val="6600CC"/>
                </a:solidFill>
                <a:cs typeface="+mn-ea"/>
                <a:sym typeface="+mn-lt"/>
              </a:endParaRPr>
            </a:p>
          </p:txBody>
        </p:sp>
        <p:sp>
          <p:nvSpPr>
            <p:cNvPr id="51" name="Text Box 41"/>
            <p:cNvSpPr txBox="1">
              <a:spLocks noChangeArrowheads="1"/>
            </p:cNvSpPr>
            <p:nvPr/>
          </p:nvSpPr>
          <p:spPr bwMode="auto">
            <a:xfrm>
              <a:off x="6651626" y="3432183"/>
              <a:ext cx="892175" cy="564257"/>
            </a:xfrm>
            <a:prstGeom prst="rect">
              <a:avLst/>
            </a:prstGeom>
            <a:noFill/>
            <a:ln w="9525">
              <a:noFill/>
              <a:miter lim="800000"/>
            </a:ln>
            <a:effectLst/>
          </p:spPr>
          <p:txBody>
            <a:bodyPr>
              <a:spAutoFit/>
            </a:bodyPr>
            <a:lstStyle/>
            <a:p>
              <a:pPr fontAlgn="base">
                <a:lnSpc>
                  <a:spcPct val="120000"/>
                </a:lnSpc>
                <a:spcBef>
                  <a:spcPct val="300000"/>
                </a:spcBef>
                <a:spcAft>
                  <a:spcPct val="0"/>
                </a:spcAft>
              </a:pPr>
              <a:r>
                <a:rPr kumimoji="1" lang="en-US" altLang="zh-CN" sz="2800" b="1" dirty="0">
                  <a:solidFill>
                    <a:srgbClr val="800000"/>
                  </a:solidFill>
                  <a:cs typeface="+mn-ea"/>
                  <a:sym typeface="+mn-lt"/>
                </a:rPr>
                <a:t>high</a:t>
              </a:r>
              <a:endParaRPr kumimoji="1" lang="en-US" altLang="zh-CN" sz="2800" b="1" dirty="0">
                <a:solidFill>
                  <a:srgbClr val="6600CC"/>
                </a:solidFill>
                <a:cs typeface="+mn-ea"/>
                <a:sym typeface="+mn-lt"/>
              </a:endParaRPr>
            </a:p>
          </p:txBody>
        </p:sp>
      </p:grpSp>
      <p:grpSp>
        <p:nvGrpSpPr>
          <p:cNvPr id="5" name="组合 4"/>
          <p:cNvGrpSpPr/>
          <p:nvPr/>
        </p:nvGrpSpPr>
        <p:grpSpPr>
          <a:xfrm>
            <a:off x="4724401" y="2906720"/>
            <a:ext cx="739775" cy="1089720"/>
            <a:chOff x="4724401" y="2906720"/>
            <a:chExt cx="739775" cy="1089720"/>
          </a:xfrm>
        </p:grpSpPr>
        <p:sp>
          <p:nvSpPr>
            <p:cNvPr id="52" name="Line 42"/>
            <p:cNvSpPr>
              <a:spLocks noChangeShapeType="1"/>
            </p:cNvSpPr>
            <p:nvPr/>
          </p:nvSpPr>
          <p:spPr bwMode="auto">
            <a:xfrm flipV="1">
              <a:off x="5235575" y="2906720"/>
              <a:ext cx="0" cy="609600"/>
            </a:xfrm>
            <a:prstGeom prst="line">
              <a:avLst/>
            </a:prstGeom>
            <a:noFill/>
            <a:ln w="19050">
              <a:solidFill>
                <a:srgbClr val="006600"/>
              </a:solidFill>
              <a:round/>
              <a:tailEnd type="triangle" w="med" len="med"/>
            </a:ln>
            <a:effectLst/>
          </p:spPr>
          <p:txBody>
            <a:bodyPr wrap="none" anchor="ctr"/>
            <a:lstStyle/>
            <a:p>
              <a:pPr algn="ctr" fontAlgn="base">
                <a:lnSpc>
                  <a:spcPct val="120000"/>
                </a:lnSpc>
                <a:spcBef>
                  <a:spcPct val="300000"/>
                </a:spcBef>
                <a:spcAft>
                  <a:spcPct val="0"/>
                </a:spcAft>
              </a:pPr>
              <a:endParaRPr kumimoji="1" lang="zh-CN" altLang="en-US" sz="3000" b="1">
                <a:solidFill>
                  <a:srgbClr val="6600CC"/>
                </a:solidFill>
                <a:cs typeface="+mn-ea"/>
                <a:sym typeface="+mn-lt"/>
              </a:endParaRPr>
            </a:p>
          </p:txBody>
        </p:sp>
        <p:sp>
          <p:nvSpPr>
            <p:cNvPr id="53" name="Text Box 43"/>
            <p:cNvSpPr txBox="1">
              <a:spLocks noChangeArrowheads="1"/>
            </p:cNvSpPr>
            <p:nvPr/>
          </p:nvSpPr>
          <p:spPr bwMode="auto">
            <a:xfrm>
              <a:off x="4724401" y="3432183"/>
              <a:ext cx="739775" cy="564257"/>
            </a:xfrm>
            <a:prstGeom prst="rect">
              <a:avLst/>
            </a:prstGeom>
            <a:noFill/>
            <a:ln w="9525">
              <a:noFill/>
              <a:miter lim="800000"/>
            </a:ln>
            <a:effectLst/>
          </p:spPr>
          <p:txBody>
            <a:bodyPr>
              <a:spAutoFit/>
            </a:bodyPr>
            <a:lstStyle/>
            <a:p>
              <a:pPr fontAlgn="base">
                <a:lnSpc>
                  <a:spcPct val="120000"/>
                </a:lnSpc>
                <a:spcBef>
                  <a:spcPct val="300000"/>
                </a:spcBef>
                <a:spcAft>
                  <a:spcPct val="0"/>
                </a:spcAft>
              </a:pPr>
              <a:r>
                <a:rPr kumimoji="1" lang="en-US" altLang="zh-CN" sz="2800" b="1" dirty="0">
                  <a:solidFill>
                    <a:srgbClr val="006600"/>
                  </a:solidFill>
                  <a:cs typeface="+mn-ea"/>
                  <a:sym typeface="+mn-lt"/>
                </a:rPr>
                <a:t>low</a:t>
              </a:r>
              <a:endParaRPr kumimoji="1" lang="en-US" altLang="zh-CN" sz="2800" b="1" dirty="0">
                <a:solidFill>
                  <a:srgbClr val="6600CC"/>
                </a:solidFill>
                <a:cs typeface="+mn-ea"/>
                <a:sym typeface="+mn-lt"/>
              </a:endParaRPr>
            </a:p>
          </p:txBody>
        </p:sp>
      </p:grpSp>
      <p:sp>
        <p:nvSpPr>
          <p:cNvPr id="54" name="Text Box 25"/>
          <p:cNvSpPr txBox="1">
            <a:spLocks noChangeArrowheads="1"/>
          </p:cNvSpPr>
          <p:nvPr/>
        </p:nvSpPr>
        <p:spPr bwMode="auto">
          <a:xfrm>
            <a:off x="8357200" y="832630"/>
            <a:ext cx="3013075" cy="559897"/>
          </a:xfrm>
          <a:prstGeom prst="rect">
            <a:avLst/>
          </a:prstGeom>
          <a:noFill/>
          <a:ln w="9525" algn="ctr">
            <a:noFill/>
            <a:miter lim="800000"/>
          </a:ln>
          <a:effectLst/>
        </p:spPr>
        <p:txBody>
          <a:bodyPr>
            <a:spAutoFit/>
          </a:bodyPr>
          <a:lstStyle/>
          <a:p>
            <a:pPr fontAlgn="base">
              <a:lnSpc>
                <a:spcPct val="120000"/>
              </a:lnSpc>
              <a:spcBef>
                <a:spcPct val="300000"/>
              </a:spcBef>
              <a:spcAft>
                <a:spcPct val="0"/>
              </a:spcAft>
              <a:buFont typeface="Wingdings" panose="05000000000000000000" pitchFamily="2" charset="2"/>
              <a:buChar char="p"/>
            </a:pPr>
            <a:r>
              <a:rPr kumimoji="1" lang="en-US" altLang="zh-CN" sz="2800" b="1" dirty="0">
                <a:solidFill>
                  <a:srgbClr val="003300"/>
                </a:solidFill>
                <a:cs typeface="+mn-ea"/>
                <a:sym typeface="+mn-lt"/>
              </a:rPr>
              <a:t>  </a:t>
            </a:r>
            <a:r>
              <a:rPr kumimoji="1" lang="zh-CN" altLang="en-US" sz="2800" b="1" dirty="0">
                <a:solidFill>
                  <a:srgbClr val="003300"/>
                </a:solidFill>
                <a:cs typeface="+mn-ea"/>
                <a:sym typeface="+mn-lt"/>
              </a:rPr>
              <a:t>示例演示    </a:t>
            </a:r>
          </a:p>
        </p:txBody>
      </p:sp>
      <p:sp>
        <p:nvSpPr>
          <p:cNvPr id="55" name="TextBox 54"/>
          <p:cNvSpPr txBox="1"/>
          <p:nvPr/>
        </p:nvSpPr>
        <p:spPr>
          <a:xfrm>
            <a:off x="1952598" y="5846802"/>
            <a:ext cx="7911140" cy="593304"/>
          </a:xfrm>
          <a:prstGeom prst="rect">
            <a:avLst/>
          </a:prstGeom>
          <a:noFill/>
          <a:ln>
            <a:solidFill>
              <a:srgbClr val="003300"/>
            </a:solidFill>
          </a:ln>
        </p:spPr>
        <p:txBody>
          <a:bodyPr wrap="none" rtlCol="0">
            <a:spAutoFit/>
          </a:bodyPr>
          <a:lstStyle/>
          <a:p>
            <a:pPr algn="ctr" fontAlgn="base">
              <a:lnSpc>
                <a:spcPct val="120000"/>
              </a:lnSpc>
              <a:spcBef>
                <a:spcPct val="300000"/>
              </a:spcBef>
              <a:spcAft>
                <a:spcPct val="0"/>
              </a:spcAft>
            </a:pPr>
            <a:r>
              <a:rPr kumimoji="1" lang="zh-CN" altLang="en-US" sz="3000" b="1" dirty="0">
                <a:solidFill>
                  <a:srgbClr val="FF3300"/>
                </a:solidFill>
                <a:cs typeface="+mn-ea"/>
                <a:sym typeface="+mn-lt"/>
              </a:rPr>
              <a:t>两个指针相对走，碰上的位置就是枢轴的位置</a:t>
            </a:r>
          </a:p>
        </p:txBody>
      </p:sp>
      <p:sp>
        <p:nvSpPr>
          <p:cNvPr id="57" name="Text Box 22"/>
          <p:cNvSpPr txBox="1">
            <a:spLocks noChangeArrowheads="1"/>
          </p:cNvSpPr>
          <p:nvPr/>
        </p:nvSpPr>
        <p:spPr bwMode="auto">
          <a:xfrm>
            <a:off x="4167175" y="2203465"/>
            <a:ext cx="663575" cy="699102"/>
          </a:xfrm>
          <a:prstGeom prst="rect">
            <a:avLst/>
          </a:prstGeom>
          <a:solidFill>
            <a:srgbClr val="CCFFCC"/>
          </a:solidFill>
          <a:ln w="9525">
            <a:noFill/>
            <a:miter lim="800000"/>
          </a:ln>
          <a:effectLst/>
        </p:spPr>
        <p:txBody>
          <a:bodyPr>
            <a:spAutoFit/>
          </a:bodyPr>
          <a:lstStyle/>
          <a:p>
            <a:pPr algn="ctr" fontAlgn="base">
              <a:lnSpc>
                <a:spcPct val="120000"/>
              </a:lnSpc>
              <a:spcBef>
                <a:spcPct val="300000"/>
              </a:spcBef>
              <a:spcAft>
                <a:spcPct val="0"/>
              </a:spcAft>
            </a:pPr>
            <a:r>
              <a:rPr kumimoji="1" lang="en-US" altLang="zh-CN" sz="3600" b="1" dirty="0">
                <a:solidFill>
                  <a:srgbClr val="6600CC"/>
                </a:solidFill>
                <a:cs typeface="+mn-ea"/>
                <a:sym typeface="+mn-lt"/>
              </a:rPr>
              <a:t>52</a:t>
            </a:r>
          </a:p>
        </p:txBody>
      </p:sp>
      <p:sp>
        <p:nvSpPr>
          <p:cNvPr id="60" name="Text Box 22"/>
          <p:cNvSpPr txBox="1">
            <a:spLocks noChangeArrowheads="1"/>
          </p:cNvSpPr>
          <p:nvPr/>
        </p:nvSpPr>
        <p:spPr bwMode="auto">
          <a:xfrm>
            <a:off x="5687989" y="2188228"/>
            <a:ext cx="663575" cy="699102"/>
          </a:xfrm>
          <a:prstGeom prst="rect">
            <a:avLst/>
          </a:prstGeom>
          <a:solidFill>
            <a:srgbClr val="CCFFCC"/>
          </a:solidFill>
          <a:ln w="9525">
            <a:noFill/>
            <a:miter lim="800000"/>
          </a:ln>
          <a:effectLst/>
        </p:spPr>
        <p:txBody>
          <a:bodyPr>
            <a:spAutoFit/>
          </a:bodyPr>
          <a:lstStyle/>
          <a:p>
            <a:pPr algn="ctr" fontAlgn="base">
              <a:lnSpc>
                <a:spcPct val="120000"/>
              </a:lnSpc>
              <a:spcBef>
                <a:spcPct val="300000"/>
              </a:spcBef>
              <a:spcAft>
                <a:spcPct val="0"/>
              </a:spcAft>
            </a:pPr>
            <a:r>
              <a:rPr kumimoji="1" lang="en-US" altLang="zh-CN" sz="3600" b="1" dirty="0">
                <a:solidFill>
                  <a:srgbClr val="6600CC"/>
                </a:solidFill>
                <a:cs typeface="+mn-ea"/>
                <a:sym typeface="+mn-lt"/>
              </a:rPr>
              <a:t>52</a:t>
            </a:r>
          </a:p>
        </p:txBody>
      </p:sp>
      <p:sp>
        <p:nvSpPr>
          <p:cNvPr id="63" name="Text Box 18"/>
          <p:cNvSpPr txBox="1">
            <a:spLocks noChangeArrowheads="1"/>
          </p:cNvSpPr>
          <p:nvPr/>
        </p:nvSpPr>
        <p:spPr bwMode="auto">
          <a:xfrm>
            <a:off x="2646361" y="2250975"/>
            <a:ext cx="663575" cy="631711"/>
          </a:xfrm>
          <a:prstGeom prst="rect">
            <a:avLst/>
          </a:prstGeom>
          <a:solidFill>
            <a:srgbClr val="CCFFCC"/>
          </a:solidFill>
          <a:ln w="9525">
            <a:noFill/>
            <a:miter lim="800000"/>
          </a:ln>
          <a:effectLst/>
        </p:spPr>
        <p:txBody>
          <a:bodyPr>
            <a:spAutoFit/>
          </a:bodyPr>
          <a:lstStyle/>
          <a:p>
            <a:pPr algn="ctr" fontAlgn="base">
              <a:lnSpc>
                <a:spcPct val="120000"/>
              </a:lnSpc>
              <a:spcBef>
                <a:spcPct val="300000"/>
              </a:spcBef>
              <a:spcAft>
                <a:spcPct val="0"/>
              </a:spcAft>
            </a:pPr>
            <a:r>
              <a:rPr kumimoji="1" lang="en-US" altLang="zh-CN" sz="3200" b="1">
                <a:solidFill>
                  <a:srgbClr val="009999"/>
                </a:solidFill>
                <a:cs typeface="+mn-ea"/>
                <a:sym typeface="+mn-lt"/>
              </a:rPr>
              <a:t>23</a:t>
            </a:r>
            <a:endParaRPr kumimoji="1" lang="en-US" altLang="zh-CN" sz="3600" b="1">
              <a:solidFill>
                <a:srgbClr val="6600CC"/>
              </a:solidFill>
              <a:cs typeface="+mn-ea"/>
              <a:sym typeface="+mn-lt"/>
            </a:endParaRPr>
          </a:p>
        </p:txBody>
      </p:sp>
      <p:sp>
        <p:nvSpPr>
          <p:cNvPr id="59" name="Text Box 26"/>
          <p:cNvSpPr txBox="1">
            <a:spLocks noChangeArrowheads="1"/>
          </p:cNvSpPr>
          <p:nvPr/>
        </p:nvSpPr>
        <p:spPr bwMode="auto">
          <a:xfrm>
            <a:off x="4167175" y="2261632"/>
            <a:ext cx="663575" cy="631711"/>
          </a:xfrm>
          <a:prstGeom prst="rect">
            <a:avLst/>
          </a:prstGeom>
          <a:solidFill>
            <a:srgbClr val="CCFFCC"/>
          </a:solidFill>
          <a:ln w="9525">
            <a:noFill/>
            <a:miter lim="800000"/>
          </a:ln>
          <a:effectLst/>
        </p:spPr>
        <p:txBody>
          <a:bodyPr wrap="square">
            <a:spAutoFit/>
          </a:bodyPr>
          <a:lstStyle/>
          <a:p>
            <a:pPr algn="ctr" fontAlgn="base">
              <a:lnSpc>
                <a:spcPct val="120000"/>
              </a:lnSpc>
              <a:spcBef>
                <a:spcPct val="300000"/>
              </a:spcBef>
              <a:spcAft>
                <a:spcPct val="0"/>
              </a:spcAft>
            </a:pPr>
            <a:r>
              <a:rPr kumimoji="1" lang="en-US" altLang="zh-CN" sz="3200" b="1" dirty="0">
                <a:solidFill>
                  <a:srgbClr val="009999"/>
                </a:solidFill>
                <a:cs typeface="+mn-ea"/>
                <a:sym typeface="+mn-lt"/>
              </a:rPr>
              <a:t>14</a:t>
            </a:r>
            <a:endParaRPr kumimoji="1" lang="en-US" altLang="zh-CN" sz="3600" b="1" dirty="0">
              <a:solidFill>
                <a:srgbClr val="6600CC"/>
              </a:solidFill>
              <a:cs typeface="+mn-ea"/>
              <a:sym typeface="+mn-lt"/>
            </a:endParaRPr>
          </a:p>
        </p:txBody>
      </p:sp>
      <p:sp>
        <p:nvSpPr>
          <p:cNvPr id="58" name="Text Box 22"/>
          <p:cNvSpPr txBox="1">
            <a:spLocks noChangeArrowheads="1"/>
          </p:cNvSpPr>
          <p:nvPr/>
        </p:nvSpPr>
        <p:spPr bwMode="auto">
          <a:xfrm>
            <a:off x="8676461" y="2230483"/>
            <a:ext cx="663575" cy="631711"/>
          </a:xfrm>
          <a:prstGeom prst="rect">
            <a:avLst/>
          </a:prstGeom>
          <a:solidFill>
            <a:srgbClr val="CCFFCC"/>
          </a:solidFill>
          <a:ln w="9525">
            <a:noFill/>
            <a:miter lim="800000"/>
          </a:ln>
          <a:effectLst/>
        </p:spPr>
        <p:txBody>
          <a:bodyPr>
            <a:spAutoFit/>
          </a:bodyPr>
          <a:lstStyle/>
          <a:p>
            <a:pPr algn="ctr" fontAlgn="base">
              <a:lnSpc>
                <a:spcPct val="120000"/>
              </a:lnSpc>
              <a:spcBef>
                <a:spcPct val="300000"/>
              </a:spcBef>
              <a:spcAft>
                <a:spcPct val="0"/>
              </a:spcAft>
            </a:pPr>
            <a:r>
              <a:rPr kumimoji="1" lang="en-US" altLang="zh-CN" sz="3200" b="1" dirty="0">
                <a:solidFill>
                  <a:srgbClr val="009999"/>
                </a:solidFill>
                <a:cs typeface="+mn-ea"/>
                <a:sym typeface="+mn-lt"/>
              </a:rPr>
              <a:t>80</a:t>
            </a:r>
            <a:endParaRPr kumimoji="1" lang="en-US" altLang="zh-CN" sz="3600" b="1" dirty="0">
              <a:solidFill>
                <a:srgbClr val="6600CC"/>
              </a:solidFill>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up)">
                                      <p:cBhvr>
                                        <p:cTn id="11" dur="500"/>
                                        <p:tgtEl>
                                          <p:spTgt spid="15"/>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ipe(up)">
                                      <p:cBhvr>
                                        <p:cTn id="15" dur="5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wipe(left)">
                                      <p:cBhvr>
                                        <p:cTn id="20" dur="500"/>
                                        <p:tgtEl>
                                          <p:spTgt spid="26"/>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43"/>
                                        </p:tgtEl>
                                        <p:attrNameLst>
                                          <p:attrName>style.visibility</p:attrName>
                                        </p:attrNameLst>
                                      </p:cBhvr>
                                      <p:to>
                                        <p:strVal val="visible"/>
                                      </p:to>
                                    </p:set>
                                    <p:animEffect transition="in" filter="wipe(left)">
                                      <p:cBhvr>
                                        <p:cTn id="24" dur="500"/>
                                        <p:tgtEl>
                                          <p:spTgt spid="4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wipe(down)">
                                      <p:cBhvr>
                                        <p:cTn id="29" dur="500"/>
                                        <p:tgtEl>
                                          <p:spTgt spid="22"/>
                                        </p:tgtEl>
                                      </p:cBhvr>
                                    </p:animEffect>
                                  </p:childTnLst>
                                </p:cTn>
                              </p:par>
                            </p:childTnLst>
                          </p:cTn>
                        </p:par>
                        <p:par>
                          <p:cTn id="30" fill="hold">
                            <p:stCondLst>
                              <p:cond delay="500"/>
                            </p:stCondLst>
                            <p:childTnLst>
                              <p:par>
                                <p:cTn id="31" presetID="22" presetClass="entr" presetSubtype="4" fill="hold" grpId="0" nodeType="after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wipe(down)">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wipe(down)">
                                      <p:cBhvr>
                                        <p:cTn id="38" dur="500"/>
                                        <p:tgtEl>
                                          <p:spTgt spid="24"/>
                                        </p:tgtEl>
                                      </p:cBhvr>
                                    </p:animEffect>
                                  </p:childTnLst>
                                </p:cTn>
                              </p:par>
                            </p:childTnLst>
                          </p:cTn>
                        </p:par>
                        <p:par>
                          <p:cTn id="39" fill="hold">
                            <p:stCondLst>
                              <p:cond delay="500"/>
                            </p:stCondLst>
                            <p:childTnLst>
                              <p:par>
                                <p:cTn id="40" presetID="22" presetClass="entr" presetSubtype="4" fill="hold" grpId="0" nodeType="after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wipe(down)">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wipe(left)">
                                      <p:cBhvr>
                                        <p:cTn id="47" dur="500"/>
                                        <p:tgtEl>
                                          <p:spTgt spid="27"/>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grpId="0" nodeType="clickEffect">
                                  <p:stCondLst>
                                    <p:cond delay="0"/>
                                  </p:stCondLst>
                                  <p:childTnLst>
                                    <p:set>
                                      <p:cBhvr>
                                        <p:cTn id="51" dur="1" fill="hold">
                                          <p:stCondLst>
                                            <p:cond delay="0"/>
                                          </p:stCondLst>
                                        </p:cTn>
                                        <p:tgtEl>
                                          <p:spTgt spid="28"/>
                                        </p:tgtEl>
                                        <p:attrNameLst>
                                          <p:attrName>style.visibility</p:attrName>
                                        </p:attrNameLst>
                                      </p:cBhvr>
                                      <p:to>
                                        <p:strVal val="visible"/>
                                      </p:to>
                                    </p:set>
                                    <p:anim calcmode="lin" valueType="num">
                                      <p:cBhvr additive="base">
                                        <p:cTn id="52" dur="500" fill="hold"/>
                                        <p:tgtEl>
                                          <p:spTgt spid="28"/>
                                        </p:tgtEl>
                                        <p:attrNameLst>
                                          <p:attrName>ppt_x</p:attrName>
                                        </p:attrNameLst>
                                      </p:cBhvr>
                                      <p:tavLst>
                                        <p:tav tm="0">
                                          <p:val>
                                            <p:strVal val="0-#ppt_w/2"/>
                                          </p:val>
                                        </p:tav>
                                        <p:tav tm="100000">
                                          <p:val>
                                            <p:strVal val="#ppt_x"/>
                                          </p:val>
                                        </p:tav>
                                      </p:tavLst>
                                    </p:anim>
                                    <p:anim calcmode="lin" valueType="num">
                                      <p:cBhvr additive="base">
                                        <p:cTn id="53"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55"/>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31"/>
                                        </p:tgtEl>
                                        <p:attrNameLst>
                                          <p:attrName>style.visibility</p:attrName>
                                        </p:attrNameLst>
                                      </p:cBhvr>
                                      <p:to>
                                        <p:strVal val="visible"/>
                                      </p:to>
                                    </p:set>
                                    <p:animEffect transition="in" filter="wipe(up)">
                                      <p:cBhvr>
                                        <p:cTn id="62" dur="500"/>
                                        <p:tgtEl>
                                          <p:spTgt spid="31"/>
                                        </p:tgtEl>
                                      </p:cBhvr>
                                    </p:animEffect>
                                  </p:childTnLst>
                                </p:cTn>
                              </p:par>
                            </p:childTnLst>
                          </p:cTn>
                        </p:par>
                        <p:par>
                          <p:cTn id="63" fill="hold">
                            <p:stCondLst>
                              <p:cond delay="500"/>
                            </p:stCondLst>
                            <p:childTnLst>
                              <p:par>
                                <p:cTn id="64" presetID="22" presetClass="entr" presetSubtype="1" fill="hold" grpId="0" nodeType="afterEffect">
                                  <p:stCondLst>
                                    <p:cond delay="0"/>
                                  </p:stCondLst>
                                  <p:childTnLst>
                                    <p:set>
                                      <p:cBhvr>
                                        <p:cTn id="65" dur="1" fill="hold">
                                          <p:stCondLst>
                                            <p:cond delay="0"/>
                                          </p:stCondLst>
                                        </p:cTn>
                                        <p:tgtEl>
                                          <p:spTgt spid="29"/>
                                        </p:tgtEl>
                                        <p:attrNameLst>
                                          <p:attrName>style.visibility</p:attrName>
                                        </p:attrNameLst>
                                      </p:cBhvr>
                                      <p:to>
                                        <p:strVal val="visible"/>
                                      </p:to>
                                    </p:set>
                                    <p:animEffect transition="in" filter="wipe(up)">
                                      <p:cBhvr>
                                        <p:cTn id="66" dur="500"/>
                                        <p:tgtEl>
                                          <p:spTgt spid="29"/>
                                        </p:tgtEl>
                                      </p:cBhvr>
                                    </p:animEffect>
                                  </p:childTnLst>
                                </p:cTn>
                              </p:par>
                            </p:childTnLst>
                          </p:cTn>
                        </p:par>
                        <p:par>
                          <p:cTn id="67" fill="hold">
                            <p:stCondLst>
                              <p:cond delay="1000"/>
                            </p:stCondLst>
                            <p:childTnLst>
                              <p:par>
                                <p:cTn id="68" presetID="22" presetClass="entr" presetSubtype="1" fill="hold" grpId="0" nodeType="after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wipe(up)">
                                      <p:cBhvr>
                                        <p:cTn id="70" dur="500"/>
                                        <p:tgtEl>
                                          <p:spTgt spid="30"/>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63"/>
                                        </p:tgtEl>
                                        <p:attrNameLst>
                                          <p:attrName>style.visibility</p:attrName>
                                        </p:attrNameLst>
                                      </p:cBhvr>
                                      <p:to>
                                        <p:strVal val="visible"/>
                                      </p:to>
                                    </p:set>
                                    <p:animEffect transition="in" filter="wipe(left)">
                                      <p:cBhvr>
                                        <p:cTn id="75" dur="500"/>
                                        <p:tgtEl>
                                          <p:spTgt spid="63"/>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35"/>
                                        </p:tgtEl>
                                        <p:attrNameLst>
                                          <p:attrName>style.visibility</p:attrName>
                                        </p:attrNameLst>
                                      </p:cBhvr>
                                      <p:to>
                                        <p:strVal val="visible"/>
                                      </p:to>
                                    </p:set>
                                    <p:animEffect transition="in" filter="wipe(left)">
                                      <p:cBhvr>
                                        <p:cTn id="80" dur="500"/>
                                        <p:tgtEl>
                                          <p:spTgt spid="35"/>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1" fill="hold" grpId="0" nodeType="clickEffect">
                                  <p:stCondLst>
                                    <p:cond delay="0"/>
                                  </p:stCondLst>
                                  <p:childTnLst>
                                    <p:set>
                                      <p:cBhvr>
                                        <p:cTn id="84" dur="1" fill="hold">
                                          <p:stCondLst>
                                            <p:cond delay="0"/>
                                          </p:stCondLst>
                                        </p:cTn>
                                        <p:tgtEl>
                                          <p:spTgt spid="34"/>
                                        </p:tgtEl>
                                        <p:attrNameLst>
                                          <p:attrName>style.visibility</p:attrName>
                                        </p:attrNameLst>
                                      </p:cBhvr>
                                      <p:to>
                                        <p:strVal val="visible"/>
                                      </p:to>
                                    </p:set>
                                    <p:animEffect transition="in" filter="wipe(up)">
                                      <p:cBhvr>
                                        <p:cTn id="85" dur="500"/>
                                        <p:tgtEl>
                                          <p:spTgt spid="34"/>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1" fill="hold" grpId="0" nodeType="clickEffect">
                                  <p:stCondLst>
                                    <p:cond delay="0"/>
                                  </p:stCondLst>
                                  <p:childTnLst>
                                    <p:set>
                                      <p:cBhvr>
                                        <p:cTn id="89" dur="1" fill="hold">
                                          <p:stCondLst>
                                            <p:cond delay="0"/>
                                          </p:stCondLst>
                                        </p:cTn>
                                        <p:tgtEl>
                                          <p:spTgt spid="32"/>
                                        </p:tgtEl>
                                        <p:attrNameLst>
                                          <p:attrName>style.visibility</p:attrName>
                                        </p:attrNameLst>
                                      </p:cBhvr>
                                      <p:to>
                                        <p:strVal val="visible"/>
                                      </p:to>
                                    </p:set>
                                    <p:animEffect transition="in" filter="wipe(up)">
                                      <p:cBhvr>
                                        <p:cTn id="90" dur="500"/>
                                        <p:tgtEl>
                                          <p:spTgt spid="32"/>
                                        </p:tgtEl>
                                      </p:cBhvr>
                                    </p:animEffect>
                                  </p:childTnLst>
                                </p:cTn>
                              </p:par>
                            </p:childTnLst>
                          </p:cTn>
                        </p:par>
                        <p:par>
                          <p:cTn id="91" fill="hold">
                            <p:stCondLst>
                              <p:cond delay="500"/>
                            </p:stCondLst>
                            <p:childTnLst>
                              <p:par>
                                <p:cTn id="92" presetID="22" presetClass="entr" presetSubtype="1" fill="hold" grpId="0" nodeType="after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wipe(up)">
                                      <p:cBhvr>
                                        <p:cTn id="94" dur="500"/>
                                        <p:tgtEl>
                                          <p:spTgt spid="33"/>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58"/>
                                        </p:tgtEl>
                                        <p:attrNameLst>
                                          <p:attrName>style.visibility</p:attrName>
                                        </p:attrNameLst>
                                      </p:cBhvr>
                                      <p:to>
                                        <p:strVal val="visible"/>
                                      </p:to>
                                    </p:set>
                                    <p:animEffect transition="in" filter="wipe(left)">
                                      <p:cBhvr>
                                        <p:cTn id="99" dur="500"/>
                                        <p:tgtEl>
                                          <p:spTgt spid="58"/>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57"/>
                                        </p:tgtEl>
                                        <p:attrNameLst>
                                          <p:attrName>style.visibility</p:attrName>
                                        </p:attrNameLst>
                                      </p:cBhvr>
                                      <p:to>
                                        <p:strVal val="visible"/>
                                      </p:to>
                                    </p:set>
                                    <p:animEffect transition="in" filter="wipe(left)">
                                      <p:cBhvr>
                                        <p:cTn id="104" dur="500"/>
                                        <p:tgtEl>
                                          <p:spTgt spid="57"/>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1" fill="hold" grpId="0" nodeType="clickEffect">
                                  <p:stCondLst>
                                    <p:cond delay="0"/>
                                  </p:stCondLst>
                                  <p:childTnLst>
                                    <p:set>
                                      <p:cBhvr>
                                        <p:cTn id="108" dur="1" fill="hold">
                                          <p:stCondLst>
                                            <p:cond delay="0"/>
                                          </p:stCondLst>
                                        </p:cTn>
                                        <p:tgtEl>
                                          <p:spTgt spid="38"/>
                                        </p:tgtEl>
                                        <p:attrNameLst>
                                          <p:attrName>style.visibility</p:attrName>
                                        </p:attrNameLst>
                                      </p:cBhvr>
                                      <p:to>
                                        <p:strVal val="visible"/>
                                      </p:to>
                                    </p:set>
                                    <p:animEffect transition="in" filter="wipe(up)">
                                      <p:cBhvr>
                                        <p:cTn id="109" dur="500"/>
                                        <p:tgtEl>
                                          <p:spTgt spid="38"/>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4" fill="hold" nodeType="clickEffect">
                                  <p:stCondLst>
                                    <p:cond delay="0"/>
                                  </p:stCondLst>
                                  <p:childTnLst>
                                    <p:set>
                                      <p:cBhvr>
                                        <p:cTn id="113" dur="1" fill="hold">
                                          <p:stCondLst>
                                            <p:cond delay="0"/>
                                          </p:stCondLst>
                                        </p:cTn>
                                        <p:tgtEl>
                                          <p:spTgt spid="7"/>
                                        </p:tgtEl>
                                        <p:attrNameLst>
                                          <p:attrName>style.visibility</p:attrName>
                                        </p:attrNameLst>
                                      </p:cBhvr>
                                      <p:to>
                                        <p:strVal val="visible"/>
                                      </p:to>
                                    </p:set>
                                    <p:animEffect transition="in" filter="wipe(down)">
                                      <p:cBhvr>
                                        <p:cTn id="114"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15" fill="hold">
                      <p:stCondLst>
                        <p:cond delay="indefinite"/>
                      </p:stCondLst>
                      <p:childTnLst>
                        <p:par>
                          <p:cTn id="116" fill="hold">
                            <p:stCondLst>
                              <p:cond delay="0"/>
                            </p:stCondLst>
                            <p:childTnLst>
                              <p:par>
                                <p:cTn id="117" presetID="22" presetClass="entr" presetSubtype="4" fill="hold" nodeType="clickEffect">
                                  <p:stCondLst>
                                    <p:cond delay="0"/>
                                  </p:stCondLst>
                                  <p:childTnLst>
                                    <p:set>
                                      <p:cBhvr>
                                        <p:cTn id="118" dur="1" fill="hold">
                                          <p:stCondLst>
                                            <p:cond delay="0"/>
                                          </p:stCondLst>
                                        </p:cTn>
                                        <p:tgtEl>
                                          <p:spTgt spid="8"/>
                                        </p:tgtEl>
                                        <p:attrNameLst>
                                          <p:attrName>style.visibility</p:attrName>
                                        </p:attrNameLst>
                                      </p:cBhvr>
                                      <p:to>
                                        <p:strVal val="visible"/>
                                      </p:to>
                                    </p:set>
                                    <p:animEffect transition="in" filter="wipe(down)">
                                      <p:cBhvr>
                                        <p:cTn id="119"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120" fill="hold">
                      <p:stCondLst>
                        <p:cond delay="indefinite"/>
                      </p:stCondLst>
                      <p:childTnLst>
                        <p:par>
                          <p:cTn id="121" fill="hold">
                            <p:stCondLst>
                              <p:cond delay="0"/>
                            </p:stCondLst>
                            <p:childTnLst>
                              <p:par>
                                <p:cTn id="122" presetID="22" presetClass="entr" presetSubtype="4" fill="hold" nodeType="clickEffect">
                                  <p:stCondLst>
                                    <p:cond delay="0"/>
                                  </p:stCondLst>
                                  <p:childTnLst>
                                    <p:set>
                                      <p:cBhvr>
                                        <p:cTn id="123" dur="1" fill="hold">
                                          <p:stCondLst>
                                            <p:cond delay="0"/>
                                          </p:stCondLst>
                                        </p:cTn>
                                        <p:tgtEl>
                                          <p:spTgt spid="13"/>
                                        </p:tgtEl>
                                        <p:attrNameLst>
                                          <p:attrName>style.visibility</p:attrName>
                                        </p:attrNameLst>
                                      </p:cBhvr>
                                      <p:to>
                                        <p:strVal val="visible"/>
                                      </p:to>
                                    </p:set>
                                    <p:animEffect transition="in" filter="wipe(down)">
                                      <p:cBhvr>
                                        <p:cTn id="124" dur="500"/>
                                        <p:tgtEl>
                                          <p:spTgt spid="13"/>
                                        </p:tgtEl>
                                      </p:cBhvr>
                                    </p:animEffec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par>
                    <p:cTn id="125" fill="hold">
                      <p:stCondLst>
                        <p:cond delay="indefinite"/>
                      </p:stCondLst>
                      <p:childTnLst>
                        <p:par>
                          <p:cTn id="126" fill="hold">
                            <p:stCondLst>
                              <p:cond delay="0"/>
                            </p:stCondLst>
                            <p:childTnLst>
                              <p:par>
                                <p:cTn id="127" presetID="22" presetClass="entr" presetSubtype="4" fill="hold" nodeType="clickEffect">
                                  <p:stCondLst>
                                    <p:cond delay="0"/>
                                  </p:stCondLst>
                                  <p:childTnLst>
                                    <p:set>
                                      <p:cBhvr>
                                        <p:cTn id="128" dur="1" fill="hold">
                                          <p:stCondLst>
                                            <p:cond delay="0"/>
                                          </p:stCondLst>
                                        </p:cTn>
                                        <p:tgtEl>
                                          <p:spTgt spid="17"/>
                                        </p:tgtEl>
                                        <p:attrNameLst>
                                          <p:attrName>style.visibility</p:attrName>
                                        </p:attrNameLst>
                                      </p:cBhvr>
                                      <p:to>
                                        <p:strVal val="visible"/>
                                      </p:to>
                                    </p:set>
                                    <p:animEffect transition="in" filter="wipe(down)">
                                      <p:cBhvr>
                                        <p:cTn id="129" dur="500"/>
                                        <p:tgtEl>
                                          <p:spTgt spid="17"/>
                                        </p:tgtEl>
                                      </p:cBhvr>
                                    </p:animEffect>
                                  </p:childTnLst>
                                </p:cTn>
                              </p:par>
                            </p:childTnLst>
                          </p:cTn>
                        </p:par>
                      </p:childTnLst>
                    </p:cTn>
                  </p:par>
                  <p:par>
                    <p:cTn id="130" fill="hold">
                      <p:stCondLst>
                        <p:cond delay="indefinite"/>
                      </p:stCondLst>
                      <p:childTnLst>
                        <p:par>
                          <p:cTn id="131" fill="hold">
                            <p:stCondLst>
                              <p:cond delay="0"/>
                            </p:stCondLst>
                            <p:childTnLst>
                              <p:par>
                                <p:cTn id="132" presetID="22" presetClass="entr" presetSubtype="8" fill="hold" grpId="0" nodeType="clickEffect">
                                  <p:stCondLst>
                                    <p:cond delay="0"/>
                                  </p:stCondLst>
                                  <p:childTnLst>
                                    <p:set>
                                      <p:cBhvr>
                                        <p:cTn id="133" dur="1" fill="hold">
                                          <p:stCondLst>
                                            <p:cond delay="0"/>
                                          </p:stCondLst>
                                        </p:cTn>
                                        <p:tgtEl>
                                          <p:spTgt spid="59"/>
                                        </p:tgtEl>
                                        <p:attrNameLst>
                                          <p:attrName>style.visibility</p:attrName>
                                        </p:attrNameLst>
                                      </p:cBhvr>
                                      <p:to>
                                        <p:strVal val="visible"/>
                                      </p:to>
                                    </p:set>
                                    <p:animEffect transition="in" filter="wipe(left)">
                                      <p:cBhvr>
                                        <p:cTn id="134" dur="500"/>
                                        <p:tgtEl>
                                          <p:spTgt spid="59"/>
                                        </p:tgtEl>
                                      </p:cBhvr>
                                    </p:animEffect>
                                  </p:childTnLst>
                                </p:cTn>
                              </p:par>
                            </p:childTnLst>
                          </p:cTn>
                        </p:par>
                      </p:childTnLst>
                    </p:cTn>
                  </p:par>
                  <p:par>
                    <p:cTn id="135" fill="hold">
                      <p:stCondLst>
                        <p:cond delay="indefinite"/>
                      </p:stCondLst>
                      <p:childTnLst>
                        <p:par>
                          <p:cTn id="136" fill="hold">
                            <p:stCondLst>
                              <p:cond delay="0"/>
                            </p:stCondLst>
                            <p:childTnLst>
                              <p:par>
                                <p:cTn id="137" presetID="22" presetClass="entr" presetSubtype="8" fill="hold" grpId="0" nodeType="clickEffect">
                                  <p:stCondLst>
                                    <p:cond delay="0"/>
                                  </p:stCondLst>
                                  <p:childTnLst>
                                    <p:set>
                                      <p:cBhvr>
                                        <p:cTn id="138" dur="1" fill="hold">
                                          <p:stCondLst>
                                            <p:cond delay="0"/>
                                          </p:stCondLst>
                                        </p:cTn>
                                        <p:tgtEl>
                                          <p:spTgt spid="60"/>
                                        </p:tgtEl>
                                        <p:attrNameLst>
                                          <p:attrName>style.visibility</p:attrName>
                                        </p:attrNameLst>
                                      </p:cBhvr>
                                      <p:to>
                                        <p:strVal val="visible"/>
                                      </p:to>
                                    </p:set>
                                    <p:animEffect transition="in" filter="wipe(left)">
                                      <p:cBhvr>
                                        <p:cTn id="139" dur="500"/>
                                        <p:tgtEl>
                                          <p:spTgt spid="60"/>
                                        </p:tgtEl>
                                      </p:cBhvr>
                                    </p:animEffect>
                                  </p:childTnLst>
                                </p:cTn>
                              </p:par>
                            </p:childTnLst>
                          </p:cTn>
                        </p:par>
                      </p:childTnLst>
                    </p:cTn>
                  </p:par>
                  <p:par>
                    <p:cTn id="140" fill="hold">
                      <p:stCondLst>
                        <p:cond delay="indefinite"/>
                      </p:stCondLst>
                      <p:childTnLst>
                        <p:par>
                          <p:cTn id="141" fill="hold">
                            <p:stCondLst>
                              <p:cond delay="0"/>
                            </p:stCondLst>
                            <p:childTnLst>
                              <p:par>
                                <p:cTn id="142" presetID="22" presetClass="entr" presetSubtype="1" fill="hold" grpId="0" nodeType="clickEffect">
                                  <p:stCondLst>
                                    <p:cond delay="0"/>
                                  </p:stCondLst>
                                  <p:childTnLst>
                                    <p:set>
                                      <p:cBhvr>
                                        <p:cTn id="143" dur="1" fill="hold">
                                          <p:stCondLst>
                                            <p:cond delay="0"/>
                                          </p:stCondLst>
                                        </p:cTn>
                                        <p:tgtEl>
                                          <p:spTgt spid="41"/>
                                        </p:tgtEl>
                                        <p:attrNameLst>
                                          <p:attrName>style.visibility</p:attrName>
                                        </p:attrNameLst>
                                      </p:cBhvr>
                                      <p:to>
                                        <p:strVal val="visible"/>
                                      </p:to>
                                    </p:set>
                                    <p:animEffect transition="in" filter="wipe(up)">
                                      <p:cBhvr>
                                        <p:cTn id="144" dur="500"/>
                                        <p:tgtEl>
                                          <p:spTgt spid="41"/>
                                        </p:tgtEl>
                                      </p:cBhvr>
                                    </p:animEffect>
                                  </p:childTnLst>
                                </p:cTn>
                              </p:par>
                            </p:childTnLst>
                          </p:cTn>
                        </p:par>
                      </p:childTnLst>
                    </p:cTn>
                  </p:par>
                  <p:par>
                    <p:cTn id="145" fill="hold">
                      <p:stCondLst>
                        <p:cond delay="indefinite"/>
                      </p:stCondLst>
                      <p:childTnLst>
                        <p:par>
                          <p:cTn id="146" fill="hold">
                            <p:stCondLst>
                              <p:cond delay="0"/>
                            </p:stCondLst>
                            <p:childTnLst>
                              <p:par>
                                <p:cTn id="147" presetID="22" presetClass="entr" presetSubtype="4" fill="hold" nodeType="clickEffect">
                                  <p:stCondLst>
                                    <p:cond delay="0"/>
                                  </p:stCondLst>
                                  <p:childTnLst>
                                    <p:set>
                                      <p:cBhvr>
                                        <p:cTn id="148" dur="1" fill="hold">
                                          <p:stCondLst>
                                            <p:cond delay="0"/>
                                          </p:stCondLst>
                                        </p:cTn>
                                        <p:tgtEl>
                                          <p:spTgt spid="5"/>
                                        </p:tgtEl>
                                        <p:attrNameLst>
                                          <p:attrName>style.visibility</p:attrName>
                                        </p:attrNameLst>
                                      </p:cBhvr>
                                      <p:to>
                                        <p:strVal val="visible"/>
                                      </p:to>
                                    </p:set>
                                    <p:animEffect transition="in" filter="wipe(down)">
                                      <p:cBhvr>
                                        <p:cTn id="149"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150" fill="hold">
                      <p:stCondLst>
                        <p:cond delay="indefinite"/>
                      </p:stCondLst>
                      <p:childTnLst>
                        <p:par>
                          <p:cTn id="151" fill="hold">
                            <p:stCondLst>
                              <p:cond delay="0"/>
                            </p:stCondLst>
                            <p:childTnLst>
                              <p:par>
                                <p:cTn id="152" presetID="22" presetClass="entr" presetSubtype="1" fill="hold" grpId="0" nodeType="clickEffect">
                                  <p:stCondLst>
                                    <p:cond delay="0"/>
                                  </p:stCondLst>
                                  <p:childTnLst>
                                    <p:set>
                                      <p:cBhvr>
                                        <p:cTn id="153" dur="1" fill="hold">
                                          <p:stCondLst>
                                            <p:cond delay="0"/>
                                          </p:stCondLst>
                                        </p:cTn>
                                        <p:tgtEl>
                                          <p:spTgt spid="39"/>
                                        </p:tgtEl>
                                        <p:attrNameLst>
                                          <p:attrName>style.visibility</p:attrName>
                                        </p:attrNameLst>
                                      </p:cBhvr>
                                      <p:to>
                                        <p:strVal val="visible"/>
                                      </p:to>
                                    </p:set>
                                    <p:animEffect transition="in" filter="wipe(up)">
                                      <p:cBhvr>
                                        <p:cTn id="154" dur="500"/>
                                        <p:tgtEl>
                                          <p:spTgt spid="39"/>
                                        </p:tgtEl>
                                      </p:cBhvr>
                                    </p:animEffect>
                                  </p:childTnLst>
                                </p:cTn>
                              </p:par>
                            </p:childTnLst>
                          </p:cTn>
                        </p:par>
                        <p:par>
                          <p:cTn id="155" fill="hold">
                            <p:stCondLst>
                              <p:cond delay="500"/>
                            </p:stCondLst>
                            <p:childTnLst>
                              <p:par>
                                <p:cTn id="156" presetID="22" presetClass="entr" presetSubtype="1" fill="hold" grpId="0" nodeType="afterEffect">
                                  <p:stCondLst>
                                    <p:cond delay="0"/>
                                  </p:stCondLst>
                                  <p:childTnLst>
                                    <p:set>
                                      <p:cBhvr>
                                        <p:cTn id="157" dur="1" fill="hold">
                                          <p:stCondLst>
                                            <p:cond delay="0"/>
                                          </p:stCondLst>
                                        </p:cTn>
                                        <p:tgtEl>
                                          <p:spTgt spid="40"/>
                                        </p:tgtEl>
                                        <p:attrNameLst>
                                          <p:attrName>style.visibility</p:attrName>
                                        </p:attrNameLst>
                                      </p:cBhvr>
                                      <p:to>
                                        <p:strVal val="visible"/>
                                      </p:to>
                                    </p:set>
                                    <p:animEffect transition="in" filter="wipe(up)">
                                      <p:cBhvr>
                                        <p:cTn id="158" dur="500"/>
                                        <p:tgtEl>
                                          <p:spTgt spid="40"/>
                                        </p:tgtEl>
                                      </p:cBhvr>
                                    </p:animEffect>
                                  </p:childTnLst>
                                </p:cTn>
                              </p:par>
                            </p:childTnLst>
                          </p:cTn>
                        </p:par>
                      </p:childTnLst>
                    </p:cTn>
                  </p:par>
                  <p:par>
                    <p:cTn id="159" fill="hold">
                      <p:stCondLst>
                        <p:cond delay="indefinite"/>
                      </p:stCondLst>
                      <p:childTnLst>
                        <p:par>
                          <p:cTn id="160" fill="hold">
                            <p:stCondLst>
                              <p:cond delay="0"/>
                            </p:stCondLst>
                            <p:childTnLst>
                              <p:par>
                                <p:cTn id="161" presetID="22" presetClass="entr" presetSubtype="8" fill="hold" grpId="0" nodeType="clickEffect">
                                  <p:stCondLst>
                                    <p:cond delay="0"/>
                                  </p:stCondLst>
                                  <p:childTnLst>
                                    <p:set>
                                      <p:cBhvr>
                                        <p:cTn id="162" dur="1" fill="hold">
                                          <p:stCondLst>
                                            <p:cond delay="0"/>
                                          </p:stCondLst>
                                        </p:cTn>
                                        <p:tgtEl>
                                          <p:spTgt spid="42"/>
                                        </p:tgtEl>
                                        <p:attrNameLst>
                                          <p:attrName>style.visibility</p:attrName>
                                        </p:attrNameLst>
                                      </p:cBhvr>
                                      <p:to>
                                        <p:strVal val="visible"/>
                                      </p:to>
                                    </p:set>
                                    <p:animEffect transition="in" filter="wipe(left)">
                                      <p:cBhvr>
                                        <p:cTn id="163"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0" grpId="0" autoUpdateAnimBg="0"/>
      <p:bldP spid="22" grpId="0" animBg="1"/>
      <p:bldP spid="23" grpId="0" autoUpdateAnimBg="0"/>
      <p:bldP spid="24" grpId="0" animBg="1"/>
      <p:bldP spid="25" grpId="0" autoUpdateAnimBg="0"/>
      <p:bldP spid="26" grpId="0" autoUpdateAnimBg="0"/>
      <p:bldP spid="35" grpId="0" animBg="1" autoUpdateAnimBg="0"/>
      <p:bldP spid="27" grpId="0" autoUpdateAnimBg="0"/>
      <p:bldP spid="28" grpId="0" autoUpdateAnimBg="0"/>
      <p:bldP spid="29" grpId="0" animBg="1"/>
      <p:bldP spid="30" grpId="0" autoUpdateAnimBg="0"/>
      <p:bldP spid="31" grpId="0" animBg="1"/>
      <p:bldP spid="32" grpId="0" animBg="1"/>
      <p:bldP spid="33" grpId="0" autoUpdateAnimBg="0"/>
      <p:bldP spid="34" grpId="0" animBg="1"/>
      <p:bldP spid="38" grpId="0" animBg="1"/>
      <p:bldP spid="39" grpId="0" animBg="1"/>
      <p:bldP spid="40" grpId="0" autoUpdateAnimBg="0"/>
      <p:bldP spid="41" grpId="0" animBg="1"/>
      <p:bldP spid="42" grpId="0" autoUpdateAnimBg="0"/>
      <p:bldP spid="43" grpId="0" animBg="1" autoUpdateAnimBg="0"/>
      <p:bldP spid="55" grpId="0" animBg="1"/>
      <p:bldP spid="57" grpId="0" animBg="1" autoUpdateAnimBg="0"/>
      <p:bldP spid="60" grpId="0" animBg="1" autoUpdateAnimBg="0"/>
      <p:bldP spid="63" grpId="0" animBg="1" autoUpdateAnimBg="0"/>
      <p:bldP spid="59" grpId="0" animBg="1" autoUpdateAnimBg="0"/>
      <p:bldP spid="58"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347200" y="6356350"/>
            <a:ext cx="2844800" cy="365125"/>
          </a:xfrm>
          <a:prstGeom prst="rect">
            <a:avLst/>
          </a:prstGeom>
        </p:spPr>
        <p:txBody>
          <a:bodyPr/>
          <a:lstStyle/>
          <a:p>
            <a:pPr algn="r">
              <a:lnSpc>
                <a:spcPct val="120000"/>
              </a:lnSpc>
              <a:spcBef>
                <a:spcPts val="300"/>
              </a:spcBef>
            </a:pPr>
            <a:fld id="{0063EC4C-CFD8-4F45-A0A2-30028C1F73DB}" type="slidenum">
              <a:rPr lang="zh-CN" altLang="en-US" b="1">
                <a:solidFill>
                  <a:srgbClr val="F79646">
                    <a:lumMod val="75000"/>
                  </a:srgbClr>
                </a:solidFill>
                <a:cs typeface="+mn-ea"/>
                <a:sym typeface="+mn-lt"/>
              </a:rPr>
              <a:t>10</a:t>
            </a:fld>
            <a:endParaRPr lang="zh-CN" altLang="en-US" b="1" dirty="0">
              <a:solidFill>
                <a:srgbClr val="F79646">
                  <a:lumMod val="75000"/>
                </a:srgbClr>
              </a:solidFill>
              <a:cs typeface="+mn-ea"/>
              <a:sym typeface="+mn-lt"/>
            </a:endParaRPr>
          </a:p>
        </p:txBody>
      </p:sp>
      <p:sp>
        <p:nvSpPr>
          <p:cNvPr id="13" name="Text Box 2"/>
          <p:cNvSpPr txBox="1">
            <a:spLocks noChangeArrowheads="1"/>
          </p:cNvSpPr>
          <p:nvPr/>
        </p:nvSpPr>
        <p:spPr bwMode="auto">
          <a:xfrm>
            <a:off x="2495551" y="1566863"/>
            <a:ext cx="7993063" cy="559897"/>
          </a:xfrm>
          <a:prstGeom prst="rect">
            <a:avLst/>
          </a:prstGeom>
          <a:noFill/>
          <a:ln w="9525" algn="ctr">
            <a:noFill/>
            <a:miter lim="800000"/>
          </a:ln>
          <a:effectLst/>
        </p:spPr>
        <p:txBody>
          <a:bodyPr>
            <a:spAutoFit/>
          </a:bodyPr>
          <a:lstStyle/>
          <a:p>
            <a:pPr fontAlgn="base">
              <a:lnSpc>
                <a:spcPct val="120000"/>
              </a:lnSpc>
              <a:spcBef>
                <a:spcPct val="300000"/>
              </a:spcBef>
              <a:spcAft>
                <a:spcPct val="0"/>
              </a:spcAft>
            </a:pPr>
            <a:r>
              <a:rPr kumimoji="1" lang="zh-CN" altLang="en-US" sz="2800" b="1" dirty="0">
                <a:solidFill>
                  <a:srgbClr val="000000"/>
                </a:solidFill>
                <a:cs typeface="+mn-ea"/>
                <a:sym typeface="+mn-lt"/>
              </a:rPr>
              <a:t>初始关键字  </a:t>
            </a:r>
            <a:r>
              <a:rPr kumimoji="1" lang="zh-CN" altLang="en-US" sz="2800" b="1" dirty="0">
                <a:solidFill>
                  <a:srgbClr val="0000FF"/>
                </a:solidFill>
                <a:cs typeface="+mn-ea"/>
                <a:sym typeface="+mn-lt"/>
              </a:rPr>
              <a:t> </a:t>
            </a:r>
            <a:r>
              <a:rPr kumimoji="1" lang="en-US" altLang="zh-CN" sz="2800" b="1" dirty="0">
                <a:solidFill>
                  <a:srgbClr val="0000FF"/>
                </a:solidFill>
                <a:cs typeface="+mn-ea"/>
                <a:sym typeface="+mn-lt"/>
              </a:rPr>
              <a:t>49</a:t>
            </a:r>
            <a:r>
              <a:rPr kumimoji="1" lang="en-US" altLang="zh-CN" sz="2800" b="1" dirty="0">
                <a:solidFill>
                  <a:srgbClr val="000000"/>
                </a:solidFill>
                <a:cs typeface="+mn-ea"/>
                <a:sym typeface="+mn-lt"/>
              </a:rPr>
              <a:t>   49*   65   97   17    27   50</a:t>
            </a:r>
          </a:p>
        </p:txBody>
      </p:sp>
      <p:sp>
        <p:nvSpPr>
          <p:cNvPr id="14" name="Text Box 3"/>
          <p:cNvSpPr txBox="1">
            <a:spLocks noChangeArrowheads="1"/>
          </p:cNvSpPr>
          <p:nvPr/>
        </p:nvSpPr>
        <p:spPr bwMode="auto">
          <a:xfrm>
            <a:off x="4419600" y="1895147"/>
            <a:ext cx="909636" cy="564257"/>
          </a:xfrm>
          <a:prstGeom prst="rect">
            <a:avLst/>
          </a:prstGeom>
          <a:noFill/>
          <a:ln w="9525">
            <a:noFill/>
            <a:miter lim="800000"/>
          </a:ln>
          <a:effectLst/>
        </p:spPr>
        <p:txBody>
          <a:bodyPr wrap="square">
            <a:spAutoFit/>
          </a:bodyPr>
          <a:lstStyle/>
          <a:p>
            <a:pPr fontAlgn="base">
              <a:lnSpc>
                <a:spcPct val="120000"/>
              </a:lnSpc>
              <a:spcBef>
                <a:spcPct val="300000"/>
              </a:spcBef>
              <a:spcAft>
                <a:spcPct val="0"/>
              </a:spcAft>
            </a:pPr>
            <a:r>
              <a:rPr kumimoji="1" lang="en-US" altLang="zh-CN" sz="2800" b="1" dirty="0">
                <a:solidFill>
                  <a:srgbClr val="000000"/>
                </a:solidFill>
                <a:cs typeface="+mn-ea"/>
                <a:sym typeface="+mn-lt"/>
              </a:rPr>
              <a:t>low</a:t>
            </a:r>
          </a:p>
        </p:txBody>
      </p:sp>
      <p:sp>
        <p:nvSpPr>
          <p:cNvPr id="15" name="Text Box 4"/>
          <p:cNvSpPr txBox="1">
            <a:spLocks noChangeArrowheads="1"/>
          </p:cNvSpPr>
          <p:nvPr/>
        </p:nvSpPr>
        <p:spPr bwMode="auto">
          <a:xfrm>
            <a:off x="8616950" y="1911351"/>
            <a:ext cx="1517650" cy="564257"/>
          </a:xfrm>
          <a:prstGeom prst="rect">
            <a:avLst/>
          </a:prstGeom>
          <a:noFill/>
          <a:ln w="9525">
            <a:noFill/>
            <a:miter lim="800000"/>
          </a:ln>
          <a:effectLst/>
        </p:spPr>
        <p:txBody>
          <a:bodyPr wrap="square">
            <a:spAutoFit/>
          </a:bodyPr>
          <a:lstStyle/>
          <a:p>
            <a:pPr fontAlgn="base">
              <a:lnSpc>
                <a:spcPct val="120000"/>
              </a:lnSpc>
              <a:spcBef>
                <a:spcPct val="300000"/>
              </a:spcBef>
              <a:spcAft>
                <a:spcPct val="0"/>
              </a:spcAft>
            </a:pPr>
            <a:r>
              <a:rPr kumimoji="1" lang="en-US" altLang="zh-CN" sz="2800" b="1" dirty="0">
                <a:solidFill>
                  <a:srgbClr val="000000"/>
                </a:solidFill>
                <a:cs typeface="+mn-ea"/>
                <a:sym typeface="+mn-lt"/>
              </a:rPr>
              <a:t> high</a:t>
            </a:r>
          </a:p>
        </p:txBody>
      </p:sp>
      <p:sp>
        <p:nvSpPr>
          <p:cNvPr id="16" name="Text Box 5"/>
          <p:cNvSpPr txBox="1">
            <a:spLocks noChangeArrowheads="1"/>
          </p:cNvSpPr>
          <p:nvPr/>
        </p:nvSpPr>
        <p:spPr bwMode="auto">
          <a:xfrm>
            <a:off x="2438401" y="2416176"/>
            <a:ext cx="8381999" cy="559897"/>
          </a:xfrm>
          <a:prstGeom prst="rect">
            <a:avLst/>
          </a:prstGeom>
          <a:noFill/>
          <a:ln w="9525" algn="ctr">
            <a:noFill/>
            <a:miter lim="800000"/>
          </a:ln>
          <a:effectLst/>
        </p:spPr>
        <p:txBody>
          <a:bodyPr wrap="square">
            <a:spAutoFit/>
          </a:bodyPr>
          <a:lstStyle/>
          <a:p>
            <a:pPr fontAlgn="base">
              <a:lnSpc>
                <a:spcPct val="120000"/>
              </a:lnSpc>
              <a:spcBef>
                <a:spcPct val="300000"/>
              </a:spcBef>
              <a:spcAft>
                <a:spcPct val="0"/>
              </a:spcAft>
            </a:pPr>
            <a:r>
              <a:rPr kumimoji="1" lang="zh-CN" altLang="en-US" sz="2800" b="1" dirty="0">
                <a:solidFill>
                  <a:srgbClr val="000000"/>
                </a:solidFill>
                <a:cs typeface="+mn-ea"/>
                <a:sym typeface="+mn-lt"/>
              </a:rPr>
              <a:t>一次交换       </a:t>
            </a:r>
            <a:r>
              <a:rPr kumimoji="1" lang="en-US" altLang="zh-CN" sz="2800" b="1" dirty="0">
                <a:solidFill>
                  <a:srgbClr val="0000FF"/>
                </a:solidFill>
                <a:cs typeface="+mn-ea"/>
                <a:sym typeface="+mn-lt"/>
              </a:rPr>
              <a:t>27</a:t>
            </a:r>
            <a:r>
              <a:rPr kumimoji="1" lang="en-US" altLang="zh-CN" sz="2800" b="1" dirty="0">
                <a:solidFill>
                  <a:srgbClr val="000000"/>
                </a:solidFill>
                <a:cs typeface="+mn-ea"/>
                <a:sym typeface="+mn-lt"/>
              </a:rPr>
              <a:t>   49*   65   97   17    </a:t>
            </a:r>
            <a:r>
              <a:rPr kumimoji="1" lang="en-US" altLang="zh-CN" sz="2800" b="1" dirty="0">
                <a:solidFill>
                  <a:srgbClr val="0000FF"/>
                </a:solidFill>
                <a:cs typeface="+mn-ea"/>
                <a:sym typeface="+mn-lt"/>
              </a:rPr>
              <a:t>49</a:t>
            </a:r>
            <a:r>
              <a:rPr kumimoji="1" lang="en-US" altLang="zh-CN" sz="2800" b="1" dirty="0">
                <a:solidFill>
                  <a:srgbClr val="000000"/>
                </a:solidFill>
                <a:cs typeface="+mn-ea"/>
                <a:sym typeface="+mn-lt"/>
              </a:rPr>
              <a:t>  </a:t>
            </a:r>
            <a:r>
              <a:rPr kumimoji="1" lang="en-US" altLang="zh-CN" sz="2800" b="1" dirty="0">
                <a:solidFill>
                  <a:srgbClr val="0000FF"/>
                </a:solidFill>
                <a:cs typeface="+mn-ea"/>
                <a:sym typeface="+mn-lt"/>
              </a:rPr>
              <a:t> 50 </a:t>
            </a:r>
          </a:p>
        </p:txBody>
      </p:sp>
      <p:sp>
        <p:nvSpPr>
          <p:cNvPr id="17" name="Text Box 6"/>
          <p:cNvSpPr txBox="1">
            <a:spLocks noChangeArrowheads="1"/>
          </p:cNvSpPr>
          <p:nvPr/>
        </p:nvSpPr>
        <p:spPr bwMode="auto">
          <a:xfrm>
            <a:off x="2362201" y="3279776"/>
            <a:ext cx="7910513" cy="559897"/>
          </a:xfrm>
          <a:prstGeom prst="rect">
            <a:avLst/>
          </a:prstGeom>
          <a:noFill/>
          <a:ln w="9525" algn="ctr">
            <a:noFill/>
            <a:miter lim="800000"/>
          </a:ln>
          <a:effectLst/>
        </p:spPr>
        <p:txBody>
          <a:bodyPr>
            <a:spAutoFit/>
          </a:bodyPr>
          <a:lstStyle/>
          <a:p>
            <a:pPr fontAlgn="base">
              <a:lnSpc>
                <a:spcPct val="120000"/>
              </a:lnSpc>
              <a:spcBef>
                <a:spcPct val="300000"/>
              </a:spcBef>
              <a:spcAft>
                <a:spcPct val="0"/>
              </a:spcAft>
            </a:pPr>
            <a:r>
              <a:rPr kumimoji="1" lang="en-US" altLang="zh-CN" sz="2800" b="1" dirty="0">
                <a:solidFill>
                  <a:srgbClr val="000000"/>
                </a:solidFill>
                <a:cs typeface="+mn-ea"/>
                <a:sym typeface="+mn-lt"/>
              </a:rPr>
              <a:t> </a:t>
            </a:r>
            <a:r>
              <a:rPr kumimoji="1" lang="zh-CN" altLang="en-US" sz="2800" b="1" dirty="0">
                <a:solidFill>
                  <a:srgbClr val="000000"/>
                </a:solidFill>
                <a:cs typeface="+mn-ea"/>
                <a:sym typeface="+mn-lt"/>
              </a:rPr>
              <a:t>二次交换       </a:t>
            </a:r>
            <a:r>
              <a:rPr kumimoji="1" lang="en-US" altLang="zh-CN" sz="2800" b="1" dirty="0">
                <a:solidFill>
                  <a:srgbClr val="0000FF"/>
                </a:solidFill>
                <a:cs typeface="+mn-ea"/>
                <a:sym typeface="+mn-lt"/>
              </a:rPr>
              <a:t>27   49*</a:t>
            </a:r>
            <a:r>
              <a:rPr kumimoji="1" lang="en-US" altLang="zh-CN" sz="2800" b="1" dirty="0">
                <a:solidFill>
                  <a:srgbClr val="000000"/>
                </a:solidFill>
                <a:cs typeface="+mn-ea"/>
                <a:sym typeface="+mn-lt"/>
              </a:rPr>
              <a:t>   </a:t>
            </a:r>
            <a:r>
              <a:rPr kumimoji="1" lang="en-US" altLang="zh-CN" sz="2800" b="1" dirty="0">
                <a:solidFill>
                  <a:srgbClr val="0000FF"/>
                </a:solidFill>
                <a:cs typeface="+mn-ea"/>
                <a:sym typeface="+mn-lt"/>
              </a:rPr>
              <a:t>49</a:t>
            </a:r>
            <a:r>
              <a:rPr kumimoji="1" lang="en-US" altLang="zh-CN" sz="2800" b="1" dirty="0">
                <a:solidFill>
                  <a:srgbClr val="000000"/>
                </a:solidFill>
                <a:cs typeface="+mn-ea"/>
                <a:sym typeface="+mn-lt"/>
              </a:rPr>
              <a:t>   97   17    </a:t>
            </a:r>
            <a:r>
              <a:rPr kumimoji="1" lang="en-US" altLang="zh-CN" sz="2800" b="1" dirty="0">
                <a:solidFill>
                  <a:srgbClr val="0000FF"/>
                </a:solidFill>
                <a:cs typeface="+mn-ea"/>
                <a:sym typeface="+mn-lt"/>
              </a:rPr>
              <a:t>65   50</a:t>
            </a:r>
          </a:p>
        </p:txBody>
      </p:sp>
      <p:sp>
        <p:nvSpPr>
          <p:cNvPr id="18" name="Text Box 7"/>
          <p:cNvSpPr txBox="1">
            <a:spLocks noChangeArrowheads="1"/>
          </p:cNvSpPr>
          <p:nvPr/>
        </p:nvSpPr>
        <p:spPr bwMode="auto">
          <a:xfrm>
            <a:off x="2424114" y="4216401"/>
            <a:ext cx="7812087" cy="559897"/>
          </a:xfrm>
          <a:prstGeom prst="rect">
            <a:avLst/>
          </a:prstGeom>
          <a:noFill/>
          <a:ln w="9525" algn="ctr">
            <a:noFill/>
            <a:miter lim="800000"/>
          </a:ln>
          <a:effectLst/>
        </p:spPr>
        <p:txBody>
          <a:bodyPr>
            <a:spAutoFit/>
          </a:bodyPr>
          <a:lstStyle/>
          <a:p>
            <a:pPr fontAlgn="base">
              <a:lnSpc>
                <a:spcPct val="120000"/>
              </a:lnSpc>
              <a:spcBef>
                <a:spcPct val="300000"/>
              </a:spcBef>
              <a:spcAft>
                <a:spcPct val="0"/>
              </a:spcAft>
            </a:pPr>
            <a:r>
              <a:rPr kumimoji="1" lang="zh-CN" altLang="en-US" sz="2800" b="1">
                <a:solidFill>
                  <a:srgbClr val="000000"/>
                </a:solidFill>
                <a:cs typeface="+mn-ea"/>
                <a:sym typeface="+mn-lt"/>
              </a:rPr>
              <a:t>三次交换      </a:t>
            </a:r>
            <a:r>
              <a:rPr kumimoji="1" lang="en-US" altLang="zh-CN" sz="2800" b="1">
                <a:solidFill>
                  <a:srgbClr val="0000FF"/>
                </a:solidFill>
                <a:cs typeface="+mn-ea"/>
                <a:sym typeface="+mn-lt"/>
              </a:rPr>
              <a:t>27   49*   17</a:t>
            </a:r>
            <a:r>
              <a:rPr kumimoji="1" lang="en-US" altLang="zh-CN" sz="2800" b="1">
                <a:solidFill>
                  <a:srgbClr val="000000"/>
                </a:solidFill>
                <a:cs typeface="+mn-ea"/>
                <a:sym typeface="+mn-lt"/>
              </a:rPr>
              <a:t>   97   </a:t>
            </a:r>
            <a:r>
              <a:rPr kumimoji="1" lang="en-US" altLang="zh-CN" sz="2800" b="1">
                <a:solidFill>
                  <a:srgbClr val="0000FF"/>
                </a:solidFill>
                <a:cs typeface="+mn-ea"/>
                <a:sym typeface="+mn-lt"/>
              </a:rPr>
              <a:t>49</a:t>
            </a:r>
            <a:r>
              <a:rPr kumimoji="1" lang="en-US" altLang="zh-CN" sz="2800" b="1">
                <a:solidFill>
                  <a:srgbClr val="000000"/>
                </a:solidFill>
                <a:cs typeface="+mn-ea"/>
                <a:sym typeface="+mn-lt"/>
              </a:rPr>
              <a:t>     </a:t>
            </a:r>
            <a:r>
              <a:rPr kumimoji="1" lang="en-US" altLang="zh-CN" sz="2800" b="1">
                <a:solidFill>
                  <a:srgbClr val="0000FF"/>
                </a:solidFill>
                <a:cs typeface="+mn-ea"/>
                <a:sym typeface="+mn-lt"/>
              </a:rPr>
              <a:t>65   50</a:t>
            </a:r>
          </a:p>
        </p:txBody>
      </p:sp>
      <p:sp>
        <p:nvSpPr>
          <p:cNvPr id="19" name="Text Box 9"/>
          <p:cNvSpPr txBox="1">
            <a:spLocks noChangeArrowheads="1"/>
          </p:cNvSpPr>
          <p:nvPr/>
        </p:nvSpPr>
        <p:spPr bwMode="auto">
          <a:xfrm>
            <a:off x="2424113" y="5151438"/>
            <a:ext cx="8064500" cy="559897"/>
          </a:xfrm>
          <a:prstGeom prst="rect">
            <a:avLst/>
          </a:prstGeom>
          <a:noFill/>
          <a:ln w="9525" algn="ctr">
            <a:noFill/>
            <a:miter lim="800000"/>
          </a:ln>
          <a:effectLst/>
        </p:spPr>
        <p:txBody>
          <a:bodyPr>
            <a:spAutoFit/>
          </a:bodyPr>
          <a:lstStyle/>
          <a:p>
            <a:pPr fontAlgn="base">
              <a:lnSpc>
                <a:spcPct val="120000"/>
              </a:lnSpc>
              <a:spcBef>
                <a:spcPct val="300000"/>
              </a:spcBef>
              <a:spcAft>
                <a:spcPct val="0"/>
              </a:spcAft>
            </a:pPr>
            <a:r>
              <a:rPr kumimoji="1" lang="zh-CN" altLang="en-US" sz="2800" b="1" dirty="0">
                <a:solidFill>
                  <a:srgbClr val="000000"/>
                </a:solidFill>
                <a:cs typeface="+mn-ea"/>
                <a:sym typeface="+mn-lt"/>
              </a:rPr>
              <a:t>四次交换       </a:t>
            </a:r>
            <a:r>
              <a:rPr kumimoji="1" lang="en-US" altLang="zh-CN" sz="2800" b="1" dirty="0">
                <a:solidFill>
                  <a:srgbClr val="0000FF"/>
                </a:solidFill>
                <a:cs typeface="+mn-ea"/>
                <a:sym typeface="+mn-lt"/>
              </a:rPr>
              <a:t>27   49*   17   49    97    65   50</a:t>
            </a:r>
          </a:p>
        </p:txBody>
      </p:sp>
      <p:sp>
        <p:nvSpPr>
          <p:cNvPr id="20" name="Text Box 10"/>
          <p:cNvSpPr txBox="1">
            <a:spLocks noChangeArrowheads="1"/>
          </p:cNvSpPr>
          <p:nvPr/>
        </p:nvSpPr>
        <p:spPr bwMode="auto">
          <a:xfrm>
            <a:off x="2424114" y="5867400"/>
            <a:ext cx="2376487" cy="559897"/>
          </a:xfrm>
          <a:prstGeom prst="rect">
            <a:avLst/>
          </a:prstGeom>
          <a:noFill/>
          <a:ln w="9525" algn="ctr">
            <a:noFill/>
            <a:miter lim="800000"/>
          </a:ln>
          <a:effectLst/>
        </p:spPr>
        <p:txBody>
          <a:bodyPr>
            <a:spAutoFit/>
          </a:bodyPr>
          <a:lstStyle/>
          <a:p>
            <a:pPr fontAlgn="base">
              <a:lnSpc>
                <a:spcPct val="120000"/>
              </a:lnSpc>
              <a:spcBef>
                <a:spcPct val="300000"/>
              </a:spcBef>
              <a:spcAft>
                <a:spcPct val="0"/>
              </a:spcAft>
            </a:pPr>
            <a:r>
              <a:rPr kumimoji="1" lang="zh-CN" altLang="en-US" sz="2800" b="1" dirty="0">
                <a:solidFill>
                  <a:srgbClr val="000000"/>
                </a:solidFill>
                <a:cs typeface="+mn-ea"/>
                <a:sym typeface="+mn-lt"/>
              </a:rPr>
              <a:t>完成一趟排序</a:t>
            </a:r>
            <a:endParaRPr kumimoji="1" lang="zh-CN" altLang="en-US" sz="2800" b="1" dirty="0">
              <a:solidFill>
                <a:srgbClr val="0000FF"/>
              </a:solidFill>
              <a:cs typeface="+mn-ea"/>
              <a:sym typeface="+mn-lt"/>
            </a:endParaRPr>
          </a:p>
        </p:txBody>
      </p:sp>
      <p:sp>
        <p:nvSpPr>
          <p:cNvPr id="21" name="Text Box 11"/>
          <p:cNvSpPr txBox="1">
            <a:spLocks noChangeArrowheads="1"/>
          </p:cNvSpPr>
          <p:nvPr/>
        </p:nvSpPr>
        <p:spPr bwMode="auto">
          <a:xfrm>
            <a:off x="7661826" y="2742270"/>
            <a:ext cx="1552574" cy="564257"/>
          </a:xfrm>
          <a:prstGeom prst="rect">
            <a:avLst/>
          </a:prstGeom>
          <a:noFill/>
          <a:ln w="9525">
            <a:noFill/>
            <a:miter lim="800000"/>
          </a:ln>
          <a:effectLst/>
        </p:spPr>
        <p:txBody>
          <a:bodyPr wrap="square">
            <a:spAutoFit/>
          </a:bodyPr>
          <a:lstStyle/>
          <a:p>
            <a:pPr fontAlgn="base">
              <a:lnSpc>
                <a:spcPct val="120000"/>
              </a:lnSpc>
              <a:spcBef>
                <a:spcPct val="300000"/>
              </a:spcBef>
              <a:spcAft>
                <a:spcPct val="0"/>
              </a:spcAft>
            </a:pPr>
            <a:r>
              <a:rPr kumimoji="1" lang="en-US" altLang="zh-CN" sz="2800" b="1" dirty="0">
                <a:solidFill>
                  <a:srgbClr val="000000"/>
                </a:solidFill>
                <a:cs typeface="+mn-ea"/>
                <a:sym typeface="+mn-lt"/>
              </a:rPr>
              <a:t> high</a:t>
            </a:r>
          </a:p>
        </p:txBody>
      </p:sp>
      <p:sp>
        <p:nvSpPr>
          <p:cNvPr id="22" name="Text Box 12"/>
          <p:cNvSpPr txBox="1">
            <a:spLocks noChangeArrowheads="1"/>
          </p:cNvSpPr>
          <p:nvPr/>
        </p:nvSpPr>
        <p:spPr bwMode="auto">
          <a:xfrm>
            <a:off x="5232400" y="2751138"/>
            <a:ext cx="1016000" cy="564257"/>
          </a:xfrm>
          <a:prstGeom prst="rect">
            <a:avLst/>
          </a:prstGeom>
          <a:noFill/>
          <a:ln w="9525">
            <a:noFill/>
            <a:miter lim="800000"/>
          </a:ln>
          <a:effectLst/>
        </p:spPr>
        <p:txBody>
          <a:bodyPr wrap="square">
            <a:spAutoFit/>
          </a:bodyPr>
          <a:lstStyle/>
          <a:p>
            <a:pPr fontAlgn="base">
              <a:lnSpc>
                <a:spcPct val="120000"/>
              </a:lnSpc>
              <a:spcBef>
                <a:spcPct val="300000"/>
              </a:spcBef>
              <a:spcAft>
                <a:spcPct val="0"/>
              </a:spcAft>
            </a:pPr>
            <a:r>
              <a:rPr kumimoji="1" lang="en-US" altLang="zh-CN" sz="2800" b="1" dirty="0">
                <a:solidFill>
                  <a:srgbClr val="000000"/>
                </a:solidFill>
                <a:cs typeface="+mn-ea"/>
                <a:sym typeface="+mn-lt"/>
              </a:rPr>
              <a:t>low</a:t>
            </a:r>
          </a:p>
        </p:txBody>
      </p:sp>
      <p:sp>
        <p:nvSpPr>
          <p:cNvPr id="23" name="Text Box 13"/>
          <p:cNvSpPr txBox="1">
            <a:spLocks noChangeArrowheads="1"/>
          </p:cNvSpPr>
          <p:nvPr/>
        </p:nvSpPr>
        <p:spPr bwMode="auto">
          <a:xfrm>
            <a:off x="6961229" y="3619832"/>
            <a:ext cx="1441449" cy="564257"/>
          </a:xfrm>
          <a:prstGeom prst="rect">
            <a:avLst/>
          </a:prstGeom>
          <a:noFill/>
          <a:ln w="9525">
            <a:noFill/>
            <a:miter lim="800000"/>
          </a:ln>
          <a:effectLst/>
        </p:spPr>
        <p:txBody>
          <a:bodyPr wrap="square">
            <a:spAutoFit/>
          </a:bodyPr>
          <a:lstStyle/>
          <a:p>
            <a:pPr fontAlgn="base">
              <a:lnSpc>
                <a:spcPct val="120000"/>
              </a:lnSpc>
              <a:spcBef>
                <a:spcPct val="300000"/>
              </a:spcBef>
              <a:spcAft>
                <a:spcPct val="0"/>
              </a:spcAft>
            </a:pPr>
            <a:r>
              <a:rPr kumimoji="1" lang="en-US" altLang="zh-CN" sz="2800" b="1" dirty="0">
                <a:solidFill>
                  <a:srgbClr val="000000"/>
                </a:solidFill>
                <a:cs typeface="+mn-ea"/>
                <a:sym typeface="+mn-lt"/>
              </a:rPr>
              <a:t> high</a:t>
            </a:r>
          </a:p>
        </p:txBody>
      </p:sp>
      <p:sp>
        <p:nvSpPr>
          <p:cNvPr id="24" name="Text Box 14"/>
          <p:cNvSpPr txBox="1">
            <a:spLocks noChangeArrowheads="1"/>
          </p:cNvSpPr>
          <p:nvPr/>
        </p:nvSpPr>
        <p:spPr bwMode="auto">
          <a:xfrm>
            <a:off x="5865540" y="3612790"/>
            <a:ext cx="1050925" cy="564257"/>
          </a:xfrm>
          <a:prstGeom prst="rect">
            <a:avLst/>
          </a:prstGeom>
          <a:noFill/>
          <a:ln w="9525">
            <a:noFill/>
            <a:miter lim="800000"/>
          </a:ln>
          <a:effectLst/>
        </p:spPr>
        <p:txBody>
          <a:bodyPr wrap="square">
            <a:spAutoFit/>
          </a:bodyPr>
          <a:lstStyle/>
          <a:p>
            <a:pPr fontAlgn="base">
              <a:lnSpc>
                <a:spcPct val="120000"/>
              </a:lnSpc>
              <a:spcBef>
                <a:spcPct val="300000"/>
              </a:spcBef>
              <a:spcAft>
                <a:spcPct val="0"/>
              </a:spcAft>
            </a:pPr>
            <a:r>
              <a:rPr kumimoji="1" lang="en-US" altLang="zh-CN" sz="2800" b="1" dirty="0">
                <a:solidFill>
                  <a:srgbClr val="000000"/>
                </a:solidFill>
                <a:cs typeface="+mn-ea"/>
                <a:sym typeface="+mn-lt"/>
              </a:rPr>
              <a:t>low</a:t>
            </a:r>
          </a:p>
        </p:txBody>
      </p:sp>
      <p:sp>
        <p:nvSpPr>
          <p:cNvPr id="25" name="Text Box 15"/>
          <p:cNvSpPr txBox="1">
            <a:spLocks noChangeArrowheads="1"/>
          </p:cNvSpPr>
          <p:nvPr/>
        </p:nvSpPr>
        <p:spPr bwMode="auto">
          <a:xfrm>
            <a:off x="6350720" y="5445201"/>
            <a:ext cx="1814511" cy="564257"/>
          </a:xfrm>
          <a:prstGeom prst="rect">
            <a:avLst/>
          </a:prstGeom>
          <a:noFill/>
          <a:ln w="9525">
            <a:noFill/>
            <a:miter lim="800000"/>
          </a:ln>
          <a:effectLst/>
        </p:spPr>
        <p:txBody>
          <a:bodyPr wrap="square">
            <a:spAutoFit/>
          </a:bodyPr>
          <a:lstStyle/>
          <a:p>
            <a:pPr fontAlgn="base">
              <a:lnSpc>
                <a:spcPct val="120000"/>
              </a:lnSpc>
              <a:spcBef>
                <a:spcPct val="300000"/>
              </a:spcBef>
              <a:spcAft>
                <a:spcPct val="0"/>
              </a:spcAft>
            </a:pPr>
            <a:r>
              <a:rPr kumimoji="1" lang="en-US" altLang="zh-CN" sz="2800" b="1" dirty="0">
                <a:solidFill>
                  <a:srgbClr val="000000"/>
                </a:solidFill>
                <a:cs typeface="+mn-ea"/>
                <a:sym typeface="+mn-lt"/>
              </a:rPr>
              <a:t> high</a:t>
            </a:r>
          </a:p>
        </p:txBody>
      </p:sp>
      <p:sp>
        <p:nvSpPr>
          <p:cNvPr id="26" name="Text Box 16"/>
          <p:cNvSpPr txBox="1">
            <a:spLocks noChangeArrowheads="1"/>
          </p:cNvSpPr>
          <p:nvPr/>
        </p:nvSpPr>
        <p:spPr bwMode="auto">
          <a:xfrm>
            <a:off x="6388101" y="4613154"/>
            <a:ext cx="939799" cy="564257"/>
          </a:xfrm>
          <a:prstGeom prst="rect">
            <a:avLst/>
          </a:prstGeom>
          <a:noFill/>
          <a:ln w="9525">
            <a:noFill/>
            <a:miter lim="800000"/>
          </a:ln>
          <a:effectLst/>
        </p:spPr>
        <p:txBody>
          <a:bodyPr wrap="square">
            <a:spAutoFit/>
          </a:bodyPr>
          <a:lstStyle/>
          <a:p>
            <a:pPr fontAlgn="base">
              <a:lnSpc>
                <a:spcPct val="120000"/>
              </a:lnSpc>
              <a:spcBef>
                <a:spcPct val="300000"/>
              </a:spcBef>
              <a:spcAft>
                <a:spcPct val="0"/>
              </a:spcAft>
            </a:pPr>
            <a:r>
              <a:rPr kumimoji="1" lang="en-US" altLang="zh-CN" sz="2800" b="1" dirty="0">
                <a:solidFill>
                  <a:srgbClr val="000000"/>
                </a:solidFill>
                <a:cs typeface="+mn-ea"/>
                <a:sym typeface="+mn-lt"/>
              </a:rPr>
              <a:t>low</a:t>
            </a:r>
          </a:p>
        </p:txBody>
      </p:sp>
      <p:sp>
        <p:nvSpPr>
          <p:cNvPr id="27" name="Text Box 17"/>
          <p:cNvSpPr txBox="1">
            <a:spLocks noChangeArrowheads="1"/>
          </p:cNvSpPr>
          <p:nvPr/>
        </p:nvSpPr>
        <p:spPr bwMode="auto">
          <a:xfrm>
            <a:off x="6490162" y="5840530"/>
            <a:ext cx="1191791" cy="564257"/>
          </a:xfrm>
          <a:prstGeom prst="rect">
            <a:avLst/>
          </a:prstGeom>
          <a:noFill/>
          <a:ln w="9525">
            <a:noFill/>
            <a:miter lim="800000"/>
          </a:ln>
          <a:effectLst/>
        </p:spPr>
        <p:txBody>
          <a:bodyPr wrap="square">
            <a:spAutoFit/>
          </a:bodyPr>
          <a:lstStyle/>
          <a:p>
            <a:pPr fontAlgn="base">
              <a:lnSpc>
                <a:spcPct val="120000"/>
              </a:lnSpc>
              <a:spcBef>
                <a:spcPct val="300000"/>
              </a:spcBef>
              <a:spcAft>
                <a:spcPct val="0"/>
              </a:spcAft>
            </a:pPr>
            <a:r>
              <a:rPr kumimoji="1" lang="en-US" altLang="zh-CN" sz="2800" b="1" dirty="0">
                <a:solidFill>
                  <a:srgbClr val="000000"/>
                </a:solidFill>
                <a:cs typeface="+mn-ea"/>
                <a:sym typeface="+mn-lt"/>
              </a:rPr>
              <a:t>low</a:t>
            </a:r>
          </a:p>
        </p:txBody>
      </p:sp>
      <p:sp>
        <p:nvSpPr>
          <p:cNvPr id="28" name="Text Box 18"/>
          <p:cNvSpPr txBox="1">
            <a:spLocks noChangeArrowheads="1"/>
          </p:cNvSpPr>
          <p:nvPr/>
        </p:nvSpPr>
        <p:spPr bwMode="auto">
          <a:xfrm>
            <a:off x="6924598" y="4581404"/>
            <a:ext cx="1614063" cy="564257"/>
          </a:xfrm>
          <a:prstGeom prst="rect">
            <a:avLst/>
          </a:prstGeom>
          <a:noFill/>
          <a:ln w="9525">
            <a:noFill/>
            <a:miter lim="800000"/>
          </a:ln>
          <a:effectLst/>
        </p:spPr>
        <p:txBody>
          <a:bodyPr wrap="square">
            <a:spAutoFit/>
          </a:bodyPr>
          <a:lstStyle/>
          <a:p>
            <a:pPr fontAlgn="base">
              <a:lnSpc>
                <a:spcPct val="120000"/>
              </a:lnSpc>
              <a:spcBef>
                <a:spcPct val="300000"/>
              </a:spcBef>
              <a:spcAft>
                <a:spcPct val="0"/>
              </a:spcAft>
            </a:pPr>
            <a:r>
              <a:rPr kumimoji="1" lang="en-US" altLang="zh-CN" sz="2800" b="1" dirty="0">
                <a:solidFill>
                  <a:srgbClr val="000000"/>
                </a:solidFill>
                <a:cs typeface="+mn-ea"/>
                <a:sym typeface="+mn-lt"/>
              </a:rPr>
              <a:t> high</a:t>
            </a:r>
          </a:p>
        </p:txBody>
      </p:sp>
      <p:sp>
        <p:nvSpPr>
          <p:cNvPr id="29" name="Text Box 19"/>
          <p:cNvSpPr txBox="1">
            <a:spLocks noChangeArrowheads="1"/>
          </p:cNvSpPr>
          <p:nvPr/>
        </p:nvSpPr>
        <p:spPr bwMode="auto">
          <a:xfrm>
            <a:off x="7681954" y="1882635"/>
            <a:ext cx="1624012" cy="564257"/>
          </a:xfrm>
          <a:prstGeom prst="rect">
            <a:avLst/>
          </a:prstGeom>
          <a:noFill/>
          <a:ln w="9525">
            <a:noFill/>
            <a:miter lim="800000"/>
          </a:ln>
          <a:effectLst/>
        </p:spPr>
        <p:txBody>
          <a:bodyPr wrap="square">
            <a:spAutoFit/>
          </a:bodyPr>
          <a:lstStyle/>
          <a:p>
            <a:pPr fontAlgn="base">
              <a:lnSpc>
                <a:spcPct val="120000"/>
              </a:lnSpc>
              <a:spcBef>
                <a:spcPct val="300000"/>
              </a:spcBef>
              <a:spcAft>
                <a:spcPct val="0"/>
              </a:spcAft>
            </a:pPr>
            <a:r>
              <a:rPr kumimoji="1" lang="en-US" altLang="zh-CN" sz="2800" b="1" dirty="0">
                <a:solidFill>
                  <a:srgbClr val="000000"/>
                </a:solidFill>
                <a:cs typeface="+mn-ea"/>
                <a:sym typeface="+mn-lt"/>
              </a:rPr>
              <a:t> high</a:t>
            </a:r>
          </a:p>
        </p:txBody>
      </p:sp>
      <p:sp>
        <p:nvSpPr>
          <p:cNvPr id="30" name="Text Box 20"/>
          <p:cNvSpPr txBox="1">
            <a:spLocks noChangeArrowheads="1"/>
          </p:cNvSpPr>
          <p:nvPr/>
        </p:nvSpPr>
        <p:spPr bwMode="auto">
          <a:xfrm>
            <a:off x="5868195" y="2751138"/>
            <a:ext cx="792162" cy="564257"/>
          </a:xfrm>
          <a:prstGeom prst="rect">
            <a:avLst/>
          </a:prstGeom>
          <a:noFill/>
          <a:ln w="9525">
            <a:noFill/>
            <a:miter lim="800000"/>
          </a:ln>
          <a:effectLst/>
        </p:spPr>
        <p:txBody>
          <a:bodyPr wrap="square">
            <a:spAutoFit/>
          </a:bodyPr>
          <a:lstStyle/>
          <a:p>
            <a:pPr fontAlgn="base">
              <a:lnSpc>
                <a:spcPct val="120000"/>
              </a:lnSpc>
              <a:spcBef>
                <a:spcPct val="300000"/>
              </a:spcBef>
              <a:spcAft>
                <a:spcPct val="0"/>
              </a:spcAft>
            </a:pPr>
            <a:r>
              <a:rPr kumimoji="1" lang="en-US" altLang="zh-CN" sz="2800" b="1" dirty="0">
                <a:solidFill>
                  <a:srgbClr val="000000"/>
                </a:solidFill>
                <a:cs typeface="+mn-ea"/>
                <a:sym typeface="+mn-lt"/>
              </a:rPr>
              <a:t>low</a:t>
            </a:r>
          </a:p>
        </p:txBody>
      </p:sp>
      <p:sp>
        <p:nvSpPr>
          <p:cNvPr id="32" name="流程图: 可选过程 31"/>
          <p:cNvSpPr/>
          <p:nvPr/>
        </p:nvSpPr>
        <p:spPr>
          <a:xfrm>
            <a:off x="7683392" y="5909422"/>
            <a:ext cx="1257408" cy="357634"/>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Bef>
                <a:spcPts val="300"/>
              </a:spcBef>
            </a:pPr>
            <a:r>
              <a:rPr lang="zh-CN" altLang="en-US" dirty="0">
                <a:cs typeface="+mn-ea"/>
                <a:sym typeface="+mn-lt"/>
              </a:rPr>
              <a:t>不稳定</a:t>
            </a:r>
          </a:p>
        </p:txBody>
      </p:sp>
      <p:sp>
        <p:nvSpPr>
          <p:cNvPr id="5" name="标题 4"/>
          <p:cNvSpPr>
            <a:spLocks noGrp="1"/>
          </p:cNvSpPr>
          <p:nvPr>
            <p:ph type="title"/>
          </p:nvPr>
        </p:nvSpPr>
        <p:spPr/>
        <p:txBody>
          <a:bodyPr/>
          <a:lstStyle/>
          <a:p>
            <a:r>
              <a:rPr lang="zh-CN" altLang="en-US" dirty="0"/>
              <a:t> 快速排序的一趟排序过程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15"/>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1"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1" nodeType="click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5" grpId="1"/>
      <p:bldP spid="16" grpId="0"/>
      <p:bldP spid="17" grpId="0"/>
      <p:bldP spid="18" grpId="0"/>
      <p:bldP spid="19" grpId="0"/>
      <p:bldP spid="20" grpId="0"/>
      <p:bldP spid="21" grpId="0"/>
      <p:bldP spid="22" grpId="0"/>
      <p:bldP spid="22" grpId="1"/>
      <p:bldP spid="23" grpId="0"/>
      <p:bldP spid="23" grpId="1"/>
      <p:bldP spid="24" grpId="0"/>
      <p:bldP spid="25" grpId="0"/>
      <p:bldP spid="26" grpId="0"/>
      <p:bldP spid="27" grpId="0"/>
      <p:bldP spid="28" grpId="0"/>
      <p:bldP spid="29" grpId="0"/>
      <p:bldP spid="30" grpId="0"/>
      <p:bldP spid="3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算法关键语句</a:t>
            </a:r>
          </a:p>
        </p:txBody>
      </p:sp>
      <p:sp>
        <p:nvSpPr>
          <p:cNvPr id="6" name="灯片编号占位符 5"/>
          <p:cNvSpPr>
            <a:spLocks noGrp="1"/>
          </p:cNvSpPr>
          <p:nvPr>
            <p:ph type="sldNum" sz="quarter" idx="4294967295"/>
          </p:nvPr>
        </p:nvSpPr>
        <p:spPr>
          <a:xfrm>
            <a:off x="9347200" y="6356350"/>
            <a:ext cx="2844800" cy="365125"/>
          </a:xfrm>
          <a:prstGeom prst="rect">
            <a:avLst/>
          </a:prstGeom>
        </p:spPr>
        <p:txBody>
          <a:bodyPr/>
          <a:lstStyle/>
          <a:p>
            <a:pPr algn="r">
              <a:lnSpc>
                <a:spcPct val="120000"/>
              </a:lnSpc>
              <a:spcBef>
                <a:spcPts val="300"/>
              </a:spcBef>
            </a:pPr>
            <a:fld id="{0063EC4C-CFD8-4F45-A0A2-30028C1F73DB}" type="slidenum">
              <a:rPr lang="zh-CN" altLang="en-US" b="1">
                <a:solidFill>
                  <a:srgbClr val="F79646">
                    <a:lumMod val="75000"/>
                  </a:srgbClr>
                </a:solidFill>
                <a:cs typeface="+mn-ea"/>
                <a:sym typeface="+mn-lt"/>
              </a:rPr>
              <a:t>11</a:t>
            </a:fld>
            <a:endParaRPr lang="zh-CN" altLang="en-US" b="1" dirty="0">
              <a:solidFill>
                <a:srgbClr val="F79646">
                  <a:lumMod val="75000"/>
                </a:srgbClr>
              </a:solidFill>
              <a:cs typeface="+mn-ea"/>
              <a:sym typeface="+mn-lt"/>
            </a:endParaRPr>
          </a:p>
        </p:txBody>
      </p:sp>
      <p:sp>
        <p:nvSpPr>
          <p:cNvPr id="32" name="Text Box 2"/>
          <p:cNvSpPr txBox="1">
            <a:spLocks noChangeArrowheads="1"/>
          </p:cNvSpPr>
          <p:nvPr/>
        </p:nvSpPr>
        <p:spPr bwMode="auto">
          <a:xfrm>
            <a:off x="1704976" y="1346201"/>
            <a:ext cx="7993062" cy="559897"/>
          </a:xfrm>
          <a:prstGeom prst="rect">
            <a:avLst/>
          </a:prstGeom>
          <a:noFill/>
          <a:ln w="9525" algn="ctr">
            <a:noFill/>
            <a:miter lim="800000"/>
          </a:ln>
          <a:effectLst/>
        </p:spPr>
        <p:txBody>
          <a:bodyPr>
            <a:spAutoFit/>
          </a:bodyPr>
          <a:lstStyle/>
          <a:p>
            <a:pPr fontAlgn="base">
              <a:lnSpc>
                <a:spcPct val="120000"/>
              </a:lnSpc>
              <a:spcBef>
                <a:spcPct val="300000"/>
              </a:spcBef>
              <a:spcAft>
                <a:spcPct val="0"/>
              </a:spcAft>
            </a:pPr>
            <a:r>
              <a:rPr kumimoji="1" lang="zh-CN" altLang="en-US" sz="2800" b="1" dirty="0">
                <a:solidFill>
                  <a:srgbClr val="0000FF"/>
                </a:solidFill>
                <a:cs typeface="+mn-ea"/>
                <a:sym typeface="+mn-lt"/>
              </a:rPr>
              <a:t>初始关键字   </a:t>
            </a:r>
            <a:r>
              <a:rPr kumimoji="1" lang="en-US" altLang="zh-CN" sz="2800" b="1" dirty="0">
                <a:solidFill>
                  <a:srgbClr val="FF3300"/>
                </a:solidFill>
                <a:cs typeface="+mn-ea"/>
                <a:sym typeface="+mn-lt"/>
              </a:rPr>
              <a:t>49</a:t>
            </a:r>
            <a:r>
              <a:rPr kumimoji="1" lang="en-US" altLang="zh-CN" sz="2800" b="1" dirty="0">
                <a:solidFill>
                  <a:srgbClr val="0000FF"/>
                </a:solidFill>
                <a:cs typeface="+mn-ea"/>
                <a:sym typeface="+mn-lt"/>
              </a:rPr>
              <a:t>   49*   65   97   17    27   50</a:t>
            </a:r>
          </a:p>
        </p:txBody>
      </p:sp>
      <p:sp>
        <p:nvSpPr>
          <p:cNvPr id="33" name="Text Box 3"/>
          <p:cNvSpPr txBox="1">
            <a:spLocks noChangeArrowheads="1"/>
          </p:cNvSpPr>
          <p:nvPr/>
        </p:nvSpPr>
        <p:spPr bwMode="auto">
          <a:xfrm>
            <a:off x="3794126" y="1679576"/>
            <a:ext cx="863600" cy="564257"/>
          </a:xfrm>
          <a:prstGeom prst="rect">
            <a:avLst/>
          </a:prstGeom>
          <a:noFill/>
          <a:ln w="9525">
            <a:noFill/>
            <a:miter lim="800000"/>
          </a:ln>
          <a:effectLst/>
        </p:spPr>
        <p:txBody>
          <a:bodyPr>
            <a:spAutoFit/>
          </a:bodyPr>
          <a:lstStyle/>
          <a:p>
            <a:pPr fontAlgn="base">
              <a:lnSpc>
                <a:spcPct val="120000"/>
              </a:lnSpc>
              <a:spcBef>
                <a:spcPct val="300000"/>
              </a:spcBef>
              <a:spcAft>
                <a:spcPct val="0"/>
              </a:spcAft>
            </a:pPr>
            <a:r>
              <a:rPr kumimoji="1" lang="en-US" altLang="zh-CN" sz="2800" b="1">
                <a:solidFill>
                  <a:srgbClr val="0000FF"/>
                </a:solidFill>
                <a:cs typeface="+mn-ea"/>
                <a:sym typeface="+mn-lt"/>
              </a:rPr>
              <a:t>low</a:t>
            </a:r>
          </a:p>
        </p:txBody>
      </p:sp>
      <p:sp>
        <p:nvSpPr>
          <p:cNvPr id="34" name="Text Box 4"/>
          <p:cNvSpPr txBox="1">
            <a:spLocks noChangeArrowheads="1"/>
          </p:cNvSpPr>
          <p:nvPr/>
        </p:nvSpPr>
        <p:spPr bwMode="auto">
          <a:xfrm>
            <a:off x="8547102" y="1752601"/>
            <a:ext cx="1150937" cy="564257"/>
          </a:xfrm>
          <a:prstGeom prst="rect">
            <a:avLst/>
          </a:prstGeom>
          <a:noFill/>
          <a:ln w="9525">
            <a:noFill/>
            <a:miter lim="800000"/>
          </a:ln>
          <a:effectLst/>
        </p:spPr>
        <p:txBody>
          <a:bodyPr>
            <a:spAutoFit/>
          </a:bodyPr>
          <a:lstStyle/>
          <a:p>
            <a:pPr fontAlgn="base">
              <a:lnSpc>
                <a:spcPct val="120000"/>
              </a:lnSpc>
              <a:spcBef>
                <a:spcPct val="300000"/>
              </a:spcBef>
              <a:spcAft>
                <a:spcPct val="0"/>
              </a:spcAft>
            </a:pPr>
            <a:r>
              <a:rPr kumimoji="1" lang="en-US" altLang="zh-CN" sz="2800" b="1" dirty="0">
                <a:solidFill>
                  <a:srgbClr val="0000FF"/>
                </a:solidFill>
                <a:cs typeface="+mn-ea"/>
                <a:sym typeface="+mn-lt"/>
              </a:rPr>
              <a:t> high</a:t>
            </a:r>
          </a:p>
        </p:txBody>
      </p:sp>
      <p:sp>
        <p:nvSpPr>
          <p:cNvPr id="35" name="Text Box 5"/>
          <p:cNvSpPr txBox="1">
            <a:spLocks noChangeArrowheads="1"/>
          </p:cNvSpPr>
          <p:nvPr/>
        </p:nvSpPr>
        <p:spPr bwMode="auto">
          <a:xfrm>
            <a:off x="1855788" y="4113488"/>
            <a:ext cx="8050212" cy="559897"/>
          </a:xfrm>
          <a:prstGeom prst="rect">
            <a:avLst/>
          </a:prstGeom>
          <a:noFill/>
          <a:ln w="9525" algn="ctr">
            <a:noFill/>
            <a:miter lim="800000"/>
          </a:ln>
          <a:effectLst/>
        </p:spPr>
        <p:txBody>
          <a:bodyPr>
            <a:spAutoFit/>
          </a:bodyPr>
          <a:lstStyle/>
          <a:p>
            <a:pPr fontAlgn="base">
              <a:lnSpc>
                <a:spcPct val="120000"/>
              </a:lnSpc>
              <a:spcBef>
                <a:spcPct val="300000"/>
              </a:spcBef>
              <a:spcAft>
                <a:spcPct val="0"/>
              </a:spcAft>
            </a:pPr>
            <a:r>
              <a:rPr kumimoji="1" lang="zh-CN" altLang="en-US" sz="2800" b="1" dirty="0">
                <a:solidFill>
                  <a:srgbClr val="0000FF"/>
                </a:solidFill>
                <a:cs typeface="+mn-ea"/>
                <a:sym typeface="+mn-lt"/>
              </a:rPr>
              <a:t>一次交换       </a:t>
            </a:r>
            <a:r>
              <a:rPr kumimoji="1" lang="en-US" altLang="zh-CN" sz="2800" b="1" dirty="0">
                <a:solidFill>
                  <a:srgbClr val="FF3300"/>
                </a:solidFill>
                <a:cs typeface="+mn-ea"/>
                <a:sym typeface="+mn-lt"/>
              </a:rPr>
              <a:t>27</a:t>
            </a:r>
            <a:r>
              <a:rPr kumimoji="1" lang="en-US" altLang="zh-CN" sz="2800" b="1" dirty="0">
                <a:solidFill>
                  <a:srgbClr val="0000FF"/>
                </a:solidFill>
                <a:cs typeface="+mn-ea"/>
                <a:sym typeface="+mn-lt"/>
              </a:rPr>
              <a:t>   49*   65   97   17    </a:t>
            </a:r>
            <a:r>
              <a:rPr kumimoji="1" lang="en-US" altLang="zh-CN" sz="2800" b="1" dirty="0">
                <a:solidFill>
                  <a:srgbClr val="FF3300"/>
                </a:solidFill>
                <a:cs typeface="+mn-ea"/>
                <a:sym typeface="+mn-lt"/>
              </a:rPr>
              <a:t>49 </a:t>
            </a:r>
            <a:r>
              <a:rPr kumimoji="1" lang="en-US" altLang="zh-CN" sz="2800" b="1" dirty="0">
                <a:solidFill>
                  <a:srgbClr val="0000FF"/>
                </a:solidFill>
                <a:cs typeface="+mn-ea"/>
                <a:sym typeface="+mn-lt"/>
              </a:rPr>
              <a:t>   50 </a:t>
            </a:r>
          </a:p>
        </p:txBody>
      </p:sp>
      <p:sp>
        <p:nvSpPr>
          <p:cNvPr id="36" name="Text Box 7"/>
          <p:cNvSpPr txBox="1">
            <a:spLocks noChangeArrowheads="1"/>
          </p:cNvSpPr>
          <p:nvPr/>
        </p:nvSpPr>
        <p:spPr bwMode="auto">
          <a:xfrm>
            <a:off x="7962901" y="4545288"/>
            <a:ext cx="1008063" cy="564257"/>
          </a:xfrm>
          <a:prstGeom prst="rect">
            <a:avLst/>
          </a:prstGeom>
          <a:noFill/>
          <a:ln w="9525">
            <a:noFill/>
            <a:miter lim="800000"/>
          </a:ln>
          <a:effectLst/>
        </p:spPr>
        <p:txBody>
          <a:bodyPr>
            <a:spAutoFit/>
          </a:bodyPr>
          <a:lstStyle/>
          <a:p>
            <a:pPr fontAlgn="base">
              <a:lnSpc>
                <a:spcPct val="120000"/>
              </a:lnSpc>
              <a:spcBef>
                <a:spcPct val="300000"/>
              </a:spcBef>
              <a:spcAft>
                <a:spcPct val="0"/>
              </a:spcAft>
            </a:pPr>
            <a:r>
              <a:rPr kumimoji="1" lang="en-US" altLang="zh-CN" sz="2800" b="1">
                <a:solidFill>
                  <a:srgbClr val="0000FF"/>
                </a:solidFill>
                <a:cs typeface="+mn-ea"/>
                <a:sym typeface="+mn-lt"/>
              </a:rPr>
              <a:t> high</a:t>
            </a:r>
          </a:p>
        </p:txBody>
      </p:sp>
      <p:sp>
        <p:nvSpPr>
          <p:cNvPr id="37" name="Text Box 8"/>
          <p:cNvSpPr txBox="1">
            <a:spLocks noChangeArrowheads="1"/>
          </p:cNvSpPr>
          <p:nvPr/>
        </p:nvSpPr>
        <p:spPr bwMode="auto">
          <a:xfrm>
            <a:off x="4002088" y="4591325"/>
            <a:ext cx="863600" cy="564257"/>
          </a:xfrm>
          <a:prstGeom prst="rect">
            <a:avLst/>
          </a:prstGeom>
          <a:noFill/>
          <a:ln w="9525">
            <a:noFill/>
            <a:miter lim="800000"/>
          </a:ln>
          <a:effectLst/>
        </p:spPr>
        <p:txBody>
          <a:bodyPr>
            <a:spAutoFit/>
          </a:bodyPr>
          <a:lstStyle/>
          <a:p>
            <a:pPr fontAlgn="base">
              <a:lnSpc>
                <a:spcPct val="120000"/>
              </a:lnSpc>
              <a:spcBef>
                <a:spcPct val="300000"/>
              </a:spcBef>
              <a:spcAft>
                <a:spcPct val="0"/>
              </a:spcAft>
            </a:pPr>
            <a:r>
              <a:rPr kumimoji="1" lang="en-US" altLang="zh-CN" sz="2800" b="1">
                <a:solidFill>
                  <a:srgbClr val="0000FF"/>
                </a:solidFill>
                <a:cs typeface="+mn-ea"/>
                <a:sym typeface="+mn-lt"/>
              </a:rPr>
              <a:t>low</a:t>
            </a:r>
          </a:p>
        </p:txBody>
      </p:sp>
      <p:sp>
        <p:nvSpPr>
          <p:cNvPr id="38" name="Text Box 9"/>
          <p:cNvSpPr txBox="1">
            <a:spLocks noChangeArrowheads="1"/>
          </p:cNvSpPr>
          <p:nvPr/>
        </p:nvSpPr>
        <p:spPr bwMode="auto">
          <a:xfrm>
            <a:off x="7754938" y="1704976"/>
            <a:ext cx="865188" cy="564257"/>
          </a:xfrm>
          <a:prstGeom prst="rect">
            <a:avLst/>
          </a:prstGeom>
          <a:noFill/>
          <a:ln w="9525">
            <a:noFill/>
            <a:miter lim="800000"/>
          </a:ln>
          <a:effectLst/>
        </p:spPr>
        <p:txBody>
          <a:bodyPr>
            <a:spAutoFit/>
          </a:bodyPr>
          <a:lstStyle/>
          <a:p>
            <a:pPr fontAlgn="base">
              <a:lnSpc>
                <a:spcPct val="120000"/>
              </a:lnSpc>
              <a:spcBef>
                <a:spcPct val="300000"/>
              </a:spcBef>
              <a:spcAft>
                <a:spcPct val="0"/>
              </a:spcAft>
            </a:pPr>
            <a:r>
              <a:rPr kumimoji="1" lang="en-US" altLang="zh-CN" sz="2800" b="1" dirty="0">
                <a:solidFill>
                  <a:srgbClr val="0000FF"/>
                </a:solidFill>
                <a:cs typeface="+mn-ea"/>
                <a:sym typeface="+mn-lt"/>
              </a:rPr>
              <a:t>high</a:t>
            </a:r>
          </a:p>
        </p:txBody>
      </p:sp>
      <p:sp>
        <p:nvSpPr>
          <p:cNvPr id="39" name="Text Box 10"/>
          <p:cNvSpPr txBox="1">
            <a:spLocks noChangeArrowheads="1"/>
          </p:cNvSpPr>
          <p:nvPr/>
        </p:nvSpPr>
        <p:spPr bwMode="auto">
          <a:xfrm>
            <a:off x="5730875" y="4616725"/>
            <a:ext cx="863600" cy="564257"/>
          </a:xfrm>
          <a:prstGeom prst="rect">
            <a:avLst/>
          </a:prstGeom>
          <a:noFill/>
          <a:ln w="9525">
            <a:noFill/>
            <a:miter lim="800000"/>
          </a:ln>
          <a:effectLst/>
        </p:spPr>
        <p:txBody>
          <a:bodyPr>
            <a:spAutoFit/>
          </a:bodyPr>
          <a:lstStyle/>
          <a:p>
            <a:pPr fontAlgn="base">
              <a:lnSpc>
                <a:spcPct val="120000"/>
              </a:lnSpc>
              <a:spcBef>
                <a:spcPct val="300000"/>
              </a:spcBef>
              <a:spcAft>
                <a:spcPct val="0"/>
              </a:spcAft>
            </a:pPr>
            <a:r>
              <a:rPr kumimoji="1" lang="en-US" altLang="zh-CN" sz="2800" b="1">
                <a:solidFill>
                  <a:srgbClr val="0000FF"/>
                </a:solidFill>
                <a:cs typeface="+mn-ea"/>
                <a:sym typeface="+mn-lt"/>
              </a:rPr>
              <a:t>low</a:t>
            </a:r>
          </a:p>
        </p:txBody>
      </p:sp>
      <p:sp>
        <p:nvSpPr>
          <p:cNvPr id="40" name="Rectangle 11"/>
          <p:cNvSpPr>
            <a:spLocks noChangeArrowheads="1"/>
          </p:cNvSpPr>
          <p:nvPr/>
        </p:nvSpPr>
        <p:spPr bwMode="auto">
          <a:xfrm>
            <a:off x="1740694" y="2532142"/>
            <a:ext cx="7921625" cy="1598386"/>
          </a:xfrm>
          <a:prstGeom prst="rect">
            <a:avLst/>
          </a:prstGeom>
          <a:noFill/>
          <a:ln w="9525" algn="ctr">
            <a:noFill/>
            <a:miter lim="800000"/>
          </a:ln>
          <a:effectLst/>
        </p:spPr>
        <p:txBody>
          <a:bodyPr>
            <a:spAutoFit/>
          </a:bodyPr>
          <a:lstStyle/>
          <a:p>
            <a:pPr fontAlgn="base">
              <a:lnSpc>
                <a:spcPct val="120000"/>
              </a:lnSpc>
              <a:spcAft>
                <a:spcPct val="0"/>
              </a:spcAft>
            </a:pPr>
            <a:r>
              <a:rPr kumimoji="1" lang="en-US" altLang="zh-CN" sz="2800" b="1" dirty="0">
                <a:solidFill>
                  <a:srgbClr val="0000FF"/>
                </a:solidFill>
                <a:cs typeface="+mn-ea"/>
                <a:sym typeface="+mn-lt"/>
              </a:rPr>
              <a:t>while ((low&lt;high)&amp;&amp; (L-&gt;r[high].key&gt;=</a:t>
            </a:r>
            <a:r>
              <a:rPr kumimoji="1" lang="en-US" altLang="zh-CN" sz="2800" b="1" dirty="0" err="1">
                <a:solidFill>
                  <a:srgbClr val="0000FF"/>
                </a:solidFill>
                <a:cs typeface="+mn-ea"/>
                <a:sym typeface="+mn-lt"/>
              </a:rPr>
              <a:t>pivotkey</a:t>
            </a:r>
            <a:r>
              <a:rPr kumimoji="1" lang="en-US" altLang="zh-CN" sz="2800" b="1" dirty="0">
                <a:solidFill>
                  <a:srgbClr val="0000FF"/>
                </a:solidFill>
                <a:cs typeface="+mn-ea"/>
                <a:sym typeface="+mn-lt"/>
              </a:rPr>
              <a:t>))</a:t>
            </a:r>
          </a:p>
          <a:p>
            <a:pPr fontAlgn="base">
              <a:lnSpc>
                <a:spcPct val="120000"/>
              </a:lnSpc>
              <a:spcAft>
                <a:spcPct val="0"/>
              </a:spcAft>
            </a:pPr>
            <a:r>
              <a:rPr kumimoji="1" lang="en-US" altLang="zh-CN" sz="2800" b="1" dirty="0">
                <a:solidFill>
                  <a:srgbClr val="0000FF"/>
                </a:solidFill>
                <a:cs typeface="+mn-ea"/>
                <a:sym typeface="+mn-lt"/>
              </a:rPr>
              <a:t>--high;</a:t>
            </a:r>
          </a:p>
          <a:p>
            <a:pPr fontAlgn="base">
              <a:lnSpc>
                <a:spcPct val="120000"/>
              </a:lnSpc>
              <a:spcAft>
                <a:spcPct val="0"/>
              </a:spcAft>
            </a:pPr>
            <a:r>
              <a:rPr kumimoji="1" lang="en-US" altLang="zh-CN" sz="2800" b="1" dirty="0">
                <a:solidFill>
                  <a:srgbClr val="0000FF"/>
                </a:solidFill>
                <a:cs typeface="+mn-ea"/>
                <a:sym typeface="+mn-lt"/>
              </a:rPr>
              <a:t>L-&gt;r[low] ←→ L-&gt;r[high];</a:t>
            </a:r>
          </a:p>
        </p:txBody>
      </p:sp>
      <p:sp>
        <p:nvSpPr>
          <p:cNvPr id="41" name="Rectangle 12"/>
          <p:cNvSpPr>
            <a:spLocks noChangeArrowheads="1"/>
          </p:cNvSpPr>
          <p:nvPr/>
        </p:nvSpPr>
        <p:spPr bwMode="auto">
          <a:xfrm>
            <a:off x="1776414" y="2092747"/>
            <a:ext cx="4752975" cy="564257"/>
          </a:xfrm>
          <a:prstGeom prst="rect">
            <a:avLst/>
          </a:prstGeom>
          <a:noFill/>
          <a:ln w="9525" algn="ctr">
            <a:noFill/>
            <a:miter lim="800000"/>
          </a:ln>
          <a:effectLst/>
        </p:spPr>
        <p:txBody>
          <a:bodyPr>
            <a:spAutoFit/>
          </a:bodyPr>
          <a:lstStyle/>
          <a:p>
            <a:pPr fontAlgn="base">
              <a:lnSpc>
                <a:spcPct val="120000"/>
              </a:lnSpc>
              <a:spcBef>
                <a:spcPct val="300000"/>
              </a:spcBef>
              <a:spcAft>
                <a:spcPct val="0"/>
              </a:spcAft>
            </a:pPr>
            <a:r>
              <a:rPr kumimoji="1" lang="en-US" altLang="zh-CN" sz="2800" b="1" dirty="0" err="1">
                <a:solidFill>
                  <a:srgbClr val="0000FF"/>
                </a:solidFill>
                <a:cs typeface="+mn-ea"/>
                <a:sym typeface="+mn-lt"/>
              </a:rPr>
              <a:t>pivotkey</a:t>
            </a:r>
            <a:r>
              <a:rPr kumimoji="1" lang="en-US" altLang="zh-CN" sz="2800" b="1" dirty="0">
                <a:solidFill>
                  <a:srgbClr val="0000FF"/>
                </a:solidFill>
                <a:cs typeface="+mn-ea"/>
                <a:sym typeface="+mn-lt"/>
              </a:rPr>
              <a:t>=L-&gt;r[low].key;</a:t>
            </a:r>
          </a:p>
        </p:txBody>
      </p:sp>
      <p:sp>
        <p:nvSpPr>
          <p:cNvPr id="42" name="Rectangle 17"/>
          <p:cNvSpPr>
            <a:spLocks noChangeArrowheads="1"/>
          </p:cNvSpPr>
          <p:nvPr/>
        </p:nvSpPr>
        <p:spPr bwMode="auto">
          <a:xfrm>
            <a:off x="1812925" y="5110859"/>
            <a:ext cx="7705725" cy="1598386"/>
          </a:xfrm>
          <a:prstGeom prst="rect">
            <a:avLst/>
          </a:prstGeom>
          <a:noFill/>
          <a:ln w="9525" algn="ctr">
            <a:noFill/>
            <a:miter lim="800000"/>
          </a:ln>
          <a:effectLst/>
        </p:spPr>
        <p:txBody>
          <a:bodyPr>
            <a:spAutoFit/>
          </a:bodyPr>
          <a:lstStyle/>
          <a:p>
            <a:pPr fontAlgn="base">
              <a:lnSpc>
                <a:spcPct val="120000"/>
              </a:lnSpc>
              <a:spcAft>
                <a:spcPct val="0"/>
              </a:spcAft>
            </a:pPr>
            <a:r>
              <a:rPr kumimoji="1" lang="en-US" altLang="zh-CN" sz="2800" b="1" dirty="0">
                <a:solidFill>
                  <a:srgbClr val="0000FF"/>
                </a:solidFill>
                <a:cs typeface="+mn-ea"/>
                <a:sym typeface="+mn-lt"/>
              </a:rPr>
              <a:t>while ((low&lt;high)&amp;&amp; (L-&gt;r[low].key&lt;=</a:t>
            </a:r>
            <a:r>
              <a:rPr kumimoji="1" lang="en-US" altLang="zh-CN" sz="2800" b="1" dirty="0" err="1">
                <a:solidFill>
                  <a:srgbClr val="0000FF"/>
                </a:solidFill>
                <a:cs typeface="+mn-ea"/>
                <a:sym typeface="+mn-lt"/>
              </a:rPr>
              <a:t>pivotkey</a:t>
            </a:r>
            <a:r>
              <a:rPr kumimoji="1" lang="en-US" altLang="zh-CN" sz="2800" b="1" dirty="0">
                <a:solidFill>
                  <a:srgbClr val="0000FF"/>
                </a:solidFill>
                <a:cs typeface="+mn-ea"/>
                <a:sym typeface="+mn-lt"/>
              </a:rPr>
              <a:t>))</a:t>
            </a:r>
          </a:p>
          <a:p>
            <a:pPr fontAlgn="base">
              <a:lnSpc>
                <a:spcPct val="120000"/>
              </a:lnSpc>
              <a:spcAft>
                <a:spcPct val="0"/>
              </a:spcAft>
            </a:pPr>
            <a:r>
              <a:rPr kumimoji="1" lang="en-US" altLang="zh-CN" sz="2800" b="1" dirty="0">
                <a:solidFill>
                  <a:srgbClr val="0000FF"/>
                </a:solidFill>
                <a:cs typeface="+mn-ea"/>
                <a:sym typeface="+mn-lt"/>
              </a:rPr>
              <a:t>++low;</a:t>
            </a:r>
          </a:p>
          <a:p>
            <a:pPr fontAlgn="base">
              <a:lnSpc>
                <a:spcPct val="120000"/>
              </a:lnSpc>
              <a:spcAft>
                <a:spcPct val="0"/>
              </a:spcAft>
            </a:pPr>
            <a:r>
              <a:rPr kumimoji="1" lang="en-US" altLang="zh-CN" sz="2800" b="1" dirty="0">
                <a:solidFill>
                  <a:srgbClr val="0000FF"/>
                </a:solidFill>
                <a:cs typeface="+mn-ea"/>
                <a:sym typeface="+mn-lt"/>
              </a:rPr>
              <a:t>L-&gt;r[low] ←→ L-&gt;r[high];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34"/>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0">
                                            <p:txEl>
                                              <p:pRg st="2" end="2"/>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1" nodeType="clickEffect">
                                  <p:stCondLst>
                                    <p:cond delay="0"/>
                                  </p:stCondLst>
                                  <p:childTnLst>
                                    <p:set>
                                      <p:cBhvr>
                                        <p:cTn id="44" dur="1" fill="hold">
                                          <p:stCondLst>
                                            <p:cond delay="0"/>
                                          </p:stCondLst>
                                        </p:cTn>
                                        <p:tgtEl>
                                          <p:spTgt spid="3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2">
                                            <p:txEl>
                                              <p:pRg st="0" end="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2">
                                            <p:txEl>
                                              <p:pRg st="1" end="1"/>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grpId="0" nodeType="clickEffect">
                                  <p:stCondLst>
                                    <p:cond delay="0"/>
                                  </p:stCondLst>
                                  <p:childTnLst>
                                    <p:set>
                                      <p:cBhvr>
                                        <p:cTn id="56" dur="1" fill="hold">
                                          <p:stCondLst>
                                            <p:cond delay="0"/>
                                          </p:stCondLst>
                                        </p:cTn>
                                        <p:tgtEl>
                                          <p:spTgt spid="37"/>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4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4" grpId="1"/>
      <p:bldP spid="35" grpId="0"/>
      <p:bldP spid="36" grpId="0"/>
      <p:bldP spid="37" grpId="0"/>
      <p:bldP spid="37" grpId="1"/>
      <p:bldP spid="38" grpId="0"/>
      <p:bldP spid="3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54873" y="593794"/>
            <a:ext cx="11057101" cy="789491"/>
          </a:xfrm>
        </p:spPr>
        <p:txBody>
          <a:bodyPr>
            <a:noAutofit/>
          </a:bodyPr>
          <a:lstStyle/>
          <a:p>
            <a:pPr lvl="0"/>
            <a:r>
              <a:rPr lang="zh-CN" altLang="en-US" dirty="0">
                <a:sym typeface="+mn-lt"/>
              </a:rPr>
              <a:t>快速排序</a:t>
            </a:r>
            <a:r>
              <a:rPr lang="en-US" altLang="zh-CN" dirty="0">
                <a:sym typeface="+mn-lt"/>
              </a:rPr>
              <a:t>——</a:t>
            </a:r>
            <a:r>
              <a:rPr lang="zh-CN" altLang="en-US" dirty="0">
                <a:sym typeface="+mn-lt"/>
              </a:rPr>
              <a:t>算法</a:t>
            </a:r>
          </a:p>
        </p:txBody>
      </p:sp>
      <p:sp>
        <p:nvSpPr>
          <p:cNvPr id="6" name="灯片编号占位符 5"/>
          <p:cNvSpPr>
            <a:spLocks noGrp="1"/>
          </p:cNvSpPr>
          <p:nvPr>
            <p:ph type="sldNum" sz="quarter" idx="4294967295"/>
          </p:nvPr>
        </p:nvSpPr>
        <p:spPr>
          <a:xfrm>
            <a:off x="9347200" y="6356350"/>
            <a:ext cx="2844800" cy="365125"/>
          </a:xfrm>
          <a:prstGeom prst="rect">
            <a:avLst/>
          </a:prstGeom>
        </p:spPr>
        <p:txBody>
          <a:bodyPr/>
          <a:lstStyle/>
          <a:p>
            <a:pPr algn="r">
              <a:lnSpc>
                <a:spcPct val="120000"/>
              </a:lnSpc>
              <a:spcBef>
                <a:spcPts val="300"/>
              </a:spcBef>
            </a:pPr>
            <a:fld id="{0063EC4C-CFD8-4F45-A0A2-30028C1F73DB}" type="slidenum">
              <a:rPr lang="zh-CN" altLang="en-US" b="1">
                <a:solidFill>
                  <a:srgbClr val="F79646">
                    <a:lumMod val="75000"/>
                  </a:srgbClr>
                </a:solidFill>
                <a:cs typeface="+mn-ea"/>
                <a:sym typeface="+mn-lt"/>
              </a:rPr>
              <a:t>12</a:t>
            </a:fld>
            <a:endParaRPr lang="zh-CN" altLang="en-US" b="1" dirty="0">
              <a:solidFill>
                <a:srgbClr val="F79646">
                  <a:lumMod val="75000"/>
                </a:srgbClr>
              </a:solidFill>
              <a:cs typeface="+mn-ea"/>
              <a:sym typeface="+mn-lt"/>
            </a:endParaRPr>
          </a:p>
        </p:txBody>
      </p:sp>
      <p:sp>
        <p:nvSpPr>
          <p:cNvPr id="13" name="Text Box 2"/>
          <p:cNvSpPr txBox="1">
            <a:spLocks noChangeArrowheads="1"/>
          </p:cNvSpPr>
          <p:nvPr/>
        </p:nvSpPr>
        <p:spPr bwMode="auto">
          <a:xfrm>
            <a:off x="1295400" y="1669051"/>
            <a:ext cx="9942235" cy="4999510"/>
          </a:xfrm>
          <a:prstGeom prst="rect">
            <a:avLst/>
          </a:prstGeom>
          <a:noFill/>
          <a:ln w="9525" algn="ctr">
            <a:solidFill>
              <a:srgbClr val="003300"/>
            </a:solidFill>
            <a:miter lim="800000"/>
          </a:ln>
          <a:effectLst/>
        </p:spPr>
        <p:txBody>
          <a:bodyPr wrap="square">
            <a:spAutoFit/>
          </a:bodyPr>
          <a:lstStyle/>
          <a:p>
            <a:pPr fontAlgn="base">
              <a:lnSpc>
                <a:spcPct val="120000"/>
              </a:lnSpc>
              <a:spcAft>
                <a:spcPct val="0"/>
              </a:spcAft>
            </a:pPr>
            <a:r>
              <a:rPr kumimoji="1" lang="en-US" altLang="zh-CN" sz="2600" b="1" dirty="0">
                <a:solidFill>
                  <a:srgbClr val="0000FF"/>
                </a:solidFill>
                <a:cs typeface="+mn-ea"/>
                <a:sym typeface="+mn-lt"/>
              </a:rPr>
              <a:t>int Partition(</a:t>
            </a:r>
            <a:r>
              <a:rPr kumimoji="1" lang="en-US" altLang="zh-CN" sz="2600" b="1" dirty="0" err="1">
                <a:solidFill>
                  <a:srgbClr val="0000FF"/>
                </a:solidFill>
                <a:cs typeface="+mn-ea"/>
                <a:sym typeface="+mn-lt"/>
              </a:rPr>
              <a:t>SqList</a:t>
            </a:r>
            <a:r>
              <a:rPr kumimoji="1" lang="en-US" altLang="zh-CN" sz="2600" b="1" dirty="0">
                <a:solidFill>
                  <a:srgbClr val="0000FF"/>
                </a:solidFill>
                <a:cs typeface="+mn-ea"/>
                <a:sym typeface="+mn-lt"/>
              </a:rPr>
              <a:t> *L, int low, int high) { </a:t>
            </a:r>
          </a:p>
          <a:p>
            <a:pPr fontAlgn="base">
              <a:lnSpc>
                <a:spcPct val="120000"/>
              </a:lnSpc>
              <a:spcAft>
                <a:spcPct val="0"/>
              </a:spcAft>
            </a:pPr>
            <a:r>
              <a:rPr kumimoji="1" lang="en-US" altLang="zh-CN" sz="2600" b="1" dirty="0">
                <a:solidFill>
                  <a:srgbClr val="0000FF"/>
                </a:solidFill>
                <a:cs typeface="+mn-ea"/>
                <a:sym typeface="+mn-lt"/>
              </a:rPr>
              <a:t>   </a:t>
            </a:r>
            <a:r>
              <a:rPr kumimoji="1" lang="en-US" altLang="zh-CN" sz="2600" b="1" dirty="0" err="1">
                <a:solidFill>
                  <a:srgbClr val="0000FF"/>
                </a:solidFill>
                <a:cs typeface="+mn-ea"/>
                <a:sym typeface="+mn-lt"/>
              </a:rPr>
              <a:t>KeyType</a:t>
            </a:r>
            <a:r>
              <a:rPr kumimoji="1" lang="en-US" altLang="zh-CN" sz="2600" b="1" dirty="0">
                <a:solidFill>
                  <a:srgbClr val="0000FF"/>
                </a:solidFill>
                <a:cs typeface="+mn-ea"/>
                <a:sym typeface="+mn-lt"/>
              </a:rPr>
              <a:t> </a:t>
            </a:r>
            <a:r>
              <a:rPr kumimoji="1" lang="en-US" altLang="zh-CN" sz="2600" b="1" dirty="0" err="1">
                <a:solidFill>
                  <a:srgbClr val="0000FF"/>
                </a:solidFill>
                <a:cs typeface="+mn-ea"/>
                <a:sym typeface="+mn-lt"/>
              </a:rPr>
              <a:t>pivotkey;pivotkey</a:t>
            </a:r>
            <a:r>
              <a:rPr kumimoji="1" lang="en-US" altLang="zh-CN" sz="2600" b="1" dirty="0">
                <a:solidFill>
                  <a:srgbClr val="0000FF"/>
                </a:solidFill>
                <a:cs typeface="+mn-ea"/>
                <a:sym typeface="+mn-lt"/>
              </a:rPr>
              <a:t> = L-&gt;r[low].key;</a:t>
            </a:r>
          </a:p>
          <a:p>
            <a:pPr fontAlgn="base">
              <a:lnSpc>
                <a:spcPct val="120000"/>
              </a:lnSpc>
              <a:spcAft>
                <a:spcPct val="0"/>
              </a:spcAft>
            </a:pPr>
            <a:r>
              <a:rPr kumimoji="1" lang="en-US" altLang="zh-CN" sz="2600" b="1" dirty="0">
                <a:solidFill>
                  <a:srgbClr val="0000FF"/>
                </a:solidFill>
                <a:cs typeface="+mn-ea"/>
                <a:sym typeface="+mn-lt"/>
              </a:rPr>
              <a:t>   while (low&lt;high) {</a:t>
            </a:r>
          </a:p>
          <a:p>
            <a:pPr fontAlgn="base">
              <a:lnSpc>
                <a:spcPct val="120000"/>
              </a:lnSpc>
              <a:spcAft>
                <a:spcPct val="0"/>
              </a:spcAft>
            </a:pPr>
            <a:r>
              <a:rPr kumimoji="1" lang="en-US" altLang="zh-CN" sz="2800" b="1" dirty="0">
                <a:solidFill>
                  <a:srgbClr val="FF3300"/>
                </a:solidFill>
                <a:cs typeface="+mn-ea"/>
                <a:sym typeface="+mn-lt"/>
              </a:rPr>
              <a:t>       while ((low&lt;high)&amp;&amp; (L-&gt;r[high].key&gt;=</a:t>
            </a:r>
            <a:r>
              <a:rPr kumimoji="1" lang="en-US" altLang="zh-CN" sz="2800" b="1" dirty="0" err="1">
                <a:solidFill>
                  <a:srgbClr val="FF3300"/>
                </a:solidFill>
                <a:cs typeface="+mn-ea"/>
                <a:sym typeface="+mn-lt"/>
              </a:rPr>
              <a:t>pivotkey</a:t>
            </a:r>
            <a:r>
              <a:rPr kumimoji="1" lang="en-US" altLang="zh-CN" sz="2800" b="1" dirty="0">
                <a:solidFill>
                  <a:srgbClr val="FF3300"/>
                </a:solidFill>
                <a:cs typeface="+mn-ea"/>
                <a:sym typeface="+mn-lt"/>
              </a:rPr>
              <a:t>))  --high;</a:t>
            </a:r>
          </a:p>
          <a:p>
            <a:pPr fontAlgn="base">
              <a:lnSpc>
                <a:spcPct val="120000"/>
              </a:lnSpc>
              <a:spcAft>
                <a:spcPct val="0"/>
              </a:spcAft>
            </a:pPr>
            <a:r>
              <a:rPr kumimoji="1" lang="en-US" altLang="zh-CN" sz="2800" b="1" dirty="0">
                <a:solidFill>
                  <a:srgbClr val="FF3300"/>
                </a:solidFill>
                <a:cs typeface="+mn-ea"/>
                <a:sym typeface="+mn-lt"/>
              </a:rPr>
              <a:t>       L-&gt;r[low] ←→ L-&gt;r[high];</a:t>
            </a:r>
          </a:p>
          <a:p>
            <a:pPr fontAlgn="base">
              <a:lnSpc>
                <a:spcPct val="120000"/>
              </a:lnSpc>
              <a:spcAft>
                <a:spcPct val="0"/>
              </a:spcAft>
            </a:pPr>
            <a:r>
              <a:rPr kumimoji="1" lang="en-US" altLang="zh-CN" sz="2800" b="1" dirty="0">
                <a:solidFill>
                  <a:srgbClr val="FF3300"/>
                </a:solidFill>
                <a:cs typeface="+mn-ea"/>
                <a:sym typeface="+mn-lt"/>
              </a:rPr>
              <a:t>       while ((low&lt;high)&amp;&amp; (L-&gt;r[low].key&lt;=</a:t>
            </a:r>
            <a:r>
              <a:rPr kumimoji="1" lang="en-US" altLang="zh-CN" sz="2800" b="1" dirty="0" err="1">
                <a:solidFill>
                  <a:srgbClr val="FF3300"/>
                </a:solidFill>
                <a:cs typeface="+mn-ea"/>
                <a:sym typeface="+mn-lt"/>
              </a:rPr>
              <a:t>pivotkey</a:t>
            </a:r>
            <a:r>
              <a:rPr kumimoji="1" lang="en-US" altLang="zh-CN" sz="2800" b="1" dirty="0">
                <a:solidFill>
                  <a:srgbClr val="FF3300"/>
                </a:solidFill>
                <a:cs typeface="+mn-ea"/>
                <a:sym typeface="+mn-lt"/>
              </a:rPr>
              <a:t>))   ++low;</a:t>
            </a:r>
          </a:p>
          <a:p>
            <a:pPr fontAlgn="base">
              <a:lnSpc>
                <a:spcPct val="120000"/>
              </a:lnSpc>
              <a:spcAft>
                <a:spcPct val="0"/>
              </a:spcAft>
            </a:pPr>
            <a:r>
              <a:rPr kumimoji="1" lang="en-US" altLang="zh-CN" sz="2800" b="1" dirty="0">
                <a:solidFill>
                  <a:srgbClr val="FF3300"/>
                </a:solidFill>
                <a:cs typeface="+mn-ea"/>
                <a:sym typeface="+mn-lt"/>
              </a:rPr>
              <a:t>       L-&gt;r[low] ←→ L-&gt;r[high];</a:t>
            </a:r>
          </a:p>
          <a:p>
            <a:pPr fontAlgn="base">
              <a:lnSpc>
                <a:spcPct val="120000"/>
              </a:lnSpc>
              <a:spcAft>
                <a:spcPct val="0"/>
              </a:spcAft>
            </a:pPr>
            <a:r>
              <a:rPr kumimoji="1" lang="en-US" altLang="zh-CN" sz="2600" b="1" dirty="0">
                <a:solidFill>
                  <a:srgbClr val="000000"/>
                </a:solidFill>
                <a:cs typeface="+mn-ea"/>
                <a:sym typeface="+mn-lt"/>
              </a:rPr>
              <a:t>   </a:t>
            </a:r>
            <a:r>
              <a:rPr kumimoji="1" lang="en-US" altLang="zh-CN" sz="2600" b="1" dirty="0">
                <a:solidFill>
                  <a:srgbClr val="0000FF"/>
                </a:solidFill>
                <a:cs typeface="+mn-ea"/>
                <a:sym typeface="+mn-lt"/>
              </a:rPr>
              <a:t>}</a:t>
            </a:r>
          </a:p>
          <a:p>
            <a:pPr fontAlgn="base">
              <a:lnSpc>
                <a:spcPct val="120000"/>
              </a:lnSpc>
              <a:spcAft>
                <a:spcPct val="0"/>
              </a:spcAft>
            </a:pPr>
            <a:r>
              <a:rPr kumimoji="1" lang="en-US" altLang="zh-CN" sz="2600" b="1" dirty="0">
                <a:solidFill>
                  <a:srgbClr val="0000FF"/>
                </a:solidFill>
                <a:cs typeface="+mn-ea"/>
                <a:sym typeface="+mn-lt"/>
              </a:rPr>
              <a:t>   return low;</a:t>
            </a:r>
            <a:r>
              <a:rPr kumimoji="1" lang="en-US" altLang="zh-CN" sz="2600" b="1" dirty="0">
                <a:solidFill>
                  <a:srgbClr val="000000"/>
                </a:solidFill>
                <a:cs typeface="+mn-ea"/>
                <a:sym typeface="+mn-lt"/>
              </a:rPr>
              <a:t>                                   // </a:t>
            </a:r>
            <a:r>
              <a:rPr kumimoji="1" lang="zh-CN" altLang="en-US" sz="2600" b="1" dirty="0">
                <a:solidFill>
                  <a:srgbClr val="000000"/>
                </a:solidFill>
                <a:cs typeface="+mn-ea"/>
                <a:sym typeface="+mn-lt"/>
              </a:rPr>
              <a:t>返回枢轴位置</a:t>
            </a:r>
          </a:p>
          <a:p>
            <a:pPr fontAlgn="base">
              <a:lnSpc>
                <a:spcPct val="120000"/>
              </a:lnSpc>
              <a:spcAft>
                <a:spcPct val="0"/>
              </a:spcAft>
            </a:pPr>
            <a:r>
              <a:rPr kumimoji="1" lang="en-US" altLang="zh-CN" sz="2600" b="1" dirty="0">
                <a:solidFill>
                  <a:srgbClr val="0000FF"/>
                </a:solidFill>
                <a:cs typeface="+mn-ea"/>
                <a:sym typeface="+mn-lt"/>
              </a:rPr>
              <a:t>}</a:t>
            </a:r>
            <a:r>
              <a:rPr kumimoji="1" lang="en-US" altLang="zh-CN" sz="2600" b="1" dirty="0">
                <a:solidFill>
                  <a:srgbClr val="000000"/>
                </a:solidFill>
                <a:cs typeface="+mn-ea"/>
                <a:sym typeface="+mn-lt"/>
              </a:rPr>
              <a:t> // Partition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854873" y="593794"/>
            <a:ext cx="11057101" cy="789491"/>
          </a:xfrm>
        </p:spPr>
        <p:txBody>
          <a:bodyPr/>
          <a:lstStyle/>
          <a:p>
            <a:r>
              <a:rPr lang="zh-CN" altLang="en-US" dirty="0"/>
              <a:t>快速排序</a:t>
            </a:r>
            <a:r>
              <a:rPr lang="en-US" altLang="zh-CN" dirty="0"/>
              <a:t>——</a:t>
            </a:r>
            <a:r>
              <a:rPr lang="zh-CN" altLang="en-US" dirty="0"/>
              <a:t>算法</a:t>
            </a:r>
          </a:p>
        </p:txBody>
      </p:sp>
      <p:sp>
        <p:nvSpPr>
          <p:cNvPr id="6" name="灯片编号占位符 5"/>
          <p:cNvSpPr>
            <a:spLocks noGrp="1"/>
          </p:cNvSpPr>
          <p:nvPr>
            <p:ph type="sldNum" sz="quarter" idx="4294967295"/>
          </p:nvPr>
        </p:nvSpPr>
        <p:spPr>
          <a:xfrm>
            <a:off x="9347200" y="6356350"/>
            <a:ext cx="2844800" cy="365125"/>
          </a:xfrm>
          <a:prstGeom prst="rect">
            <a:avLst/>
          </a:prstGeom>
        </p:spPr>
        <p:txBody>
          <a:bodyPr/>
          <a:lstStyle/>
          <a:p>
            <a:pPr algn="r">
              <a:lnSpc>
                <a:spcPct val="120000"/>
              </a:lnSpc>
              <a:spcBef>
                <a:spcPts val="300"/>
              </a:spcBef>
            </a:pPr>
            <a:fld id="{0063EC4C-CFD8-4F45-A0A2-30028C1F73DB}" type="slidenum">
              <a:rPr lang="zh-CN" altLang="en-US" b="1">
                <a:solidFill>
                  <a:srgbClr val="F79646">
                    <a:lumMod val="75000"/>
                  </a:srgbClr>
                </a:solidFill>
                <a:cs typeface="+mn-ea"/>
                <a:sym typeface="+mn-lt"/>
              </a:rPr>
              <a:t>13</a:t>
            </a:fld>
            <a:endParaRPr lang="zh-CN" altLang="en-US" b="1" dirty="0">
              <a:solidFill>
                <a:srgbClr val="F79646">
                  <a:lumMod val="75000"/>
                </a:srgbClr>
              </a:solidFill>
              <a:cs typeface="+mn-ea"/>
              <a:sym typeface="+mn-lt"/>
            </a:endParaRPr>
          </a:p>
        </p:txBody>
      </p:sp>
      <p:sp>
        <p:nvSpPr>
          <p:cNvPr id="13" name="Text Box 2"/>
          <p:cNvSpPr txBox="1">
            <a:spLocks noChangeArrowheads="1"/>
          </p:cNvSpPr>
          <p:nvPr/>
        </p:nvSpPr>
        <p:spPr bwMode="auto">
          <a:xfrm>
            <a:off x="1295400" y="1619105"/>
            <a:ext cx="10591800" cy="4700774"/>
          </a:xfrm>
          <a:prstGeom prst="rect">
            <a:avLst/>
          </a:prstGeom>
          <a:noFill/>
          <a:ln w="9525">
            <a:solidFill>
              <a:srgbClr val="003300"/>
            </a:solidFill>
            <a:miter lim="800000"/>
          </a:ln>
          <a:effectLst/>
        </p:spPr>
        <p:txBody>
          <a:bodyPr wrap="square">
            <a:spAutoFit/>
          </a:bodyPr>
          <a:lstStyle/>
          <a:p>
            <a:pPr fontAlgn="base">
              <a:lnSpc>
                <a:spcPct val="120000"/>
              </a:lnSpc>
              <a:spcAft>
                <a:spcPct val="0"/>
              </a:spcAft>
            </a:pPr>
            <a:r>
              <a:rPr kumimoji="1" lang="en-US" altLang="zh-CN" sz="2800" b="1" dirty="0">
                <a:solidFill>
                  <a:srgbClr val="0000FF"/>
                </a:solidFill>
                <a:cs typeface="+mn-ea"/>
                <a:sym typeface="+mn-lt"/>
              </a:rPr>
              <a:t>void </a:t>
            </a:r>
            <a:r>
              <a:rPr kumimoji="1" lang="en-US" altLang="zh-CN" sz="2800" b="1" dirty="0" err="1">
                <a:solidFill>
                  <a:srgbClr val="0000FF"/>
                </a:solidFill>
                <a:cs typeface="+mn-ea"/>
                <a:sym typeface="+mn-lt"/>
              </a:rPr>
              <a:t>QSort</a:t>
            </a:r>
            <a:r>
              <a:rPr kumimoji="1" lang="en-US" altLang="zh-CN" sz="2800" b="1" dirty="0">
                <a:solidFill>
                  <a:srgbClr val="0000FF"/>
                </a:solidFill>
                <a:cs typeface="+mn-ea"/>
                <a:sym typeface="+mn-lt"/>
              </a:rPr>
              <a:t> (</a:t>
            </a:r>
            <a:r>
              <a:rPr kumimoji="1" lang="en-US" altLang="zh-CN" sz="2800" b="1" dirty="0" err="1">
                <a:solidFill>
                  <a:srgbClr val="0000FF"/>
                </a:solidFill>
                <a:cs typeface="+mn-ea"/>
                <a:sym typeface="+mn-lt"/>
              </a:rPr>
              <a:t>ElemType</a:t>
            </a:r>
            <a:r>
              <a:rPr kumimoji="1" lang="en-US" altLang="zh-CN" sz="2800" b="1" dirty="0">
                <a:solidFill>
                  <a:srgbClr val="0000FF"/>
                </a:solidFill>
                <a:cs typeface="+mn-ea"/>
                <a:sym typeface="+mn-lt"/>
              </a:rPr>
              <a:t> R[],  </a:t>
            </a:r>
            <a:r>
              <a:rPr kumimoji="1" lang="en-US" altLang="zh-CN" sz="2800" b="1" dirty="0" err="1">
                <a:solidFill>
                  <a:srgbClr val="0000FF"/>
                </a:solidFill>
                <a:cs typeface="+mn-ea"/>
                <a:sym typeface="+mn-lt"/>
              </a:rPr>
              <a:t>int</a:t>
            </a:r>
            <a:r>
              <a:rPr kumimoji="1" lang="en-US" altLang="zh-CN" sz="2800" b="1" dirty="0">
                <a:solidFill>
                  <a:srgbClr val="0000FF"/>
                </a:solidFill>
                <a:cs typeface="+mn-ea"/>
                <a:sym typeface="+mn-lt"/>
              </a:rPr>
              <a:t> low,  </a:t>
            </a:r>
            <a:r>
              <a:rPr kumimoji="1" lang="en-US" altLang="zh-CN" sz="2800" b="1" dirty="0" err="1">
                <a:solidFill>
                  <a:srgbClr val="0000FF"/>
                </a:solidFill>
                <a:cs typeface="+mn-ea"/>
                <a:sym typeface="+mn-lt"/>
              </a:rPr>
              <a:t>int</a:t>
            </a:r>
            <a:r>
              <a:rPr kumimoji="1" lang="en-US" altLang="zh-CN" sz="2800" b="1" dirty="0">
                <a:solidFill>
                  <a:srgbClr val="0000FF"/>
                </a:solidFill>
                <a:cs typeface="+mn-ea"/>
                <a:sym typeface="+mn-lt"/>
              </a:rPr>
              <a:t>  high ) {</a:t>
            </a:r>
          </a:p>
          <a:p>
            <a:pPr fontAlgn="base">
              <a:lnSpc>
                <a:spcPct val="120000"/>
              </a:lnSpc>
              <a:spcAft>
                <a:spcPct val="0"/>
              </a:spcAft>
            </a:pPr>
            <a:r>
              <a:rPr kumimoji="1" lang="en-US" altLang="zh-CN" sz="2800" b="1" dirty="0">
                <a:solidFill>
                  <a:srgbClr val="000000"/>
                </a:solidFill>
                <a:cs typeface="+mn-ea"/>
                <a:sym typeface="+mn-lt"/>
              </a:rPr>
              <a:t>  // </a:t>
            </a:r>
            <a:r>
              <a:rPr kumimoji="1" lang="zh-CN" altLang="en-US" sz="2800" b="1" dirty="0">
                <a:solidFill>
                  <a:srgbClr val="000000"/>
                </a:solidFill>
                <a:cs typeface="+mn-ea"/>
                <a:sym typeface="+mn-lt"/>
              </a:rPr>
              <a:t>对记录序列</a:t>
            </a:r>
            <a:r>
              <a:rPr kumimoji="1" lang="en-US" altLang="zh-CN" sz="2800" b="1" dirty="0">
                <a:solidFill>
                  <a:srgbClr val="000000"/>
                </a:solidFill>
                <a:cs typeface="+mn-ea"/>
                <a:sym typeface="+mn-lt"/>
              </a:rPr>
              <a:t>R[low..high]</a:t>
            </a:r>
            <a:r>
              <a:rPr kumimoji="1" lang="zh-CN" altLang="en-US" sz="2800" b="1" dirty="0">
                <a:solidFill>
                  <a:srgbClr val="000000"/>
                </a:solidFill>
                <a:cs typeface="+mn-ea"/>
                <a:sym typeface="+mn-lt"/>
              </a:rPr>
              <a:t>进行快速排序</a:t>
            </a:r>
          </a:p>
          <a:p>
            <a:pPr fontAlgn="base">
              <a:lnSpc>
                <a:spcPct val="120000"/>
              </a:lnSpc>
              <a:spcAft>
                <a:spcPct val="0"/>
              </a:spcAft>
            </a:pPr>
            <a:r>
              <a:rPr kumimoji="1" lang="zh-CN" altLang="en-US" sz="2800" b="1" dirty="0">
                <a:solidFill>
                  <a:srgbClr val="0000FF"/>
                </a:solidFill>
                <a:cs typeface="+mn-ea"/>
                <a:sym typeface="+mn-lt"/>
              </a:rPr>
              <a:t>  </a:t>
            </a:r>
            <a:r>
              <a:rPr kumimoji="1" lang="en-US" altLang="zh-CN" sz="2800" b="1" dirty="0">
                <a:solidFill>
                  <a:srgbClr val="0000FF"/>
                </a:solidFill>
                <a:cs typeface="+mn-ea"/>
                <a:sym typeface="+mn-lt"/>
              </a:rPr>
              <a:t>if (low &lt;high-1) </a:t>
            </a:r>
            <a:r>
              <a:rPr kumimoji="1" lang="en-US" altLang="zh-CN" sz="2800" b="1" dirty="0">
                <a:solidFill>
                  <a:srgbClr val="000000"/>
                </a:solidFill>
                <a:cs typeface="+mn-ea"/>
                <a:sym typeface="+mn-lt"/>
              </a:rPr>
              <a:t>{             // </a:t>
            </a:r>
            <a:r>
              <a:rPr kumimoji="1" lang="zh-CN" altLang="en-US" sz="2800" b="1" dirty="0">
                <a:solidFill>
                  <a:srgbClr val="000000"/>
                </a:solidFill>
                <a:cs typeface="+mn-ea"/>
                <a:sym typeface="+mn-lt"/>
              </a:rPr>
              <a:t>长度大于</a:t>
            </a:r>
            <a:r>
              <a:rPr kumimoji="1" lang="en-US" altLang="zh-CN" sz="2800" b="1" dirty="0">
                <a:solidFill>
                  <a:srgbClr val="000000"/>
                </a:solidFill>
                <a:cs typeface="+mn-ea"/>
                <a:sym typeface="+mn-lt"/>
              </a:rPr>
              <a:t>1</a:t>
            </a:r>
          </a:p>
          <a:p>
            <a:pPr fontAlgn="base">
              <a:lnSpc>
                <a:spcPct val="120000"/>
              </a:lnSpc>
              <a:spcAft>
                <a:spcPct val="0"/>
              </a:spcAft>
            </a:pPr>
            <a:r>
              <a:rPr kumimoji="1" lang="en-US" altLang="zh-CN" sz="2800" b="1" dirty="0">
                <a:solidFill>
                  <a:srgbClr val="0000FF"/>
                </a:solidFill>
                <a:cs typeface="+mn-ea"/>
                <a:sym typeface="+mn-lt"/>
              </a:rPr>
              <a:t>    </a:t>
            </a:r>
            <a:r>
              <a:rPr kumimoji="1" lang="en-US" altLang="zh-CN" sz="2800" b="1" dirty="0" err="1">
                <a:solidFill>
                  <a:srgbClr val="FF0000"/>
                </a:solidFill>
                <a:cs typeface="+mn-ea"/>
                <a:sym typeface="+mn-lt"/>
              </a:rPr>
              <a:t>pivotloc</a:t>
            </a:r>
            <a:r>
              <a:rPr kumimoji="1" lang="en-US" altLang="zh-CN" sz="2800" b="1" dirty="0">
                <a:solidFill>
                  <a:srgbClr val="FF0000"/>
                </a:solidFill>
                <a:cs typeface="+mn-ea"/>
                <a:sym typeface="+mn-lt"/>
              </a:rPr>
              <a:t> = Partition(L, low, high);</a:t>
            </a:r>
            <a:r>
              <a:rPr kumimoji="1" lang="en-US" altLang="zh-CN" sz="2800" b="1" dirty="0">
                <a:solidFill>
                  <a:srgbClr val="000000"/>
                </a:solidFill>
                <a:cs typeface="+mn-ea"/>
                <a:sym typeface="+mn-lt"/>
              </a:rPr>
              <a:t> // </a:t>
            </a:r>
            <a:r>
              <a:rPr kumimoji="1" lang="zh-CN" altLang="en-US" sz="2800" b="1" dirty="0">
                <a:solidFill>
                  <a:srgbClr val="000000"/>
                </a:solidFill>
                <a:cs typeface="+mn-ea"/>
                <a:sym typeface="+mn-lt"/>
              </a:rPr>
              <a:t>将</a:t>
            </a:r>
            <a:r>
              <a:rPr kumimoji="1" lang="en-US" altLang="zh-CN" sz="2800" b="1" dirty="0">
                <a:solidFill>
                  <a:srgbClr val="000000"/>
                </a:solidFill>
                <a:cs typeface="+mn-ea"/>
                <a:sym typeface="+mn-lt"/>
              </a:rPr>
              <a:t>R[low..high] </a:t>
            </a:r>
            <a:r>
              <a:rPr kumimoji="1" lang="zh-CN" altLang="en-US" sz="2800" b="1" dirty="0">
                <a:solidFill>
                  <a:srgbClr val="000000"/>
                </a:solidFill>
                <a:cs typeface="+mn-ea"/>
                <a:sym typeface="+mn-lt"/>
              </a:rPr>
              <a:t>进行一次划分</a:t>
            </a:r>
          </a:p>
          <a:p>
            <a:pPr fontAlgn="base">
              <a:lnSpc>
                <a:spcPct val="120000"/>
              </a:lnSpc>
              <a:spcAft>
                <a:spcPct val="0"/>
              </a:spcAft>
            </a:pPr>
            <a:r>
              <a:rPr kumimoji="1" lang="en-US" altLang="zh-CN" sz="2800" b="1" dirty="0">
                <a:solidFill>
                  <a:srgbClr val="0000FF"/>
                </a:solidFill>
                <a:cs typeface="+mn-ea"/>
                <a:sym typeface="+mn-lt"/>
              </a:rPr>
              <a:t>   </a:t>
            </a:r>
            <a:r>
              <a:rPr kumimoji="1" lang="en-US" altLang="zh-CN" sz="2800" b="1" dirty="0" err="1">
                <a:solidFill>
                  <a:srgbClr val="FF0000"/>
                </a:solidFill>
                <a:cs typeface="+mn-ea"/>
                <a:sym typeface="+mn-lt"/>
              </a:rPr>
              <a:t>Qsort</a:t>
            </a:r>
            <a:r>
              <a:rPr kumimoji="1" lang="en-US" altLang="zh-CN" sz="2800" b="1" dirty="0">
                <a:solidFill>
                  <a:srgbClr val="FF0000"/>
                </a:solidFill>
                <a:cs typeface="+mn-ea"/>
                <a:sym typeface="+mn-lt"/>
              </a:rPr>
              <a:t>(R, low, pivotloc-1);</a:t>
            </a:r>
            <a:r>
              <a:rPr kumimoji="1" lang="en-US" altLang="zh-CN" sz="2800" b="1" dirty="0">
                <a:solidFill>
                  <a:srgbClr val="0000FF"/>
                </a:solidFill>
                <a:cs typeface="+mn-ea"/>
                <a:sym typeface="+mn-lt"/>
              </a:rPr>
              <a:t>  </a:t>
            </a:r>
            <a:r>
              <a:rPr kumimoji="1" lang="en-US" altLang="zh-CN" sz="2800" b="1" dirty="0">
                <a:solidFill>
                  <a:srgbClr val="000000"/>
                </a:solidFill>
                <a:cs typeface="+mn-ea"/>
                <a:sym typeface="+mn-lt"/>
              </a:rPr>
              <a:t>// </a:t>
            </a:r>
            <a:r>
              <a:rPr kumimoji="1" lang="zh-CN" altLang="en-US" sz="2800" b="1" dirty="0">
                <a:solidFill>
                  <a:srgbClr val="000000"/>
                </a:solidFill>
                <a:cs typeface="+mn-ea"/>
                <a:sym typeface="+mn-lt"/>
              </a:rPr>
              <a:t>对低子序列递归排序，</a:t>
            </a:r>
            <a:r>
              <a:rPr kumimoji="1" lang="en-US" altLang="zh-CN" sz="2800" b="1" dirty="0" err="1">
                <a:solidFill>
                  <a:srgbClr val="000000"/>
                </a:solidFill>
                <a:cs typeface="+mn-ea"/>
                <a:sym typeface="+mn-lt"/>
              </a:rPr>
              <a:t>pivotloc</a:t>
            </a:r>
            <a:r>
              <a:rPr kumimoji="1" lang="zh-CN" altLang="en-US" sz="2800" b="1" dirty="0">
                <a:solidFill>
                  <a:srgbClr val="000000"/>
                </a:solidFill>
                <a:cs typeface="+mn-ea"/>
                <a:sym typeface="+mn-lt"/>
              </a:rPr>
              <a:t>是枢轴位置</a:t>
            </a:r>
          </a:p>
          <a:p>
            <a:pPr fontAlgn="base">
              <a:lnSpc>
                <a:spcPct val="120000"/>
              </a:lnSpc>
              <a:spcAft>
                <a:spcPct val="0"/>
              </a:spcAft>
            </a:pPr>
            <a:r>
              <a:rPr kumimoji="1" lang="en-US" altLang="zh-CN" sz="2800" b="1" dirty="0">
                <a:solidFill>
                  <a:srgbClr val="0000FF"/>
                </a:solidFill>
                <a:cs typeface="+mn-ea"/>
                <a:sym typeface="+mn-lt"/>
              </a:rPr>
              <a:t>   </a:t>
            </a:r>
            <a:r>
              <a:rPr kumimoji="1" lang="en-US" altLang="zh-CN" sz="2800" b="1" dirty="0" err="1">
                <a:solidFill>
                  <a:srgbClr val="FF0000"/>
                </a:solidFill>
                <a:cs typeface="+mn-ea"/>
                <a:sym typeface="+mn-lt"/>
              </a:rPr>
              <a:t>Qsort</a:t>
            </a:r>
            <a:r>
              <a:rPr kumimoji="1" lang="en-US" altLang="zh-CN" sz="2800" b="1" dirty="0">
                <a:solidFill>
                  <a:srgbClr val="FF0000"/>
                </a:solidFill>
                <a:cs typeface="+mn-ea"/>
                <a:sym typeface="+mn-lt"/>
              </a:rPr>
              <a:t>(R, pivotloc+1,high); </a:t>
            </a:r>
            <a:r>
              <a:rPr kumimoji="1" lang="en-US" altLang="zh-CN" sz="2800" b="1" dirty="0">
                <a:solidFill>
                  <a:srgbClr val="000000"/>
                </a:solidFill>
                <a:cs typeface="+mn-ea"/>
                <a:sym typeface="+mn-lt"/>
              </a:rPr>
              <a:t>// </a:t>
            </a:r>
            <a:r>
              <a:rPr kumimoji="1" lang="zh-CN" altLang="en-US" sz="2800" b="1" dirty="0">
                <a:solidFill>
                  <a:srgbClr val="000000"/>
                </a:solidFill>
                <a:cs typeface="+mn-ea"/>
                <a:sym typeface="+mn-lt"/>
              </a:rPr>
              <a:t>对高子序列递归排序</a:t>
            </a:r>
          </a:p>
          <a:p>
            <a:pPr fontAlgn="base">
              <a:lnSpc>
                <a:spcPct val="120000"/>
              </a:lnSpc>
              <a:spcAft>
                <a:spcPct val="0"/>
              </a:spcAft>
            </a:pPr>
            <a:r>
              <a:rPr kumimoji="1" lang="en-US" altLang="zh-CN" sz="2800" b="1" dirty="0">
                <a:solidFill>
                  <a:srgbClr val="0000FF"/>
                </a:solidFill>
                <a:cs typeface="+mn-ea"/>
                <a:sym typeface="+mn-lt"/>
              </a:rPr>
              <a:t>  }</a:t>
            </a:r>
          </a:p>
          <a:p>
            <a:pPr fontAlgn="base">
              <a:lnSpc>
                <a:spcPct val="120000"/>
              </a:lnSpc>
              <a:spcAft>
                <a:spcPct val="0"/>
              </a:spcAft>
            </a:pPr>
            <a:r>
              <a:rPr kumimoji="1" lang="en-US" altLang="zh-CN" sz="2800" b="1" dirty="0">
                <a:solidFill>
                  <a:srgbClr val="0000FF"/>
                </a:solidFill>
                <a:cs typeface="+mn-ea"/>
                <a:sym typeface="+mn-lt"/>
              </a:rPr>
              <a:t>} // </a:t>
            </a:r>
            <a:r>
              <a:rPr kumimoji="1" lang="en-US" altLang="zh-CN" sz="2800" b="1" dirty="0" err="1">
                <a:solidFill>
                  <a:srgbClr val="0000FF"/>
                </a:solidFill>
                <a:cs typeface="+mn-ea"/>
                <a:sym typeface="+mn-lt"/>
              </a:rPr>
              <a:t>QSort</a:t>
            </a:r>
            <a:endParaRPr kumimoji="1" lang="en-US" altLang="zh-CN" sz="2800" b="1" dirty="0">
              <a:solidFill>
                <a:srgbClr val="0000FF"/>
              </a:solidFill>
              <a:cs typeface="+mn-ea"/>
              <a:sym typeface="+mn-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normAutofit/>
          </a:bodyPr>
          <a:lstStyle/>
          <a:p>
            <a:r>
              <a:rPr kumimoji="0" lang="zh-CN" altLang="zh-CN" sz="4400" b="1" i="0" u="none" strike="noStrike" cap="none" normalizeH="0" baseline="0" dirty="0">
                <a:ln>
                  <a:noFill/>
                </a:ln>
                <a:solidFill>
                  <a:schemeClr val="tx1"/>
                </a:solidFill>
                <a:effectLst/>
                <a:cs typeface="+mn-ea"/>
                <a:sym typeface="+mn-lt"/>
              </a:rPr>
              <a:t>最佳情况</a:t>
            </a:r>
            <a:endParaRPr lang="zh-CN" altLang="en-US" dirty="0"/>
          </a:p>
        </p:txBody>
      </p:sp>
      <p:sp>
        <p:nvSpPr>
          <p:cNvPr id="5" name="灯片编号占位符 4"/>
          <p:cNvSpPr>
            <a:spLocks noGrp="1"/>
          </p:cNvSpPr>
          <p:nvPr>
            <p:ph type="sldNum" sz="quarter" idx="4294967295"/>
          </p:nvPr>
        </p:nvSpPr>
        <p:spPr>
          <a:xfrm>
            <a:off x="9347200" y="6356350"/>
            <a:ext cx="2844800" cy="365125"/>
          </a:xfrm>
          <a:prstGeom prst="rect">
            <a:avLst/>
          </a:prstGeom>
        </p:spPr>
        <p:txBody>
          <a:bodyPr/>
          <a:lstStyle/>
          <a:p>
            <a:pPr algn="r">
              <a:lnSpc>
                <a:spcPct val="120000"/>
              </a:lnSpc>
              <a:spcBef>
                <a:spcPts val="300"/>
              </a:spcBef>
            </a:pPr>
            <a:fld id="{0063EC4C-CFD8-4F45-A0A2-30028C1F73DB}" type="slidenum">
              <a:rPr lang="zh-CN" altLang="en-US" smtClean="0">
                <a:cs typeface="+mn-ea"/>
                <a:sym typeface="+mn-lt"/>
              </a:rPr>
              <a:t>14</a:t>
            </a:fld>
            <a:endParaRPr lang="zh-CN" altLang="en-US">
              <a:cs typeface="+mn-ea"/>
              <a:sym typeface="+mn-lt"/>
            </a:endParaRPr>
          </a:p>
        </p:txBody>
      </p:sp>
      <p:graphicFrame>
        <p:nvGraphicFramePr>
          <p:cNvPr id="6" name="表格 5"/>
          <p:cNvGraphicFramePr>
            <a:graphicFrameLocks noGrp="1"/>
          </p:cNvGraphicFramePr>
          <p:nvPr/>
        </p:nvGraphicFramePr>
        <p:xfrm>
          <a:off x="1905000" y="1524000"/>
          <a:ext cx="6858000" cy="1695450"/>
        </p:xfrm>
        <a:graphic>
          <a:graphicData uri="http://schemas.openxmlformats.org/drawingml/2006/table">
            <a:tbl>
              <a:tblPr firstRow="1" firstCol="1" bandRow="1">
                <a:tableStyleId>{5940675A-B579-460E-94D1-54222C63F5DA}</a:tableStyleId>
              </a:tblPr>
              <a:tblGrid>
                <a:gridCol w="428212">
                  <a:extLst>
                    <a:ext uri="{9D8B030D-6E8A-4147-A177-3AD203B41FA5}">
                      <a16:colId xmlns:a16="http://schemas.microsoft.com/office/drawing/2014/main" val="20000"/>
                    </a:ext>
                  </a:extLst>
                </a:gridCol>
                <a:gridCol w="428212">
                  <a:extLst>
                    <a:ext uri="{9D8B030D-6E8A-4147-A177-3AD203B41FA5}">
                      <a16:colId xmlns:a16="http://schemas.microsoft.com/office/drawing/2014/main" val="20001"/>
                    </a:ext>
                  </a:extLst>
                </a:gridCol>
                <a:gridCol w="428212">
                  <a:extLst>
                    <a:ext uri="{9D8B030D-6E8A-4147-A177-3AD203B41FA5}">
                      <a16:colId xmlns:a16="http://schemas.microsoft.com/office/drawing/2014/main" val="20002"/>
                    </a:ext>
                  </a:extLst>
                </a:gridCol>
                <a:gridCol w="428212">
                  <a:extLst>
                    <a:ext uri="{9D8B030D-6E8A-4147-A177-3AD203B41FA5}">
                      <a16:colId xmlns:a16="http://schemas.microsoft.com/office/drawing/2014/main" val="20003"/>
                    </a:ext>
                  </a:extLst>
                </a:gridCol>
                <a:gridCol w="428212">
                  <a:extLst>
                    <a:ext uri="{9D8B030D-6E8A-4147-A177-3AD203B41FA5}">
                      <a16:colId xmlns:a16="http://schemas.microsoft.com/office/drawing/2014/main" val="20004"/>
                    </a:ext>
                  </a:extLst>
                </a:gridCol>
                <a:gridCol w="428212">
                  <a:extLst>
                    <a:ext uri="{9D8B030D-6E8A-4147-A177-3AD203B41FA5}">
                      <a16:colId xmlns:a16="http://schemas.microsoft.com/office/drawing/2014/main" val="20005"/>
                    </a:ext>
                  </a:extLst>
                </a:gridCol>
                <a:gridCol w="428212">
                  <a:extLst>
                    <a:ext uri="{9D8B030D-6E8A-4147-A177-3AD203B41FA5}">
                      <a16:colId xmlns:a16="http://schemas.microsoft.com/office/drawing/2014/main" val="20006"/>
                    </a:ext>
                  </a:extLst>
                </a:gridCol>
                <a:gridCol w="428212">
                  <a:extLst>
                    <a:ext uri="{9D8B030D-6E8A-4147-A177-3AD203B41FA5}">
                      <a16:colId xmlns:a16="http://schemas.microsoft.com/office/drawing/2014/main" val="20007"/>
                    </a:ext>
                  </a:extLst>
                </a:gridCol>
                <a:gridCol w="429038">
                  <a:extLst>
                    <a:ext uri="{9D8B030D-6E8A-4147-A177-3AD203B41FA5}">
                      <a16:colId xmlns:a16="http://schemas.microsoft.com/office/drawing/2014/main" val="20008"/>
                    </a:ext>
                  </a:extLst>
                </a:gridCol>
                <a:gridCol w="429038">
                  <a:extLst>
                    <a:ext uri="{9D8B030D-6E8A-4147-A177-3AD203B41FA5}">
                      <a16:colId xmlns:a16="http://schemas.microsoft.com/office/drawing/2014/main" val="20009"/>
                    </a:ext>
                  </a:extLst>
                </a:gridCol>
                <a:gridCol w="429038">
                  <a:extLst>
                    <a:ext uri="{9D8B030D-6E8A-4147-A177-3AD203B41FA5}">
                      <a16:colId xmlns:a16="http://schemas.microsoft.com/office/drawing/2014/main" val="20010"/>
                    </a:ext>
                  </a:extLst>
                </a:gridCol>
                <a:gridCol w="429038">
                  <a:extLst>
                    <a:ext uri="{9D8B030D-6E8A-4147-A177-3AD203B41FA5}">
                      <a16:colId xmlns:a16="http://schemas.microsoft.com/office/drawing/2014/main" val="20011"/>
                    </a:ext>
                  </a:extLst>
                </a:gridCol>
                <a:gridCol w="429038">
                  <a:extLst>
                    <a:ext uri="{9D8B030D-6E8A-4147-A177-3AD203B41FA5}">
                      <a16:colId xmlns:a16="http://schemas.microsoft.com/office/drawing/2014/main" val="20012"/>
                    </a:ext>
                  </a:extLst>
                </a:gridCol>
                <a:gridCol w="429038">
                  <a:extLst>
                    <a:ext uri="{9D8B030D-6E8A-4147-A177-3AD203B41FA5}">
                      <a16:colId xmlns:a16="http://schemas.microsoft.com/office/drawing/2014/main" val="20013"/>
                    </a:ext>
                  </a:extLst>
                </a:gridCol>
                <a:gridCol w="429038">
                  <a:extLst>
                    <a:ext uri="{9D8B030D-6E8A-4147-A177-3AD203B41FA5}">
                      <a16:colId xmlns:a16="http://schemas.microsoft.com/office/drawing/2014/main" val="20014"/>
                    </a:ext>
                  </a:extLst>
                </a:gridCol>
                <a:gridCol w="429038">
                  <a:extLst>
                    <a:ext uri="{9D8B030D-6E8A-4147-A177-3AD203B41FA5}">
                      <a16:colId xmlns:a16="http://schemas.microsoft.com/office/drawing/2014/main" val="20015"/>
                    </a:ext>
                  </a:extLst>
                </a:gridCol>
              </a:tblGrid>
              <a:tr h="339090">
                <a:tc gridSpan="16">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339090">
                <a:tc gridSpan="8">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gridSpan="8">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339090">
                <a:tc gridSpan="4">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hMerge="1">
                  <a:txBody>
                    <a:bodyPr/>
                    <a:lstStyle/>
                    <a:p>
                      <a:endParaRPr lang="zh-CN"/>
                    </a:p>
                  </a:txBody>
                  <a:tcPr/>
                </a:tc>
                <a:tc hMerge="1">
                  <a:txBody>
                    <a:bodyPr/>
                    <a:lstStyle/>
                    <a:p>
                      <a:endParaRPr lang="zh-CN"/>
                    </a:p>
                  </a:txBody>
                  <a:tcPr/>
                </a:tc>
                <a:tc hMerge="1">
                  <a:txBody>
                    <a:bodyPr/>
                    <a:lstStyle/>
                    <a:p>
                      <a:endParaRPr lang="zh-CN"/>
                    </a:p>
                  </a:txBody>
                  <a:tcPr/>
                </a:tc>
                <a:tc gridSpan="4">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hMerge="1">
                  <a:txBody>
                    <a:bodyPr/>
                    <a:lstStyle/>
                    <a:p>
                      <a:endParaRPr lang="zh-CN"/>
                    </a:p>
                  </a:txBody>
                  <a:tcPr/>
                </a:tc>
                <a:tc hMerge="1">
                  <a:txBody>
                    <a:bodyPr/>
                    <a:lstStyle/>
                    <a:p>
                      <a:endParaRPr lang="zh-CN"/>
                    </a:p>
                  </a:txBody>
                  <a:tcPr/>
                </a:tc>
                <a:tc hMerge="1">
                  <a:txBody>
                    <a:bodyPr/>
                    <a:lstStyle/>
                    <a:p>
                      <a:endParaRPr lang="zh-CN"/>
                    </a:p>
                  </a:txBody>
                  <a:tcPr/>
                </a:tc>
                <a:tc gridSpan="4">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hMerge="1">
                  <a:txBody>
                    <a:bodyPr/>
                    <a:lstStyle/>
                    <a:p>
                      <a:endParaRPr lang="zh-CN"/>
                    </a:p>
                  </a:txBody>
                  <a:tcPr/>
                </a:tc>
                <a:tc hMerge="1">
                  <a:txBody>
                    <a:bodyPr/>
                    <a:lstStyle/>
                    <a:p>
                      <a:endParaRPr lang="zh-CN"/>
                    </a:p>
                  </a:txBody>
                  <a:tcPr/>
                </a:tc>
                <a:tc hMerge="1">
                  <a:txBody>
                    <a:bodyPr/>
                    <a:lstStyle/>
                    <a:p>
                      <a:endParaRPr lang="zh-CN"/>
                    </a:p>
                  </a:txBody>
                  <a:tcPr/>
                </a:tc>
                <a:tc gridSpan="4">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r h="339090">
                <a:tc gridSpan="2">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hMerge="1">
                  <a:txBody>
                    <a:bodyPr/>
                    <a:lstStyle/>
                    <a:p>
                      <a:endParaRPr lang="zh-CN"/>
                    </a:p>
                  </a:txBody>
                  <a:tcPr/>
                </a:tc>
                <a:tc gridSpan="2">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hMerge="1">
                  <a:txBody>
                    <a:bodyPr/>
                    <a:lstStyle/>
                    <a:p>
                      <a:endParaRPr lang="zh-CN"/>
                    </a:p>
                  </a:txBody>
                  <a:tcPr/>
                </a:tc>
                <a:tc gridSpan="2">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hMerge="1">
                  <a:txBody>
                    <a:bodyPr/>
                    <a:lstStyle/>
                    <a:p>
                      <a:endParaRPr lang="zh-CN"/>
                    </a:p>
                  </a:txBody>
                  <a:tcPr/>
                </a:tc>
                <a:tc gridSpan="2">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hMerge="1">
                  <a:txBody>
                    <a:bodyPr/>
                    <a:lstStyle/>
                    <a:p>
                      <a:endParaRPr lang="zh-CN"/>
                    </a:p>
                  </a:txBody>
                  <a:tcPr/>
                </a:tc>
                <a:tc gridSpan="2">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hMerge="1">
                  <a:txBody>
                    <a:bodyPr/>
                    <a:lstStyle/>
                    <a:p>
                      <a:endParaRPr lang="zh-CN"/>
                    </a:p>
                  </a:txBody>
                  <a:tcPr/>
                </a:tc>
                <a:tc gridSpan="2">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hMerge="1">
                  <a:txBody>
                    <a:bodyPr/>
                    <a:lstStyle/>
                    <a:p>
                      <a:endParaRPr lang="zh-CN"/>
                    </a:p>
                  </a:txBody>
                  <a:tcPr/>
                </a:tc>
                <a:tc gridSpan="2">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hMerge="1">
                  <a:txBody>
                    <a:bodyPr/>
                    <a:lstStyle/>
                    <a:p>
                      <a:endParaRPr lang="zh-CN"/>
                    </a:p>
                  </a:txBody>
                  <a:tcPr/>
                </a:tc>
                <a:tc gridSpan="2">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hMerge="1">
                  <a:txBody>
                    <a:bodyPr/>
                    <a:lstStyle/>
                    <a:p>
                      <a:endParaRPr lang="zh-CN"/>
                    </a:p>
                  </a:txBody>
                  <a:tcPr/>
                </a:tc>
                <a:extLst>
                  <a:ext uri="{0D108BD9-81ED-4DB2-BD59-A6C34878D82A}">
                    <a16:rowId xmlns:a16="http://schemas.microsoft.com/office/drawing/2014/main" val="10003"/>
                  </a:ext>
                </a:extLst>
              </a:tr>
              <a:tr h="339090">
                <a:tc>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1050" kern="100" dirty="0">
                          <a:effectLst/>
                          <a:latin typeface="+mn-lt"/>
                          <a:ea typeface="+mn-ea"/>
                          <a:cs typeface="+mn-ea"/>
                          <a:sym typeface="+mn-lt"/>
                        </a:rPr>
                        <a:t> </a:t>
                      </a:r>
                      <a:endParaRPr lang="zh-CN" sz="1050" kern="100" dirty="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1050" kern="100" dirty="0">
                          <a:effectLst/>
                          <a:latin typeface="+mn-lt"/>
                          <a:ea typeface="+mn-ea"/>
                          <a:cs typeface="+mn-ea"/>
                          <a:sym typeface="+mn-lt"/>
                        </a:rPr>
                        <a:t> </a:t>
                      </a:r>
                      <a:endParaRPr lang="zh-CN" sz="1050" kern="100" dirty="0">
                        <a:effectLst/>
                        <a:latin typeface="+mn-lt"/>
                        <a:ea typeface="+mn-ea"/>
                        <a:cs typeface="+mn-ea"/>
                        <a:sym typeface="+mn-lt"/>
                      </a:endParaRPr>
                    </a:p>
                  </a:txBody>
                  <a:tcPr marL="68580" marR="68580" marT="0" marB="0"/>
                </a:tc>
                <a:extLst>
                  <a:ext uri="{0D108BD9-81ED-4DB2-BD59-A6C34878D82A}">
                    <a16:rowId xmlns:a16="http://schemas.microsoft.com/office/drawing/2014/main" val="10004"/>
                  </a:ext>
                </a:extLst>
              </a:tr>
            </a:tbl>
          </a:graphicData>
        </a:graphic>
      </p:graphicFrame>
      <p:sp>
        <p:nvSpPr>
          <p:cNvPr id="7" name="Rectangle 1"/>
          <p:cNvSpPr>
            <a:spLocks noChangeArrowheads="1"/>
          </p:cNvSpPr>
          <p:nvPr/>
        </p:nvSpPr>
        <p:spPr bwMode="auto">
          <a:xfrm>
            <a:off x="1226805" y="3466728"/>
            <a:ext cx="9577929" cy="2496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20000"/>
              </a:lnSpc>
              <a:spcBef>
                <a:spcPts val="600"/>
              </a:spcBef>
              <a:spcAft>
                <a:spcPct val="0"/>
              </a:spcAft>
              <a:buClrTx/>
              <a:buSzTx/>
              <a:buFontTx/>
              <a:buNone/>
            </a:pPr>
            <a:r>
              <a:rPr kumimoji="0" lang="zh-CN" altLang="zh-CN" sz="2400" b="0" i="0" u="none" strike="noStrike" cap="none" normalizeH="0" baseline="0" dirty="0">
                <a:ln>
                  <a:noFill/>
                </a:ln>
                <a:solidFill>
                  <a:schemeClr val="tx1"/>
                </a:solidFill>
                <a:effectLst/>
                <a:cs typeface="+mn-ea"/>
                <a:sym typeface="+mn-lt"/>
              </a:rPr>
              <a:t>每次分区操作都能将数组均匀地划分为两部分。</a:t>
            </a:r>
            <a:endParaRPr kumimoji="0" lang="en-US" altLang="zh-CN" sz="2400" b="0" i="0" u="none" strike="noStrike" cap="none" normalizeH="0" baseline="0" dirty="0">
              <a:ln>
                <a:noFill/>
              </a:ln>
              <a:solidFill>
                <a:schemeClr val="tx1"/>
              </a:solidFill>
              <a:effectLst/>
              <a:cs typeface="+mn-ea"/>
              <a:sym typeface="+mn-lt"/>
            </a:endParaRPr>
          </a:p>
          <a:p>
            <a:pPr marL="0" marR="0" lvl="0" indent="0" algn="l" defTabSz="914400" rtl="0" eaLnBrk="0" fontAlgn="base" latinLnBrk="0" hangingPunct="0">
              <a:lnSpc>
                <a:spcPct val="120000"/>
              </a:lnSpc>
              <a:spcBef>
                <a:spcPts val="600"/>
              </a:spcBef>
              <a:spcAft>
                <a:spcPct val="0"/>
              </a:spcAft>
              <a:buClrTx/>
              <a:buSzTx/>
              <a:buFontTx/>
              <a:buNone/>
            </a:pPr>
            <a:r>
              <a:rPr kumimoji="0" lang="zh-CN" altLang="zh-CN" sz="2400" b="0" i="0" u="none" strike="noStrike" cap="none" normalizeH="0" baseline="0" dirty="0">
                <a:ln>
                  <a:noFill/>
                </a:ln>
                <a:solidFill>
                  <a:schemeClr val="tx1"/>
                </a:solidFill>
                <a:effectLst/>
                <a:cs typeface="+mn-ea"/>
                <a:sym typeface="+mn-lt"/>
              </a:rPr>
              <a:t>需要多少次递归调用能将区间化为长度是</a:t>
            </a:r>
            <a:r>
              <a:rPr kumimoji="0" lang="en-US" altLang="zh-CN" sz="2400" b="0" i="0" u="none" strike="noStrike" cap="none" normalizeH="0" baseline="0" dirty="0">
                <a:ln>
                  <a:noFill/>
                </a:ln>
                <a:solidFill>
                  <a:schemeClr val="tx1"/>
                </a:solidFill>
                <a:effectLst/>
                <a:cs typeface="+mn-ea"/>
                <a:sym typeface="+mn-lt"/>
              </a:rPr>
              <a:t>1</a:t>
            </a:r>
            <a:r>
              <a:rPr kumimoji="0" lang="zh-CN" altLang="en-US" sz="2400" b="0" i="0" u="none" strike="noStrike" cap="none" normalizeH="0" baseline="0" dirty="0">
                <a:ln>
                  <a:noFill/>
                </a:ln>
                <a:solidFill>
                  <a:schemeClr val="tx1"/>
                </a:solidFill>
                <a:effectLst/>
                <a:cs typeface="+mn-ea"/>
                <a:sym typeface="+mn-lt"/>
              </a:rPr>
              <a:t>的区间呢？</a:t>
            </a:r>
            <a:r>
              <a:rPr kumimoji="0" lang="en-US" altLang="zh-CN" sz="2400" b="0" i="0" u="none" strike="noStrike" cap="none" normalizeH="0" baseline="0" dirty="0">
                <a:ln>
                  <a:noFill/>
                </a:ln>
                <a:solidFill>
                  <a:schemeClr val="tx1"/>
                </a:solidFill>
                <a:effectLst/>
                <a:cs typeface="+mn-ea"/>
                <a:sym typeface="+mn-lt"/>
              </a:rPr>
              <a:t>log n</a:t>
            </a:r>
            <a:r>
              <a:rPr kumimoji="0" lang="zh-CN" altLang="en-US" sz="2400" b="0" i="0" u="none" strike="noStrike" cap="none" normalizeH="0" baseline="0" dirty="0">
                <a:ln>
                  <a:noFill/>
                </a:ln>
                <a:solidFill>
                  <a:schemeClr val="tx1"/>
                </a:solidFill>
                <a:effectLst/>
                <a:cs typeface="+mn-ea"/>
                <a:sym typeface="+mn-lt"/>
              </a:rPr>
              <a:t>次</a:t>
            </a:r>
            <a:endParaRPr kumimoji="0" lang="en-US" altLang="zh-CN" sz="2400" b="0" i="0" u="none" strike="noStrike" cap="none" normalizeH="0" baseline="0" dirty="0">
              <a:ln>
                <a:noFill/>
              </a:ln>
              <a:solidFill>
                <a:schemeClr val="tx1"/>
              </a:solidFill>
              <a:effectLst/>
              <a:cs typeface="+mn-ea"/>
              <a:sym typeface="+mn-lt"/>
            </a:endParaRPr>
          </a:p>
          <a:p>
            <a:pPr marL="0" marR="0" lvl="0" indent="0" algn="l" defTabSz="914400" rtl="0" eaLnBrk="0" fontAlgn="base" latinLnBrk="0" hangingPunct="0">
              <a:lnSpc>
                <a:spcPct val="120000"/>
              </a:lnSpc>
              <a:spcBef>
                <a:spcPts val="600"/>
              </a:spcBef>
              <a:spcAft>
                <a:spcPct val="0"/>
              </a:spcAft>
              <a:buClrTx/>
              <a:buSzTx/>
              <a:buFontTx/>
              <a:buNone/>
            </a:pPr>
            <a:r>
              <a:rPr kumimoji="0" lang="zh-CN" altLang="en-US" sz="2400" b="0" i="0" u="none" strike="noStrike" cap="none" normalizeH="0" baseline="0" dirty="0">
                <a:ln>
                  <a:noFill/>
                </a:ln>
                <a:solidFill>
                  <a:schemeClr val="tx1"/>
                </a:solidFill>
                <a:effectLst/>
                <a:cs typeface="+mn-ea"/>
                <a:sym typeface="+mn-lt"/>
              </a:rPr>
              <a:t>递归深度相同的调用：</a:t>
            </a:r>
            <a:endParaRPr kumimoji="0" lang="en-US" altLang="zh-CN" sz="2400" b="0" i="0" u="none" strike="noStrike" cap="none" normalizeH="0" baseline="0" dirty="0">
              <a:ln>
                <a:noFill/>
              </a:ln>
              <a:solidFill>
                <a:schemeClr val="tx1"/>
              </a:solidFill>
              <a:effectLst/>
              <a:cs typeface="+mn-ea"/>
              <a:sym typeface="+mn-lt"/>
            </a:endParaRPr>
          </a:p>
          <a:p>
            <a:pPr marL="0" marR="0" lvl="0" indent="0" algn="l" defTabSz="914400" rtl="0" eaLnBrk="0" fontAlgn="base" latinLnBrk="0" hangingPunct="0">
              <a:lnSpc>
                <a:spcPct val="120000"/>
              </a:lnSpc>
              <a:spcBef>
                <a:spcPts val="600"/>
              </a:spcBef>
              <a:spcAft>
                <a:spcPct val="0"/>
              </a:spcAft>
              <a:buClrTx/>
              <a:buSzTx/>
              <a:buFontTx/>
              <a:buNone/>
            </a:pPr>
            <a:r>
              <a:rPr kumimoji="0" lang="zh-CN" altLang="en-US" sz="2400" b="0" i="0" u="none" strike="noStrike" cap="none" normalizeH="0" baseline="0" dirty="0">
                <a:ln>
                  <a:noFill/>
                </a:ln>
                <a:solidFill>
                  <a:schemeClr val="tx1"/>
                </a:solidFill>
                <a:effectLst/>
                <a:cs typeface="+mn-ea"/>
                <a:sym typeface="+mn-lt"/>
              </a:rPr>
              <a:t>分区操作总共需要 </a:t>
            </a:r>
            <a:r>
              <a:rPr kumimoji="0" lang="en-US" altLang="zh-CN" sz="2400" b="0" i="0" u="none" strike="noStrike" cap="none" normalizeH="0" baseline="0" dirty="0">
                <a:ln>
                  <a:noFill/>
                </a:ln>
                <a:solidFill>
                  <a:schemeClr val="tx1"/>
                </a:solidFill>
                <a:effectLst/>
                <a:cs typeface="+mn-ea"/>
                <a:sym typeface="+mn-lt"/>
              </a:rPr>
              <a:t>O(n) </a:t>
            </a:r>
            <a:r>
              <a:rPr kumimoji="0" lang="zh-CN" altLang="en-US" sz="2400" b="0" i="0" u="none" strike="noStrike" cap="none" normalizeH="0" baseline="0" dirty="0">
                <a:ln>
                  <a:noFill/>
                </a:ln>
                <a:solidFill>
                  <a:schemeClr val="tx1"/>
                </a:solidFill>
                <a:effectLst/>
                <a:cs typeface="+mn-ea"/>
                <a:sym typeface="+mn-lt"/>
              </a:rPr>
              <a:t>的时间，也即同一深度所有分区的长度之和。因此，总的时间复杂度为 </a:t>
            </a:r>
            <a:r>
              <a:rPr kumimoji="0" lang="en-US" altLang="zh-CN" sz="2400" b="0" i="0" u="none" strike="noStrike" cap="none" normalizeH="0" baseline="0" dirty="0">
                <a:ln>
                  <a:noFill/>
                </a:ln>
                <a:solidFill>
                  <a:schemeClr val="tx1"/>
                </a:solidFill>
                <a:effectLst/>
                <a:cs typeface="+mn-ea"/>
                <a:sym typeface="+mn-lt"/>
              </a:rPr>
              <a:t>O(n log n)</a:t>
            </a:r>
            <a:r>
              <a:rPr kumimoji="0" lang="zh-CN" altLang="en-US" sz="2400" b="0" i="0" u="none" strike="noStrike" cap="none" normalizeH="0" baseline="0" dirty="0">
                <a:ln>
                  <a:noFill/>
                </a:ln>
                <a:solidFill>
                  <a:schemeClr val="tx1"/>
                </a:solidFill>
                <a:effectLst/>
                <a:cs typeface="+mn-ea"/>
                <a:sym typeface="+mn-lt"/>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最坏情况</a:t>
            </a:r>
          </a:p>
        </p:txBody>
      </p:sp>
      <p:sp>
        <p:nvSpPr>
          <p:cNvPr id="3" name="灯片编号占位符 2"/>
          <p:cNvSpPr>
            <a:spLocks noGrp="1"/>
          </p:cNvSpPr>
          <p:nvPr>
            <p:ph type="sldNum" sz="quarter" idx="4294967295"/>
          </p:nvPr>
        </p:nvSpPr>
        <p:spPr>
          <a:xfrm>
            <a:off x="9347200" y="6356350"/>
            <a:ext cx="2844800" cy="365125"/>
          </a:xfrm>
          <a:prstGeom prst="rect">
            <a:avLst/>
          </a:prstGeom>
        </p:spPr>
        <p:txBody>
          <a:bodyPr/>
          <a:lstStyle/>
          <a:p>
            <a:pPr algn="r">
              <a:lnSpc>
                <a:spcPct val="120000"/>
              </a:lnSpc>
              <a:spcBef>
                <a:spcPts val="300"/>
              </a:spcBef>
            </a:pPr>
            <a:fld id="{0063EC4C-CFD8-4F45-A0A2-30028C1F73DB}" type="slidenum">
              <a:rPr lang="zh-CN" altLang="en-US" smtClean="0">
                <a:cs typeface="+mn-ea"/>
                <a:sym typeface="+mn-lt"/>
              </a:rPr>
              <a:t>15</a:t>
            </a:fld>
            <a:endParaRPr lang="zh-CN" altLang="en-US" dirty="0">
              <a:cs typeface="+mn-ea"/>
              <a:sym typeface="+mn-lt"/>
            </a:endParaRPr>
          </a:p>
        </p:txBody>
      </p:sp>
      <p:graphicFrame>
        <p:nvGraphicFramePr>
          <p:cNvPr id="4" name="表格 3"/>
          <p:cNvGraphicFramePr>
            <a:graphicFrameLocks noGrp="1"/>
          </p:cNvGraphicFramePr>
          <p:nvPr/>
        </p:nvGraphicFramePr>
        <p:xfrm>
          <a:off x="1828800" y="1676400"/>
          <a:ext cx="7924798" cy="1295400"/>
        </p:xfrm>
        <a:graphic>
          <a:graphicData uri="http://schemas.openxmlformats.org/drawingml/2006/table">
            <a:tbl>
              <a:tblPr firstRow="1" firstCol="1" bandRow="1">
                <a:tableStyleId>{5940675A-B579-460E-94D1-54222C63F5DA}</a:tableStyleId>
              </a:tblPr>
              <a:tblGrid>
                <a:gridCol w="494822">
                  <a:extLst>
                    <a:ext uri="{9D8B030D-6E8A-4147-A177-3AD203B41FA5}">
                      <a16:colId xmlns:a16="http://schemas.microsoft.com/office/drawing/2014/main" val="20000"/>
                    </a:ext>
                  </a:extLst>
                </a:gridCol>
                <a:gridCol w="494822">
                  <a:extLst>
                    <a:ext uri="{9D8B030D-6E8A-4147-A177-3AD203B41FA5}">
                      <a16:colId xmlns:a16="http://schemas.microsoft.com/office/drawing/2014/main" val="20001"/>
                    </a:ext>
                  </a:extLst>
                </a:gridCol>
                <a:gridCol w="494822">
                  <a:extLst>
                    <a:ext uri="{9D8B030D-6E8A-4147-A177-3AD203B41FA5}">
                      <a16:colId xmlns:a16="http://schemas.microsoft.com/office/drawing/2014/main" val="20002"/>
                    </a:ext>
                  </a:extLst>
                </a:gridCol>
                <a:gridCol w="494822">
                  <a:extLst>
                    <a:ext uri="{9D8B030D-6E8A-4147-A177-3AD203B41FA5}">
                      <a16:colId xmlns:a16="http://schemas.microsoft.com/office/drawing/2014/main" val="20003"/>
                    </a:ext>
                  </a:extLst>
                </a:gridCol>
                <a:gridCol w="494822">
                  <a:extLst>
                    <a:ext uri="{9D8B030D-6E8A-4147-A177-3AD203B41FA5}">
                      <a16:colId xmlns:a16="http://schemas.microsoft.com/office/drawing/2014/main" val="20004"/>
                    </a:ext>
                  </a:extLst>
                </a:gridCol>
                <a:gridCol w="5450688">
                  <a:extLst>
                    <a:ext uri="{9D8B030D-6E8A-4147-A177-3AD203B41FA5}">
                      <a16:colId xmlns:a16="http://schemas.microsoft.com/office/drawing/2014/main" val="20005"/>
                    </a:ext>
                  </a:extLst>
                </a:gridCol>
              </a:tblGrid>
              <a:tr h="215900">
                <a:tc gridSpan="6">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215900">
                <a:tc>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gridSpan="5">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215900">
                <a:tc>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gridSpan="4">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r h="215900">
                <a:tc>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gridSpan="3">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3"/>
                  </a:ext>
                </a:extLst>
              </a:tr>
              <a:tr h="215900">
                <a:tc>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gridSpan="2">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hMerge="1">
                  <a:txBody>
                    <a:bodyPr/>
                    <a:lstStyle/>
                    <a:p>
                      <a:endParaRPr lang="zh-CN"/>
                    </a:p>
                  </a:txBody>
                  <a:tcPr/>
                </a:tc>
                <a:extLst>
                  <a:ext uri="{0D108BD9-81ED-4DB2-BD59-A6C34878D82A}">
                    <a16:rowId xmlns:a16="http://schemas.microsoft.com/office/drawing/2014/main" val="10004"/>
                  </a:ext>
                </a:extLst>
              </a:tr>
              <a:tr h="215900">
                <a:tc>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1050" kern="100">
                          <a:effectLst/>
                          <a:latin typeface="+mn-lt"/>
                          <a:ea typeface="+mn-ea"/>
                          <a:cs typeface="+mn-ea"/>
                          <a:sym typeface="+mn-lt"/>
                        </a:rPr>
                        <a:t> </a:t>
                      </a:r>
                      <a:endParaRPr lang="zh-CN" sz="105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1050" kern="100" dirty="0">
                          <a:effectLst/>
                          <a:latin typeface="+mn-lt"/>
                          <a:ea typeface="+mn-ea"/>
                          <a:cs typeface="+mn-ea"/>
                          <a:sym typeface="+mn-lt"/>
                        </a:rPr>
                        <a:t> </a:t>
                      </a:r>
                      <a:endParaRPr lang="zh-CN" sz="1050" kern="100" dirty="0">
                        <a:effectLst/>
                        <a:latin typeface="+mn-lt"/>
                        <a:ea typeface="+mn-ea"/>
                        <a:cs typeface="+mn-ea"/>
                        <a:sym typeface="+mn-lt"/>
                      </a:endParaRPr>
                    </a:p>
                  </a:txBody>
                  <a:tcPr marL="68580" marR="68580" marT="0" marB="0"/>
                </a:tc>
                <a:extLst>
                  <a:ext uri="{0D108BD9-81ED-4DB2-BD59-A6C34878D82A}">
                    <a16:rowId xmlns:a16="http://schemas.microsoft.com/office/drawing/2014/main" val="10005"/>
                  </a:ext>
                </a:extLst>
              </a:tr>
            </a:tbl>
          </a:graphicData>
        </a:graphic>
      </p:graphicFrame>
      <p:sp>
        <p:nvSpPr>
          <p:cNvPr id="5" name="Rectangle 1"/>
          <p:cNvSpPr>
            <a:spLocks noChangeArrowheads="1"/>
          </p:cNvSpPr>
          <p:nvPr/>
        </p:nvSpPr>
        <p:spPr bwMode="auto">
          <a:xfrm>
            <a:off x="1752600" y="3232561"/>
            <a:ext cx="8839200" cy="28630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20000"/>
              </a:lnSpc>
              <a:spcBef>
                <a:spcPts val="600"/>
              </a:spcBef>
              <a:spcAft>
                <a:spcPct val="0"/>
              </a:spcAft>
              <a:buClrTx/>
              <a:buSzTx/>
              <a:buFontTx/>
              <a:buNone/>
            </a:pPr>
            <a:r>
              <a:rPr kumimoji="0" lang="zh-CN" altLang="zh-CN" sz="2400" b="0" i="0" u="none" strike="noStrike" cap="none" normalizeH="0" baseline="0" dirty="0">
                <a:ln>
                  <a:noFill/>
                </a:ln>
                <a:solidFill>
                  <a:schemeClr val="tx1"/>
                </a:solidFill>
                <a:effectLst/>
                <a:cs typeface="+mn-ea"/>
                <a:sym typeface="+mn-lt"/>
              </a:rPr>
              <a:t>最坏情况发生在基准选择不当，导致每次分区只将一个元素放入一侧，而另一侧为空。</a:t>
            </a:r>
            <a:endParaRPr kumimoji="0" lang="en-US" altLang="zh-CN" sz="2400" b="0" i="0" u="none" strike="noStrike" cap="none" normalizeH="0" baseline="0" dirty="0">
              <a:ln>
                <a:noFill/>
              </a:ln>
              <a:solidFill>
                <a:schemeClr val="tx1"/>
              </a:solidFill>
              <a:effectLst/>
              <a:cs typeface="+mn-ea"/>
              <a:sym typeface="+mn-lt"/>
            </a:endParaRPr>
          </a:p>
          <a:p>
            <a:pPr marL="0" marR="0" lvl="0" indent="0" algn="l" defTabSz="914400" rtl="0" eaLnBrk="0" fontAlgn="base" latinLnBrk="0" hangingPunct="0">
              <a:lnSpc>
                <a:spcPct val="120000"/>
              </a:lnSpc>
              <a:spcBef>
                <a:spcPts val="600"/>
              </a:spcBef>
              <a:spcAft>
                <a:spcPct val="0"/>
              </a:spcAft>
              <a:buClrTx/>
              <a:buSzTx/>
              <a:buFontTx/>
              <a:buNone/>
            </a:pPr>
            <a:r>
              <a:rPr kumimoji="0" lang="zh-CN" altLang="zh-CN" sz="2400" b="0" i="0" u="none" strike="noStrike" cap="none" normalizeH="0" baseline="0" dirty="0">
                <a:ln>
                  <a:noFill/>
                </a:ln>
                <a:solidFill>
                  <a:schemeClr val="tx1"/>
                </a:solidFill>
                <a:effectLst/>
                <a:cs typeface="+mn-ea"/>
                <a:sym typeface="+mn-lt"/>
              </a:rPr>
              <a:t>例如</a:t>
            </a:r>
            <a:r>
              <a:rPr kumimoji="0" lang="zh-CN" altLang="en-US" sz="2400" b="0" i="0" u="none" strike="noStrike" cap="none" normalizeH="0" baseline="0" dirty="0">
                <a:ln>
                  <a:noFill/>
                </a:ln>
                <a:solidFill>
                  <a:schemeClr val="tx1"/>
                </a:solidFill>
                <a:effectLst/>
                <a:cs typeface="+mn-ea"/>
                <a:sym typeface="+mn-lt"/>
              </a:rPr>
              <a:t>：</a:t>
            </a:r>
            <a:r>
              <a:rPr kumimoji="0" lang="zh-CN" altLang="zh-CN" sz="2400" b="0" i="0" u="none" strike="noStrike" cap="none" normalizeH="0" baseline="0" dirty="0">
                <a:ln>
                  <a:noFill/>
                </a:ln>
                <a:solidFill>
                  <a:schemeClr val="tx1"/>
                </a:solidFill>
                <a:effectLst/>
                <a:cs typeface="+mn-ea"/>
                <a:sym typeface="+mn-lt"/>
              </a:rPr>
              <a:t>若数组已经有序且每次都选择第一个或最后一个元素作为基准，则分区将非常不平衡</a:t>
            </a:r>
            <a:r>
              <a:rPr kumimoji="0" lang="zh-CN" altLang="en-US" sz="2400" b="0" i="0" u="none" strike="noStrike" cap="none" normalizeH="0" baseline="0" dirty="0">
                <a:ln>
                  <a:noFill/>
                </a:ln>
                <a:solidFill>
                  <a:schemeClr val="tx1"/>
                </a:solidFill>
                <a:effectLst/>
                <a:cs typeface="+mn-ea"/>
                <a:sym typeface="+mn-lt"/>
              </a:rPr>
              <a:t>。</a:t>
            </a:r>
            <a:endParaRPr kumimoji="0" lang="en-US" altLang="zh-CN" sz="2400" b="0" i="0" u="none" strike="noStrike" cap="none" normalizeH="0" baseline="0" dirty="0">
              <a:ln>
                <a:noFill/>
              </a:ln>
              <a:solidFill>
                <a:schemeClr val="tx1"/>
              </a:solidFill>
              <a:effectLst/>
              <a:cs typeface="+mn-ea"/>
              <a:sym typeface="+mn-lt"/>
            </a:endParaRPr>
          </a:p>
          <a:p>
            <a:pPr marL="0" marR="0" lvl="0" indent="0" algn="l" defTabSz="914400" rtl="0" eaLnBrk="0" fontAlgn="base" latinLnBrk="0" hangingPunct="0">
              <a:lnSpc>
                <a:spcPct val="120000"/>
              </a:lnSpc>
              <a:spcBef>
                <a:spcPts val="600"/>
              </a:spcBef>
              <a:spcAft>
                <a:spcPct val="0"/>
              </a:spcAft>
              <a:buClrTx/>
              <a:buSzTx/>
              <a:buFontTx/>
              <a:buNone/>
            </a:pPr>
            <a:r>
              <a:rPr kumimoji="0" lang="zh-CN" altLang="zh-CN" sz="2400" b="0" i="0" u="none" strike="noStrike" cap="none" normalizeH="0" baseline="0" dirty="0">
                <a:ln>
                  <a:noFill/>
                </a:ln>
                <a:solidFill>
                  <a:schemeClr val="tx1"/>
                </a:solidFill>
                <a:effectLst/>
                <a:cs typeface="+mn-ea"/>
                <a:sym typeface="+mn-lt"/>
              </a:rPr>
              <a:t>递归深度达到</a:t>
            </a:r>
            <a:r>
              <a:rPr kumimoji="0" lang="zh-CN" altLang="en-US" sz="2400" b="0" i="0" u="none" strike="noStrike" cap="none" normalizeH="0" baseline="0" dirty="0">
                <a:ln>
                  <a:noFill/>
                </a:ln>
                <a:solidFill>
                  <a:schemeClr val="tx1"/>
                </a:solidFill>
                <a:effectLst/>
                <a:cs typeface="+mn-ea"/>
                <a:sym typeface="+mn-lt"/>
              </a:rPr>
              <a:t> </a:t>
            </a:r>
            <a:r>
              <a:rPr kumimoji="0" lang="en-US" altLang="zh-CN" sz="2400" b="0" i="0" u="none" strike="noStrike" cap="none" normalizeH="0" baseline="0" dirty="0">
                <a:ln>
                  <a:noFill/>
                </a:ln>
                <a:solidFill>
                  <a:schemeClr val="tx1"/>
                </a:solidFill>
                <a:effectLst/>
                <a:cs typeface="+mn-ea"/>
                <a:sym typeface="+mn-lt"/>
              </a:rPr>
              <a:t>n</a:t>
            </a:r>
            <a:r>
              <a:rPr kumimoji="0" lang="zh-CN" altLang="en-US" sz="2400" b="0" i="0" u="none" strike="noStrike" cap="none" normalizeH="0" baseline="0" dirty="0">
                <a:ln>
                  <a:noFill/>
                </a:ln>
                <a:solidFill>
                  <a:schemeClr val="tx1"/>
                </a:solidFill>
                <a:effectLst/>
                <a:cs typeface="+mn-ea"/>
                <a:sym typeface="+mn-lt"/>
              </a:rPr>
              <a:t>，</a:t>
            </a:r>
            <a:r>
              <a:rPr lang="zh-CN" altLang="en-US" sz="2400" dirty="0">
                <a:cs typeface="+mn-ea"/>
                <a:sym typeface="+mn-lt"/>
              </a:rPr>
              <a:t>对于同一深度的调用其区间划分的复杂度之和为</a:t>
            </a:r>
            <a:r>
              <a:rPr kumimoji="0" lang="en-US" altLang="zh-CN" sz="2400" b="0" i="0" u="none" strike="noStrike" cap="none" normalizeH="0" baseline="0" dirty="0">
                <a:ln>
                  <a:noFill/>
                </a:ln>
                <a:solidFill>
                  <a:schemeClr val="tx1"/>
                </a:solidFill>
                <a:effectLst/>
                <a:cs typeface="+mn-ea"/>
                <a:sym typeface="+mn-lt"/>
              </a:rPr>
              <a:t>O(n)</a:t>
            </a:r>
            <a:r>
              <a:rPr kumimoji="0" lang="zh-CN" altLang="en-US" sz="2400" b="0" i="0" u="none" strike="noStrike" cap="none" normalizeH="0" baseline="0" dirty="0">
                <a:ln>
                  <a:noFill/>
                </a:ln>
                <a:solidFill>
                  <a:schemeClr val="tx1"/>
                </a:solidFill>
                <a:effectLst/>
                <a:cs typeface="+mn-ea"/>
                <a:sym typeface="+mn-lt"/>
              </a:rPr>
              <a:t>，此时算法的时间复杂度为 </a:t>
            </a:r>
            <a:r>
              <a:rPr kumimoji="0" lang="en-US" altLang="zh-CN" sz="2400" b="0" i="0" u="none" strike="noStrike" cap="none" normalizeH="0" baseline="0" dirty="0">
                <a:ln>
                  <a:noFill/>
                </a:ln>
                <a:solidFill>
                  <a:schemeClr val="tx1"/>
                </a:solidFill>
                <a:effectLst/>
                <a:cs typeface="+mn-ea"/>
                <a:sym typeface="+mn-lt"/>
              </a:rPr>
              <a:t>O(n²)</a:t>
            </a:r>
            <a:r>
              <a:rPr kumimoji="0" lang="zh-CN" altLang="en-US" sz="2400" b="0" i="0" u="none" strike="noStrike" cap="none" normalizeH="0" baseline="0" dirty="0">
                <a:ln>
                  <a:noFill/>
                </a:ln>
                <a:solidFill>
                  <a:schemeClr val="tx1"/>
                </a:solidFill>
                <a:effectLst/>
                <a:cs typeface="+mn-ea"/>
                <a:sym typeface="+mn-lt"/>
              </a:rPr>
              <a:t>。</a:t>
            </a:r>
            <a:endParaRPr kumimoji="0" lang="zh-CN" altLang="en-US" sz="4800" b="0" i="0" u="none" strike="noStrike" cap="none" normalizeH="0" baseline="0" dirty="0">
              <a:ln>
                <a:noFill/>
              </a:ln>
              <a:solidFill>
                <a:schemeClr val="tx1"/>
              </a:solidFill>
              <a:effectLst/>
              <a:cs typeface="+mn-ea"/>
              <a:sym typeface="+mn-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r>
              <a:rPr lang="zh-CN" altLang="en-US" dirty="0"/>
              <a:t>平均情况</a:t>
            </a:r>
          </a:p>
        </p:txBody>
      </p:sp>
      <p:sp>
        <p:nvSpPr>
          <p:cNvPr id="3" name="灯片编号占位符 2"/>
          <p:cNvSpPr>
            <a:spLocks noGrp="1"/>
          </p:cNvSpPr>
          <p:nvPr>
            <p:ph type="sldNum" sz="quarter" idx="4294967295"/>
          </p:nvPr>
        </p:nvSpPr>
        <p:spPr>
          <a:xfrm>
            <a:off x="9347200" y="6356350"/>
            <a:ext cx="2844800" cy="365125"/>
          </a:xfrm>
          <a:prstGeom prst="rect">
            <a:avLst/>
          </a:prstGeom>
        </p:spPr>
        <p:txBody>
          <a:bodyPr/>
          <a:lstStyle/>
          <a:p>
            <a:pPr algn="r">
              <a:lnSpc>
                <a:spcPct val="120000"/>
              </a:lnSpc>
              <a:spcBef>
                <a:spcPts val="300"/>
              </a:spcBef>
            </a:pPr>
            <a:fld id="{0063EC4C-CFD8-4F45-A0A2-30028C1F73DB}" type="slidenum">
              <a:rPr lang="zh-CN" altLang="en-US" smtClean="0">
                <a:cs typeface="+mn-ea"/>
                <a:sym typeface="+mn-lt"/>
              </a:rPr>
              <a:t>16</a:t>
            </a:fld>
            <a:endParaRPr lang="zh-CN" altLang="en-US">
              <a:cs typeface="+mn-ea"/>
              <a:sym typeface="+mn-lt"/>
            </a:endParaRPr>
          </a:p>
        </p:txBody>
      </p:sp>
      <p:graphicFrame>
        <p:nvGraphicFramePr>
          <p:cNvPr id="4" name="表格 3"/>
          <p:cNvGraphicFramePr>
            <a:graphicFrameLocks noGrp="1"/>
          </p:cNvGraphicFramePr>
          <p:nvPr/>
        </p:nvGraphicFramePr>
        <p:xfrm>
          <a:off x="2209800" y="1447800"/>
          <a:ext cx="7543800" cy="1110604"/>
        </p:xfrm>
        <a:graphic>
          <a:graphicData uri="http://schemas.openxmlformats.org/drawingml/2006/table">
            <a:tbl>
              <a:tblPr firstRow="1" firstCol="1" bandRow="1">
                <a:tableStyleId>{5940675A-B579-460E-94D1-54222C63F5DA}</a:tableStyleId>
              </a:tblPr>
              <a:tblGrid>
                <a:gridCol w="942975">
                  <a:extLst>
                    <a:ext uri="{9D8B030D-6E8A-4147-A177-3AD203B41FA5}">
                      <a16:colId xmlns:a16="http://schemas.microsoft.com/office/drawing/2014/main" val="20000"/>
                    </a:ext>
                  </a:extLst>
                </a:gridCol>
                <a:gridCol w="942975">
                  <a:extLst>
                    <a:ext uri="{9D8B030D-6E8A-4147-A177-3AD203B41FA5}">
                      <a16:colId xmlns:a16="http://schemas.microsoft.com/office/drawing/2014/main" val="20001"/>
                    </a:ext>
                  </a:extLst>
                </a:gridCol>
                <a:gridCol w="942975">
                  <a:extLst>
                    <a:ext uri="{9D8B030D-6E8A-4147-A177-3AD203B41FA5}">
                      <a16:colId xmlns:a16="http://schemas.microsoft.com/office/drawing/2014/main" val="20002"/>
                    </a:ext>
                  </a:extLst>
                </a:gridCol>
                <a:gridCol w="942975">
                  <a:extLst>
                    <a:ext uri="{9D8B030D-6E8A-4147-A177-3AD203B41FA5}">
                      <a16:colId xmlns:a16="http://schemas.microsoft.com/office/drawing/2014/main" val="20003"/>
                    </a:ext>
                  </a:extLst>
                </a:gridCol>
                <a:gridCol w="942975">
                  <a:extLst>
                    <a:ext uri="{9D8B030D-6E8A-4147-A177-3AD203B41FA5}">
                      <a16:colId xmlns:a16="http://schemas.microsoft.com/office/drawing/2014/main" val="20004"/>
                    </a:ext>
                  </a:extLst>
                </a:gridCol>
                <a:gridCol w="942975">
                  <a:extLst>
                    <a:ext uri="{9D8B030D-6E8A-4147-A177-3AD203B41FA5}">
                      <a16:colId xmlns:a16="http://schemas.microsoft.com/office/drawing/2014/main" val="20005"/>
                    </a:ext>
                  </a:extLst>
                </a:gridCol>
                <a:gridCol w="942975">
                  <a:extLst>
                    <a:ext uri="{9D8B030D-6E8A-4147-A177-3AD203B41FA5}">
                      <a16:colId xmlns:a16="http://schemas.microsoft.com/office/drawing/2014/main" val="20006"/>
                    </a:ext>
                  </a:extLst>
                </a:gridCol>
                <a:gridCol w="942975">
                  <a:extLst>
                    <a:ext uri="{9D8B030D-6E8A-4147-A177-3AD203B41FA5}">
                      <a16:colId xmlns:a16="http://schemas.microsoft.com/office/drawing/2014/main" val="20007"/>
                    </a:ext>
                  </a:extLst>
                </a:gridCol>
              </a:tblGrid>
              <a:tr h="555302">
                <a:tc>
                  <a:txBody>
                    <a:bodyPr/>
                    <a:lstStyle/>
                    <a:p>
                      <a:pPr algn="l">
                        <a:lnSpc>
                          <a:spcPct val="120000"/>
                        </a:lnSpc>
                        <a:spcBef>
                          <a:spcPts val="300"/>
                        </a:spcBef>
                        <a:spcAft>
                          <a:spcPts val="0"/>
                        </a:spcAft>
                      </a:pPr>
                      <a:r>
                        <a:rPr lang="zh-CN" sz="2400" kern="100">
                          <a:effectLst/>
                          <a:latin typeface="+mn-lt"/>
                          <a:ea typeface="+mn-ea"/>
                          <a:cs typeface="+mn-ea"/>
                          <a:sym typeface="+mn-lt"/>
                        </a:rPr>
                        <a:t>左侧</a:t>
                      </a:r>
                    </a:p>
                  </a:txBody>
                  <a:tcPr marL="68580" marR="68580" marT="0" marB="0"/>
                </a:tc>
                <a:tc>
                  <a:txBody>
                    <a:bodyPr/>
                    <a:lstStyle/>
                    <a:p>
                      <a:pPr algn="l">
                        <a:lnSpc>
                          <a:spcPct val="120000"/>
                        </a:lnSpc>
                        <a:spcBef>
                          <a:spcPts val="300"/>
                        </a:spcBef>
                        <a:spcAft>
                          <a:spcPts val="0"/>
                        </a:spcAft>
                      </a:pPr>
                      <a:r>
                        <a:rPr lang="en-US" sz="2400" kern="100">
                          <a:effectLst/>
                          <a:latin typeface="+mn-lt"/>
                          <a:ea typeface="+mn-ea"/>
                          <a:cs typeface="+mn-ea"/>
                          <a:sym typeface="+mn-lt"/>
                        </a:rPr>
                        <a:t>0</a:t>
                      </a:r>
                      <a:endParaRPr lang="zh-CN" sz="240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2400" kern="100">
                          <a:effectLst/>
                          <a:latin typeface="+mn-lt"/>
                          <a:ea typeface="+mn-ea"/>
                          <a:cs typeface="+mn-ea"/>
                          <a:sym typeface="+mn-lt"/>
                        </a:rPr>
                        <a:t>1</a:t>
                      </a:r>
                      <a:endParaRPr lang="zh-CN" sz="240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2400" kern="100">
                          <a:effectLst/>
                          <a:latin typeface="+mn-lt"/>
                          <a:ea typeface="+mn-ea"/>
                          <a:cs typeface="+mn-ea"/>
                          <a:sym typeface="+mn-lt"/>
                        </a:rPr>
                        <a:t>2</a:t>
                      </a:r>
                      <a:endParaRPr lang="zh-CN" sz="240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2400" kern="100">
                          <a:effectLst/>
                          <a:latin typeface="+mn-lt"/>
                          <a:ea typeface="+mn-ea"/>
                          <a:cs typeface="+mn-ea"/>
                          <a:sym typeface="+mn-lt"/>
                        </a:rPr>
                        <a:t>…</a:t>
                      </a:r>
                      <a:endParaRPr lang="zh-CN" sz="240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2400" kern="100">
                          <a:effectLst/>
                          <a:latin typeface="+mn-lt"/>
                          <a:ea typeface="+mn-ea"/>
                          <a:cs typeface="+mn-ea"/>
                          <a:sym typeface="+mn-lt"/>
                        </a:rPr>
                        <a:t>n-3</a:t>
                      </a:r>
                      <a:endParaRPr lang="zh-CN" sz="240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2400" kern="100">
                          <a:effectLst/>
                          <a:latin typeface="+mn-lt"/>
                          <a:ea typeface="+mn-ea"/>
                          <a:cs typeface="+mn-ea"/>
                          <a:sym typeface="+mn-lt"/>
                        </a:rPr>
                        <a:t>n-2</a:t>
                      </a:r>
                      <a:endParaRPr lang="zh-CN" sz="240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2400" kern="100">
                          <a:effectLst/>
                          <a:latin typeface="+mn-lt"/>
                          <a:ea typeface="+mn-ea"/>
                          <a:cs typeface="+mn-ea"/>
                          <a:sym typeface="+mn-lt"/>
                        </a:rPr>
                        <a:t>n-1</a:t>
                      </a:r>
                      <a:endParaRPr lang="zh-CN" sz="2400" kern="100">
                        <a:effectLst/>
                        <a:latin typeface="+mn-lt"/>
                        <a:ea typeface="+mn-ea"/>
                        <a:cs typeface="+mn-ea"/>
                        <a:sym typeface="+mn-lt"/>
                      </a:endParaRPr>
                    </a:p>
                  </a:txBody>
                  <a:tcPr marL="68580" marR="68580" marT="0" marB="0"/>
                </a:tc>
                <a:extLst>
                  <a:ext uri="{0D108BD9-81ED-4DB2-BD59-A6C34878D82A}">
                    <a16:rowId xmlns:a16="http://schemas.microsoft.com/office/drawing/2014/main" val="10000"/>
                  </a:ext>
                </a:extLst>
              </a:tr>
              <a:tr h="555302">
                <a:tc>
                  <a:txBody>
                    <a:bodyPr/>
                    <a:lstStyle/>
                    <a:p>
                      <a:pPr algn="l">
                        <a:lnSpc>
                          <a:spcPct val="120000"/>
                        </a:lnSpc>
                        <a:spcBef>
                          <a:spcPts val="300"/>
                        </a:spcBef>
                        <a:spcAft>
                          <a:spcPts val="0"/>
                        </a:spcAft>
                      </a:pPr>
                      <a:r>
                        <a:rPr lang="zh-CN" sz="2400" kern="100">
                          <a:effectLst/>
                          <a:latin typeface="+mn-lt"/>
                          <a:ea typeface="+mn-ea"/>
                          <a:cs typeface="+mn-ea"/>
                          <a:sym typeface="+mn-lt"/>
                        </a:rPr>
                        <a:t>右侧</a:t>
                      </a:r>
                    </a:p>
                  </a:txBody>
                  <a:tcPr marL="68580" marR="68580" marT="0" marB="0"/>
                </a:tc>
                <a:tc>
                  <a:txBody>
                    <a:bodyPr/>
                    <a:lstStyle/>
                    <a:p>
                      <a:pPr algn="l">
                        <a:lnSpc>
                          <a:spcPct val="120000"/>
                        </a:lnSpc>
                        <a:spcBef>
                          <a:spcPts val="300"/>
                        </a:spcBef>
                        <a:spcAft>
                          <a:spcPts val="0"/>
                        </a:spcAft>
                      </a:pPr>
                      <a:r>
                        <a:rPr lang="en-US" sz="2400" kern="100" dirty="0">
                          <a:effectLst/>
                          <a:latin typeface="+mn-lt"/>
                          <a:ea typeface="+mn-ea"/>
                          <a:cs typeface="+mn-ea"/>
                          <a:sym typeface="+mn-lt"/>
                        </a:rPr>
                        <a:t>n-1</a:t>
                      </a:r>
                      <a:endParaRPr lang="zh-CN" sz="2400" kern="100" dirty="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2400" kern="100">
                          <a:effectLst/>
                          <a:latin typeface="+mn-lt"/>
                          <a:ea typeface="+mn-ea"/>
                          <a:cs typeface="+mn-ea"/>
                          <a:sym typeface="+mn-lt"/>
                        </a:rPr>
                        <a:t>n-2</a:t>
                      </a:r>
                      <a:endParaRPr lang="zh-CN" sz="240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2400" kern="100">
                          <a:effectLst/>
                          <a:latin typeface="+mn-lt"/>
                          <a:ea typeface="+mn-ea"/>
                          <a:cs typeface="+mn-ea"/>
                          <a:sym typeface="+mn-lt"/>
                        </a:rPr>
                        <a:t>n-3</a:t>
                      </a:r>
                      <a:endParaRPr lang="zh-CN" sz="240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2400" kern="100">
                          <a:effectLst/>
                          <a:latin typeface="+mn-lt"/>
                          <a:ea typeface="+mn-ea"/>
                          <a:cs typeface="+mn-ea"/>
                          <a:sym typeface="+mn-lt"/>
                        </a:rPr>
                        <a:t>…</a:t>
                      </a:r>
                      <a:endParaRPr lang="zh-CN" sz="240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2400" kern="100">
                          <a:effectLst/>
                          <a:latin typeface="+mn-lt"/>
                          <a:ea typeface="+mn-ea"/>
                          <a:cs typeface="+mn-ea"/>
                          <a:sym typeface="+mn-lt"/>
                        </a:rPr>
                        <a:t>2</a:t>
                      </a:r>
                      <a:endParaRPr lang="zh-CN" sz="240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2400" kern="100">
                          <a:effectLst/>
                          <a:latin typeface="+mn-lt"/>
                          <a:ea typeface="+mn-ea"/>
                          <a:cs typeface="+mn-ea"/>
                          <a:sym typeface="+mn-lt"/>
                        </a:rPr>
                        <a:t>1</a:t>
                      </a:r>
                      <a:endParaRPr lang="zh-CN" sz="2400" kern="100">
                        <a:effectLst/>
                        <a:latin typeface="+mn-lt"/>
                        <a:ea typeface="+mn-ea"/>
                        <a:cs typeface="+mn-ea"/>
                        <a:sym typeface="+mn-lt"/>
                      </a:endParaRPr>
                    </a:p>
                  </a:txBody>
                  <a:tcPr marL="68580" marR="68580" marT="0" marB="0"/>
                </a:tc>
                <a:tc>
                  <a:txBody>
                    <a:bodyPr/>
                    <a:lstStyle/>
                    <a:p>
                      <a:pPr algn="l">
                        <a:lnSpc>
                          <a:spcPct val="120000"/>
                        </a:lnSpc>
                        <a:spcBef>
                          <a:spcPts val="300"/>
                        </a:spcBef>
                        <a:spcAft>
                          <a:spcPts val="0"/>
                        </a:spcAft>
                      </a:pPr>
                      <a:r>
                        <a:rPr lang="en-US" sz="2400" kern="100" dirty="0">
                          <a:effectLst/>
                          <a:latin typeface="+mn-lt"/>
                          <a:ea typeface="+mn-ea"/>
                          <a:cs typeface="+mn-ea"/>
                          <a:sym typeface="+mn-lt"/>
                        </a:rPr>
                        <a:t>0</a:t>
                      </a:r>
                      <a:endParaRPr lang="zh-CN" sz="2400" kern="100" dirty="0">
                        <a:effectLst/>
                        <a:latin typeface="+mn-lt"/>
                        <a:ea typeface="+mn-ea"/>
                        <a:cs typeface="+mn-ea"/>
                        <a:sym typeface="+mn-lt"/>
                      </a:endParaRPr>
                    </a:p>
                  </a:txBody>
                  <a:tcPr marL="68580" marR="68580" marT="0" marB="0"/>
                </a:tc>
                <a:extLst>
                  <a:ext uri="{0D108BD9-81ED-4DB2-BD59-A6C34878D82A}">
                    <a16:rowId xmlns:a16="http://schemas.microsoft.com/office/drawing/2014/main" val="10001"/>
                  </a:ext>
                </a:extLst>
              </a:tr>
            </a:tbl>
          </a:graphicData>
        </a:graphic>
      </p:graphicFrame>
      <p:sp>
        <p:nvSpPr>
          <p:cNvPr id="5" name="Rectangle 1"/>
          <p:cNvSpPr>
            <a:spLocks noChangeArrowheads="1"/>
          </p:cNvSpPr>
          <p:nvPr/>
        </p:nvSpPr>
        <p:spPr bwMode="auto">
          <a:xfrm>
            <a:off x="1524000" y="2769853"/>
            <a:ext cx="8534400" cy="2342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20000"/>
              </a:lnSpc>
              <a:spcBef>
                <a:spcPts val="600"/>
              </a:spcBef>
              <a:spcAft>
                <a:spcPct val="0"/>
              </a:spcAft>
              <a:buClrTx/>
              <a:buSzTx/>
              <a:buFontTx/>
              <a:buNone/>
            </a:pPr>
            <a:r>
              <a:rPr kumimoji="0" lang="zh-CN" altLang="zh-CN" sz="2400" b="0" i="0" u="none" strike="noStrike" cap="none" normalizeH="0" baseline="0" dirty="0">
                <a:ln>
                  <a:noFill/>
                </a:ln>
                <a:solidFill>
                  <a:schemeClr val="tx1"/>
                </a:solidFill>
                <a:effectLst/>
                <a:cs typeface="+mn-ea"/>
                <a:sym typeface="+mn-lt"/>
              </a:rPr>
              <a:t>我们简单回忆一下，算法的时间复杂度是不是应该是一个关于输入规模</a:t>
            </a:r>
            <a:r>
              <a:rPr kumimoji="0" lang="en-US" altLang="zh-CN" sz="2400" b="0" i="0" u="none" strike="noStrike" cap="none" normalizeH="0" baseline="0" dirty="0">
                <a:ln>
                  <a:noFill/>
                </a:ln>
                <a:solidFill>
                  <a:schemeClr val="tx1"/>
                </a:solidFill>
                <a:effectLst/>
                <a:cs typeface="+mn-ea"/>
                <a:sym typeface="+mn-lt"/>
              </a:rPr>
              <a:t>n</a:t>
            </a:r>
            <a:r>
              <a:rPr kumimoji="0" lang="zh-CN" altLang="en-US" sz="2400" b="0" i="0" u="none" strike="noStrike" cap="none" normalizeH="0" baseline="0" dirty="0">
                <a:ln>
                  <a:noFill/>
                </a:ln>
                <a:solidFill>
                  <a:schemeClr val="tx1"/>
                </a:solidFill>
                <a:effectLst/>
                <a:cs typeface="+mn-ea"/>
                <a:sym typeface="+mn-lt"/>
              </a:rPr>
              <a:t>的函数，对于一个长度是</a:t>
            </a:r>
            <a:r>
              <a:rPr kumimoji="0" lang="en-US" altLang="zh-CN" sz="2400" b="0" i="0" u="none" strike="noStrike" cap="none" normalizeH="0" baseline="0" dirty="0">
                <a:ln>
                  <a:noFill/>
                </a:ln>
                <a:solidFill>
                  <a:schemeClr val="tx1"/>
                </a:solidFill>
                <a:effectLst/>
                <a:cs typeface="+mn-ea"/>
                <a:sym typeface="+mn-lt"/>
              </a:rPr>
              <a:t>n</a:t>
            </a:r>
            <a:r>
              <a:rPr kumimoji="0" lang="zh-CN" altLang="en-US" sz="2400" b="0" i="0" u="none" strike="noStrike" cap="none" normalizeH="0" baseline="0" dirty="0">
                <a:ln>
                  <a:noFill/>
                </a:ln>
                <a:solidFill>
                  <a:schemeClr val="tx1"/>
                </a:solidFill>
                <a:effectLst/>
                <a:cs typeface="+mn-ea"/>
                <a:sym typeface="+mn-lt"/>
              </a:rPr>
              <a:t>的序列的快排算法，我们不妨设它的时间复杂度函数为</a:t>
            </a:r>
            <a:r>
              <a:rPr kumimoji="0" lang="en-US" altLang="zh-CN" sz="2400" b="0" i="0" u="none" strike="noStrike" cap="none" normalizeH="0" baseline="0" dirty="0">
                <a:ln>
                  <a:noFill/>
                </a:ln>
                <a:solidFill>
                  <a:schemeClr val="tx1"/>
                </a:solidFill>
                <a:effectLst/>
                <a:cs typeface="+mn-ea"/>
                <a:sym typeface="+mn-lt"/>
              </a:rPr>
              <a:t>T(n)</a:t>
            </a:r>
            <a:r>
              <a:rPr kumimoji="0" lang="zh-CN" altLang="en-US" sz="2400" b="0" i="0" u="none" strike="noStrike" cap="none" normalizeH="0" baseline="0" dirty="0">
                <a:ln>
                  <a:noFill/>
                </a:ln>
                <a:solidFill>
                  <a:schemeClr val="tx1"/>
                </a:solidFill>
                <a:effectLst/>
                <a:cs typeface="+mn-ea"/>
                <a:sym typeface="+mn-lt"/>
              </a:rPr>
              <a:t>。那么，根据我们的基准选择，可能会把把区间划分为如下形式</a:t>
            </a:r>
          </a:p>
          <a:p>
            <a:pPr marL="0" marR="0" lvl="0" indent="0" algn="l" defTabSz="914400" rtl="0" eaLnBrk="0" fontAlgn="base" latinLnBrk="0" hangingPunct="0">
              <a:lnSpc>
                <a:spcPct val="120000"/>
              </a:lnSpc>
              <a:spcBef>
                <a:spcPts val="600"/>
              </a:spcBef>
              <a:spcAft>
                <a:spcPct val="0"/>
              </a:spcAft>
              <a:buClrTx/>
              <a:buSzTx/>
              <a:buFontTx/>
              <a:buNone/>
            </a:pPr>
            <a:r>
              <a:rPr kumimoji="0" lang="zh-CN" altLang="en-US" sz="2400" b="0" i="0" u="none" strike="noStrike" cap="none" normalizeH="0" baseline="0" dirty="0">
                <a:ln>
                  <a:noFill/>
                </a:ln>
                <a:solidFill>
                  <a:schemeClr val="tx1"/>
                </a:solidFill>
                <a:effectLst/>
                <a:cs typeface="+mn-ea"/>
                <a:sym typeface="+mn-lt"/>
              </a:rPr>
              <a:t>每种形式都是等概率出现的，那么平均复杂度为：</a:t>
            </a:r>
          </a:p>
        </p:txBody>
      </p:sp>
      <mc:AlternateContent xmlns:mc="http://schemas.openxmlformats.org/markup-compatibility/2006" xmlns:a14="http://schemas.microsoft.com/office/drawing/2010/main">
        <mc:Choice Requires="a14">
          <p:sp>
            <p:nvSpPr>
              <p:cNvPr id="7" name="文本框 6"/>
              <p:cNvSpPr txBox="1"/>
              <p:nvPr/>
            </p:nvSpPr>
            <p:spPr>
              <a:xfrm>
                <a:off x="2032000" y="5029200"/>
                <a:ext cx="7391400" cy="924997"/>
              </a:xfrm>
              <a:prstGeom prst="rect">
                <a:avLst/>
              </a:prstGeom>
              <a:noFill/>
            </p:spPr>
            <p:txBody>
              <a:bodyPr wrap="square">
                <a:spAutoFit/>
              </a:bodyPr>
              <a:lstStyle/>
              <a:p>
                <a:pPr>
                  <a:lnSpc>
                    <a:spcPct val="120000"/>
                  </a:lnSpc>
                  <a:spcBef>
                    <a:spcPts val="300"/>
                  </a:spcBef>
                </a:pPr>
                <a14:m>
                  <m:oMathPara xmlns:m="http://schemas.openxmlformats.org/officeDocument/2006/math">
                    <m:oMathParaPr>
                      <m:jc m:val="centerGroup"/>
                    </m:oMathParaPr>
                    <m:oMath xmlns:m="http://schemas.openxmlformats.org/officeDocument/2006/math">
                      <m:r>
                        <a:rPr lang="zh-CN" altLang="en-US" sz="2400" i="1" smtClean="0">
                          <a:solidFill>
                            <a:schemeClr val="tx1"/>
                          </a:solidFill>
                          <a:latin typeface="DejaVu Math TeX Gyre" panose="02000503000000000000" charset="0"/>
                          <a:cs typeface="+mn-ea"/>
                          <a:sym typeface="+mn-lt"/>
                        </a:rPr>
                        <m:t>𝑇</m:t>
                      </m:r>
                      <m:d>
                        <m:dPr>
                          <m:ctrlPr>
                            <a:rPr lang="zh-CN" altLang="en-US" sz="2400" i="1">
                              <a:solidFill>
                                <a:schemeClr val="tx1"/>
                              </a:solidFill>
                              <a:latin typeface="Cambria Math" panose="02040503050406030204" pitchFamily="18" charset="0"/>
                              <a:cs typeface="+mn-ea"/>
                              <a:sym typeface="+mn-lt"/>
                            </a:rPr>
                          </m:ctrlPr>
                        </m:dPr>
                        <m:e>
                          <m:r>
                            <a:rPr lang="zh-CN" altLang="en-US" sz="2400" i="1">
                              <a:solidFill>
                                <a:schemeClr val="tx1"/>
                              </a:solidFill>
                              <a:latin typeface="DejaVu Math TeX Gyre" panose="02000503000000000000" charset="0"/>
                              <a:cs typeface="+mn-ea"/>
                              <a:sym typeface="+mn-lt"/>
                            </a:rPr>
                            <m:t>𝑛</m:t>
                          </m:r>
                        </m:e>
                      </m:d>
                      <m:r>
                        <a:rPr lang="zh-CN" altLang="en-US" sz="2400" i="0">
                          <a:solidFill>
                            <a:schemeClr val="tx1"/>
                          </a:solidFill>
                          <a:latin typeface="DejaVu Math TeX Gyre" panose="02000503000000000000" charset="0"/>
                          <a:cs typeface="+mn-ea"/>
                          <a:sym typeface="+mn-lt"/>
                        </a:rPr>
                        <m:t>=</m:t>
                      </m:r>
                      <m:f>
                        <m:fPr>
                          <m:ctrlPr>
                            <a:rPr lang="zh-CN" altLang="en-US" sz="2400" i="1">
                              <a:solidFill>
                                <a:schemeClr val="tx1"/>
                              </a:solidFill>
                              <a:latin typeface="Cambria Math" panose="02040503050406030204" pitchFamily="18" charset="0"/>
                              <a:cs typeface="+mn-ea"/>
                              <a:sym typeface="+mn-lt"/>
                            </a:rPr>
                          </m:ctrlPr>
                        </m:fPr>
                        <m:num>
                          <m:r>
                            <a:rPr lang="zh-CN" altLang="en-US" sz="2400" i="0">
                              <a:solidFill>
                                <a:schemeClr val="tx1"/>
                              </a:solidFill>
                              <a:latin typeface="DejaVu Math TeX Gyre" panose="02000503000000000000" charset="0"/>
                              <a:cs typeface="+mn-ea"/>
                              <a:sym typeface="+mn-lt"/>
                            </a:rPr>
                            <m:t>2</m:t>
                          </m:r>
                        </m:num>
                        <m:den>
                          <m:r>
                            <a:rPr lang="zh-CN" altLang="en-US" sz="2400" i="1">
                              <a:solidFill>
                                <a:schemeClr val="tx1"/>
                              </a:solidFill>
                              <a:latin typeface="DejaVu Math TeX Gyre" panose="02000503000000000000" charset="0"/>
                              <a:cs typeface="+mn-ea"/>
                              <a:sym typeface="+mn-lt"/>
                            </a:rPr>
                            <m:t>𝑛</m:t>
                          </m:r>
                        </m:den>
                      </m:f>
                      <m:d>
                        <m:dPr>
                          <m:ctrlPr>
                            <a:rPr lang="zh-CN" altLang="en-US" sz="2400" i="1">
                              <a:solidFill>
                                <a:schemeClr val="tx1"/>
                              </a:solidFill>
                              <a:latin typeface="Cambria Math" panose="02040503050406030204" pitchFamily="18" charset="0"/>
                              <a:cs typeface="+mn-ea"/>
                              <a:sym typeface="+mn-lt"/>
                            </a:rPr>
                          </m:ctrlPr>
                        </m:dPr>
                        <m:e>
                          <m:r>
                            <a:rPr lang="zh-CN" altLang="en-US" sz="2400" i="1">
                              <a:solidFill>
                                <a:schemeClr val="tx1"/>
                              </a:solidFill>
                              <a:latin typeface="DejaVu Math TeX Gyre" panose="02000503000000000000" charset="0"/>
                              <a:cs typeface="+mn-ea"/>
                              <a:sym typeface="+mn-lt"/>
                            </a:rPr>
                            <m:t>𝑇</m:t>
                          </m:r>
                          <m:d>
                            <m:dPr>
                              <m:ctrlPr>
                                <a:rPr lang="zh-CN" altLang="en-US" sz="2400" i="1">
                                  <a:solidFill>
                                    <a:schemeClr val="tx1"/>
                                  </a:solidFill>
                                  <a:latin typeface="Cambria Math" panose="02040503050406030204" pitchFamily="18" charset="0"/>
                                  <a:cs typeface="+mn-ea"/>
                                  <a:sym typeface="+mn-lt"/>
                                </a:rPr>
                              </m:ctrlPr>
                            </m:dPr>
                            <m:e>
                              <m:r>
                                <a:rPr lang="zh-CN" altLang="en-US" sz="2400" i="0">
                                  <a:solidFill>
                                    <a:schemeClr val="tx1"/>
                                  </a:solidFill>
                                  <a:latin typeface="DejaVu Math TeX Gyre" panose="02000503000000000000" charset="0"/>
                                  <a:cs typeface="+mn-ea"/>
                                  <a:sym typeface="+mn-lt"/>
                                </a:rPr>
                                <m:t>0</m:t>
                              </m:r>
                            </m:e>
                          </m:d>
                          <m:r>
                            <a:rPr lang="zh-CN" altLang="en-US" sz="2400" i="0">
                              <a:solidFill>
                                <a:schemeClr val="tx1"/>
                              </a:solidFill>
                              <a:latin typeface="DejaVu Math TeX Gyre" panose="02000503000000000000" charset="0"/>
                              <a:cs typeface="+mn-ea"/>
                              <a:sym typeface="+mn-lt"/>
                            </a:rPr>
                            <m:t>+</m:t>
                          </m:r>
                          <m:r>
                            <a:rPr lang="zh-CN" altLang="en-US" sz="2400" i="1">
                              <a:solidFill>
                                <a:schemeClr val="tx1"/>
                              </a:solidFill>
                              <a:latin typeface="DejaVu Math TeX Gyre" panose="02000503000000000000" charset="0"/>
                              <a:cs typeface="+mn-ea"/>
                              <a:sym typeface="+mn-lt"/>
                            </a:rPr>
                            <m:t>𝑇</m:t>
                          </m:r>
                          <m:d>
                            <m:dPr>
                              <m:ctrlPr>
                                <a:rPr lang="zh-CN" altLang="en-US" sz="2400" i="1">
                                  <a:solidFill>
                                    <a:schemeClr val="tx1"/>
                                  </a:solidFill>
                                  <a:latin typeface="Cambria Math" panose="02040503050406030204" pitchFamily="18" charset="0"/>
                                  <a:cs typeface="+mn-ea"/>
                                  <a:sym typeface="+mn-lt"/>
                                </a:rPr>
                              </m:ctrlPr>
                            </m:dPr>
                            <m:e>
                              <m:r>
                                <a:rPr lang="zh-CN" altLang="en-US" sz="2400" i="0">
                                  <a:solidFill>
                                    <a:schemeClr val="tx1"/>
                                  </a:solidFill>
                                  <a:latin typeface="DejaVu Math TeX Gyre" panose="02000503000000000000" charset="0"/>
                                  <a:cs typeface="+mn-ea"/>
                                  <a:sym typeface="+mn-lt"/>
                                </a:rPr>
                                <m:t>1</m:t>
                              </m:r>
                            </m:e>
                          </m:d>
                          <m:r>
                            <a:rPr lang="zh-CN" altLang="en-US" sz="2400" i="0">
                              <a:solidFill>
                                <a:schemeClr val="tx1"/>
                              </a:solidFill>
                              <a:latin typeface="DejaVu Math TeX Gyre" panose="02000503000000000000" charset="0"/>
                              <a:cs typeface="+mn-ea"/>
                              <a:sym typeface="+mn-lt"/>
                            </a:rPr>
                            <m:t>+…+</m:t>
                          </m:r>
                          <m:r>
                            <a:rPr lang="zh-CN" altLang="en-US" sz="2400" i="1">
                              <a:solidFill>
                                <a:schemeClr val="tx1"/>
                              </a:solidFill>
                              <a:latin typeface="DejaVu Math TeX Gyre" panose="02000503000000000000" charset="0"/>
                              <a:cs typeface="+mn-ea"/>
                              <a:sym typeface="+mn-lt"/>
                            </a:rPr>
                            <m:t>𝑇</m:t>
                          </m:r>
                          <m:d>
                            <m:dPr>
                              <m:ctrlPr>
                                <a:rPr lang="zh-CN" altLang="en-US" sz="2400" i="1">
                                  <a:solidFill>
                                    <a:schemeClr val="tx1"/>
                                  </a:solidFill>
                                  <a:latin typeface="Cambria Math" panose="02040503050406030204" pitchFamily="18" charset="0"/>
                                  <a:cs typeface="+mn-ea"/>
                                  <a:sym typeface="+mn-lt"/>
                                </a:rPr>
                              </m:ctrlPr>
                            </m:dPr>
                            <m:e>
                              <m:r>
                                <a:rPr lang="zh-CN" altLang="en-US" sz="2400" i="1">
                                  <a:solidFill>
                                    <a:schemeClr val="tx1"/>
                                  </a:solidFill>
                                  <a:latin typeface="DejaVu Math TeX Gyre" panose="02000503000000000000" charset="0"/>
                                  <a:cs typeface="+mn-ea"/>
                                  <a:sym typeface="+mn-lt"/>
                                </a:rPr>
                                <m:t>𝑛</m:t>
                              </m:r>
                              <m:r>
                                <a:rPr lang="zh-CN" altLang="en-US" sz="2400" i="0">
                                  <a:solidFill>
                                    <a:schemeClr val="tx1"/>
                                  </a:solidFill>
                                  <a:latin typeface="DejaVu Math TeX Gyre" panose="02000503000000000000" charset="0"/>
                                  <a:cs typeface="+mn-ea"/>
                                  <a:sym typeface="+mn-lt"/>
                                </a:rPr>
                                <m:t>−1</m:t>
                              </m:r>
                            </m:e>
                          </m:d>
                        </m:e>
                      </m:d>
                      <m:r>
                        <a:rPr lang="zh-CN" altLang="en-US" sz="2400" i="0">
                          <a:solidFill>
                            <a:schemeClr val="tx1"/>
                          </a:solidFill>
                          <a:latin typeface="DejaVu Math TeX Gyre" panose="02000503000000000000" charset="0"/>
                          <a:cs typeface="+mn-ea"/>
                          <a:sym typeface="+mn-lt"/>
                        </a:rPr>
                        <m:t>+</m:t>
                      </m:r>
                      <m:r>
                        <a:rPr lang="zh-CN" altLang="en-US" sz="2400" i="1">
                          <a:solidFill>
                            <a:schemeClr val="tx1"/>
                          </a:solidFill>
                          <a:latin typeface="DejaVu Math TeX Gyre" panose="02000503000000000000" charset="0"/>
                          <a:cs typeface="+mn-ea"/>
                          <a:sym typeface="+mn-lt"/>
                        </a:rPr>
                        <m:t>𝑐𝑛</m:t>
                      </m:r>
                      <m:r>
                        <a:rPr lang="zh-CN" altLang="en-US" sz="2400" i="0">
                          <a:solidFill>
                            <a:schemeClr val="tx1"/>
                          </a:solidFill>
                          <a:latin typeface="DejaVu Math TeX Gyre" panose="02000503000000000000" charset="0"/>
                          <a:cs typeface="+mn-ea"/>
                          <a:sym typeface="+mn-lt"/>
                        </a:rPr>
                        <m:t> </m:t>
                      </m:r>
                    </m:oMath>
                  </m:oMathPara>
                </a14:m>
                <a:endParaRPr lang="zh-CN" altLang="en-US" sz="2400" dirty="0">
                  <a:solidFill>
                    <a:schemeClr val="tx1"/>
                  </a:solidFill>
                  <a:cs typeface="+mn-ea"/>
                  <a:sym typeface="+mn-lt"/>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2032000" y="5029200"/>
                <a:ext cx="7391400" cy="924997"/>
              </a:xfrm>
              <a:prstGeom prst="rect">
                <a:avLst/>
              </a:prstGeom>
              <a:blipFill rotWithShape="1">
                <a:blip r:embed="rId3"/>
                <a:stretch>
                  <a:fillRect b="47"/>
                </a:stretch>
              </a:blipFill>
            </p:spPr>
            <p:txBody>
              <a:bodyPr/>
              <a:lstStyle/>
              <a:p>
                <a:r>
                  <a:rPr lang="zh-CN" altLang="en-US">
                    <a:noFill/>
                  </a:rPr>
                  <a:t> </a:t>
                </a:r>
              </a:p>
            </p:txBody>
          </p:sp>
        </mc:Fallback>
      </mc:AlternateContent>
      <p:sp>
        <p:nvSpPr>
          <p:cNvPr id="9" name="文本框 8"/>
          <p:cNvSpPr txBox="1"/>
          <p:nvPr/>
        </p:nvSpPr>
        <p:spPr>
          <a:xfrm>
            <a:off x="2129265" y="6077248"/>
            <a:ext cx="7704869" cy="493148"/>
          </a:xfrm>
          <a:prstGeom prst="rect">
            <a:avLst/>
          </a:prstGeom>
          <a:noFill/>
        </p:spPr>
        <p:txBody>
          <a:bodyPr wrap="square">
            <a:spAutoFit/>
          </a:bodyPr>
          <a:lstStyle/>
          <a:p>
            <a:pPr algn="l">
              <a:lnSpc>
                <a:spcPct val="120000"/>
              </a:lnSpc>
              <a:spcBef>
                <a:spcPts val="300"/>
              </a:spcBef>
            </a:pPr>
            <a:r>
              <a:rPr lang="en-US" altLang="zh-CN" sz="2400" kern="100" dirty="0" err="1">
                <a:effectLst/>
                <a:cs typeface="+mn-ea"/>
                <a:sym typeface="+mn-lt"/>
              </a:rPr>
              <a:t>cn</a:t>
            </a:r>
            <a:r>
              <a:rPr lang="zh-CN" altLang="zh-CN" sz="2400" kern="100" dirty="0">
                <a:effectLst/>
                <a:cs typeface="+mn-ea"/>
                <a:sym typeface="+mn-lt"/>
              </a:rPr>
              <a:t>表示划分长度为</a:t>
            </a:r>
            <a:r>
              <a:rPr lang="en-US" altLang="zh-CN" sz="2400" kern="100" dirty="0">
                <a:effectLst/>
                <a:cs typeface="+mn-ea"/>
                <a:sym typeface="+mn-lt"/>
              </a:rPr>
              <a:t>n</a:t>
            </a:r>
            <a:r>
              <a:rPr lang="zh-CN" altLang="zh-CN" sz="2400" kern="100" dirty="0">
                <a:effectLst/>
                <a:cs typeface="+mn-ea"/>
                <a:sym typeface="+mn-lt"/>
              </a:rPr>
              <a:t>的区间的操作的时间复杂度。</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9347200" y="6356350"/>
            <a:ext cx="2844800" cy="365125"/>
          </a:xfrm>
          <a:prstGeom prst="rect">
            <a:avLst/>
          </a:prstGeom>
        </p:spPr>
        <p:txBody>
          <a:bodyPr/>
          <a:lstStyle/>
          <a:p>
            <a:pPr algn="r">
              <a:lnSpc>
                <a:spcPct val="120000"/>
              </a:lnSpc>
              <a:spcBef>
                <a:spcPts val="300"/>
              </a:spcBef>
            </a:pPr>
            <a:fld id="{0063EC4C-CFD8-4F45-A0A2-30028C1F73DB}" type="slidenum">
              <a:rPr lang="zh-CN" altLang="en-US" smtClean="0">
                <a:cs typeface="+mn-ea"/>
                <a:sym typeface="+mn-lt"/>
              </a:rPr>
              <a:t>17</a:t>
            </a:fld>
            <a:endParaRPr lang="zh-CN" altLang="en-US" dirty="0">
              <a:cs typeface="+mn-ea"/>
              <a:sym typeface="+mn-lt"/>
            </a:endParaRPr>
          </a:p>
        </p:txBody>
      </p:sp>
      <mc:AlternateContent xmlns:mc="http://schemas.openxmlformats.org/markup-compatibility/2006" xmlns:a14="http://schemas.microsoft.com/office/drawing/2010/main">
        <mc:Choice Requires="a14">
          <p:sp>
            <p:nvSpPr>
              <p:cNvPr id="5" name="文本框 4"/>
              <p:cNvSpPr txBox="1"/>
              <p:nvPr/>
            </p:nvSpPr>
            <p:spPr>
              <a:xfrm>
                <a:off x="1371600" y="685800"/>
                <a:ext cx="8458200" cy="5864225"/>
              </a:xfrm>
              <a:prstGeom prst="rect">
                <a:avLst/>
              </a:prstGeom>
              <a:noFill/>
            </p:spPr>
            <p:txBody>
              <a:bodyPr wrap="square">
                <a:spAutoFit/>
              </a:bodyPr>
              <a:lstStyle/>
              <a:p>
                <a:pPr algn="l">
                  <a:lnSpc>
                    <a:spcPct val="120000"/>
                  </a:lnSpc>
                  <a:spcBef>
                    <a:spcPts val="1200"/>
                  </a:spcBef>
                  <a:spcAft>
                    <a:spcPts val="1200"/>
                  </a:spcAft>
                </a:pPr>
                <a:r>
                  <a:rPr lang="zh-CN" altLang="zh-CN" sz="2400" kern="100" dirty="0">
                    <a:effectLst/>
                    <a:cs typeface="+mn-ea"/>
                    <a:sym typeface="+mn-lt"/>
                  </a:rPr>
                  <a:t>利用高中数列求和的技巧，化简上式：</a:t>
                </a:r>
              </a:p>
              <a:p>
                <a:pPr algn="l">
                  <a:lnSpc>
                    <a:spcPct val="120000"/>
                  </a:lnSpc>
                </a:pPr>
                <a14:m>
                  <m:oMath xmlns:m="http://schemas.openxmlformats.org/officeDocument/2006/math">
                    <m:r>
                      <a:rPr lang="en-US" altLang="zh-CN" sz="1800" i="1" kern="100">
                        <a:effectLst/>
                        <a:latin typeface="DejaVu Math TeX Gyre" panose="02000503000000000000" charset="0"/>
                        <a:cs typeface="+mn-ea"/>
                        <a:sym typeface="+mn-lt"/>
                      </a:rPr>
                      <m:t>𝑛𝑇</m:t>
                    </m:r>
                    <m:d>
                      <m:dPr>
                        <m:ctrlPr>
                          <a:rPr lang="zh-CN" altLang="zh-CN" sz="1800" i="1" kern="100">
                            <a:effectLst/>
                            <a:latin typeface="Cambria Math" panose="02040503050406030204" pitchFamily="18" charset="0"/>
                            <a:cs typeface="+mn-ea"/>
                            <a:sym typeface="+mn-lt"/>
                          </a:rPr>
                        </m:ctrlPr>
                      </m:dPr>
                      <m:e>
                        <m:r>
                          <a:rPr lang="en-US" altLang="zh-CN" sz="1800" i="1" kern="100">
                            <a:effectLst/>
                            <a:latin typeface="DejaVu Math TeX Gyre" panose="02000503000000000000" charset="0"/>
                            <a:cs typeface="+mn-ea"/>
                            <a:sym typeface="+mn-lt"/>
                          </a:rPr>
                          <m:t>𝑛</m:t>
                        </m:r>
                      </m:e>
                    </m:d>
                    <m:r>
                      <a:rPr lang="en-US" altLang="zh-CN" sz="1800" i="1" kern="100">
                        <a:effectLst/>
                        <a:latin typeface="DejaVu Math TeX Gyre" panose="02000503000000000000" charset="0"/>
                        <a:cs typeface="+mn-ea"/>
                        <a:sym typeface="+mn-lt"/>
                      </a:rPr>
                      <m:t>=2</m:t>
                    </m:r>
                    <m:r>
                      <a:rPr lang="en-US" altLang="zh-CN" sz="1800" i="1" kern="100">
                        <a:effectLst/>
                        <a:latin typeface="DejaVu Math TeX Gyre" panose="02000503000000000000" charset="0"/>
                        <a:cs typeface="+mn-ea"/>
                        <a:sym typeface="+mn-lt"/>
                      </a:rPr>
                      <m:t>𝑇</m:t>
                    </m:r>
                    <m:d>
                      <m:dPr>
                        <m:ctrlPr>
                          <a:rPr lang="zh-CN" altLang="zh-CN" sz="1800" i="1" kern="100">
                            <a:effectLst/>
                            <a:latin typeface="Cambria Math" panose="02040503050406030204" pitchFamily="18" charset="0"/>
                            <a:cs typeface="+mn-ea"/>
                            <a:sym typeface="+mn-lt"/>
                          </a:rPr>
                        </m:ctrlPr>
                      </m:dPr>
                      <m:e>
                        <m:r>
                          <a:rPr lang="en-US" altLang="zh-CN" sz="1800" i="1" kern="100">
                            <a:effectLst/>
                            <a:latin typeface="DejaVu Math TeX Gyre" panose="02000503000000000000" charset="0"/>
                            <a:cs typeface="+mn-ea"/>
                            <a:sym typeface="+mn-lt"/>
                          </a:rPr>
                          <m:t>0</m:t>
                        </m:r>
                      </m:e>
                    </m:d>
                    <m:r>
                      <a:rPr lang="en-US" altLang="zh-CN" sz="1800" i="1" kern="100">
                        <a:effectLst/>
                        <a:latin typeface="DejaVu Math TeX Gyre" panose="02000503000000000000" charset="0"/>
                        <a:cs typeface="+mn-ea"/>
                        <a:sym typeface="+mn-lt"/>
                      </a:rPr>
                      <m:t>+2</m:t>
                    </m:r>
                    <m:r>
                      <a:rPr lang="en-US" altLang="zh-CN" sz="1800" i="1" kern="100">
                        <a:effectLst/>
                        <a:latin typeface="DejaVu Math TeX Gyre" panose="02000503000000000000" charset="0"/>
                        <a:cs typeface="+mn-ea"/>
                        <a:sym typeface="+mn-lt"/>
                      </a:rPr>
                      <m:t>𝑇</m:t>
                    </m:r>
                    <m:d>
                      <m:dPr>
                        <m:ctrlPr>
                          <a:rPr lang="zh-CN" altLang="zh-CN" sz="1800" i="1" kern="100">
                            <a:effectLst/>
                            <a:latin typeface="Cambria Math" panose="02040503050406030204" pitchFamily="18" charset="0"/>
                            <a:cs typeface="+mn-ea"/>
                            <a:sym typeface="+mn-lt"/>
                          </a:rPr>
                        </m:ctrlPr>
                      </m:dPr>
                      <m:e>
                        <m:r>
                          <a:rPr lang="en-US" altLang="zh-CN" sz="1800" i="1" kern="100">
                            <a:effectLst/>
                            <a:latin typeface="DejaVu Math TeX Gyre" panose="02000503000000000000" charset="0"/>
                            <a:cs typeface="+mn-ea"/>
                            <a:sym typeface="+mn-lt"/>
                          </a:rPr>
                          <m:t>1</m:t>
                        </m:r>
                      </m:e>
                    </m:d>
                    <m:r>
                      <a:rPr lang="en-US" altLang="zh-CN" sz="1800" i="1" kern="100">
                        <a:effectLst/>
                        <a:latin typeface="DejaVu Math TeX Gyre" panose="02000503000000000000" charset="0"/>
                        <a:cs typeface="+mn-ea"/>
                        <a:sym typeface="+mn-lt"/>
                      </a:rPr>
                      <m:t>+…+2</m:t>
                    </m:r>
                    <m:r>
                      <a:rPr lang="en-US" altLang="zh-CN" sz="1800" i="1" kern="100">
                        <a:effectLst/>
                        <a:latin typeface="DejaVu Math TeX Gyre" panose="02000503000000000000" charset="0"/>
                        <a:cs typeface="+mn-ea"/>
                        <a:sym typeface="+mn-lt"/>
                      </a:rPr>
                      <m:t>𝑇</m:t>
                    </m:r>
                    <m:d>
                      <m:dPr>
                        <m:ctrlPr>
                          <a:rPr lang="zh-CN" altLang="zh-CN" sz="1800" i="1" kern="100">
                            <a:effectLst/>
                            <a:latin typeface="Cambria Math" panose="02040503050406030204" pitchFamily="18" charset="0"/>
                            <a:cs typeface="+mn-ea"/>
                            <a:sym typeface="+mn-lt"/>
                          </a:rPr>
                        </m:ctrlPr>
                      </m:dPr>
                      <m:e>
                        <m:r>
                          <a:rPr lang="en-US" altLang="zh-CN" sz="1800" i="1" kern="100">
                            <a:effectLst/>
                            <a:latin typeface="DejaVu Math TeX Gyre" panose="02000503000000000000" charset="0"/>
                            <a:cs typeface="+mn-ea"/>
                            <a:sym typeface="+mn-lt"/>
                          </a:rPr>
                          <m:t>𝑛</m:t>
                        </m:r>
                        <m:r>
                          <a:rPr lang="en-US" altLang="zh-CN" sz="1800" i="1" kern="100">
                            <a:effectLst/>
                            <a:latin typeface="DejaVu Math TeX Gyre" panose="02000503000000000000" charset="0"/>
                            <a:cs typeface="+mn-ea"/>
                            <a:sym typeface="+mn-lt"/>
                          </a:rPr>
                          <m:t>−1</m:t>
                        </m:r>
                      </m:e>
                    </m:d>
                    <m:r>
                      <a:rPr lang="en-US" altLang="zh-CN" sz="1800" i="1" kern="100">
                        <a:effectLst/>
                        <a:latin typeface="DejaVu Math TeX Gyre" panose="02000503000000000000" charset="0"/>
                        <a:cs typeface="+mn-ea"/>
                        <a:sym typeface="+mn-lt"/>
                      </a:rPr>
                      <m:t>+</m:t>
                    </m:r>
                    <m:r>
                      <a:rPr lang="en-US" altLang="zh-CN" sz="1800" i="1" kern="100">
                        <a:effectLst/>
                        <a:latin typeface="DejaVu Math TeX Gyre" panose="02000503000000000000" charset="0"/>
                        <a:cs typeface="+mn-ea"/>
                        <a:sym typeface="+mn-lt"/>
                      </a:rPr>
                      <m:t>𝑐</m:t>
                    </m:r>
                    <m:sSup>
                      <m:sSupPr>
                        <m:ctrlPr>
                          <a:rPr lang="zh-CN" altLang="zh-CN" sz="1800" i="1" kern="100">
                            <a:effectLst/>
                            <a:latin typeface="Cambria Math" panose="02040503050406030204" pitchFamily="18" charset="0"/>
                            <a:cs typeface="+mn-ea"/>
                            <a:sym typeface="+mn-lt"/>
                          </a:rPr>
                        </m:ctrlPr>
                      </m:sSupPr>
                      <m:e>
                        <m:r>
                          <a:rPr lang="en-US" altLang="zh-CN" sz="1800" i="1" kern="100">
                            <a:effectLst/>
                            <a:latin typeface="DejaVu Math TeX Gyre" panose="02000503000000000000" charset="0"/>
                            <a:cs typeface="+mn-ea"/>
                            <a:sym typeface="+mn-lt"/>
                          </a:rPr>
                          <m:t>𝑛</m:t>
                        </m:r>
                      </m:e>
                      <m:sup>
                        <m:r>
                          <a:rPr lang="en-US" altLang="zh-CN" sz="1800" i="1" kern="100">
                            <a:effectLst/>
                            <a:latin typeface="DejaVu Math TeX Gyre" panose="02000503000000000000" charset="0"/>
                            <a:cs typeface="+mn-ea"/>
                            <a:sym typeface="+mn-lt"/>
                          </a:rPr>
                          <m:t>2</m:t>
                        </m:r>
                      </m:sup>
                    </m:sSup>
                  </m:oMath>
                </a14:m>
                <a:r>
                  <a:rPr lang="en-US" altLang="zh-CN" sz="1800" kern="100" dirty="0">
                    <a:effectLst/>
                    <a:cs typeface="+mn-ea"/>
                    <a:sym typeface="+mn-lt"/>
                  </a:rPr>
                  <a:t>                               ……(1)</a:t>
                </a:r>
                <a:endParaRPr lang="zh-CN" altLang="zh-CN" sz="1800" kern="100" dirty="0">
                  <a:effectLst/>
                  <a:cs typeface="+mn-ea"/>
                  <a:sym typeface="+mn-lt"/>
                </a:endParaRPr>
              </a:p>
              <a:p>
                <a:pPr algn="l">
                  <a:lnSpc>
                    <a:spcPct val="120000"/>
                  </a:lnSpc>
                </a:pPr>
                <a14:m>
                  <m:oMath xmlns:m="http://schemas.openxmlformats.org/officeDocument/2006/math">
                    <m:d>
                      <m:dPr>
                        <m:ctrlPr>
                          <a:rPr lang="zh-CN" altLang="zh-CN" sz="1800" i="1" kern="100">
                            <a:effectLst/>
                            <a:latin typeface="Cambria Math" panose="02040503050406030204" pitchFamily="18" charset="0"/>
                            <a:cs typeface="+mn-ea"/>
                            <a:sym typeface="+mn-lt"/>
                          </a:rPr>
                        </m:ctrlPr>
                      </m:dPr>
                      <m:e>
                        <m:r>
                          <a:rPr lang="en-US" altLang="zh-CN" sz="1800" i="1" kern="100">
                            <a:effectLst/>
                            <a:latin typeface="DejaVu Math TeX Gyre" panose="02000503000000000000" charset="0"/>
                            <a:cs typeface="+mn-ea"/>
                            <a:sym typeface="+mn-lt"/>
                          </a:rPr>
                          <m:t>𝑛</m:t>
                        </m:r>
                        <m:r>
                          <a:rPr lang="en-US" altLang="zh-CN" sz="1800" i="1" kern="100">
                            <a:effectLst/>
                            <a:latin typeface="DejaVu Math TeX Gyre" panose="02000503000000000000" charset="0"/>
                            <a:cs typeface="+mn-ea"/>
                            <a:sym typeface="+mn-lt"/>
                          </a:rPr>
                          <m:t>−1</m:t>
                        </m:r>
                      </m:e>
                    </m:d>
                    <m:r>
                      <a:rPr lang="en-US" altLang="zh-CN" sz="1800" i="1" kern="100">
                        <a:effectLst/>
                        <a:latin typeface="DejaVu Math TeX Gyre" panose="02000503000000000000" charset="0"/>
                        <a:cs typeface="+mn-ea"/>
                        <a:sym typeface="+mn-lt"/>
                      </a:rPr>
                      <m:t>𝑇</m:t>
                    </m:r>
                    <m:d>
                      <m:dPr>
                        <m:ctrlPr>
                          <a:rPr lang="zh-CN" altLang="zh-CN" sz="1800" i="1" kern="100">
                            <a:effectLst/>
                            <a:latin typeface="Cambria Math" panose="02040503050406030204" pitchFamily="18" charset="0"/>
                            <a:cs typeface="+mn-ea"/>
                            <a:sym typeface="+mn-lt"/>
                          </a:rPr>
                        </m:ctrlPr>
                      </m:dPr>
                      <m:e>
                        <m:r>
                          <a:rPr lang="en-US" altLang="zh-CN" sz="1800" i="1" kern="100">
                            <a:effectLst/>
                            <a:latin typeface="DejaVu Math TeX Gyre" panose="02000503000000000000" charset="0"/>
                            <a:cs typeface="+mn-ea"/>
                            <a:sym typeface="+mn-lt"/>
                          </a:rPr>
                          <m:t>𝑛</m:t>
                        </m:r>
                        <m:r>
                          <a:rPr lang="en-US" altLang="zh-CN" sz="1800" i="1" kern="100">
                            <a:effectLst/>
                            <a:latin typeface="DejaVu Math TeX Gyre" panose="02000503000000000000" charset="0"/>
                            <a:cs typeface="+mn-ea"/>
                            <a:sym typeface="+mn-lt"/>
                          </a:rPr>
                          <m:t>−1</m:t>
                        </m:r>
                      </m:e>
                    </m:d>
                    <m:r>
                      <a:rPr lang="en-US" altLang="zh-CN" sz="1800" i="1" kern="100">
                        <a:effectLst/>
                        <a:latin typeface="DejaVu Math TeX Gyre" panose="02000503000000000000" charset="0"/>
                        <a:cs typeface="+mn-ea"/>
                        <a:sym typeface="+mn-lt"/>
                      </a:rPr>
                      <m:t>=2</m:t>
                    </m:r>
                    <m:r>
                      <a:rPr lang="en-US" altLang="zh-CN" sz="1800" i="1" kern="100">
                        <a:effectLst/>
                        <a:latin typeface="DejaVu Math TeX Gyre" panose="02000503000000000000" charset="0"/>
                        <a:cs typeface="+mn-ea"/>
                        <a:sym typeface="+mn-lt"/>
                      </a:rPr>
                      <m:t>𝑇</m:t>
                    </m:r>
                    <m:d>
                      <m:dPr>
                        <m:ctrlPr>
                          <a:rPr lang="zh-CN" altLang="zh-CN" sz="1800" i="1" kern="100">
                            <a:effectLst/>
                            <a:latin typeface="Cambria Math" panose="02040503050406030204" pitchFamily="18" charset="0"/>
                            <a:cs typeface="+mn-ea"/>
                            <a:sym typeface="+mn-lt"/>
                          </a:rPr>
                        </m:ctrlPr>
                      </m:dPr>
                      <m:e>
                        <m:r>
                          <a:rPr lang="en-US" altLang="zh-CN" sz="1800" i="1" kern="100">
                            <a:effectLst/>
                            <a:latin typeface="DejaVu Math TeX Gyre" panose="02000503000000000000" charset="0"/>
                            <a:cs typeface="+mn-ea"/>
                            <a:sym typeface="+mn-lt"/>
                          </a:rPr>
                          <m:t>0</m:t>
                        </m:r>
                      </m:e>
                    </m:d>
                    <m:r>
                      <a:rPr lang="en-US" altLang="zh-CN" sz="1800" i="1" kern="100">
                        <a:effectLst/>
                        <a:latin typeface="DejaVu Math TeX Gyre" panose="02000503000000000000" charset="0"/>
                        <a:cs typeface="+mn-ea"/>
                        <a:sym typeface="+mn-lt"/>
                      </a:rPr>
                      <m:t>+2</m:t>
                    </m:r>
                    <m:r>
                      <a:rPr lang="en-US" altLang="zh-CN" sz="1800" i="1" kern="100">
                        <a:effectLst/>
                        <a:latin typeface="DejaVu Math TeX Gyre" panose="02000503000000000000" charset="0"/>
                        <a:cs typeface="+mn-ea"/>
                        <a:sym typeface="+mn-lt"/>
                      </a:rPr>
                      <m:t>𝑇</m:t>
                    </m:r>
                    <m:d>
                      <m:dPr>
                        <m:ctrlPr>
                          <a:rPr lang="zh-CN" altLang="zh-CN" sz="1800" i="1" kern="100">
                            <a:effectLst/>
                            <a:latin typeface="Cambria Math" panose="02040503050406030204" pitchFamily="18" charset="0"/>
                            <a:cs typeface="+mn-ea"/>
                            <a:sym typeface="+mn-lt"/>
                          </a:rPr>
                        </m:ctrlPr>
                      </m:dPr>
                      <m:e>
                        <m:r>
                          <a:rPr lang="en-US" altLang="zh-CN" sz="1800" i="1" kern="100">
                            <a:effectLst/>
                            <a:latin typeface="DejaVu Math TeX Gyre" panose="02000503000000000000" charset="0"/>
                            <a:cs typeface="+mn-ea"/>
                            <a:sym typeface="+mn-lt"/>
                          </a:rPr>
                          <m:t>1</m:t>
                        </m:r>
                      </m:e>
                    </m:d>
                    <m:r>
                      <a:rPr lang="en-US" altLang="zh-CN" sz="1800" i="1" kern="100">
                        <a:effectLst/>
                        <a:latin typeface="DejaVu Math TeX Gyre" panose="02000503000000000000" charset="0"/>
                        <a:cs typeface="+mn-ea"/>
                        <a:sym typeface="+mn-lt"/>
                      </a:rPr>
                      <m:t>+…+2</m:t>
                    </m:r>
                    <m:r>
                      <a:rPr lang="en-US" altLang="zh-CN" sz="1800" i="1" kern="100">
                        <a:effectLst/>
                        <a:latin typeface="DejaVu Math TeX Gyre" panose="02000503000000000000" charset="0"/>
                        <a:cs typeface="+mn-ea"/>
                        <a:sym typeface="+mn-lt"/>
                      </a:rPr>
                      <m:t>𝑇</m:t>
                    </m:r>
                    <m:d>
                      <m:dPr>
                        <m:ctrlPr>
                          <a:rPr lang="zh-CN" altLang="zh-CN" sz="1800" i="1" kern="100">
                            <a:effectLst/>
                            <a:latin typeface="Cambria Math" panose="02040503050406030204" pitchFamily="18" charset="0"/>
                            <a:cs typeface="+mn-ea"/>
                            <a:sym typeface="+mn-lt"/>
                          </a:rPr>
                        </m:ctrlPr>
                      </m:dPr>
                      <m:e>
                        <m:r>
                          <a:rPr lang="en-US" altLang="zh-CN" sz="1800" i="1" kern="100">
                            <a:effectLst/>
                            <a:latin typeface="DejaVu Math TeX Gyre" panose="02000503000000000000" charset="0"/>
                            <a:cs typeface="+mn-ea"/>
                            <a:sym typeface="+mn-lt"/>
                          </a:rPr>
                          <m:t>𝑛</m:t>
                        </m:r>
                        <m:r>
                          <a:rPr lang="en-US" altLang="zh-CN" sz="1800" i="1" kern="100">
                            <a:effectLst/>
                            <a:latin typeface="DejaVu Math TeX Gyre" panose="02000503000000000000" charset="0"/>
                            <a:cs typeface="+mn-ea"/>
                            <a:sym typeface="+mn-lt"/>
                          </a:rPr>
                          <m:t>−2</m:t>
                        </m:r>
                      </m:e>
                    </m:d>
                    <m:r>
                      <a:rPr lang="en-US" altLang="zh-CN" sz="1800" i="1" kern="100">
                        <a:effectLst/>
                        <a:latin typeface="DejaVu Math TeX Gyre" panose="02000503000000000000" charset="0"/>
                        <a:cs typeface="+mn-ea"/>
                        <a:sym typeface="+mn-lt"/>
                      </a:rPr>
                      <m:t>+</m:t>
                    </m:r>
                    <m:r>
                      <a:rPr lang="en-US" altLang="zh-CN" sz="1800" i="1" kern="100">
                        <a:effectLst/>
                        <a:latin typeface="DejaVu Math TeX Gyre" panose="02000503000000000000" charset="0"/>
                        <a:cs typeface="+mn-ea"/>
                        <a:sym typeface="+mn-lt"/>
                      </a:rPr>
                      <m:t>𝑐</m:t>
                    </m:r>
                    <m:sSup>
                      <m:sSupPr>
                        <m:ctrlPr>
                          <a:rPr lang="zh-CN" altLang="zh-CN" sz="1800" i="1" kern="100">
                            <a:effectLst/>
                            <a:latin typeface="Cambria Math" panose="02040503050406030204" pitchFamily="18" charset="0"/>
                            <a:cs typeface="+mn-ea"/>
                            <a:sym typeface="+mn-lt"/>
                          </a:rPr>
                        </m:ctrlPr>
                      </m:sSupPr>
                      <m:e>
                        <m:r>
                          <a:rPr lang="en-US" altLang="zh-CN" sz="1800" i="1" kern="100">
                            <a:effectLst/>
                            <a:latin typeface="DejaVu Math TeX Gyre" panose="02000503000000000000" charset="0"/>
                            <a:cs typeface="+mn-ea"/>
                            <a:sym typeface="+mn-lt"/>
                          </a:rPr>
                          <m:t>(</m:t>
                        </m:r>
                        <m:r>
                          <a:rPr lang="en-US" altLang="zh-CN" sz="1800" i="1" kern="100">
                            <a:effectLst/>
                            <a:latin typeface="DejaVu Math TeX Gyre" panose="02000503000000000000" charset="0"/>
                            <a:cs typeface="+mn-ea"/>
                            <a:sym typeface="+mn-lt"/>
                          </a:rPr>
                          <m:t>𝑛</m:t>
                        </m:r>
                        <m:r>
                          <a:rPr lang="en-US" altLang="zh-CN" sz="1800" i="1" kern="100">
                            <a:effectLst/>
                            <a:latin typeface="DejaVu Math TeX Gyre" panose="02000503000000000000" charset="0"/>
                            <a:cs typeface="+mn-ea"/>
                            <a:sym typeface="+mn-lt"/>
                          </a:rPr>
                          <m:t>−1)</m:t>
                        </m:r>
                      </m:e>
                      <m:sup>
                        <m:r>
                          <a:rPr lang="en-US" altLang="zh-CN" sz="1800" i="1" kern="100">
                            <a:effectLst/>
                            <a:latin typeface="DejaVu Math TeX Gyre" panose="02000503000000000000" charset="0"/>
                            <a:cs typeface="+mn-ea"/>
                            <a:sym typeface="+mn-lt"/>
                          </a:rPr>
                          <m:t>2</m:t>
                        </m:r>
                      </m:sup>
                    </m:sSup>
                  </m:oMath>
                </a14:m>
                <a:r>
                  <a:rPr lang="en-US" altLang="zh-CN" sz="1800" kern="100" dirty="0">
                    <a:effectLst/>
                    <a:cs typeface="+mn-ea"/>
                    <a:sym typeface="+mn-lt"/>
                  </a:rPr>
                  <a:t>   ……(2)</a:t>
                </a:r>
                <a:endParaRPr lang="zh-CN" altLang="zh-CN" sz="1800" kern="100" dirty="0">
                  <a:effectLst/>
                  <a:cs typeface="+mn-ea"/>
                  <a:sym typeface="+mn-lt"/>
                </a:endParaRPr>
              </a:p>
              <a:p>
                <a:pPr lvl="0" algn="l">
                  <a:lnSpc>
                    <a:spcPct val="120000"/>
                  </a:lnSpc>
                  <a:spcBef>
                    <a:spcPts val="1200"/>
                  </a:spcBef>
                  <a:spcAft>
                    <a:spcPts val="1200"/>
                  </a:spcAft>
                </a:pPr>
                <a:r>
                  <a:rPr lang="en-US" altLang="zh-CN" kern="100" dirty="0">
                    <a:cs typeface="+mn-ea"/>
                    <a:sym typeface="+mn-lt"/>
                  </a:rPr>
                  <a:t>(1)-(2)</a:t>
                </a:r>
                <a:r>
                  <a:rPr lang="zh-CN" altLang="zh-CN" sz="1800" kern="100" dirty="0">
                    <a:effectLst/>
                    <a:cs typeface="+mn-ea"/>
                    <a:sym typeface="+mn-lt"/>
                  </a:rPr>
                  <a:t>得：</a:t>
                </a:r>
              </a:p>
              <a:p>
                <a:pPr algn="l">
                  <a:lnSpc>
                    <a:spcPct val="120000"/>
                  </a:lnSpc>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1800" i="1" kern="100">
                          <a:effectLst/>
                          <a:latin typeface="DejaVu Math TeX Gyre" panose="02000503000000000000" charset="0"/>
                          <a:cs typeface="+mn-ea"/>
                          <a:sym typeface="+mn-lt"/>
                        </a:rPr>
                        <m:t>𝑛𝑇</m:t>
                      </m:r>
                      <m:d>
                        <m:dPr>
                          <m:ctrlPr>
                            <a:rPr lang="zh-CN" altLang="zh-CN" sz="1800" i="1" kern="100">
                              <a:effectLst/>
                              <a:latin typeface="Cambria Math" panose="02040503050406030204" pitchFamily="18" charset="0"/>
                              <a:cs typeface="+mn-ea"/>
                              <a:sym typeface="+mn-lt"/>
                            </a:rPr>
                          </m:ctrlPr>
                        </m:dPr>
                        <m:e>
                          <m:r>
                            <a:rPr lang="en-US" altLang="zh-CN" sz="1800" i="1" kern="100">
                              <a:effectLst/>
                              <a:latin typeface="DejaVu Math TeX Gyre" panose="02000503000000000000" charset="0"/>
                              <a:cs typeface="+mn-ea"/>
                              <a:sym typeface="+mn-lt"/>
                            </a:rPr>
                            <m:t>𝑛</m:t>
                          </m:r>
                        </m:e>
                      </m:d>
                      <m:r>
                        <a:rPr lang="en-US" altLang="zh-CN" sz="1800" i="1" kern="100">
                          <a:effectLst/>
                          <a:latin typeface="DejaVu Math TeX Gyre" panose="02000503000000000000" charset="0"/>
                          <a:cs typeface="+mn-ea"/>
                          <a:sym typeface="+mn-lt"/>
                        </a:rPr>
                        <m:t>−(</m:t>
                      </m:r>
                      <m:r>
                        <a:rPr lang="en-US" altLang="zh-CN" sz="1800" i="1" kern="100">
                          <a:effectLst/>
                          <a:latin typeface="DejaVu Math TeX Gyre" panose="02000503000000000000" charset="0"/>
                          <a:cs typeface="+mn-ea"/>
                          <a:sym typeface="+mn-lt"/>
                        </a:rPr>
                        <m:t>𝑛</m:t>
                      </m:r>
                      <m:r>
                        <a:rPr lang="en-US" altLang="zh-CN" sz="1800" i="1" kern="100">
                          <a:effectLst/>
                          <a:latin typeface="DejaVu Math TeX Gyre" panose="02000503000000000000" charset="0"/>
                          <a:cs typeface="+mn-ea"/>
                          <a:sym typeface="+mn-lt"/>
                        </a:rPr>
                        <m:t>+1)</m:t>
                      </m:r>
                      <m:r>
                        <a:rPr lang="en-US" altLang="zh-CN" sz="1800" i="1" kern="100">
                          <a:effectLst/>
                          <a:latin typeface="DejaVu Math TeX Gyre" panose="02000503000000000000" charset="0"/>
                          <a:cs typeface="+mn-ea"/>
                          <a:sym typeface="+mn-lt"/>
                        </a:rPr>
                        <m:t>𝑇</m:t>
                      </m:r>
                      <m:d>
                        <m:dPr>
                          <m:ctrlPr>
                            <a:rPr lang="zh-CN" altLang="zh-CN" sz="1800" i="1" kern="100">
                              <a:effectLst/>
                              <a:latin typeface="Cambria Math" panose="02040503050406030204" pitchFamily="18" charset="0"/>
                              <a:cs typeface="+mn-ea"/>
                              <a:sym typeface="+mn-lt"/>
                            </a:rPr>
                          </m:ctrlPr>
                        </m:dPr>
                        <m:e>
                          <m:r>
                            <a:rPr lang="en-US" altLang="zh-CN" sz="1800" i="1" kern="100">
                              <a:effectLst/>
                              <a:latin typeface="DejaVu Math TeX Gyre" panose="02000503000000000000" charset="0"/>
                              <a:cs typeface="+mn-ea"/>
                              <a:sym typeface="+mn-lt"/>
                            </a:rPr>
                            <m:t>𝑛</m:t>
                          </m:r>
                          <m:r>
                            <a:rPr lang="en-US" altLang="zh-CN" sz="1800" i="1" kern="100">
                              <a:effectLst/>
                              <a:latin typeface="DejaVu Math TeX Gyre" panose="02000503000000000000" charset="0"/>
                              <a:cs typeface="+mn-ea"/>
                              <a:sym typeface="+mn-lt"/>
                            </a:rPr>
                            <m:t>−1</m:t>
                          </m:r>
                        </m:e>
                      </m:d>
                      <m:r>
                        <a:rPr lang="en-US" altLang="zh-CN" sz="1800" i="1" kern="100">
                          <a:effectLst/>
                          <a:latin typeface="DejaVu Math TeX Gyre" panose="02000503000000000000" charset="0"/>
                          <a:cs typeface="+mn-ea"/>
                          <a:sym typeface="+mn-lt"/>
                        </a:rPr>
                        <m:t>=</m:t>
                      </m:r>
                      <m:r>
                        <a:rPr lang="en-US" altLang="zh-CN" sz="1800" i="1" kern="100">
                          <a:effectLst/>
                          <a:latin typeface="DejaVu Math TeX Gyre" panose="02000503000000000000" charset="0"/>
                          <a:cs typeface="+mn-ea"/>
                          <a:sym typeface="+mn-lt"/>
                        </a:rPr>
                        <m:t>𝑐</m:t>
                      </m:r>
                      <m:sSup>
                        <m:sSupPr>
                          <m:ctrlPr>
                            <a:rPr lang="zh-CN" altLang="zh-CN" sz="1800" i="1" kern="100">
                              <a:effectLst/>
                              <a:latin typeface="Cambria Math" panose="02040503050406030204" pitchFamily="18" charset="0"/>
                              <a:cs typeface="+mn-ea"/>
                              <a:sym typeface="+mn-lt"/>
                            </a:rPr>
                          </m:ctrlPr>
                        </m:sSupPr>
                        <m:e>
                          <m:r>
                            <a:rPr lang="en-US" altLang="zh-CN" sz="1800" i="1" kern="100">
                              <a:effectLst/>
                              <a:latin typeface="DejaVu Math TeX Gyre" panose="02000503000000000000" charset="0"/>
                              <a:cs typeface="+mn-ea"/>
                              <a:sym typeface="+mn-lt"/>
                            </a:rPr>
                            <m:t>𝑛</m:t>
                          </m:r>
                        </m:e>
                        <m:sup>
                          <m:r>
                            <a:rPr lang="en-US" altLang="zh-CN" sz="1800" i="1" kern="100">
                              <a:effectLst/>
                              <a:latin typeface="DejaVu Math TeX Gyre" panose="02000503000000000000" charset="0"/>
                              <a:cs typeface="+mn-ea"/>
                              <a:sym typeface="+mn-lt"/>
                            </a:rPr>
                            <m:t>2</m:t>
                          </m:r>
                        </m:sup>
                      </m:sSup>
                      <m:r>
                        <a:rPr lang="en-US" altLang="zh-CN" sz="1800" i="1" kern="100">
                          <a:effectLst/>
                          <a:latin typeface="DejaVu Math TeX Gyre" panose="02000503000000000000" charset="0"/>
                          <a:cs typeface="+mn-ea"/>
                          <a:sym typeface="+mn-lt"/>
                        </a:rPr>
                        <m:t>−</m:t>
                      </m:r>
                      <m:r>
                        <a:rPr lang="en-US" altLang="zh-CN" sz="1800" i="1" kern="100">
                          <a:effectLst/>
                          <a:latin typeface="DejaVu Math TeX Gyre" panose="02000503000000000000" charset="0"/>
                          <a:cs typeface="+mn-ea"/>
                          <a:sym typeface="+mn-lt"/>
                        </a:rPr>
                        <m:t>𝑐</m:t>
                      </m:r>
                      <m:sSup>
                        <m:sSupPr>
                          <m:ctrlPr>
                            <a:rPr lang="zh-CN" altLang="zh-CN" sz="1800" i="1" kern="100">
                              <a:effectLst/>
                              <a:latin typeface="Cambria Math" panose="02040503050406030204" pitchFamily="18" charset="0"/>
                              <a:cs typeface="+mn-ea"/>
                              <a:sym typeface="+mn-lt"/>
                            </a:rPr>
                          </m:ctrlPr>
                        </m:sSupPr>
                        <m:e>
                          <m:d>
                            <m:dPr>
                              <m:ctrlPr>
                                <a:rPr lang="zh-CN" altLang="zh-CN" sz="1800" i="1" kern="100">
                                  <a:effectLst/>
                                  <a:latin typeface="Cambria Math" panose="02040503050406030204" pitchFamily="18" charset="0"/>
                                  <a:cs typeface="+mn-ea"/>
                                  <a:sym typeface="+mn-lt"/>
                                </a:rPr>
                              </m:ctrlPr>
                            </m:dPr>
                            <m:e>
                              <m:r>
                                <a:rPr lang="en-US" altLang="zh-CN" sz="1800" i="1" kern="100">
                                  <a:effectLst/>
                                  <a:latin typeface="DejaVu Math TeX Gyre" panose="02000503000000000000" charset="0"/>
                                  <a:cs typeface="+mn-ea"/>
                                  <a:sym typeface="+mn-lt"/>
                                </a:rPr>
                                <m:t>𝑛</m:t>
                              </m:r>
                              <m:r>
                                <a:rPr lang="en-US" altLang="zh-CN" sz="1800" i="1" kern="100">
                                  <a:effectLst/>
                                  <a:latin typeface="DejaVu Math TeX Gyre" panose="02000503000000000000" charset="0"/>
                                  <a:cs typeface="+mn-ea"/>
                                  <a:sym typeface="+mn-lt"/>
                                </a:rPr>
                                <m:t>−1</m:t>
                              </m:r>
                            </m:e>
                          </m:d>
                        </m:e>
                        <m:sup>
                          <m:r>
                            <a:rPr lang="en-US" altLang="zh-CN" sz="1800" i="1" kern="100">
                              <a:effectLst/>
                              <a:latin typeface="DejaVu Math TeX Gyre" panose="02000503000000000000" charset="0"/>
                              <a:cs typeface="+mn-ea"/>
                              <a:sym typeface="+mn-lt"/>
                            </a:rPr>
                            <m:t>2</m:t>
                          </m:r>
                        </m:sup>
                      </m:sSup>
                      <m:r>
                        <a:rPr lang="en-US" altLang="zh-CN" sz="1800" i="1" kern="100">
                          <a:effectLst/>
                          <a:latin typeface="DejaVu Math TeX Gyre" panose="02000503000000000000" charset="0"/>
                          <a:cs typeface="+mn-ea"/>
                          <a:sym typeface="+mn-lt"/>
                        </a:rPr>
                        <m:t>=2</m:t>
                      </m:r>
                      <m:r>
                        <a:rPr lang="en-US" altLang="zh-CN" sz="1800" i="1" kern="100">
                          <a:effectLst/>
                          <a:latin typeface="DejaVu Math TeX Gyre" panose="02000503000000000000" charset="0"/>
                          <a:cs typeface="+mn-ea"/>
                          <a:sym typeface="+mn-lt"/>
                        </a:rPr>
                        <m:t>𝑐𝑛</m:t>
                      </m:r>
                      <m:r>
                        <a:rPr lang="en-US" altLang="zh-CN" sz="1800" i="1" kern="100">
                          <a:effectLst/>
                          <a:latin typeface="DejaVu Math TeX Gyre" panose="02000503000000000000" charset="0"/>
                          <a:cs typeface="+mn-ea"/>
                          <a:sym typeface="+mn-lt"/>
                        </a:rPr>
                        <m:t>−</m:t>
                      </m:r>
                      <m:r>
                        <a:rPr lang="en-US" altLang="zh-CN" sz="1800" i="1" kern="100">
                          <a:effectLst/>
                          <a:latin typeface="DejaVu Math TeX Gyre" panose="02000503000000000000" charset="0"/>
                          <a:cs typeface="+mn-ea"/>
                          <a:sym typeface="+mn-lt"/>
                        </a:rPr>
                        <m:t>𝑐</m:t>
                      </m:r>
                    </m:oMath>
                  </m:oMathPara>
                </a14:m>
                <a:endParaRPr lang="zh-CN" altLang="zh-CN" sz="1800" kern="100" dirty="0">
                  <a:effectLst/>
                  <a:cs typeface="+mn-ea"/>
                  <a:sym typeface="+mn-lt"/>
                </a:endParaRPr>
              </a:p>
              <a:p>
                <a:pPr algn="l">
                  <a:lnSpc>
                    <a:spcPct val="120000"/>
                  </a:lnSpc>
                  <a:spcBef>
                    <a:spcPts val="1200"/>
                  </a:spcBef>
                  <a:spcAft>
                    <a:spcPts val="1200"/>
                  </a:spcAft>
                </a:pPr>
                <a:r>
                  <a:rPr lang="zh-CN" altLang="zh-CN" sz="2400" kern="100" dirty="0">
                    <a:effectLst/>
                    <a:cs typeface="+mn-ea"/>
                    <a:sym typeface="+mn-lt"/>
                  </a:rPr>
                  <a:t>两边除</a:t>
                </a:r>
                <a14:m>
                  <m:oMath xmlns:m="http://schemas.openxmlformats.org/officeDocument/2006/math">
                    <m:r>
                      <a:rPr lang="en-US" altLang="zh-CN" sz="2400" i="1" kern="100">
                        <a:effectLst/>
                        <a:latin typeface="DejaVu Math TeX Gyre" panose="02000503000000000000" charset="0"/>
                        <a:cs typeface="+mn-ea"/>
                        <a:sym typeface="+mn-lt"/>
                      </a:rPr>
                      <m:t>𝑛</m:t>
                    </m:r>
                    <m:r>
                      <a:rPr lang="en-US" altLang="zh-CN" sz="2400" i="1" kern="100">
                        <a:effectLst/>
                        <a:latin typeface="DejaVu Math TeX Gyre" panose="02000503000000000000" charset="0"/>
                        <a:cs typeface="+mn-ea"/>
                        <a:sym typeface="+mn-lt"/>
                      </a:rPr>
                      <m:t>(</m:t>
                    </m:r>
                    <m:r>
                      <a:rPr lang="en-US" altLang="zh-CN" sz="2400" i="1" kern="100">
                        <a:effectLst/>
                        <a:latin typeface="DejaVu Math TeX Gyre" panose="02000503000000000000" charset="0"/>
                        <a:cs typeface="+mn-ea"/>
                        <a:sym typeface="+mn-lt"/>
                      </a:rPr>
                      <m:t>𝑛</m:t>
                    </m:r>
                    <m:r>
                      <a:rPr lang="en-US" altLang="zh-CN" sz="2400" i="1" kern="100">
                        <a:effectLst/>
                        <a:latin typeface="DejaVu Math TeX Gyre" panose="02000503000000000000" charset="0"/>
                        <a:cs typeface="+mn-ea"/>
                        <a:sym typeface="+mn-lt"/>
                      </a:rPr>
                      <m:t>+1)</m:t>
                    </m:r>
                  </m:oMath>
                </a14:m>
                <a:r>
                  <a:rPr lang="zh-CN" altLang="zh-CN" sz="2400" kern="100" dirty="0">
                    <a:effectLst/>
                    <a:cs typeface="+mn-ea"/>
                    <a:sym typeface="+mn-lt"/>
                  </a:rPr>
                  <a:t>得，</a:t>
                </a:r>
              </a:p>
              <a:p>
                <a:pPr algn="l">
                  <a:lnSpc>
                    <a:spcPct val="120000"/>
                  </a:lnSpc>
                </a:pPr>
                <a14:m>
                  <m:oMathPara xmlns:m="http://schemas.openxmlformats.org/officeDocument/2006/math">
                    <m:oMathParaPr>
                      <m:jc m:val="centerGroup"/>
                    </m:oMathParaPr>
                    <m:oMath xmlns:m="http://schemas.openxmlformats.org/officeDocument/2006/math">
                      <m:f>
                        <m:fPr>
                          <m:ctrlPr>
                            <a:rPr lang="zh-CN" altLang="zh-CN" sz="1800" i="1" kern="100">
                              <a:effectLst/>
                              <a:latin typeface="Cambria Math" panose="02040503050406030204" pitchFamily="18" charset="0"/>
                              <a:cs typeface="+mn-ea"/>
                              <a:sym typeface="+mn-lt"/>
                            </a:rPr>
                          </m:ctrlPr>
                        </m:fPr>
                        <m:num>
                          <m:r>
                            <a:rPr lang="en-US" altLang="zh-CN" sz="1800" i="1" kern="100">
                              <a:effectLst/>
                              <a:latin typeface="DejaVu Math TeX Gyre" panose="02000503000000000000" charset="0"/>
                              <a:cs typeface="+mn-ea"/>
                              <a:sym typeface="+mn-lt"/>
                            </a:rPr>
                            <m:t>𝑇</m:t>
                          </m:r>
                          <m:d>
                            <m:dPr>
                              <m:ctrlPr>
                                <a:rPr lang="zh-CN" altLang="zh-CN" sz="1800" i="1" kern="100">
                                  <a:effectLst/>
                                  <a:latin typeface="Cambria Math" panose="02040503050406030204" pitchFamily="18" charset="0"/>
                                  <a:cs typeface="+mn-ea"/>
                                  <a:sym typeface="+mn-lt"/>
                                </a:rPr>
                              </m:ctrlPr>
                            </m:dPr>
                            <m:e>
                              <m:r>
                                <a:rPr lang="en-US" altLang="zh-CN" sz="1800" i="1" kern="100">
                                  <a:effectLst/>
                                  <a:latin typeface="DejaVu Math TeX Gyre" panose="02000503000000000000" charset="0"/>
                                  <a:cs typeface="+mn-ea"/>
                                  <a:sym typeface="+mn-lt"/>
                                </a:rPr>
                                <m:t>𝑛</m:t>
                              </m:r>
                            </m:e>
                          </m:d>
                        </m:num>
                        <m:den>
                          <m:r>
                            <a:rPr lang="en-US" altLang="zh-CN" sz="1800" i="1" kern="100">
                              <a:effectLst/>
                              <a:latin typeface="DejaVu Math TeX Gyre" panose="02000503000000000000" charset="0"/>
                              <a:cs typeface="+mn-ea"/>
                              <a:sym typeface="+mn-lt"/>
                            </a:rPr>
                            <m:t>𝑛</m:t>
                          </m:r>
                          <m:r>
                            <a:rPr lang="en-US" altLang="zh-CN" sz="1800" i="1" kern="100">
                              <a:effectLst/>
                              <a:latin typeface="DejaVu Math TeX Gyre" panose="02000503000000000000" charset="0"/>
                              <a:cs typeface="+mn-ea"/>
                              <a:sym typeface="+mn-lt"/>
                            </a:rPr>
                            <m:t>+1</m:t>
                          </m:r>
                        </m:den>
                      </m:f>
                      <m:r>
                        <a:rPr lang="en-US" altLang="zh-CN" sz="1800" i="1" kern="100">
                          <a:effectLst/>
                          <a:latin typeface="DejaVu Math TeX Gyre" panose="02000503000000000000" charset="0"/>
                          <a:cs typeface="+mn-ea"/>
                          <a:sym typeface="+mn-lt"/>
                        </a:rPr>
                        <m:t>−</m:t>
                      </m:r>
                      <m:f>
                        <m:fPr>
                          <m:ctrlPr>
                            <a:rPr lang="zh-CN" altLang="zh-CN" sz="1800" i="1" kern="100">
                              <a:effectLst/>
                              <a:latin typeface="Cambria Math" panose="02040503050406030204" pitchFamily="18" charset="0"/>
                              <a:cs typeface="+mn-ea"/>
                              <a:sym typeface="+mn-lt"/>
                            </a:rPr>
                          </m:ctrlPr>
                        </m:fPr>
                        <m:num>
                          <m:r>
                            <a:rPr lang="en-US" altLang="zh-CN" sz="1800" i="1" kern="100">
                              <a:effectLst/>
                              <a:latin typeface="DejaVu Math TeX Gyre" panose="02000503000000000000" charset="0"/>
                              <a:cs typeface="+mn-ea"/>
                              <a:sym typeface="+mn-lt"/>
                            </a:rPr>
                            <m:t>𝑇</m:t>
                          </m:r>
                          <m:d>
                            <m:dPr>
                              <m:ctrlPr>
                                <a:rPr lang="zh-CN" altLang="zh-CN" sz="1800" i="1" kern="100">
                                  <a:effectLst/>
                                  <a:latin typeface="Cambria Math" panose="02040503050406030204" pitchFamily="18" charset="0"/>
                                  <a:cs typeface="+mn-ea"/>
                                  <a:sym typeface="+mn-lt"/>
                                </a:rPr>
                              </m:ctrlPr>
                            </m:dPr>
                            <m:e>
                              <m:r>
                                <a:rPr lang="en-US" altLang="zh-CN" sz="1800" i="1" kern="100">
                                  <a:effectLst/>
                                  <a:latin typeface="DejaVu Math TeX Gyre" panose="02000503000000000000" charset="0"/>
                                  <a:cs typeface="+mn-ea"/>
                                  <a:sym typeface="+mn-lt"/>
                                </a:rPr>
                                <m:t>𝑛</m:t>
                              </m:r>
                              <m:r>
                                <a:rPr lang="en-US" altLang="zh-CN" sz="1800" i="1" kern="100">
                                  <a:effectLst/>
                                  <a:latin typeface="DejaVu Math TeX Gyre" panose="02000503000000000000" charset="0"/>
                                  <a:cs typeface="+mn-ea"/>
                                  <a:sym typeface="+mn-lt"/>
                                </a:rPr>
                                <m:t>−1</m:t>
                              </m:r>
                            </m:e>
                          </m:d>
                        </m:num>
                        <m:den>
                          <m:r>
                            <a:rPr lang="en-US" altLang="zh-CN" sz="1800" i="1" kern="100">
                              <a:effectLst/>
                              <a:latin typeface="DejaVu Math TeX Gyre" panose="02000503000000000000" charset="0"/>
                              <a:cs typeface="+mn-ea"/>
                              <a:sym typeface="+mn-lt"/>
                            </a:rPr>
                            <m:t>𝑛</m:t>
                          </m:r>
                        </m:den>
                      </m:f>
                      <m:r>
                        <a:rPr lang="en-US" altLang="zh-CN" sz="1800" i="1" kern="100">
                          <a:effectLst/>
                          <a:latin typeface="DejaVu Math TeX Gyre" panose="02000503000000000000" charset="0"/>
                          <a:cs typeface="+mn-ea"/>
                          <a:sym typeface="+mn-lt"/>
                        </a:rPr>
                        <m:t>=</m:t>
                      </m:r>
                      <m:f>
                        <m:fPr>
                          <m:ctrlPr>
                            <a:rPr lang="zh-CN" altLang="zh-CN" sz="1800" i="1" kern="100">
                              <a:effectLst/>
                              <a:latin typeface="Cambria Math" panose="02040503050406030204" pitchFamily="18" charset="0"/>
                              <a:cs typeface="+mn-ea"/>
                              <a:sym typeface="+mn-lt"/>
                            </a:rPr>
                          </m:ctrlPr>
                        </m:fPr>
                        <m:num>
                          <m:r>
                            <a:rPr lang="en-US" altLang="zh-CN" sz="1800" i="1" kern="100">
                              <a:effectLst/>
                              <a:latin typeface="DejaVu Math TeX Gyre" panose="02000503000000000000" charset="0"/>
                              <a:cs typeface="+mn-ea"/>
                              <a:sym typeface="+mn-lt"/>
                            </a:rPr>
                            <m:t>2</m:t>
                          </m:r>
                          <m:r>
                            <a:rPr lang="en-US" altLang="zh-CN" sz="1800" i="1" kern="100">
                              <a:effectLst/>
                              <a:latin typeface="DejaVu Math TeX Gyre" panose="02000503000000000000" charset="0"/>
                              <a:cs typeface="+mn-ea"/>
                              <a:sym typeface="+mn-lt"/>
                            </a:rPr>
                            <m:t>𝑐𝑛</m:t>
                          </m:r>
                          <m:r>
                            <a:rPr lang="en-US" altLang="zh-CN" sz="1800" i="1" kern="100">
                              <a:effectLst/>
                              <a:latin typeface="DejaVu Math TeX Gyre" panose="02000503000000000000" charset="0"/>
                              <a:cs typeface="+mn-ea"/>
                              <a:sym typeface="+mn-lt"/>
                            </a:rPr>
                            <m:t>+</m:t>
                          </m:r>
                          <m:r>
                            <a:rPr lang="en-US" altLang="zh-CN" sz="1800" i="1" kern="100">
                              <a:effectLst/>
                              <a:latin typeface="DejaVu Math TeX Gyre" panose="02000503000000000000" charset="0"/>
                              <a:cs typeface="+mn-ea"/>
                              <a:sym typeface="+mn-lt"/>
                            </a:rPr>
                            <m:t>𝑐</m:t>
                          </m:r>
                          <m:r>
                            <a:rPr lang="en-US" altLang="zh-CN" sz="1800" i="1" kern="100">
                              <a:effectLst/>
                              <a:latin typeface="DejaVu Math TeX Gyre" panose="02000503000000000000" charset="0"/>
                              <a:cs typeface="+mn-ea"/>
                              <a:sym typeface="+mn-lt"/>
                            </a:rPr>
                            <m:t>−2</m:t>
                          </m:r>
                          <m:r>
                            <a:rPr lang="en-US" altLang="zh-CN" sz="1800" i="1" kern="100">
                              <a:effectLst/>
                              <a:latin typeface="DejaVu Math TeX Gyre" panose="02000503000000000000" charset="0"/>
                              <a:cs typeface="+mn-ea"/>
                              <a:sym typeface="+mn-lt"/>
                            </a:rPr>
                            <m:t>𝑐</m:t>
                          </m:r>
                        </m:num>
                        <m:den>
                          <m:r>
                            <a:rPr lang="en-US" altLang="zh-CN" sz="1800" i="1" kern="100">
                              <a:effectLst/>
                              <a:latin typeface="DejaVu Math TeX Gyre" panose="02000503000000000000" charset="0"/>
                              <a:cs typeface="+mn-ea"/>
                              <a:sym typeface="+mn-lt"/>
                            </a:rPr>
                            <m:t>𝑛</m:t>
                          </m:r>
                          <m:d>
                            <m:dPr>
                              <m:ctrlPr>
                                <a:rPr lang="zh-CN" altLang="zh-CN" sz="1800" i="1" kern="100">
                                  <a:effectLst/>
                                  <a:latin typeface="Cambria Math" panose="02040503050406030204" pitchFamily="18" charset="0"/>
                                  <a:cs typeface="+mn-ea"/>
                                  <a:sym typeface="+mn-lt"/>
                                </a:rPr>
                              </m:ctrlPr>
                            </m:dPr>
                            <m:e>
                              <m:r>
                                <a:rPr lang="en-US" altLang="zh-CN" sz="1800" i="1" kern="100">
                                  <a:effectLst/>
                                  <a:latin typeface="DejaVu Math TeX Gyre" panose="02000503000000000000" charset="0"/>
                                  <a:cs typeface="+mn-ea"/>
                                  <a:sym typeface="+mn-lt"/>
                                </a:rPr>
                                <m:t>𝑛</m:t>
                              </m:r>
                              <m:r>
                                <a:rPr lang="en-US" altLang="zh-CN" sz="1800" i="1" kern="100">
                                  <a:effectLst/>
                                  <a:latin typeface="DejaVu Math TeX Gyre" panose="02000503000000000000" charset="0"/>
                                  <a:cs typeface="+mn-ea"/>
                                  <a:sym typeface="+mn-lt"/>
                                </a:rPr>
                                <m:t>+1</m:t>
                              </m:r>
                            </m:e>
                          </m:d>
                        </m:den>
                      </m:f>
                      <m:r>
                        <a:rPr lang="en-US" altLang="zh-CN" sz="1800" i="1" kern="100">
                          <a:effectLst/>
                          <a:latin typeface="DejaVu Math TeX Gyre" panose="02000503000000000000" charset="0"/>
                          <a:cs typeface="+mn-ea"/>
                          <a:sym typeface="+mn-lt"/>
                        </a:rPr>
                        <m:t>=</m:t>
                      </m:r>
                      <m:r>
                        <a:rPr lang="en-US" altLang="zh-CN" sz="1800" i="1" kern="100">
                          <a:effectLst/>
                          <a:latin typeface="DejaVu Math TeX Gyre" panose="02000503000000000000" charset="0"/>
                          <a:cs typeface="+mn-ea"/>
                          <a:sym typeface="+mn-lt"/>
                        </a:rPr>
                        <m:t>𝑐</m:t>
                      </m:r>
                      <m:d>
                        <m:dPr>
                          <m:ctrlPr>
                            <a:rPr lang="zh-CN" altLang="zh-CN" sz="1800" i="1" kern="100">
                              <a:effectLst/>
                              <a:latin typeface="Cambria Math" panose="02040503050406030204" pitchFamily="18" charset="0"/>
                              <a:cs typeface="+mn-ea"/>
                              <a:sym typeface="+mn-lt"/>
                            </a:rPr>
                          </m:ctrlPr>
                        </m:dPr>
                        <m:e>
                          <m:f>
                            <m:fPr>
                              <m:ctrlPr>
                                <a:rPr lang="zh-CN" altLang="zh-CN" sz="1800" i="1" kern="100">
                                  <a:effectLst/>
                                  <a:latin typeface="Cambria Math" panose="02040503050406030204" pitchFamily="18" charset="0"/>
                                  <a:cs typeface="+mn-ea"/>
                                  <a:sym typeface="+mn-lt"/>
                                </a:rPr>
                              </m:ctrlPr>
                            </m:fPr>
                            <m:num>
                              <m:r>
                                <a:rPr lang="en-US" altLang="zh-CN" sz="1800" i="1" kern="100">
                                  <a:effectLst/>
                                  <a:latin typeface="DejaVu Math TeX Gyre" panose="02000503000000000000" charset="0"/>
                                  <a:cs typeface="+mn-ea"/>
                                  <a:sym typeface="+mn-lt"/>
                                </a:rPr>
                                <m:t>1</m:t>
                              </m:r>
                            </m:num>
                            <m:den>
                              <m:r>
                                <a:rPr lang="en-US" altLang="zh-CN" sz="1800" i="1" kern="100">
                                  <a:effectLst/>
                                  <a:latin typeface="DejaVu Math TeX Gyre" panose="02000503000000000000" charset="0"/>
                                  <a:cs typeface="+mn-ea"/>
                                  <a:sym typeface="+mn-lt"/>
                                </a:rPr>
                                <m:t>𝑛</m:t>
                              </m:r>
                            </m:den>
                          </m:f>
                          <m:r>
                            <a:rPr lang="en-US" altLang="zh-CN" sz="1800" i="1" kern="100">
                              <a:effectLst/>
                              <a:latin typeface="DejaVu Math TeX Gyre" panose="02000503000000000000" charset="0"/>
                              <a:cs typeface="+mn-ea"/>
                              <a:sym typeface="+mn-lt"/>
                            </a:rPr>
                            <m:t>+</m:t>
                          </m:r>
                          <m:f>
                            <m:fPr>
                              <m:ctrlPr>
                                <a:rPr lang="zh-CN" altLang="zh-CN" sz="1800" i="1" kern="100">
                                  <a:effectLst/>
                                  <a:latin typeface="Cambria Math" panose="02040503050406030204" pitchFamily="18" charset="0"/>
                                  <a:cs typeface="+mn-ea"/>
                                  <a:sym typeface="+mn-lt"/>
                                </a:rPr>
                              </m:ctrlPr>
                            </m:fPr>
                            <m:num>
                              <m:r>
                                <a:rPr lang="en-US" altLang="zh-CN" sz="1800" i="1" kern="100">
                                  <a:effectLst/>
                                  <a:latin typeface="DejaVu Math TeX Gyre" panose="02000503000000000000" charset="0"/>
                                  <a:cs typeface="+mn-ea"/>
                                  <a:sym typeface="+mn-lt"/>
                                </a:rPr>
                                <m:t>1</m:t>
                              </m:r>
                            </m:num>
                            <m:den>
                              <m:r>
                                <a:rPr lang="en-US" altLang="zh-CN" sz="1800" i="1" kern="100">
                                  <a:effectLst/>
                                  <a:latin typeface="DejaVu Math TeX Gyre" panose="02000503000000000000" charset="0"/>
                                  <a:cs typeface="+mn-ea"/>
                                  <a:sym typeface="+mn-lt"/>
                                </a:rPr>
                                <m:t>𝑛</m:t>
                              </m:r>
                              <m:r>
                                <a:rPr lang="en-US" altLang="zh-CN" sz="1800" i="1" kern="100">
                                  <a:effectLst/>
                                  <a:latin typeface="DejaVu Math TeX Gyre" panose="02000503000000000000" charset="0"/>
                                  <a:cs typeface="+mn-ea"/>
                                  <a:sym typeface="+mn-lt"/>
                                </a:rPr>
                                <m:t>+1</m:t>
                              </m:r>
                            </m:den>
                          </m:f>
                        </m:e>
                      </m:d>
                      <m:r>
                        <a:rPr lang="en-US" altLang="zh-CN" sz="1800" i="1" kern="100">
                          <a:effectLst/>
                          <a:latin typeface="DejaVu Math TeX Gyre" panose="02000503000000000000" charset="0"/>
                          <a:cs typeface="+mn-ea"/>
                          <a:sym typeface="+mn-lt"/>
                        </a:rPr>
                        <m:t>−</m:t>
                      </m:r>
                      <m:f>
                        <m:fPr>
                          <m:ctrlPr>
                            <a:rPr lang="zh-CN" altLang="zh-CN" sz="1800" i="1" kern="100">
                              <a:effectLst/>
                              <a:latin typeface="Cambria Math" panose="02040503050406030204" pitchFamily="18" charset="0"/>
                              <a:cs typeface="+mn-ea"/>
                              <a:sym typeface="+mn-lt"/>
                            </a:rPr>
                          </m:ctrlPr>
                        </m:fPr>
                        <m:num>
                          <m:r>
                            <a:rPr lang="en-US" altLang="zh-CN" sz="1800" i="1" kern="100">
                              <a:effectLst/>
                              <a:latin typeface="DejaVu Math TeX Gyre" panose="02000503000000000000" charset="0"/>
                              <a:cs typeface="+mn-ea"/>
                              <a:sym typeface="+mn-lt"/>
                            </a:rPr>
                            <m:t>2</m:t>
                          </m:r>
                          <m:r>
                            <a:rPr lang="en-US" altLang="zh-CN" sz="1800" i="1" kern="100">
                              <a:effectLst/>
                              <a:latin typeface="DejaVu Math TeX Gyre" panose="02000503000000000000" charset="0"/>
                              <a:cs typeface="+mn-ea"/>
                              <a:sym typeface="+mn-lt"/>
                            </a:rPr>
                            <m:t>𝑐</m:t>
                          </m:r>
                        </m:num>
                        <m:den>
                          <m:r>
                            <a:rPr lang="en-US" altLang="zh-CN" sz="1800" i="1" kern="100">
                              <a:effectLst/>
                              <a:latin typeface="DejaVu Math TeX Gyre" panose="02000503000000000000" charset="0"/>
                              <a:cs typeface="+mn-ea"/>
                              <a:sym typeface="+mn-lt"/>
                            </a:rPr>
                            <m:t>𝑛</m:t>
                          </m:r>
                          <m:d>
                            <m:dPr>
                              <m:ctrlPr>
                                <a:rPr lang="zh-CN" altLang="zh-CN" sz="1800" i="1" kern="100">
                                  <a:effectLst/>
                                  <a:latin typeface="Cambria Math" panose="02040503050406030204" pitchFamily="18" charset="0"/>
                                  <a:cs typeface="+mn-ea"/>
                                  <a:sym typeface="+mn-lt"/>
                                </a:rPr>
                              </m:ctrlPr>
                            </m:dPr>
                            <m:e>
                              <m:r>
                                <a:rPr lang="en-US" altLang="zh-CN" sz="1800" i="1" kern="100">
                                  <a:effectLst/>
                                  <a:latin typeface="DejaVu Math TeX Gyre" panose="02000503000000000000" charset="0"/>
                                  <a:cs typeface="+mn-ea"/>
                                  <a:sym typeface="+mn-lt"/>
                                </a:rPr>
                                <m:t>𝑛</m:t>
                              </m:r>
                              <m:r>
                                <a:rPr lang="en-US" altLang="zh-CN" sz="1800" i="1" kern="100">
                                  <a:effectLst/>
                                  <a:latin typeface="DejaVu Math TeX Gyre" panose="02000503000000000000" charset="0"/>
                                  <a:cs typeface="+mn-ea"/>
                                  <a:sym typeface="+mn-lt"/>
                                </a:rPr>
                                <m:t>+1</m:t>
                              </m:r>
                            </m:e>
                          </m:d>
                        </m:den>
                      </m:f>
                      <m:r>
                        <a:rPr lang="en-US" altLang="zh-CN" sz="1800" i="1" kern="100">
                          <a:effectLst/>
                          <a:latin typeface="DejaVu Math TeX Gyre" panose="02000503000000000000" charset="0"/>
                          <a:cs typeface="+mn-ea"/>
                          <a:sym typeface="+mn-lt"/>
                        </a:rPr>
                        <m:t>=</m:t>
                      </m:r>
                      <m:r>
                        <a:rPr lang="en-US" altLang="zh-CN" sz="1800" i="1" kern="100">
                          <a:effectLst/>
                          <a:latin typeface="DejaVu Math TeX Gyre" panose="02000503000000000000" charset="0"/>
                          <a:cs typeface="+mn-ea"/>
                          <a:sym typeface="+mn-lt"/>
                        </a:rPr>
                        <m:t>𝑐</m:t>
                      </m:r>
                      <m:d>
                        <m:dPr>
                          <m:ctrlPr>
                            <a:rPr lang="zh-CN" altLang="zh-CN" sz="1800" i="1" kern="100">
                              <a:effectLst/>
                              <a:latin typeface="Cambria Math" panose="02040503050406030204" pitchFamily="18" charset="0"/>
                              <a:cs typeface="+mn-ea"/>
                              <a:sym typeface="+mn-lt"/>
                            </a:rPr>
                          </m:ctrlPr>
                        </m:dPr>
                        <m:e>
                          <m:f>
                            <m:fPr>
                              <m:ctrlPr>
                                <a:rPr lang="zh-CN" altLang="zh-CN" sz="1800" i="1" kern="100">
                                  <a:effectLst/>
                                  <a:latin typeface="Cambria Math" panose="02040503050406030204" pitchFamily="18" charset="0"/>
                                  <a:cs typeface="+mn-ea"/>
                                  <a:sym typeface="+mn-lt"/>
                                </a:rPr>
                              </m:ctrlPr>
                            </m:fPr>
                            <m:num>
                              <m:r>
                                <a:rPr lang="en-US" altLang="zh-CN" sz="1800" i="1" kern="100">
                                  <a:effectLst/>
                                  <a:latin typeface="DejaVu Math TeX Gyre" panose="02000503000000000000" charset="0"/>
                                  <a:cs typeface="+mn-ea"/>
                                  <a:sym typeface="+mn-lt"/>
                                </a:rPr>
                                <m:t>1</m:t>
                              </m:r>
                            </m:num>
                            <m:den>
                              <m:r>
                                <a:rPr lang="en-US" altLang="zh-CN" sz="1800" i="1" kern="100">
                                  <a:effectLst/>
                                  <a:latin typeface="DejaVu Math TeX Gyre" panose="02000503000000000000" charset="0"/>
                                  <a:cs typeface="+mn-ea"/>
                                  <a:sym typeface="+mn-lt"/>
                                </a:rPr>
                                <m:t>𝑛</m:t>
                              </m:r>
                            </m:den>
                          </m:f>
                          <m:r>
                            <a:rPr lang="en-US" altLang="zh-CN" sz="1800" i="1" kern="100">
                              <a:effectLst/>
                              <a:latin typeface="DejaVu Math TeX Gyre" panose="02000503000000000000" charset="0"/>
                              <a:cs typeface="+mn-ea"/>
                              <a:sym typeface="+mn-lt"/>
                            </a:rPr>
                            <m:t>+</m:t>
                          </m:r>
                          <m:f>
                            <m:fPr>
                              <m:ctrlPr>
                                <a:rPr lang="zh-CN" altLang="zh-CN" sz="1800" i="1" kern="100">
                                  <a:effectLst/>
                                  <a:latin typeface="Cambria Math" panose="02040503050406030204" pitchFamily="18" charset="0"/>
                                  <a:cs typeface="+mn-ea"/>
                                  <a:sym typeface="+mn-lt"/>
                                </a:rPr>
                              </m:ctrlPr>
                            </m:fPr>
                            <m:num>
                              <m:r>
                                <a:rPr lang="en-US" altLang="zh-CN" sz="1800" i="1" kern="100">
                                  <a:effectLst/>
                                  <a:latin typeface="DejaVu Math TeX Gyre" panose="02000503000000000000" charset="0"/>
                                  <a:cs typeface="+mn-ea"/>
                                  <a:sym typeface="+mn-lt"/>
                                </a:rPr>
                                <m:t>1</m:t>
                              </m:r>
                            </m:num>
                            <m:den>
                              <m:r>
                                <a:rPr lang="en-US" altLang="zh-CN" sz="1800" i="1" kern="100">
                                  <a:effectLst/>
                                  <a:latin typeface="DejaVu Math TeX Gyre" panose="02000503000000000000" charset="0"/>
                                  <a:cs typeface="+mn-ea"/>
                                  <a:sym typeface="+mn-lt"/>
                                </a:rPr>
                                <m:t>𝑛</m:t>
                              </m:r>
                              <m:r>
                                <a:rPr lang="en-US" altLang="zh-CN" sz="1800" i="1" kern="100">
                                  <a:effectLst/>
                                  <a:latin typeface="DejaVu Math TeX Gyre" panose="02000503000000000000" charset="0"/>
                                  <a:cs typeface="+mn-ea"/>
                                  <a:sym typeface="+mn-lt"/>
                                </a:rPr>
                                <m:t>+1</m:t>
                              </m:r>
                            </m:den>
                          </m:f>
                        </m:e>
                      </m:d>
                      <m:r>
                        <a:rPr lang="en-US" altLang="zh-CN" sz="1800" i="1" kern="100">
                          <a:effectLst/>
                          <a:latin typeface="DejaVu Math TeX Gyre" panose="02000503000000000000" charset="0"/>
                          <a:cs typeface="+mn-ea"/>
                          <a:sym typeface="+mn-lt"/>
                        </a:rPr>
                        <m:t>−2</m:t>
                      </m:r>
                      <m:r>
                        <a:rPr lang="en-US" altLang="zh-CN" sz="1800" i="1" kern="100">
                          <a:effectLst/>
                          <a:latin typeface="DejaVu Math TeX Gyre" panose="02000503000000000000" charset="0"/>
                          <a:cs typeface="+mn-ea"/>
                          <a:sym typeface="+mn-lt"/>
                        </a:rPr>
                        <m:t>𝑐</m:t>
                      </m:r>
                      <m:d>
                        <m:dPr>
                          <m:ctrlPr>
                            <a:rPr lang="zh-CN" altLang="zh-CN" sz="1800" i="1" kern="100">
                              <a:effectLst/>
                              <a:latin typeface="Cambria Math" panose="02040503050406030204" pitchFamily="18" charset="0"/>
                              <a:cs typeface="+mn-ea"/>
                              <a:sym typeface="+mn-lt"/>
                            </a:rPr>
                          </m:ctrlPr>
                        </m:dPr>
                        <m:e>
                          <m:f>
                            <m:fPr>
                              <m:ctrlPr>
                                <a:rPr lang="zh-CN" altLang="zh-CN" sz="1800" i="1" kern="100">
                                  <a:effectLst/>
                                  <a:latin typeface="Cambria Math" panose="02040503050406030204" pitchFamily="18" charset="0"/>
                                  <a:cs typeface="+mn-ea"/>
                                  <a:sym typeface="+mn-lt"/>
                                </a:rPr>
                              </m:ctrlPr>
                            </m:fPr>
                            <m:num>
                              <m:r>
                                <a:rPr lang="en-US" altLang="zh-CN" sz="1800" i="1" kern="100">
                                  <a:effectLst/>
                                  <a:latin typeface="DejaVu Math TeX Gyre" panose="02000503000000000000" charset="0"/>
                                  <a:cs typeface="+mn-ea"/>
                                  <a:sym typeface="+mn-lt"/>
                                </a:rPr>
                                <m:t>1</m:t>
                              </m:r>
                            </m:num>
                            <m:den>
                              <m:r>
                                <a:rPr lang="en-US" altLang="zh-CN" sz="1800" i="1" kern="100">
                                  <a:effectLst/>
                                  <a:latin typeface="DejaVu Math TeX Gyre" panose="02000503000000000000" charset="0"/>
                                  <a:cs typeface="+mn-ea"/>
                                  <a:sym typeface="+mn-lt"/>
                                </a:rPr>
                                <m:t>𝑛</m:t>
                              </m:r>
                            </m:den>
                          </m:f>
                          <m:r>
                            <a:rPr lang="en-US" altLang="zh-CN" sz="1800" i="1" kern="100">
                              <a:effectLst/>
                              <a:latin typeface="DejaVu Math TeX Gyre" panose="02000503000000000000" charset="0"/>
                              <a:cs typeface="+mn-ea"/>
                              <a:sym typeface="+mn-lt"/>
                            </a:rPr>
                            <m:t>−</m:t>
                          </m:r>
                          <m:f>
                            <m:fPr>
                              <m:ctrlPr>
                                <a:rPr lang="zh-CN" altLang="zh-CN" sz="1800" i="1" kern="100">
                                  <a:effectLst/>
                                  <a:latin typeface="Cambria Math" panose="02040503050406030204" pitchFamily="18" charset="0"/>
                                  <a:cs typeface="+mn-ea"/>
                                  <a:sym typeface="+mn-lt"/>
                                </a:rPr>
                              </m:ctrlPr>
                            </m:fPr>
                            <m:num>
                              <m:r>
                                <a:rPr lang="en-US" altLang="zh-CN" sz="1800" i="1" kern="100">
                                  <a:effectLst/>
                                  <a:latin typeface="DejaVu Math TeX Gyre" panose="02000503000000000000" charset="0"/>
                                  <a:cs typeface="+mn-ea"/>
                                  <a:sym typeface="+mn-lt"/>
                                </a:rPr>
                                <m:t>1</m:t>
                              </m:r>
                            </m:num>
                            <m:den>
                              <m:r>
                                <a:rPr lang="en-US" altLang="zh-CN" sz="1800" i="1" kern="100">
                                  <a:effectLst/>
                                  <a:latin typeface="DejaVu Math TeX Gyre" panose="02000503000000000000" charset="0"/>
                                  <a:cs typeface="+mn-ea"/>
                                  <a:sym typeface="+mn-lt"/>
                                </a:rPr>
                                <m:t>𝑛</m:t>
                              </m:r>
                              <m:r>
                                <a:rPr lang="en-US" altLang="zh-CN" sz="1800" i="1" kern="100">
                                  <a:effectLst/>
                                  <a:latin typeface="DejaVu Math TeX Gyre" panose="02000503000000000000" charset="0"/>
                                  <a:cs typeface="+mn-ea"/>
                                  <a:sym typeface="+mn-lt"/>
                                </a:rPr>
                                <m:t>+1</m:t>
                              </m:r>
                            </m:den>
                          </m:f>
                        </m:e>
                      </m:d>
                      <m:r>
                        <a:rPr lang="en-US" altLang="zh-CN" sz="1800" i="1" kern="100">
                          <a:effectLst/>
                          <a:latin typeface="DejaVu Math TeX Gyre" panose="02000503000000000000" charset="0"/>
                          <a:cs typeface="+mn-ea"/>
                          <a:sym typeface="+mn-lt"/>
                        </a:rPr>
                        <m:t>=</m:t>
                      </m:r>
                      <m:r>
                        <a:rPr lang="en-US" altLang="zh-CN" sz="1800" i="1" kern="100">
                          <a:effectLst/>
                          <a:latin typeface="DejaVu Math TeX Gyre" panose="02000503000000000000" charset="0"/>
                          <a:cs typeface="+mn-ea"/>
                          <a:sym typeface="+mn-lt"/>
                        </a:rPr>
                        <m:t>𝑐</m:t>
                      </m:r>
                      <m:r>
                        <a:rPr lang="en-US" altLang="zh-CN" sz="1800" i="1" kern="100">
                          <a:effectLst/>
                          <a:latin typeface="DejaVu Math TeX Gyre" panose="02000503000000000000" charset="0"/>
                          <a:cs typeface="+mn-ea"/>
                          <a:sym typeface="+mn-lt"/>
                        </a:rPr>
                        <m:t>(</m:t>
                      </m:r>
                      <m:f>
                        <m:fPr>
                          <m:ctrlPr>
                            <a:rPr lang="zh-CN" altLang="zh-CN" sz="1800" i="1" kern="100">
                              <a:effectLst/>
                              <a:latin typeface="Cambria Math" panose="02040503050406030204" pitchFamily="18" charset="0"/>
                              <a:cs typeface="+mn-ea"/>
                              <a:sym typeface="+mn-lt"/>
                            </a:rPr>
                          </m:ctrlPr>
                        </m:fPr>
                        <m:num>
                          <m:r>
                            <a:rPr lang="en-US" altLang="zh-CN" sz="1800" i="1" kern="100">
                              <a:effectLst/>
                              <a:latin typeface="DejaVu Math TeX Gyre" panose="02000503000000000000" charset="0"/>
                              <a:cs typeface="+mn-ea"/>
                              <a:sym typeface="+mn-lt"/>
                            </a:rPr>
                            <m:t>3</m:t>
                          </m:r>
                        </m:num>
                        <m:den>
                          <m:r>
                            <a:rPr lang="en-US" altLang="zh-CN" sz="1800" i="1" kern="100">
                              <a:effectLst/>
                              <a:latin typeface="DejaVu Math TeX Gyre" panose="02000503000000000000" charset="0"/>
                              <a:cs typeface="+mn-ea"/>
                              <a:sym typeface="+mn-lt"/>
                            </a:rPr>
                            <m:t>𝑛</m:t>
                          </m:r>
                          <m:r>
                            <a:rPr lang="en-US" altLang="zh-CN" sz="1800" i="1" kern="100">
                              <a:effectLst/>
                              <a:latin typeface="DejaVu Math TeX Gyre" panose="02000503000000000000" charset="0"/>
                              <a:cs typeface="+mn-ea"/>
                              <a:sym typeface="+mn-lt"/>
                            </a:rPr>
                            <m:t>+1</m:t>
                          </m:r>
                        </m:den>
                      </m:f>
                      <m:r>
                        <a:rPr lang="en-US" altLang="zh-CN" sz="1800" i="1" kern="100">
                          <a:effectLst/>
                          <a:latin typeface="DejaVu Math TeX Gyre" panose="02000503000000000000" charset="0"/>
                          <a:cs typeface="+mn-ea"/>
                          <a:sym typeface="+mn-lt"/>
                        </a:rPr>
                        <m:t>−</m:t>
                      </m:r>
                      <m:f>
                        <m:fPr>
                          <m:ctrlPr>
                            <a:rPr lang="zh-CN" altLang="zh-CN" sz="1800" i="1" kern="100">
                              <a:effectLst/>
                              <a:latin typeface="Cambria Math" panose="02040503050406030204" pitchFamily="18" charset="0"/>
                              <a:cs typeface="+mn-ea"/>
                              <a:sym typeface="+mn-lt"/>
                            </a:rPr>
                          </m:ctrlPr>
                        </m:fPr>
                        <m:num>
                          <m:r>
                            <a:rPr lang="en-US" altLang="zh-CN" sz="1800" i="1" kern="100">
                              <a:effectLst/>
                              <a:latin typeface="DejaVu Math TeX Gyre" panose="02000503000000000000" charset="0"/>
                              <a:cs typeface="+mn-ea"/>
                              <a:sym typeface="+mn-lt"/>
                            </a:rPr>
                            <m:t>1</m:t>
                          </m:r>
                        </m:num>
                        <m:den>
                          <m:r>
                            <a:rPr lang="en-US" altLang="zh-CN" sz="1800" i="1" kern="100">
                              <a:effectLst/>
                              <a:latin typeface="DejaVu Math TeX Gyre" panose="02000503000000000000" charset="0"/>
                              <a:cs typeface="+mn-ea"/>
                              <a:sym typeface="+mn-lt"/>
                            </a:rPr>
                            <m:t>𝑛</m:t>
                          </m:r>
                        </m:den>
                      </m:f>
                      <m:r>
                        <a:rPr lang="en-US" altLang="zh-CN" sz="1800" i="1" kern="100" smtClean="0">
                          <a:effectLst/>
                          <a:latin typeface="DejaVu Math TeX Gyre" panose="02000503000000000000" charset="0"/>
                          <a:cs typeface="+mn-ea"/>
                          <a:sym typeface="+mn-lt"/>
                        </a:rPr>
                        <m:t>)</m:t>
                      </m:r>
                    </m:oMath>
                  </m:oMathPara>
                </a14:m>
                <a:endParaRPr lang="zh-CN" altLang="zh-CN" sz="1800" kern="100" dirty="0">
                  <a:effectLst/>
                  <a:cs typeface="+mn-ea"/>
                  <a:sym typeface="+mn-lt"/>
                </a:endParaRPr>
              </a:p>
              <a:p>
                <a:pPr algn="l">
                  <a:lnSpc>
                    <a:spcPct val="120000"/>
                  </a:lnSpc>
                </a:pPr>
                <a:r>
                  <a:rPr lang="en-US" altLang="zh-CN" sz="1800" kern="100" dirty="0">
                    <a:effectLst/>
                    <a:cs typeface="+mn-ea"/>
                    <a:sym typeface="+mn-lt"/>
                  </a:rPr>
                  <a:t>									……</a:t>
                </a:r>
              </a:p>
              <a:p>
                <a:pPr>
                  <a:lnSpc>
                    <a:spcPct val="120000"/>
                  </a:lnSpc>
                </a:pPr>
                <a14:m>
                  <m:oMathPara xmlns:m="http://schemas.openxmlformats.org/officeDocument/2006/math">
                    <m:oMathParaPr>
                      <m:jc m:val="centerGroup"/>
                    </m:oMathParaPr>
                    <m:oMath xmlns:m="http://schemas.openxmlformats.org/officeDocument/2006/math">
                      <m:f>
                        <m:fPr>
                          <m:ctrlPr>
                            <a:rPr lang="zh-CN" altLang="zh-CN" sz="1800" i="1" kern="100" smtClean="0">
                              <a:effectLst/>
                              <a:latin typeface="Cambria Math" panose="02040503050406030204" pitchFamily="18" charset="0"/>
                              <a:cs typeface="+mn-ea"/>
                              <a:sym typeface="+mn-lt"/>
                            </a:rPr>
                          </m:ctrlPr>
                        </m:fPr>
                        <m:num>
                          <m:r>
                            <a:rPr lang="en-US" altLang="zh-CN" sz="1800" i="1" kern="100">
                              <a:effectLst/>
                              <a:latin typeface="DejaVu Math TeX Gyre" panose="02000503000000000000" charset="0"/>
                              <a:cs typeface="+mn-ea"/>
                              <a:sym typeface="+mn-lt"/>
                            </a:rPr>
                            <m:t>𝑇</m:t>
                          </m:r>
                          <m:r>
                            <a:rPr lang="en-US" altLang="zh-CN" sz="1800" i="1" kern="100">
                              <a:effectLst/>
                              <a:latin typeface="DejaVu Math TeX Gyre" panose="02000503000000000000" charset="0"/>
                              <a:cs typeface="+mn-ea"/>
                              <a:sym typeface="+mn-lt"/>
                            </a:rPr>
                            <m:t>(1)</m:t>
                          </m:r>
                        </m:num>
                        <m:den>
                          <m:r>
                            <a:rPr lang="en-US" altLang="zh-CN" sz="1800" i="1" kern="100">
                              <a:effectLst/>
                              <a:latin typeface="DejaVu Math TeX Gyre" panose="02000503000000000000" charset="0"/>
                              <a:cs typeface="+mn-ea"/>
                              <a:sym typeface="+mn-lt"/>
                            </a:rPr>
                            <m:t>2</m:t>
                          </m:r>
                        </m:den>
                      </m:f>
                      <m:r>
                        <a:rPr lang="en-US" altLang="zh-CN" sz="1800" i="1" kern="100">
                          <a:effectLst/>
                          <a:latin typeface="DejaVu Math TeX Gyre" panose="02000503000000000000" charset="0"/>
                          <a:cs typeface="+mn-ea"/>
                          <a:sym typeface="+mn-lt"/>
                        </a:rPr>
                        <m:t>−</m:t>
                      </m:r>
                      <m:f>
                        <m:fPr>
                          <m:ctrlPr>
                            <a:rPr lang="zh-CN" altLang="zh-CN" sz="1800" i="1" kern="100">
                              <a:effectLst/>
                              <a:latin typeface="Cambria Math" panose="02040503050406030204" pitchFamily="18" charset="0"/>
                              <a:cs typeface="+mn-ea"/>
                              <a:sym typeface="+mn-lt"/>
                            </a:rPr>
                          </m:ctrlPr>
                        </m:fPr>
                        <m:num>
                          <m:r>
                            <a:rPr lang="en-US" altLang="zh-CN" sz="1800" i="1" kern="100">
                              <a:effectLst/>
                              <a:latin typeface="DejaVu Math TeX Gyre" panose="02000503000000000000" charset="0"/>
                              <a:cs typeface="+mn-ea"/>
                              <a:sym typeface="+mn-lt"/>
                            </a:rPr>
                            <m:t>𝑇</m:t>
                          </m:r>
                          <m:d>
                            <m:dPr>
                              <m:ctrlPr>
                                <a:rPr lang="zh-CN" altLang="zh-CN" sz="1800" i="1" kern="100">
                                  <a:effectLst/>
                                  <a:latin typeface="Cambria Math" panose="02040503050406030204" pitchFamily="18" charset="0"/>
                                  <a:cs typeface="+mn-ea"/>
                                  <a:sym typeface="+mn-lt"/>
                                </a:rPr>
                              </m:ctrlPr>
                            </m:dPr>
                            <m:e>
                              <m:r>
                                <a:rPr lang="en-US" altLang="zh-CN" sz="1800" i="1" kern="100">
                                  <a:effectLst/>
                                  <a:latin typeface="DejaVu Math TeX Gyre" panose="02000503000000000000" charset="0"/>
                                  <a:cs typeface="+mn-ea"/>
                                  <a:sym typeface="+mn-lt"/>
                                </a:rPr>
                                <m:t>0</m:t>
                              </m:r>
                            </m:e>
                          </m:d>
                        </m:num>
                        <m:den>
                          <m:r>
                            <a:rPr lang="en-US" altLang="zh-CN" sz="1800" i="1" kern="100">
                              <a:effectLst/>
                              <a:latin typeface="DejaVu Math TeX Gyre" panose="02000503000000000000" charset="0"/>
                              <a:cs typeface="+mn-ea"/>
                              <a:sym typeface="+mn-lt"/>
                            </a:rPr>
                            <m:t>1</m:t>
                          </m:r>
                        </m:den>
                      </m:f>
                      <m:r>
                        <a:rPr lang="en-US" altLang="zh-CN" sz="1800" i="1" kern="100">
                          <a:effectLst/>
                          <a:latin typeface="DejaVu Math TeX Gyre" panose="02000503000000000000" charset="0"/>
                          <a:cs typeface="+mn-ea"/>
                          <a:sym typeface="+mn-lt"/>
                        </a:rPr>
                        <m:t>=</m:t>
                      </m:r>
                      <m:r>
                        <a:rPr lang="en-US" altLang="zh-CN" sz="1800" i="1" kern="100">
                          <a:effectLst/>
                          <a:latin typeface="DejaVu Math TeX Gyre" panose="02000503000000000000" charset="0"/>
                          <a:cs typeface="+mn-ea"/>
                          <a:sym typeface="+mn-lt"/>
                        </a:rPr>
                        <m:t>𝑐</m:t>
                      </m:r>
                      <m:r>
                        <a:rPr lang="en-US" altLang="zh-CN" sz="1800" i="1" kern="100">
                          <a:effectLst/>
                          <a:latin typeface="DejaVu Math TeX Gyre" panose="02000503000000000000" charset="0"/>
                          <a:cs typeface="+mn-ea"/>
                          <a:sym typeface="+mn-lt"/>
                        </a:rPr>
                        <m:t>(</m:t>
                      </m:r>
                      <m:f>
                        <m:fPr>
                          <m:ctrlPr>
                            <a:rPr lang="zh-CN" altLang="zh-CN" sz="1800" i="1" kern="100">
                              <a:effectLst/>
                              <a:latin typeface="Cambria Math" panose="02040503050406030204" pitchFamily="18" charset="0"/>
                              <a:cs typeface="+mn-ea"/>
                              <a:sym typeface="+mn-lt"/>
                            </a:rPr>
                          </m:ctrlPr>
                        </m:fPr>
                        <m:num>
                          <m:r>
                            <a:rPr lang="en-US" altLang="zh-CN" sz="1800" i="1" kern="100">
                              <a:effectLst/>
                              <a:latin typeface="DejaVu Math TeX Gyre" panose="02000503000000000000" charset="0"/>
                              <a:cs typeface="+mn-ea"/>
                              <a:sym typeface="+mn-lt"/>
                            </a:rPr>
                            <m:t>3</m:t>
                          </m:r>
                        </m:num>
                        <m:den>
                          <m:r>
                            <a:rPr lang="en-US" altLang="zh-CN" sz="1800" i="1" kern="100">
                              <a:effectLst/>
                              <a:latin typeface="DejaVu Math TeX Gyre" panose="02000503000000000000" charset="0"/>
                              <a:cs typeface="+mn-ea"/>
                              <a:sym typeface="+mn-lt"/>
                            </a:rPr>
                            <m:t>2</m:t>
                          </m:r>
                        </m:den>
                      </m:f>
                      <m:r>
                        <a:rPr lang="en-US" altLang="zh-CN" sz="1800" i="1" kern="100">
                          <a:effectLst/>
                          <a:latin typeface="DejaVu Math TeX Gyre" panose="02000503000000000000" charset="0"/>
                          <a:cs typeface="+mn-ea"/>
                          <a:sym typeface="+mn-lt"/>
                        </a:rPr>
                        <m:t>−</m:t>
                      </m:r>
                      <m:f>
                        <m:fPr>
                          <m:ctrlPr>
                            <a:rPr lang="zh-CN" altLang="zh-CN" sz="1800" i="1" kern="100">
                              <a:effectLst/>
                              <a:latin typeface="Cambria Math" panose="02040503050406030204" pitchFamily="18" charset="0"/>
                              <a:cs typeface="+mn-ea"/>
                              <a:sym typeface="+mn-lt"/>
                            </a:rPr>
                          </m:ctrlPr>
                        </m:fPr>
                        <m:num>
                          <m:r>
                            <a:rPr lang="en-US" altLang="zh-CN" sz="1800" i="1" kern="100">
                              <a:effectLst/>
                              <a:latin typeface="DejaVu Math TeX Gyre" panose="02000503000000000000" charset="0"/>
                              <a:cs typeface="+mn-ea"/>
                              <a:sym typeface="+mn-lt"/>
                            </a:rPr>
                            <m:t>1</m:t>
                          </m:r>
                        </m:num>
                        <m:den>
                          <m:r>
                            <a:rPr lang="en-US" altLang="zh-CN" sz="1800" i="1" kern="100">
                              <a:effectLst/>
                              <a:latin typeface="DejaVu Math TeX Gyre" panose="02000503000000000000" charset="0"/>
                              <a:cs typeface="+mn-ea"/>
                              <a:sym typeface="+mn-lt"/>
                            </a:rPr>
                            <m:t>1</m:t>
                          </m:r>
                        </m:den>
                      </m:f>
                      <m:r>
                        <a:rPr lang="en-US" altLang="zh-CN" sz="1800" i="1" kern="100">
                          <a:effectLst/>
                          <a:latin typeface="DejaVu Math TeX Gyre" panose="02000503000000000000" charset="0"/>
                          <a:cs typeface="+mn-ea"/>
                          <a:sym typeface="+mn-lt"/>
                        </a:rPr>
                        <m:t>)</m:t>
                      </m:r>
                    </m:oMath>
                  </m:oMathPara>
                </a14:m>
                <a:endParaRPr lang="zh-CN" altLang="zh-CN" sz="1800" kern="100" dirty="0">
                  <a:effectLst/>
                  <a:cs typeface="+mn-ea"/>
                  <a:sym typeface="+mn-lt"/>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1371600" y="685800"/>
                <a:ext cx="8458200" cy="5864225"/>
              </a:xfrm>
              <a:prstGeom prst="rect">
                <a:avLst/>
              </a:prstGeom>
              <a:blipFill rotWithShape="1">
                <a:blip r:embed="rId2"/>
                <a:stretch>
                  <a:fillRect/>
                </a:stretch>
              </a:blipFill>
            </p:spPr>
            <p:txBody>
              <a:bodyPr/>
              <a:lstStyle/>
              <a:p>
                <a:r>
                  <a:rPr lang="zh-CN" alt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9347200" y="6356350"/>
            <a:ext cx="2844800" cy="365125"/>
          </a:xfrm>
          <a:prstGeom prst="rect">
            <a:avLst/>
          </a:prstGeom>
        </p:spPr>
        <p:txBody>
          <a:bodyPr/>
          <a:lstStyle/>
          <a:p>
            <a:pPr algn="r">
              <a:lnSpc>
                <a:spcPct val="120000"/>
              </a:lnSpc>
              <a:spcBef>
                <a:spcPts val="300"/>
              </a:spcBef>
            </a:pPr>
            <a:fld id="{0063EC4C-CFD8-4F45-A0A2-30028C1F73DB}" type="slidenum">
              <a:rPr lang="zh-CN" altLang="en-US" smtClean="0">
                <a:cs typeface="+mn-ea"/>
                <a:sym typeface="+mn-lt"/>
              </a:rPr>
              <a:t>18</a:t>
            </a:fld>
            <a:endParaRPr lang="zh-CN" altLang="en-US">
              <a:cs typeface="+mn-ea"/>
              <a:sym typeface="+mn-lt"/>
            </a:endParaRPr>
          </a:p>
        </p:txBody>
      </p:sp>
      <mc:AlternateContent xmlns:mc="http://schemas.openxmlformats.org/markup-compatibility/2006" xmlns:a14="http://schemas.microsoft.com/office/drawing/2010/main">
        <mc:Choice Requires="a14">
          <p:sp>
            <p:nvSpPr>
              <p:cNvPr id="5" name="文本框 4"/>
              <p:cNvSpPr txBox="1"/>
              <p:nvPr/>
            </p:nvSpPr>
            <p:spPr>
              <a:xfrm>
                <a:off x="1828800" y="838200"/>
                <a:ext cx="9220200" cy="5644943"/>
              </a:xfrm>
              <a:prstGeom prst="rect">
                <a:avLst/>
              </a:prstGeom>
              <a:noFill/>
            </p:spPr>
            <p:txBody>
              <a:bodyPr wrap="square">
                <a:spAutoFit/>
              </a:bodyPr>
              <a:lstStyle/>
              <a:p>
                <a:pPr algn="l">
                  <a:lnSpc>
                    <a:spcPct val="120000"/>
                  </a:lnSpc>
                  <a:spcBef>
                    <a:spcPts val="1200"/>
                  </a:spcBef>
                  <a:spcAft>
                    <a:spcPts val="600"/>
                  </a:spcAft>
                </a:pPr>
                <a:r>
                  <a:rPr lang="zh-CN" altLang="zh-CN" sz="2400" kern="100" dirty="0">
                    <a:effectLst/>
                    <a:cs typeface="+mn-ea"/>
                    <a:sym typeface="+mn-lt"/>
                  </a:rPr>
                  <a:t>左右两边求和，得：</a:t>
                </a:r>
              </a:p>
              <a:p>
                <a:pPr algn="l">
                  <a:lnSpc>
                    <a:spcPct val="120000"/>
                  </a:lnSpc>
                  <a:spcAft>
                    <a:spcPct val="0"/>
                  </a:spcAft>
                </a:pPr>
                <a14:m>
                  <m:oMathPara xmlns:m="http://schemas.openxmlformats.org/officeDocument/2006/math">
                    <m:oMathParaPr>
                      <m:jc m:val="centerGroup"/>
                    </m:oMathParaPr>
                    <m:oMath xmlns:m="http://schemas.openxmlformats.org/officeDocument/2006/math">
                      <m:f>
                        <m:fPr>
                          <m:ctrlPr>
                            <a:rPr lang="zh-CN" altLang="zh-CN" sz="2000" i="1" kern="100">
                              <a:effectLst/>
                              <a:latin typeface="Cambria Math" panose="02040503050406030204" pitchFamily="18" charset="0"/>
                              <a:cs typeface="+mn-ea"/>
                              <a:sym typeface="+mn-lt"/>
                            </a:rPr>
                          </m:ctrlPr>
                        </m:fPr>
                        <m:num>
                          <m:r>
                            <a:rPr lang="en-US" altLang="zh-CN" sz="2000" i="1" kern="100">
                              <a:effectLst/>
                              <a:latin typeface="DejaVu Math TeX Gyre" panose="02000503000000000000" charset="0"/>
                              <a:cs typeface="+mn-ea"/>
                              <a:sym typeface="+mn-lt"/>
                            </a:rPr>
                            <m:t>𝑇</m:t>
                          </m:r>
                          <m:d>
                            <m:dPr>
                              <m:ctrlPr>
                                <a:rPr lang="zh-CN" altLang="zh-CN" sz="2000" i="1" kern="100">
                                  <a:effectLst/>
                                  <a:latin typeface="Cambria Math" panose="02040503050406030204" pitchFamily="18" charset="0"/>
                                  <a:cs typeface="+mn-ea"/>
                                  <a:sym typeface="+mn-lt"/>
                                </a:rPr>
                              </m:ctrlPr>
                            </m:dPr>
                            <m:e>
                              <m:r>
                                <a:rPr lang="en-US" altLang="zh-CN" sz="2000" i="1" kern="100">
                                  <a:effectLst/>
                                  <a:latin typeface="DejaVu Math TeX Gyre" panose="02000503000000000000" charset="0"/>
                                  <a:cs typeface="+mn-ea"/>
                                  <a:sym typeface="+mn-lt"/>
                                </a:rPr>
                                <m:t>𝑛</m:t>
                              </m:r>
                            </m:e>
                          </m:d>
                        </m:num>
                        <m:den>
                          <m:r>
                            <a:rPr lang="en-US" altLang="zh-CN" sz="2000" i="1" kern="100">
                              <a:effectLst/>
                              <a:latin typeface="DejaVu Math TeX Gyre" panose="02000503000000000000" charset="0"/>
                              <a:cs typeface="+mn-ea"/>
                              <a:sym typeface="+mn-lt"/>
                            </a:rPr>
                            <m:t>𝑛</m:t>
                          </m:r>
                          <m:r>
                            <a:rPr lang="en-US" altLang="zh-CN" sz="2000" i="1" kern="100">
                              <a:effectLst/>
                              <a:latin typeface="DejaVu Math TeX Gyre" panose="02000503000000000000" charset="0"/>
                              <a:cs typeface="+mn-ea"/>
                              <a:sym typeface="+mn-lt"/>
                            </a:rPr>
                            <m:t>+1</m:t>
                          </m:r>
                        </m:den>
                      </m:f>
                      <m:r>
                        <a:rPr lang="en-US" altLang="zh-CN" sz="2000" i="1" kern="100">
                          <a:effectLst/>
                          <a:latin typeface="DejaVu Math TeX Gyre" panose="02000503000000000000" charset="0"/>
                          <a:cs typeface="+mn-ea"/>
                          <a:sym typeface="+mn-lt"/>
                        </a:rPr>
                        <m:t>−</m:t>
                      </m:r>
                      <m:f>
                        <m:fPr>
                          <m:ctrlPr>
                            <a:rPr lang="zh-CN" altLang="zh-CN" sz="2000" i="1" kern="100">
                              <a:effectLst/>
                              <a:latin typeface="Cambria Math" panose="02040503050406030204" pitchFamily="18" charset="0"/>
                              <a:cs typeface="+mn-ea"/>
                              <a:sym typeface="+mn-lt"/>
                            </a:rPr>
                          </m:ctrlPr>
                        </m:fPr>
                        <m:num>
                          <m:r>
                            <a:rPr lang="en-US" altLang="zh-CN" sz="2000" i="1" kern="100">
                              <a:effectLst/>
                              <a:latin typeface="DejaVu Math TeX Gyre" panose="02000503000000000000" charset="0"/>
                              <a:cs typeface="+mn-ea"/>
                              <a:sym typeface="+mn-lt"/>
                            </a:rPr>
                            <m:t>𝑇</m:t>
                          </m:r>
                          <m:d>
                            <m:dPr>
                              <m:ctrlPr>
                                <a:rPr lang="zh-CN" altLang="zh-CN" sz="2000" i="1" kern="100">
                                  <a:effectLst/>
                                  <a:latin typeface="Cambria Math" panose="02040503050406030204" pitchFamily="18" charset="0"/>
                                  <a:cs typeface="+mn-ea"/>
                                  <a:sym typeface="+mn-lt"/>
                                </a:rPr>
                              </m:ctrlPr>
                            </m:dPr>
                            <m:e>
                              <m:r>
                                <a:rPr lang="en-US" altLang="zh-CN" sz="2000" i="1" kern="100">
                                  <a:effectLst/>
                                  <a:latin typeface="DejaVu Math TeX Gyre" panose="02000503000000000000" charset="0"/>
                                  <a:cs typeface="+mn-ea"/>
                                  <a:sym typeface="+mn-lt"/>
                                </a:rPr>
                                <m:t>0</m:t>
                              </m:r>
                            </m:e>
                          </m:d>
                        </m:num>
                        <m:den>
                          <m:r>
                            <a:rPr lang="en-US" altLang="zh-CN" sz="2000" i="1" kern="100">
                              <a:effectLst/>
                              <a:latin typeface="DejaVu Math TeX Gyre" panose="02000503000000000000" charset="0"/>
                              <a:cs typeface="+mn-ea"/>
                              <a:sym typeface="+mn-lt"/>
                            </a:rPr>
                            <m:t>1</m:t>
                          </m:r>
                        </m:den>
                      </m:f>
                      <m:r>
                        <a:rPr lang="en-US" altLang="zh-CN" sz="2000" i="1" kern="100">
                          <a:effectLst/>
                          <a:latin typeface="DejaVu Math TeX Gyre" panose="02000503000000000000" charset="0"/>
                          <a:cs typeface="+mn-ea"/>
                          <a:sym typeface="+mn-lt"/>
                        </a:rPr>
                        <m:t>=3</m:t>
                      </m:r>
                      <m:r>
                        <a:rPr lang="en-US" altLang="zh-CN" sz="2000" i="1" kern="100">
                          <a:effectLst/>
                          <a:latin typeface="DejaVu Math TeX Gyre" panose="02000503000000000000" charset="0"/>
                          <a:cs typeface="+mn-ea"/>
                          <a:sym typeface="+mn-lt"/>
                        </a:rPr>
                        <m:t>𝑐</m:t>
                      </m:r>
                      <m:d>
                        <m:dPr>
                          <m:ctrlPr>
                            <a:rPr lang="zh-CN" altLang="zh-CN" sz="2000" i="1" kern="100">
                              <a:effectLst/>
                              <a:latin typeface="Cambria Math" panose="02040503050406030204" pitchFamily="18" charset="0"/>
                              <a:cs typeface="+mn-ea"/>
                              <a:sym typeface="+mn-lt"/>
                            </a:rPr>
                          </m:ctrlPr>
                        </m:dPr>
                        <m:e>
                          <m:f>
                            <m:fPr>
                              <m:ctrlPr>
                                <a:rPr lang="zh-CN" altLang="zh-CN" sz="2000" i="1" kern="100">
                                  <a:effectLst/>
                                  <a:latin typeface="Cambria Math" panose="02040503050406030204" pitchFamily="18" charset="0"/>
                                  <a:cs typeface="+mn-ea"/>
                                  <a:sym typeface="+mn-lt"/>
                                </a:rPr>
                              </m:ctrlPr>
                            </m:fPr>
                            <m:num>
                              <m:r>
                                <a:rPr lang="en-US" altLang="zh-CN" sz="2000" i="1" kern="100">
                                  <a:effectLst/>
                                  <a:latin typeface="DejaVu Math TeX Gyre" panose="02000503000000000000" charset="0"/>
                                  <a:cs typeface="+mn-ea"/>
                                  <a:sym typeface="+mn-lt"/>
                                </a:rPr>
                                <m:t>1</m:t>
                              </m:r>
                            </m:num>
                            <m:den>
                              <m:r>
                                <a:rPr lang="en-US" altLang="zh-CN" sz="2000" i="1" kern="100">
                                  <a:effectLst/>
                                  <a:latin typeface="DejaVu Math TeX Gyre" panose="02000503000000000000" charset="0"/>
                                  <a:cs typeface="+mn-ea"/>
                                  <a:sym typeface="+mn-lt"/>
                                </a:rPr>
                                <m:t>𝑛</m:t>
                              </m:r>
                              <m:r>
                                <a:rPr lang="en-US" altLang="zh-CN" sz="2000" i="1" kern="100">
                                  <a:effectLst/>
                                  <a:latin typeface="DejaVu Math TeX Gyre" panose="02000503000000000000" charset="0"/>
                                  <a:cs typeface="+mn-ea"/>
                                  <a:sym typeface="+mn-lt"/>
                                </a:rPr>
                                <m:t>+1</m:t>
                              </m:r>
                            </m:den>
                          </m:f>
                          <m:r>
                            <a:rPr lang="en-US" altLang="zh-CN" sz="2000" i="1" kern="100">
                              <a:effectLst/>
                              <a:latin typeface="DejaVu Math TeX Gyre" panose="02000503000000000000" charset="0"/>
                              <a:cs typeface="+mn-ea"/>
                              <a:sym typeface="+mn-lt"/>
                            </a:rPr>
                            <m:t>+</m:t>
                          </m:r>
                          <m:f>
                            <m:fPr>
                              <m:ctrlPr>
                                <a:rPr lang="zh-CN" altLang="zh-CN" sz="2000" i="1" kern="100">
                                  <a:effectLst/>
                                  <a:latin typeface="Cambria Math" panose="02040503050406030204" pitchFamily="18" charset="0"/>
                                  <a:cs typeface="+mn-ea"/>
                                  <a:sym typeface="+mn-lt"/>
                                </a:rPr>
                              </m:ctrlPr>
                            </m:fPr>
                            <m:num>
                              <m:r>
                                <a:rPr lang="en-US" altLang="zh-CN" sz="2000" i="1" kern="100">
                                  <a:effectLst/>
                                  <a:latin typeface="DejaVu Math TeX Gyre" panose="02000503000000000000" charset="0"/>
                                  <a:cs typeface="+mn-ea"/>
                                  <a:sym typeface="+mn-lt"/>
                                </a:rPr>
                                <m:t>1</m:t>
                              </m:r>
                            </m:num>
                            <m:den>
                              <m:r>
                                <a:rPr lang="en-US" altLang="zh-CN" sz="2000" i="1" kern="100">
                                  <a:effectLst/>
                                  <a:latin typeface="DejaVu Math TeX Gyre" panose="02000503000000000000" charset="0"/>
                                  <a:cs typeface="+mn-ea"/>
                                  <a:sym typeface="+mn-lt"/>
                                </a:rPr>
                                <m:t>𝑛</m:t>
                              </m:r>
                            </m:den>
                          </m:f>
                          <m:r>
                            <a:rPr lang="en-US" altLang="zh-CN" sz="2000" i="1" kern="100">
                              <a:effectLst/>
                              <a:latin typeface="DejaVu Math TeX Gyre" panose="02000503000000000000" charset="0"/>
                              <a:cs typeface="+mn-ea"/>
                              <a:sym typeface="+mn-lt"/>
                            </a:rPr>
                            <m:t>+…+</m:t>
                          </m:r>
                          <m:f>
                            <m:fPr>
                              <m:ctrlPr>
                                <a:rPr lang="zh-CN" altLang="zh-CN" sz="2000" i="1" kern="100">
                                  <a:effectLst/>
                                  <a:latin typeface="Cambria Math" panose="02040503050406030204" pitchFamily="18" charset="0"/>
                                  <a:cs typeface="+mn-ea"/>
                                  <a:sym typeface="+mn-lt"/>
                                </a:rPr>
                              </m:ctrlPr>
                            </m:fPr>
                            <m:num>
                              <m:r>
                                <a:rPr lang="en-US" altLang="zh-CN" sz="2000" i="1" kern="100">
                                  <a:effectLst/>
                                  <a:latin typeface="DejaVu Math TeX Gyre" panose="02000503000000000000" charset="0"/>
                                  <a:cs typeface="+mn-ea"/>
                                  <a:sym typeface="+mn-lt"/>
                                </a:rPr>
                                <m:t>1</m:t>
                              </m:r>
                            </m:num>
                            <m:den>
                              <m:r>
                                <a:rPr lang="en-US" altLang="zh-CN" sz="2000" i="1" kern="100">
                                  <a:effectLst/>
                                  <a:latin typeface="DejaVu Math TeX Gyre" panose="02000503000000000000" charset="0"/>
                                  <a:cs typeface="+mn-ea"/>
                                  <a:sym typeface="+mn-lt"/>
                                </a:rPr>
                                <m:t>2</m:t>
                              </m:r>
                            </m:den>
                          </m:f>
                        </m:e>
                      </m:d>
                      <m:r>
                        <a:rPr lang="en-US" altLang="zh-CN" sz="2000" i="1" kern="100">
                          <a:effectLst/>
                          <a:latin typeface="DejaVu Math TeX Gyre" panose="02000503000000000000" charset="0"/>
                          <a:cs typeface="+mn-ea"/>
                          <a:sym typeface="+mn-lt"/>
                        </a:rPr>
                        <m:t>−</m:t>
                      </m:r>
                      <m:r>
                        <a:rPr lang="en-US" altLang="zh-CN" sz="2000" i="1" kern="100">
                          <a:effectLst/>
                          <a:latin typeface="DejaVu Math TeX Gyre" panose="02000503000000000000" charset="0"/>
                          <a:cs typeface="+mn-ea"/>
                          <a:sym typeface="+mn-lt"/>
                        </a:rPr>
                        <m:t>𝑐</m:t>
                      </m:r>
                      <m:d>
                        <m:dPr>
                          <m:ctrlPr>
                            <a:rPr lang="zh-CN" altLang="zh-CN" sz="2000" i="1" kern="100">
                              <a:effectLst/>
                              <a:latin typeface="Cambria Math" panose="02040503050406030204" pitchFamily="18" charset="0"/>
                              <a:cs typeface="+mn-ea"/>
                              <a:sym typeface="+mn-lt"/>
                            </a:rPr>
                          </m:ctrlPr>
                        </m:dPr>
                        <m:e>
                          <m:f>
                            <m:fPr>
                              <m:ctrlPr>
                                <a:rPr lang="zh-CN" altLang="zh-CN" sz="2000" i="1" kern="100">
                                  <a:effectLst/>
                                  <a:latin typeface="Cambria Math" panose="02040503050406030204" pitchFamily="18" charset="0"/>
                                  <a:cs typeface="+mn-ea"/>
                                  <a:sym typeface="+mn-lt"/>
                                </a:rPr>
                              </m:ctrlPr>
                            </m:fPr>
                            <m:num>
                              <m:r>
                                <a:rPr lang="en-US" altLang="zh-CN" sz="2000" i="1" kern="100">
                                  <a:effectLst/>
                                  <a:latin typeface="DejaVu Math TeX Gyre" panose="02000503000000000000" charset="0"/>
                                  <a:cs typeface="+mn-ea"/>
                                  <a:sym typeface="+mn-lt"/>
                                </a:rPr>
                                <m:t>1</m:t>
                              </m:r>
                            </m:num>
                            <m:den>
                              <m:r>
                                <a:rPr lang="en-US" altLang="zh-CN" sz="2000" i="1" kern="100">
                                  <a:effectLst/>
                                  <a:latin typeface="DejaVu Math TeX Gyre" panose="02000503000000000000" charset="0"/>
                                  <a:cs typeface="+mn-ea"/>
                                  <a:sym typeface="+mn-lt"/>
                                </a:rPr>
                                <m:t>𝑛</m:t>
                              </m:r>
                            </m:den>
                          </m:f>
                          <m:r>
                            <a:rPr lang="en-US" altLang="zh-CN" sz="2000" i="1" kern="100">
                              <a:effectLst/>
                              <a:latin typeface="DejaVu Math TeX Gyre" panose="02000503000000000000" charset="0"/>
                              <a:cs typeface="+mn-ea"/>
                              <a:sym typeface="+mn-lt"/>
                            </a:rPr>
                            <m:t>+</m:t>
                          </m:r>
                          <m:f>
                            <m:fPr>
                              <m:ctrlPr>
                                <a:rPr lang="zh-CN" altLang="zh-CN" sz="2000" i="1" kern="100">
                                  <a:effectLst/>
                                  <a:latin typeface="Cambria Math" panose="02040503050406030204" pitchFamily="18" charset="0"/>
                                  <a:cs typeface="+mn-ea"/>
                                  <a:sym typeface="+mn-lt"/>
                                </a:rPr>
                              </m:ctrlPr>
                            </m:fPr>
                            <m:num>
                              <m:r>
                                <a:rPr lang="en-US" altLang="zh-CN" sz="2000" i="1" kern="100">
                                  <a:effectLst/>
                                  <a:latin typeface="DejaVu Math TeX Gyre" panose="02000503000000000000" charset="0"/>
                                  <a:cs typeface="+mn-ea"/>
                                  <a:sym typeface="+mn-lt"/>
                                </a:rPr>
                                <m:t>1</m:t>
                              </m:r>
                            </m:num>
                            <m:den>
                              <m:r>
                                <a:rPr lang="en-US" altLang="zh-CN" sz="2000" i="1" kern="100">
                                  <a:effectLst/>
                                  <a:latin typeface="DejaVu Math TeX Gyre" panose="02000503000000000000" charset="0"/>
                                  <a:cs typeface="+mn-ea"/>
                                  <a:sym typeface="+mn-lt"/>
                                </a:rPr>
                                <m:t>𝑛</m:t>
                              </m:r>
                              <m:r>
                                <a:rPr lang="en-US" altLang="zh-CN" sz="2000" i="1" kern="100">
                                  <a:effectLst/>
                                  <a:latin typeface="DejaVu Math TeX Gyre" panose="02000503000000000000" charset="0"/>
                                  <a:cs typeface="+mn-ea"/>
                                  <a:sym typeface="+mn-lt"/>
                                </a:rPr>
                                <m:t>−1</m:t>
                              </m:r>
                            </m:den>
                          </m:f>
                          <m:r>
                            <a:rPr lang="en-US" altLang="zh-CN" sz="2000" i="1" kern="100">
                              <a:effectLst/>
                              <a:latin typeface="DejaVu Math TeX Gyre" panose="02000503000000000000" charset="0"/>
                              <a:cs typeface="+mn-ea"/>
                              <a:sym typeface="+mn-lt"/>
                            </a:rPr>
                            <m:t>+…+1</m:t>
                          </m:r>
                        </m:e>
                      </m:d>
                      <m:r>
                        <a:rPr lang="en-US" altLang="zh-CN" sz="2000" i="1" kern="100">
                          <a:effectLst/>
                          <a:latin typeface="DejaVu Math TeX Gyre" panose="02000503000000000000" charset="0"/>
                          <a:cs typeface="+mn-ea"/>
                          <a:sym typeface="+mn-lt"/>
                        </a:rPr>
                        <m:t>=2</m:t>
                      </m:r>
                      <m:r>
                        <a:rPr lang="en-US" altLang="zh-CN" sz="2000" i="1" kern="100">
                          <a:effectLst/>
                          <a:latin typeface="DejaVu Math TeX Gyre" panose="02000503000000000000" charset="0"/>
                          <a:cs typeface="+mn-ea"/>
                          <a:sym typeface="+mn-lt"/>
                        </a:rPr>
                        <m:t>𝑐</m:t>
                      </m:r>
                      <m:d>
                        <m:dPr>
                          <m:ctrlPr>
                            <a:rPr lang="zh-CN" altLang="zh-CN" sz="2000" i="1" kern="100">
                              <a:effectLst/>
                              <a:latin typeface="Cambria Math" panose="02040503050406030204" pitchFamily="18" charset="0"/>
                              <a:cs typeface="+mn-ea"/>
                              <a:sym typeface="+mn-lt"/>
                            </a:rPr>
                          </m:ctrlPr>
                        </m:dPr>
                        <m:e>
                          <m:f>
                            <m:fPr>
                              <m:ctrlPr>
                                <a:rPr lang="zh-CN" altLang="zh-CN" sz="2000" i="1" kern="100">
                                  <a:effectLst/>
                                  <a:latin typeface="Cambria Math" panose="02040503050406030204" pitchFamily="18" charset="0"/>
                                  <a:cs typeface="+mn-ea"/>
                                  <a:sym typeface="+mn-lt"/>
                                </a:rPr>
                              </m:ctrlPr>
                            </m:fPr>
                            <m:num>
                              <m:r>
                                <a:rPr lang="en-US" altLang="zh-CN" sz="2000" i="1" kern="100">
                                  <a:effectLst/>
                                  <a:latin typeface="DejaVu Math TeX Gyre" panose="02000503000000000000" charset="0"/>
                                  <a:cs typeface="+mn-ea"/>
                                  <a:sym typeface="+mn-lt"/>
                                </a:rPr>
                                <m:t>1</m:t>
                              </m:r>
                            </m:num>
                            <m:den>
                              <m:r>
                                <a:rPr lang="en-US" altLang="zh-CN" sz="2000" i="1" kern="100">
                                  <a:effectLst/>
                                  <a:latin typeface="DejaVu Math TeX Gyre" panose="02000503000000000000" charset="0"/>
                                  <a:cs typeface="+mn-ea"/>
                                  <a:sym typeface="+mn-lt"/>
                                </a:rPr>
                                <m:t>𝑛</m:t>
                              </m:r>
                              <m:r>
                                <a:rPr lang="en-US" altLang="zh-CN" sz="2000" i="1" kern="100">
                                  <a:effectLst/>
                                  <a:latin typeface="DejaVu Math TeX Gyre" panose="02000503000000000000" charset="0"/>
                                  <a:cs typeface="+mn-ea"/>
                                  <a:sym typeface="+mn-lt"/>
                                </a:rPr>
                                <m:t>+1</m:t>
                              </m:r>
                            </m:den>
                          </m:f>
                          <m:r>
                            <a:rPr lang="en-US" altLang="zh-CN" sz="2000" i="1" kern="100">
                              <a:effectLst/>
                              <a:latin typeface="DejaVu Math TeX Gyre" panose="02000503000000000000" charset="0"/>
                              <a:cs typeface="+mn-ea"/>
                              <a:sym typeface="+mn-lt"/>
                            </a:rPr>
                            <m:t>+</m:t>
                          </m:r>
                          <m:f>
                            <m:fPr>
                              <m:ctrlPr>
                                <a:rPr lang="zh-CN" altLang="zh-CN" sz="2000" i="1" kern="100">
                                  <a:effectLst/>
                                  <a:latin typeface="Cambria Math" panose="02040503050406030204" pitchFamily="18" charset="0"/>
                                  <a:cs typeface="+mn-ea"/>
                                  <a:sym typeface="+mn-lt"/>
                                </a:rPr>
                              </m:ctrlPr>
                            </m:fPr>
                            <m:num>
                              <m:r>
                                <a:rPr lang="en-US" altLang="zh-CN" sz="2000" i="1" kern="100">
                                  <a:effectLst/>
                                  <a:latin typeface="DejaVu Math TeX Gyre" panose="02000503000000000000" charset="0"/>
                                  <a:cs typeface="+mn-ea"/>
                                  <a:sym typeface="+mn-lt"/>
                                </a:rPr>
                                <m:t>1</m:t>
                              </m:r>
                            </m:num>
                            <m:den>
                              <m:r>
                                <a:rPr lang="en-US" altLang="zh-CN" sz="2000" i="1" kern="100">
                                  <a:effectLst/>
                                  <a:latin typeface="DejaVu Math TeX Gyre" panose="02000503000000000000" charset="0"/>
                                  <a:cs typeface="+mn-ea"/>
                                  <a:sym typeface="+mn-lt"/>
                                </a:rPr>
                                <m:t>𝑛</m:t>
                              </m:r>
                            </m:den>
                          </m:f>
                          <m:r>
                            <a:rPr lang="en-US" altLang="zh-CN" sz="2000" i="1" kern="100">
                              <a:effectLst/>
                              <a:latin typeface="DejaVu Math TeX Gyre" panose="02000503000000000000" charset="0"/>
                              <a:cs typeface="+mn-ea"/>
                              <a:sym typeface="+mn-lt"/>
                            </a:rPr>
                            <m:t>+…+</m:t>
                          </m:r>
                          <m:f>
                            <m:fPr>
                              <m:ctrlPr>
                                <a:rPr lang="zh-CN" altLang="zh-CN" sz="2000" i="1" kern="100">
                                  <a:effectLst/>
                                  <a:latin typeface="Cambria Math" panose="02040503050406030204" pitchFamily="18" charset="0"/>
                                  <a:cs typeface="+mn-ea"/>
                                  <a:sym typeface="+mn-lt"/>
                                </a:rPr>
                              </m:ctrlPr>
                            </m:fPr>
                            <m:num>
                              <m:r>
                                <a:rPr lang="en-US" altLang="zh-CN" sz="2000" i="1" kern="100">
                                  <a:effectLst/>
                                  <a:latin typeface="DejaVu Math TeX Gyre" panose="02000503000000000000" charset="0"/>
                                  <a:cs typeface="+mn-ea"/>
                                  <a:sym typeface="+mn-lt"/>
                                </a:rPr>
                                <m:t>1</m:t>
                              </m:r>
                            </m:num>
                            <m:den>
                              <m:r>
                                <a:rPr lang="en-US" altLang="zh-CN" sz="2000" i="1" kern="100">
                                  <a:effectLst/>
                                  <a:latin typeface="DejaVu Math TeX Gyre" panose="02000503000000000000" charset="0"/>
                                  <a:cs typeface="+mn-ea"/>
                                  <a:sym typeface="+mn-lt"/>
                                </a:rPr>
                                <m:t>2</m:t>
                              </m:r>
                            </m:den>
                          </m:f>
                        </m:e>
                      </m:d>
                      <m:r>
                        <a:rPr lang="en-US" altLang="zh-CN" sz="2000" i="1" kern="100">
                          <a:effectLst/>
                          <a:latin typeface="DejaVu Math TeX Gyre" panose="02000503000000000000" charset="0"/>
                          <a:cs typeface="+mn-ea"/>
                          <a:sym typeface="+mn-lt"/>
                        </a:rPr>
                        <m:t>+</m:t>
                      </m:r>
                      <m:f>
                        <m:fPr>
                          <m:ctrlPr>
                            <a:rPr lang="zh-CN" altLang="zh-CN" sz="2000" i="1" kern="100">
                              <a:effectLst/>
                              <a:latin typeface="Cambria Math" panose="02040503050406030204" pitchFamily="18" charset="0"/>
                              <a:cs typeface="+mn-ea"/>
                              <a:sym typeface="+mn-lt"/>
                            </a:rPr>
                          </m:ctrlPr>
                        </m:fPr>
                        <m:num>
                          <m:r>
                            <a:rPr lang="en-US" altLang="zh-CN" sz="2000" i="1" kern="100">
                              <a:effectLst/>
                              <a:latin typeface="DejaVu Math TeX Gyre" panose="02000503000000000000" charset="0"/>
                              <a:cs typeface="+mn-ea"/>
                              <a:sym typeface="+mn-lt"/>
                            </a:rPr>
                            <m:t>𝑐</m:t>
                          </m:r>
                        </m:num>
                        <m:den>
                          <m:r>
                            <a:rPr lang="en-US" altLang="zh-CN" sz="2000" i="1" kern="100">
                              <a:effectLst/>
                              <a:latin typeface="DejaVu Math TeX Gyre" panose="02000503000000000000" charset="0"/>
                              <a:cs typeface="+mn-ea"/>
                              <a:sym typeface="+mn-lt"/>
                            </a:rPr>
                            <m:t>𝑛</m:t>
                          </m:r>
                          <m:r>
                            <a:rPr lang="en-US" altLang="zh-CN" sz="2000" i="1" kern="100">
                              <a:effectLst/>
                              <a:latin typeface="DejaVu Math TeX Gyre" panose="02000503000000000000" charset="0"/>
                              <a:cs typeface="+mn-ea"/>
                              <a:sym typeface="+mn-lt"/>
                            </a:rPr>
                            <m:t>+1</m:t>
                          </m:r>
                        </m:den>
                      </m:f>
                      <m:r>
                        <a:rPr lang="en-US" altLang="zh-CN" sz="2000" i="1" kern="100">
                          <a:effectLst/>
                          <a:latin typeface="DejaVu Math TeX Gyre" panose="02000503000000000000" charset="0"/>
                          <a:cs typeface="+mn-ea"/>
                          <a:sym typeface="+mn-lt"/>
                        </a:rPr>
                        <m:t>−</m:t>
                      </m:r>
                      <m:r>
                        <a:rPr lang="en-US" altLang="zh-CN" sz="2000" i="1" kern="100">
                          <a:effectLst/>
                          <a:latin typeface="DejaVu Math TeX Gyre" panose="02000503000000000000" charset="0"/>
                          <a:cs typeface="+mn-ea"/>
                          <a:sym typeface="+mn-lt"/>
                        </a:rPr>
                        <m:t>𝑐</m:t>
                      </m:r>
                    </m:oMath>
                  </m:oMathPara>
                </a14:m>
                <a:endParaRPr lang="zh-CN" altLang="zh-CN" sz="2000" kern="100" dirty="0">
                  <a:effectLst/>
                  <a:cs typeface="+mn-ea"/>
                  <a:sym typeface="+mn-lt"/>
                </a:endParaRPr>
              </a:p>
              <a:p>
                <a:pPr algn="l">
                  <a:lnSpc>
                    <a:spcPct val="120000"/>
                  </a:lnSpc>
                  <a:spcBef>
                    <a:spcPts val="1200"/>
                  </a:spcBef>
                  <a:spcAft>
                    <a:spcPts val="600"/>
                  </a:spcAft>
                </a:pPr>
                <a:r>
                  <a:rPr lang="en-US" altLang="zh-CN" sz="2400" kern="100" dirty="0">
                    <a:effectLst/>
                    <a:cs typeface="+mn-ea"/>
                    <a:sym typeface="+mn-lt"/>
                  </a:rPr>
                  <a:t>T(0)=0</a:t>
                </a:r>
                <a:r>
                  <a:rPr lang="zh-CN" altLang="zh-CN" sz="2400" kern="100" dirty="0">
                    <a:effectLst/>
                    <a:cs typeface="+mn-ea"/>
                    <a:sym typeface="+mn-lt"/>
                  </a:rPr>
                  <a:t>。</a:t>
                </a:r>
              </a:p>
              <a:p>
                <a:pPr algn="l">
                  <a:lnSpc>
                    <a:spcPct val="120000"/>
                  </a:lnSpc>
                  <a:spcAft>
                    <a:spcPct val="0"/>
                  </a:spcAft>
                </a:pPr>
                <a14:m>
                  <m:oMathPara xmlns:m="http://schemas.openxmlformats.org/officeDocument/2006/math">
                    <m:oMathParaPr>
                      <m:jc m:val="centerGroup"/>
                    </m:oMathParaPr>
                    <m:oMath xmlns:m="http://schemas.openxmlformats.org/officeDocument/2006/math">
                      <m:f>
                        <m:fPr>
                          <m:ctrlPr>
                            <a:rPr lang="zh-CN" altLang="zh-CN" sz="2000" i="1" kern="100">
                              <a:effectLst/>
                              <a:latin typeface="Cambria Math" panose="02040503050406030204" pitchFamily="18" charset="0"/>
                              <a:cs typeface="+mn-ea"/>
                              <a:sym typeface="+mn-lt"/>
                            </a:rPr>
                          </m:ctrlPr>
                        </m:fPr>
                        <m:num>
                          <m:r>
                            <a:rPr lang="en-US" altLang="zh-CN" sz="2000" i="1" kern="100">
                              <a:effectLst/>
                              <a:latin typeface="DejaVu Math TeX Gyre" panose="02000503000000000000" charset="0"/>
                              <a:cs typeface="+mn-ea"/>
                              <a:sym typeface="+mn-lt"/>
                            </a:rPr>
                            <m:t>𝑇</m:t>
                          </m:r>
                          <m:d>
                            <m:dPr>
                              <m:ctrlPr>
                                <a:rPr lang="zh-CN" altLang="zh-CN" sz="2000" i="1" kern="100">
                                  <a:effectLst/>
                                  <a:latin typeface="Cambria Math" panose="02040503050406030204" pitchFamily="18" charset="0"/>
                                  <a:cs typeface="+mn-ea"/>
                                  <a:sym typeface="+mn-lt"/>
                                </a:rPr>
                              </m:ctrlPr>
                            </m:dPr>
                            <m:e>
                              <m:r>
                                <a:rPr lang="en-US" altLang="zh-CN" sz="2000" i="1" kern="100">
                                  <a:effectLst/>
                                  <a:latin typeface="DejaVu Math TeX Gyre" panose="02000503000000000000" charset="0"/>
                                  <a:cs typeface="+mn-ea"/>
                                  <a:sym typeface="+mn-lt"/>
                                </a:rPr>
                                <m:t>𝑛</m:t>
                              </m:r>
                            </m:e>
                          </m:d>
                        </m:num>
                        <m:den>
                          <m:r>
                            <a:rPr lang="en-US" altLang="zh-CN" sz="2000" i="1" kern="100">
                              <a:effectLst/>
                              <a:latin typeface="DejaVu Math TeX Gyre" panose="02000503000000000000" charset="0"/>
                              <a:cs typeface="+mn-ea"/>
                              <a:sym typeface="+mn-lt"/>
                            </a:rPr>
                            <m:t>𝑛</m:t>
                          </m:r>
                          <m:r>
                            <a:rPr lang="en-US" altLang="zh-CN" sz="2000" i="1" kern="100">
                              <a:effectLst/>
                              <a:latin typeface="DejaVu Math TeX Gyre" panose="02000503000000000000" charset="0"/>
                              <a:cs typeface="+mn-ea"/>
                              <a:sym typeface="+mn-lt"/>
                            </a:rPr>
                            <m:t>+1</m:t>
                          </m:r>
                        </m:den>
                      </m:f>
                      <m:r>
                        <a:rPr lang="en-US" altLang="zh-CN" sz="2000" i="1" kern="100">
                          <a:effectLst/>
                          <a:latin typeface="DejaVu Math TeX Gyre" panose="02000503000000000000" charset="0"/>
                          <a:cs typeface="+mn-ea"/>
                          <a:sym typeface="+mn-lt"/>
                        </a:rPr>
                        <m:t>=2</m:t>
                      </m:r>
                      <m:r>
                        <a:rPr lang="en-US" altLang="zh-CN" sz="2000" i="1" kern="100">
                          <a:effectLst/>
                          <a:latin typeface="DejaVu Math TeX Gyre" panose="02000503000000000000" charset="0"/>
                          <a:cs typeface="+mn-ea"/>
                          <a:sym typeface="+mn-lt"/>
                        </a:rPr>
                        <m:t>𝑐</m:t>
                      </m:r>
                      <m:d>
                        <m:dPr>
                          <m:ctrlPr>
                            <a:rPr lang="zh-CN" altLang="zh-CN" sz="2000" i="1" kern="100">
                              <a:effectLst/>
                              <a:latin typeface="Cambria Math" panose="02040503050406030204" pitchFamily="18" charset="0"/>
                              <a:cs typeface="+mn-ea"/>
                              <a:sym typeface="+mn-lt"/>
                            </a:rPr>
                          </m:ctrlPr>
                        </m:dPr>
                        <m:e>
                          <m:f>
                            <m:fPr>
                              <m:ctrlPr>
                                <a:rPr lang="zh-CN" altLang="zh-CN" sz="2000" i="1" kern="100">
                                  <a:effectLst/>
                                  <a:latin typeface="Cambria Math" panose="02040503050406030204" pitchFamily="18" charset="0"/>
                                  <a:cs typeface="+mn-ea"/>
                                  <a:sym typeface="+mn-lt"/>
                                </a:rPr>
                              </m:ctrlPr>
                            </m:fPr>
                            <m:num>
                              <m:r>
                                <a:rPr lang="en-US" altLang="zh-CN" sz="2000" i="1" kern="100">
                                  <a:effectLst/>
                                  <a:latin typeface="DejaVu Math TeX Gyre" panose="02000503000000000000" charset="0"/>
                                  <a:cs typeface="+mn-ea"/>
                                  <a:sym typeface="+mn-lt"/>
                                </a:rPr>
                                <m:t>1</m:t>
                              </m:r>
                            </m:num>
                            <m:den>
                              <m:r>
                                <a:rPr lang="en-US" altLang="zh-CN" sz="2000" i="1" kern="100">
                                  <a:effectLst/>
                                  <a:latin typeface="DejaVu Math TeX Gyre" panose="02000503000000000000" charset="0"/>
                                  <a:cs typeface="+mn-ea"/>
                                  <a:sym typeface="+mn-lt"/>
                                </a:rPr>
                                <m:t>𝑛</m:t>
                              </m:r>
                            </m:den>
                          </m:f>
                          <m:r>
                            <a:rPr lang="en-US" altLang="zh-CN" sz="2000" i="1" kern="100">
                              <a:effectLst/>
                              <a:latin typeface="DejaVu Math TeX Gyre" panose="02000503000000000000" charset="0"/>
                              <a:cs typeface="+mn-ea"/>
                              <a:sym typeface="+mn-lt"/>
                            </a:rPr>
                            <m:t>+…+</m:t>
                          </m:r>
                          <m:f>
                            <m:fPr>
                              <m:ctrlPr>
                                <a:rPr lang="zh-CN" altLang="zh-CN" sz="2000" i="1" kern="100">
                                  <a:effectLst/>
                                  <a:latin typeface="Cambria Math" panose="02040503050406030204" pitchFamily="18" charset="0"/>
                                  <a:cs typeface="+mn-ea"/>
                                  <a:sym typeface="+mn-lt"/>
                                </a:rPr>
                              </m:ctrlPr>
                            </m:fPr>
                            <m:num>
                              <m:r>
                                <a:rPr lang="en-US" altLang="zh-CN" sz="2000" i="1" kern="100">
                                  <a:effectLst/>
                                  <a:latin typeface="DejaVu Math TeX Gyre" panose="02000503000000000000" charset="0"/>
                                  <a:cs typeface="+mn-ea"/>
                                  <a:sym typeface="+mn-lt"/>
                                </a:rPr>
                                <m:t>1</m:t>
                              </m:r>
                            </m:num>
                            <m:den>
                              <m:r>
                                <a:rPr lang="en-US" altLang="zh-CN" sz="2000" i="1" kern="100">
                                  <a:effectLst/>
                                  <a:latin typeface="DejaVu Math TeX Gyre" panose="02000503000000000000" charset="0"/>
                                  <a:cs typeface="+mn-ea"/>
                                  <a:sym typeface="+mn-lt"/>
                                </a:rPr>
                                <m:t>2</m:t>
                              </m:r>
                            </m:den>
                          </m:f>
                          <m:r>
                            <a:rPr lang="en-US" altLang="zh-CN" sz="2000" i="1" kern="100">
                              <a:effectLst/>
                              <a:latin typeface="DejaVu Math TeX Gyre" panose="02000503000000000000" charset="0"/>
                              <a:cs typeface="+mn-ea"/>
                              <a:sym typeface="+mn-lt"/>
                            </a:rPr>
                            <m:t>+1</m:t>
                          </m:r>
                        </m:e>
                      </m:d>
                      <m:r>
                        <a:rPr lang="en-US" altLang="zh-CN" sz="2000" i="1" kern="100">
                          <a:effectLst/>
                          <a:latin typeface="DejaVu Math TeX Gyre" panose="02000503000000000000" charset="0"/>
                          <a:cs typeface="+mn-ea"/>
                          <a:sym typeface="+mn-lt"/>
                        </a:rPr>
                        <m:t>+</m:t>
                      </m:r>
                      <m:f>
                        <m:fPr>
                          <m:ctrlPr>
                            <a:rPr lang="zh-CN" altLang="zh-CN" sz="2000" i="1" kern="100">
                              <a:effectLst/>
                              <a:latin typeface="Cambria Math" panose="02040503050406030204" pitchFamily="18" charset="0"/>
                              <a:cs typeface="+mn-ea"/>
                              <a:sym typeface="+mn-lt"/>
                            </a:rPr>
                          </m:ctrlPr>
                        </m:fPr>
                        <m:num>
                          <m:r>
                            <a:rPr lang="en-US" altLang="zh-CN" sz="2000" i="1" kern="100">
                              <a:effectLst/>
                              <a:latin typeface="DejaVu Math TeX Gyre" panose="02000503000000000000" charset="0"/>
                              <a:cs typeface="+mn-ea"/>
                              <a:sym typeface="+mn-lt"/>
                            </a:rPr>
                            <m:t>3</m:t>
                          </m:r>
                          <m:r>
                            <a:rPr lang="en-US" altLang="zh-CN" sz="2000" i="1" kern="100">
                              <a:effectLst/>
                              <a:latin typeface="DejaVu Math TeX Gyre" panose="02000503000000000000" charset="0"/>
                              <a:cs typeface="+mn-ea"/>
                              <a:sym typeface="+mn-lt"/>
                            </a:rPr>
                            <m:t>𝑐</m:t>
                          </m:r>
                        </m:num>
                        <m:den>
                          <m:r>
                            <a:rPr lang="en-US" altLang="zh-CN" sz="2000" i="1" kern="100">
                              <a:effectLst/>
                              <a:latin typeface="DejaVu Math TeX Gyre" panose="02000503000000000000" charset="0"/>
                              <a:cs typeface="+mn-ea"/>
                              <a:sym typeface="+mn-lt"/>
                            </a:rPr>
                            <m:t>𝑛</m:t>
                          </m:r>
                          <m:r>
                            <a:rPr lang="en-US" altLang="zh-CN" sz="2000" i="1" kern="100">
                              <a:effectLst/>
                              <a:latin typeface="DejaVu Math TeX Gyre" panose="02000503000000000000" charset="0"/>
                              <a:cs typeface="+mn-ea"/>
                              <a:sym typeface="+mn-lt"/>
                            </a:rPr>
                            <m:t>+1</m:t>
                          </m:r>
                        </m:den>
                      </m:f>
                      <m:r>
                        <a:rPr lang="en-US" altLang="zh-CN" sz="2000" i="1" kern="100">
                          <a:effectLst/>
                          <a:latin typeface="DejaVu Math TeX Gyre" panose="02000503000000000000" charset="0"/>
                          <a:cs typeface="+mn-ea"/>
                          <a:sym typeface="+mn-lt"/>
                        </a:rPr>
                        <m:t>−3</m:t>
                      </m:r>
                      <m:r>
                        <a:rPr lang="en-US" altLang="zh-CN" sz="2000" i="1" kern="100">
                          <a:effectLst/>
                          <a:latin typeface="DejaVu Math TeX Gyre" panose="02000503000000000000" charset="0"/>
                          <a:cs typeface="+mn-ea"/>
                          <a:sym typeface="+mn-lt"/>
                        </a:rPr>
                        <m:t>𝑐</m:t>
                      </m:r>
                    </m:oMath>
                  </m:oMathPara>
                </a14:m>
                <a:endParaRPr lang="zh-CN" altLang="zh-CN" sz="2000" kern="100" dirty="0">
                  <a:effectLst/>
                  <a:cs typeface="+mn-ea"/>
                  <a:sym typeface="+mn-lt"/>
                </a:endParaRPr>
              </a:p>
              <a:p>
                <a:pPr algn="l">
                  <a:lnSpc>
                    <a:spcPct val="120000"/>
                  </a:lnSpc>
                  <a:spcBef>
                    <a:spcPts val="1200"/>
                  </a:spcBef>
                  <a:spcAft>
                    <a:spcPts val="600"/>
                  </a:spcAft>
                </a:pPr>
                <a14:m>
                  <m:oMath xmlns:m="http://schemas.openxmlformats.org/officeDocument/2006/math">
                    <m:sSub>
                      <m:sSubPr>
                        <m:ctrlPr>
                          <a:rPr lang="zh-CN" altLang="zh-CN" sz="2400" i="1" kern="100">
                            <a:effectLst/>
                            <a:latin typeface="Cambria Math" panose="02040503050406030204" pitchFamily="18" charset="0"/>
                            <a:cs typeface="+mn-ea"/>
                            <a:sym typeface="+mn-lt"/>
                          </a:rPr>
                        </m:ctrlPr>
                      </m:sSubPr>
                      <m:e>
                        <m:r>
                          <a:rPr lang="en-US" altLang="zh-CN" sz="2400" i="1" kern="100">
                            <a:effectLst/>
                            <a:latin typeface="DejaVu Math TeX Gyre" panose="02000503000000000000" charset="0"/>
                            <a:cs typeface="+mn-ea"/>
                            <a:sym typeface="+mn-lt"/>
                          </a:rPr>
                          <m:t>𝐻</m:t>
                        </m:r>
                      </m:e>
                      <m:sub>
                        <m:r>
                          <a:rPr lang="en-US" altLang="zh-CN" sz="2400" i="1" kern="100">
                            <a:effectLst/>
                            <a:latin typeface="DejaVu Math TeX Gyre" panose="02000503000000000000" charset="0"/>
                            <a:cs typeface="+mn-ea"/>
                            <a:sym typeface="+mn-lt"/>
                          </a:rPr>
                          <m:t>𝑛</m:t>
                        </m:r>
                      </m:sub>
                    </m:sSub>
                    <m:r>
                      <a:rPr lang="en-US" altLang="zh-CN" sz="2400" kern="100">
                        <a:effectLst/>
                        <a:latin typeface="DejaVu Math TeX Gyre" panose="02000503000000000000" charset="0"/>
                        <a:cs typeface="+mn-ea"/>
                        <a:sym typeface="+mn-lt"/>
                      </a:rPr>
                      <m:t>=</m:t>
                    </m:r>
                    <m:f>
                      <m:fPr>
                        <m:ctrlPr>
                          <a:rPr lang="zh-CN" altLang="zh-CN" sz="2400" i="1" kern="100">
                            <a:effectLst/>
                            <a:latin typeface="Cambria Math" panose="02040503050406030204" pitchFamily="18" charset="0"/>
                            <a:cs typeface="+mn-ea"/>
                            <a:sym typeface="+mn-lt"/>
                          </a:rPr>
                        </m:ctrlPr>
                      </m:fPr>
                      <m:num>
                        <m:r>
                          <a:rPr lang="en-US" altLang="zh-CN" sz="2400" i="1" kern="100">
                            <a:effectLst/>
                            <a:latin typeface="DejaVu Math TeX Gyre" panose="02000503000000000000" charset="0"/>
                            <a:cs typeface="+mn-ea"/>
                            <a:sym typeface="+mn-lt"/>
                          </a:rPr>
                          <m:t>1</m:t>
                        </m:r>
                      </m:num>
                      <m:den>
                        <m:r>
                          <a:rPr lang="en-US" altLang="zh-CN" sz="2400" i="1" kern="100">
                            <a:effectLst/>
                            <a:latin typeface="DejaVu Math TeX Gyre" panose="02000503000000000000" charset="0"/>
                            <a:cs typeface="+mn-ea"/>
                            <a:sym typeface="+mn-lt"/>
                          </a:rPr>
                          <m:t>𝑛</m:t>
                        </m:r>
                      </m:den>
                    </m:f>
                    <m:r>
                      <a:rPr lang="en-US" altLang="zh-CN" sz="2400" i="1" kern="100">
                        <a:effectLst/>
                        <a:latin typeface="DejaVu Math TeX Gyre" panose="02000503000000000000" charset="0"/>
                        <a:cs typeface="+mn-ea"/>
                        <a:sym typeface="+mn-lt"/>
                      </a:rPr>
                      <m:t>+…+</m:t>
                    </m:r>
                    <m:f>
                      <m:fPr>
                        <m:ctrlPr>
                          <a:rPr lang="zh-CN" altLang="zh-CN" sz="2400" i="1" kern="100">
                            <a:effectLst/>
                            <a:latin typeface="Cambria Math" panose="02040503050406030204" pitchFamily="18" charset="0"/>
                            <a:cs typeface="+mn-ea"/>
                            <a:sym typeface="+mn-lt"/>
                          </a:rPr>
                        </m:ctrlPr>
                      </m:fPr>
                      <m:num>
                        <m:r>
                          <a:rPr lang="en-US" altLang="zh-CN" sz="2400" i="1" kern="100">
                            <a:effectLst/>
                            <a:latin typeface="DejaVu Math TeX Gyre" panose="02000503000000000000" charset="0"/>
                            <a:cs typeface="+mn-ea"/>
                            <a:sym typeface="+mn-lt"/>
                          </a:rPr>
                          <m:t>1</m:t>
                        </m:r>
                      </m:num>
                      <m:den>
                        <m:r>
                          <a:rPr lang="en-US" altLang="zh-CN" sz="2400" i="1" kern="100">
                            <a:effectLst/>
                            <a:latin typeface="DejaVu Math TeX Gyre" panose="02000503000000000000" charset="0"/>
                            <a:cs typeface="+mn-ea"/>
                            <a:sym typeface="+mn-lt"/>
                          </a:rPr>
                          <m:t>2</m:t>
                        </m:r>
                      </m:den>
                    </m:f>
                    <m:r>
                      <a:rPr lang="en-US" altLang="zh-CN" sz="2400" i="1" kern="100">
                        <a:effectLst/>
                        <a:latin typeface="DejaVu Math TeX Gyre" panose="02000503000000000000" charset="0"/>
                        <a:cs typeface="+mn-ea"/>
                        <a:sym typeface="+mn-lt"/>
                      </a:rPr>
                      <m:t>+1</m:t>
                    </m:r>
                  </m:oMath>
                </a14:m>
                <a:r>
                  <a:rPr lang="zh-CN" altLang="zh-CN" sz="2400" kern="100" dirty="0">
                    <a:effectLst/>
                    <a:cs typeface="+mn-ea"/>
                    <a:sym typeface="+mn-lt"/>
                  </a:rPr>
                  <a:t>为调和级数，</a:t>
                </a:r>
              </a:p>
              <a:p>
                <a:pPr algn="l">
                  <a:lnSpc>
                    <a:spcPct val="120000"/>
                  </a:lnSpc>
                  <a:spcAft>
                    <a:spcPct val="0"/>
                  </a:spcAft>
                </a:pPr>
                <a14:m>
                  <m:oMathPara xmlns:m="http://schemas.openxmlformats.org/officeDocument/2006/math">
                    <m:oMathParaPr>
                      <m:jc m:val="centerGroup"/>
                    </m:oMathParaPr>
                    <m:oMath xmlns:m="http://schemas.openxmlformats.org/officeDocument/2006/math">
                      <m:r>
                        <a:rPr lang="en-US" altLang="zh-CN" sz="2400" i="1" kern="100">
                          <a:effectLst/>
                          <a:latin typeface="DejaVu Math TeX Gyre" panose="02000503000000000000" charset="0"/>
                          <a:cs typeface="+mn-ea"/>
                          <a:sym typeface="+mn-lt"/>
                        </a:rPr>
                        <m:t>𝑇</m:t>
                      </m:r>
                      <m:d>
                        <m:dPr>
                          <m:ctrlPr>
                            <a:rPr lang="zh-CN" altLang="zh-CN" sz="2400" i="1" kern="100">
                              <a:effectLst/>
                              <a:latin typeface="Cambria Math" panose="02040503050406030204" pitchFamily="18" charset="0"/>
                              <a:cs typeface="+mn-ea"/>
                              <a:sym typeface="+mn-lt"/>
                            </a:rPr>
                          </m:ctrlPr>
                        </m:dPr>
                        <m:e>
                          <m:r>
                            <a:rPr lang="en-US" altLang="zh-CN" sz="2400" i="1" kern="100">
                              <a:effectLst/>
                              <a:latin typeface="DejaVu Math TeX Gyre" panose="02000503000000000000" charset="0"/>
                              <a:cs typeface="+mn-ea"/>
                              <a:sym typeface="+mn-lt"/>
                            </a:rPr>
                            <m:t>𝑛</m:t>
                          </m:r>
                        </m:e>
                      </m:d>
                      <m:r>
                        <a:rPr lang="en-US" altLang="zh-CN" sz="2400" i="1" kern="100">
                          <a:effectLst/>
                          <a:latin typeface="DejaVu Math TeX Gyre" panose="02000503000000000000" charset="0"/>
                          <a:cs typeface="+mn-ea"/>
                          <a:sym typeface="+mn-lt"/>
                        </a:rPr>
                        <m:t>=2</m:t>
                      </m:r>
                      <m:r>
                        <a:rPr lang="en-US" altLang="zh-CN" sz="2400" i="1" kern="100">
                          <a:effectLst/>
                          <a:latin typeface="DejaVu Math TeX Gyre" panose="02000503000000000000" charset="0"/>
                          <a:cs typeface="+mn-ea"/>
                          <a:sym typeface="+mn-lt"/>
                        </a:rPr>
                        <m:t>𝑐</m:t>
                      </m:r>
                      <m:sSub>
                        <m:sSubPr>
                          <m:ctrlPr>
                            <a:rPr lang="zh-CN" altLang="zh-CN" sz="2400" i="1" kern="100">
                              <a:effectLst/>
                              <a:latin typeface="Cambria Math" panose="02040503050406030204" pitchFamily="18" charset="0"/>
                              <a:cs typeface="+mn-ea"/>
                              <a:sym typeface="+mn-lt"/>
                            </a:rPr>
                          </m:ctrlPr>
                        </m:sSubPr>
                        <m:e>
                          <m:d>
                            <m:dPr>
                              <m:ctrlPr>
                                <a:rPr lang="zh-CN" altLang="zh-CN" sz="2400" i="1" kern="100">
                                  <a:effectLst/>
                                  <a:latin typeface="Cambria Math" panose="02040503050406030204" pitchFamily="18" charset="0"/>
                                  <a:cs typeface="+mn-ea"/>
                                  <a:sym typeface="+mn-lt"/>
                                </a:rPr>
                              </m:ctrlPr>
                            </m:dPr>
                            <m:e>
                              <m:r>
                                <a:rPr lang="en-US" altLang="zh-CN" sz="2400" i="1" kern="100">
                                  <a:effectLst/>
                                  <a:latin typeface="DejaVu Math TeX Gyre" panose="02000503000000000000" charset="0"/>
                                  <a:cs typeface="+mn-ea"/>
                                  <a:sym typeface="+mn-lt"/>
                                </a:rPr>
                                <m:t>𝑛</m:t>
                              </m:r>
                              <m:r>
                                <a:rPr lang="en-US" altLang="zh-CN" sz="2400" i="1" kern="100">
                                  <a:effectLst/>
                                  <a:latin typeface="DejaVu Math TeX Gyre" panose="02000503000000000000" charset="0"/>
                                  <a:cs typeface="+mn-ea"/>
                                  <a:sym typeface="+mn-lt"/>
                                </a:rPr>
                                <m:t>+1</m:t>
                              </m:r>
                            </m:e>
                          </m:d>
                          <m:r>
                            <a:rPr lang="en-US" altLang="zh-CN" sz="2400" i="1" kern="100">
                              <a:effectLst/>
                              <a:latin typeface="DejaVu Math TeX Gyre" panose="02000503000000000000" charset="0"/>
                              <a:cs typeface="+mn-ea"/>
                              <a:sym typeface="+mn-lt"/>
                            </a:rPr>
                            <m:t>𝐻</m:t>
                          </m:r>
                        </m:e>
                        <m:sub>
                          <m:r>
                            <a:rPr lang="en-US" altLang="zh-CN" sz="2400" i="1" kern="100">
                              <a:effectLst/>
                              <a:latin typeface="DejaVu Math TeX Gyre" panose="02000503000000000000" charset="0"/>
                              <a:cs typeface="+mn-ea"/>
                              <a:sym typeface="+mn-lt"/>
                            </a:rPr>
                            <m:t>𝑛</m:t>
                          </m:r>
                        </m:sub>
                      </m:sSub>
                      <m:r>
                        <a:rPr lang="en-US" altLang="zh-CN" sz="2400" i="1" kern="100">
                          <a:effectLst/>
                          <a:latin typeface="DejaVu Math TeX Gyre" panose="02000503000000000000" charset="0"/>
                          <a:cs typeface="+mn-ea"/>
                          <a:sym typeface="+mn-lt"/>
                        </a:rPr>
                        <m:t>+3</m:t>
                      </m:r>
                      <m:r>
                        <a:rPr lang="en-US" altLang="zh-CN" sz="2400" i="1" kern="100">
                          <a:effectLst/>
                          <a:latin typeface="DejaVu Math TeX Gyre" panose="02000503000000000000" charset="0"/>
                          <a:cs typeface="+mn-ea"/>
                          <a:sym typeface="+mn-lt"/>
                        </a:rPr>
                        <m:t>𝑐</m:t>
                      </m:r>
                      <m:r>
                        <a:rPr lang="en-US" altLang="zh-CN" sz="2400" i="1" kern="100">
                          <a:effectLst/>
                          <a:latin typeface="DejaVu Math TeX Gyre" panose="02000503000000000000" charset="0"/>
                          <a:cs typeface="+mn-ea"/>
                          <a:sym typeface="+mn-lt"/>
                        </a:rPr>
                        <m:t>−3</m:t>
                      </m:r>
                      <m:r>
                        <a:rPr lang="en-US" altLang="zh-CN" sz="2400" i="1" kern="100">
                          <a:effectLst/>
                          <a:latin typeface="DejaVu Math TeX Gyre" panose="02000503000000000000" charset="0"/>
                          <a:cs typeface="+mn-ea"/>
                          <a:sym typeface="+mn-lt"/>
                        </a:rPr>
                        <m:t>𝑐</m:t>
                      </m:r>
                      <m:d>
                        <m:dPr>
                          <m:ctrlPr>
                            <a:rPr lang="zh-CN" altLang="zh-CN" sz="2400" i="1" kern="100">
                              <a:effectLst/>
                              <a:latin typeface="Cambria Math" panose="02040503050406030204" pitchFamily="18" charset="0"/>
                              <a:cs typeface="+mn-ea"/>
                              <a:sym typeface="+mn-lt"/>
                            </a:rPr>
                          </m:ctrlPr>
                        </m:dPr>
                        <m:e>
                          <m:r>
                            <a:rPr lang="en-US" altLang="zh-CN" sz="2400" i="1" kern="100">
                              <a:effectLst/>
                              <a:latin typeface="DejaVu Math TeX Gyre" panose="02000503000000000000" charset="0"/>
                              <a:cs typeface="+mn-ea"/>
                              <a:sym typeface="+mn-lt"/>
                            </a:rPr>
                            <m:t>𝑛</m:t>
                          </m:r>
                          <m:r>
                            <a:rPr lang="en-US" altLang="zh-CN" sz="2400" i="1" kern="100">
                              <a:effectLst/>
                              <a:latin typeface="DejaVu Math TeX Gyre" panose="02000503000000000000" charset="0"/>
                              <a:cs typeface="+mn-ea"/>
                              <a:sym typeface="+mn-lt"/>
                            </a:rPr>
                            <m:t>+1</m:t>
                          </m:r>
                        </m:e>
                      </m:d>
                    </m:oMath>
                  </m:oMathPara>
                </a14:m>
                <a:endParaRPr lang="zh-CN" altLang="zh-CN" sz="2400" kern="100" dirty="0">
                  <a:effectLst/>
                  <a:cs typeface="+mn-ea"/>
                  <a:sym typeface="+mn-lt"/>
                </a:endParaRPr>
              </a:p>
              <a:p>
                <a:pPr algn="l">
                  <a:lnSpc>
                    <a:spcPct val="120000"/>
                  </a:lnSpc>
                  <a:spcBef>
                    <a:spcPts val="1200"/>
                  </a:spcBef>
                  <a:spcAft>
                    <a:spcPts val="600"/>
                  </a:spcAft>
                </a:pPr>
                <a:r>
                  <a:rPr lang="zh-CN" altLang="zh-CN" sz="2400" kern="100" dirty="0">
                    <a:effectLst/>
                    <a:cs typeface="+mn-ea"/>
                    <a:sym typeface="+mn-lt"/>
                  </a:rPr>
                  <a:t>已知</a:t>
                </a:r>
                <a14:m>
                  <m:oMath xmlns:m="http://schemas.openxmlformats.org/officeDocument/2006/math">
                    <m:sSub>
                      <m:sSubPr>
                        <m:ctrlPr>
                          <a:rPr lang="zh-CN" altLang="zh-CN" sz="2400" i="1" kern="100">
                            <a:effectLst/>
                            <a:latin typeface="Cambria Math" panose="02040503050406030204" pitchFamily="18" charset="0"/>
                            <a:cs typeface="+mn-ea"/>
                            <a:sym typeface="+mn-lt"/>
                          </a:rPr>
                        </m:ctrlPr>
                      </m:sSubPr>
                      <m:e>
                        <m:r>
                          <a:rPr lang="en-US" altLang="zh-CN" sz="2400" i="1" kern="100">
                            <a:effectLst/>
                            <a:latin typeface="DejaVu Math TeX Gyre" panose="02000503000000000000" charset="0"/>
                            <a:cs typeface="+mn-ea"/>
                            <a:sym typeface="+mn-lt"/>
                          </a:rPr>
                          <m:t>𝐻</m:t>
                        </m:r>
                      </m:e>
                      <m:sub>
                        <m:r>
                          <a:rPr lang="en-US" altLang="zh-CN" sz="2400" i="1" kern="100">
                            <a:effectLst/>
                            <a:latin typeface="DejaVu Math TeX Gyre" panose="02000503000000000000" charset="0"/>
                            <a:cs typeface="+mn-ea"/>
                            <a:sym typeface="+mn-lt"/>
                          </a:rPr>
                          <m:t>𝑛</m:t>
                        </m:r>
                      </m:sub>
                    </m:sSub>
                    <m:r>
                      <a:rPr lang="en-US" altLang="zh-CN" sz="2400" i="1" kern="100">
                        <a:effectLst/>
                        <a:latin typeface="DejaVu Math TeX Gyre" panose="02000503000000000000" charset="0"/>
                        <a:cs typeface="+mn-ea"/>
                        <a:sym typeface="+mn-lt"/>
                      </a:rPr>
                      <m:t>=</m:t>
                    </m:r>
                    <m:r>
                      <a:rPr lang="en-US" altLang="zh-CN" sz="2400" i="1" kern="100">
                        <a:effectLst/>
                        <a:latin typeface="DejaVu Math TeX Gyre" panose="02000503000000000000" charset="0"/>
                        <a:cs typeface="+mn-ea"/>
                        <a:sym typeface="+mn-lt"/>
                      </a:rPr>
                      <m:t>𝑂</m:t>
                    </m:r>
                    <m:r>
                      <a:rPr lang="en-US" altLang="zh-CN" sz="2400" i="1" kern="100">
                        <a:effectLst/>
                        <a:latin typeface="DejaVu Math TeX Gyre" panose="02000503000000000000" charset="0"/>
                        <a:cs typeface="+mn-ea"/>
                        <a:sym typeface="+mn-lt"/>
                      </a:rPr>
                      <m:t>(</m:t>
                    </m:r>
                    <m:r>
                      <a:rPr lang="en-US" altLang="zh-CN" sz="2400" i="1" kern="100">
                        <a:effectLst/>
                        <a:latin typeface="DejaVu Math TeX Gyre" panose="02000503000000000000" charset="0"/>
                        <a:cs typeface="+mn-ea"/>
                        <a:sym typeface="+mn-lt"/>
                      </a:rPr>
                      <m:t>𝑙𝑔𝑛</m:t>
                    </m:r>
                    <m:r>
                      <a:rPr lang="en-US" altLang="zh-CN" sz="2400" i="1" kern="100">
                        <a:effectLst/>
                        <a:latin typeface="DejaVu Math TeX Gyre" panose="02000503000000000000" charset="0"/>
                        <a:cs typeface="+mn-ea"/>
                        <a:sym typeface="+mn-lt"/>
                      </a:rPr>
                      <m:t>)</m:t>
                    </m:r>
                  </m:oMath>
                </a14:m>
                <a:r>
                  <a:rPr lang="zh-CN" altLang="zh-CN" sz="2400" kern="100" dirty="0">
                    <a:effectLst/>
                    <a:cs typeface="+mn-ea"/>
                    <a:sym typeface="+mn-lt"/>
                  </a:rPr>
                  <a:t>，那么</a:t>
                </a:r>
                <a14:m>
                  <m:oMath xmlns:m="http://schemas.openxmlformats.org/officeDocument/2006/math">
                    <m:r>
                      <a:rPr lang="en-US" altLang="zh-CN" sz="2400" i="1" kern="100">
                        <a:effectLst/>
                        <a:latin typeface="DejaVu Math TeX Gyre" panose="02000503000000000000" charset="0"/>
                        <a:cs typeface="+mn-ea"/>
                        <a:sym typeface="+mn-lt"/>
                      </a:rPr>
                      <m:t>𝑇</m:t>
                    </m:r>
                    <m:d>
                      <m:dPr>
                        <m:ctrlPr>
                          <a:rPr lang="zh-CN" altLang="zh-CN" sz="2400" i="1" kern="100">
                            <a:effectLst/>
                            <a:latin typeface="Cambria Math" panose="02040503050406030204" pitchFamily="18" charset="0"/>
                            <a:cs typeface="+mn-ea"/>
                            <a:sym typeface="+mn-lt"/>
                          </a:rPr>
                        </m:ctrlPr>
                      </m:dPr>
                      <m:e>
                        <m:r>
                          <a:rPr lang="en-US" altLang="zh-CN" sz="2400" i="1" kern="100">
                            <a:effectLst/>
                            <a:latin typeface="DejaVu Math TeX Gyre" panose="02000503000000000000" charset="0"/>
                            <a:cs typeface="+mn-ea"/>
                            <a:sym typeface="+mn-lt"/>
                          </a:rPr>
                          <m:t>𝑛</m:t>
                        </m:r>
                      </m:e>
                    </m:d>
                    <m:r>
                      <a:rPr lang="en-US" altLang="zh-CN" sz="2400" i="1" kern="100">
                        <a:effectLst/>
                        <a:latin typeface="DejaVu Math TeX Gyre" panose="02000503000000000000" charset="0"/>
                        <a:cs typeface="+mn-ea"/>
                        <a:sym typeface="+mn-lt"/>
                      </a:rPr>
                      <m:t>=</m:t>
                    </m:r>
                    <m:r>
                      <a:rPr lang="en-US" altLang="zh-CN" sz="2400" i="1" kern="100">
                        <a:effectLst/>
                        <a:latin typeface="DejaVu Math TeX Gyre" panose="02000503000000000000" charset="0"/>
                        <a:cs typeface="+mn-ea"/>
                        <a:sym typeface="+mn-lt"/>
                      </a:rPr>
                      <m:t>𝑂</m:t>
                    </m:r>
                    <m:r>
                      <a:rPr lang="en-US" altLang="zh-CN" sz="2400" i="1" kern="100">
                        <a:effectLst/>
                        <a:latin typeface="DejaVu Math TeX Gyre" panose="02000503000000000000" charset="0"/>
                        <a:cs typeface="+mn-ea"/>
                        <a:sym typeface="+mn-lt"/>
                      </a:rPr>
                      <m:t>(</m:t>
                    </m:r>
                    <m:r>
                      <a:rPr lang="en-US" altLang="zh-CN" sz="2400" i="1" kern="100">
                        <a:effectLst/>
                        <a:latin typeface="DejaVu Math TeX Gyre" panose="02000503000000000000" charset="0"/>
                        <a:cs typeface="+mn-ea"/>
                        <a:sym typeface="+mn-lt"/>
                      </a:rPr>
                      <m:t>𝑛𝑙𝑔𝑛</m:t>
                    </m:r>
                    <m:r>
                      <a:rPr lang="en-US" altLang="zh-CN" sz="2400" i="1" kern="100">
                        <a:effectLst/>
                        <a:latin typeface="DejaVu Math TeX Gyre" panose="02000503000000000000" charset="0"/>
                        <a:cs typeface="+mn-ea"/>
                        <a:sym typeface="+mn-lt"/>
                      </a:rPr>
                      <m:t>)</m:t>
                    </m:r>
                  </m:oMath>
                </a14:m>
                <a:r>
                  <a:rPr lang="zh-CN" altLang="zh-CN" sz="2400" kern="100" dirty="0">
                    <a:effectLst/>
                    <a:cs typeface="+mn-ea"/>
                    <a:sym typeface="+mn-lt"/>
                  </a:rPr>
                  <a:t>。</a:t>
                </a:r>
              </a:p>
            </p:txBody>
          </p:sp>
        </mc:Choice>
        <mc:Fallback xmlns="">
          <p:sp>
            <p:nvSpPr>
              <p:cNvPr id="5" name="文本框 4"/>
              <p:cNvSpPr txBox="1">
                <a:spLocks noRot="1" noChangeAspect="1" noMove="1" noResize="1" noEditPoints="1" noAdjustHandles="1" noChangeArrowheads="1" noChangeShapeType="1" noTextEdit="1"/>
              </p:cNvSpPr>
              <p:nvPr/>
            </p:nvSpPr>
            <p:spPr>
              <a:xfrm>
                <a:off x="1828800" y="838200"/>
                <a:ext cx="9220200" cy="5644943"/>
              </a:xfrm>
              <a:prstGeom prst="rect">
                <a:avLst/>
              </a:prstGeom>
              <a:blipFill rotWithShape="1">
                <a:blip r:embed="rId2"/>
                <a:stretch>
                  <a:fillRect b="8"/>
                </a:stretch>
              </a:blipFill>
            </p:spPr>
            <p:txBody>
              <a:bodyPr/>
              <a:lstStyle/>
              <a:p>
                <a:r>
                  <a:rPr lang="zh-CN"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快排改进</a:t>
            </a:r>
          </a:p>
        </p:txBody>
      </p:sp>
      <p:sp>
        <p:nvSpPr>
          <p:cNvPr id="7" name="内容占位符 6"/>
          <p:cNvSpPr>
            <a:spLocks noGrp="1"/>
          </p:cNvSpPr>
          <p:nvPr>
            <p:ph idx="1"/>
          </p:nvPr>
        </p:nvSpPr>
        <p:spPr>
          <a:xfrm>
            <a:off x="1143001" y="1524000"/>
            <a:ext cx="10363200" cy="5334000"/>
          </a:xfrm>
        </p:spPr>
        <p:txBody>
          <a:bodyPr>
            <a:normAutofit/>
          </a:bodyPr>
          <a:lstStyle/>
          <a:p>
            <a:pPr marL="0" indent="0" algn="l">
              <a:lnSpc>
                <a:spcPct val="120000"/>
              </a:lnSpc>
              <a:spcBef>
                <a:spcPts val="300"/>
              </a:spcBef>
              <a:buNone/>
            </a:pPr>
            <a:r>
              <a:rPr lang="zh-CN" altLang="zh-CN" sz="3200" kern="100" dirty="0">
                <a:effectLst/>
                <a:cs typeface="+mn-ea"/>
                <a:sym typeface="+mn-lt"/>
              </a:rPr>
              <a:t>有没有什么改进策略，可以优化快排的速度。</a:t>
            </a:r>
          </a:p>
          <a:p>
            <a:pPr marL="800100" lvl="1" indent="-342900">
              <a:lnSpc>
                <a:spcPct val="120000"/>
              </a:lnSpc>
              <a:spcBef>
                <a:spcPts val="300"/>
              </a:spcBef>
              <a:buFont typeface="+mj-lt"/>
              <a:buAutoNum type="arabicPeriod"/>
            </a:pPr>
            <a:r>
              <a:rPr lang="zh-CN" altLang="zh-CN" sz="2800" kern="100" dirty="0">
                <a:effectLst/>
                <a:cs typeface="+mn-ea"/>
                <a:sym typeface="+mn-lt"/>
              </a:rPr>
              <a:t>随机选择基准</a:t>
            </a:r>
          </a:p>
          <a:p>
            <a:pPr marL="800100" lvl="1" indent="-342900">
              <a:lnSpc>
                <a:spcPct val="120000"/>
              </a:lnSpc>
              <a:spcBef>
                <a:spcPts val="300"/>
              </a:spcBef>
              <a:buFont typeface="+mj-lt"/>
              <a:buAutoNum type="arabicPeriod"/>
            </a:pPr>
            <a:r>
              <a:rPr lang="zh-CN" altLang="zh-CN" sz="2800" kern="100" dirty="0">
                <a:effectLst/>
                <a:cs typeface="+mn-ea"/>
                <a:sym typeface="+mn-lt"/>
              </a:rPr>
              <a:t>三数取中法</a:t>
            </a:r>
          </a:p>
          <a:p>
            <a:pPr lvl="2">
              <a:lnSpc>
                <a:spcPct val="120000"/>
              </a:lnSpc>
              <a:spcBef>
                <a:spcPts val="300"/>
              </a:spcBef>
            </a:pPr>
            <a:r>
              <a:rPr lang="en-US" altLang="zh-CN" sz="2800" kern="100" dirty="0">
                <a:effectLst/>
                <a:cs typeface="+mn-ea"/>
                <a:sym typeface="+mn-lt"/>
              </a:rPr>
              <a:t> </a:t>
            </a:r>
            <a:r>
              <a:rPr lang="zh-CN" altLang="zh-CN" sz="2600" b="1" kern="100" dirty="0">
                <a:effectLst/>
                <a:cs typeface="+mn-ea"/>
                <a:sym typeface="+mn-lt"/>
              </a:rPr>
              <a:t>选择三个元素</a:t>
            </a:r>
            <a:r>
              <a:rPr lang="zh-CN" altLang="zh-CN" sz="2600" kern="100" dirty="0">
                <a:effectLst/>
                <a:cs typeface="+mn-ea"/>
                <a:sym typeface="+mn-lt"/>
              </a:rPr>
              <a:t>：从数组的头部（第一个元素）、尾部（最后一个元素）和中间位置（数组的中间元素）中选出三个元素。</a:t>
            </a:r>
          </a:p>
          <a:p>
            <a:pPr lvl="2">
              <a:lnSpc>
                <a:spcPct val="120000"/>
              </a:lnSpc>
              <a:spcBef>
                <a:spcPts val="300"/>
              </a:spcBef>
            </a:pPr>
            <a:r>
              <a:rPr lang="en-US" altLang="zh-CN" sz="2600" kern="100" dirty="0">
                <a:effectLst/>
                <a:cs typeface="+mn-ea"/>
                <a:sym typeface="+mn-lt"/>
              </a:rPr>
              <a:t> </a:t>
            </a:r>
            <a:r>
              <a:rPr lang="zh-CN" altLang="zh-CN" sz="2600" b="1" kern="100" dirty="0">
                <a:effectLst/>
                <a:cs typeface="+mn-ea"/>
                <a:sym typeface="+mn-lt"/>
              </a:rPr>
              <a:t>比较三个元素</a:t>
            </a:r>
            <a:r>
              <a:rPr lang="zh-CN" altLang="zh-CN" sz="2600" kern="100" dirty="0">
                <a:effectLst/>
                <a:cs typeface="+mn-ea"/>
                <a:sym typeface="+mn-lt"/>
              </a:rPr>
              <a:t>：对这三个元素进行比较，选出其中的中间值（即既不是最大值，也不是最小值的那个元素）。</a:t>
            </a:r>
          </a:p>
          <a:p>
            <a:pPr lvl="2">
              <a:lnSpc>
                <a:spcPct val="120000"/>
              </a:lnSpc>
              <a:spcBef>
                <a:spcPts val="300"/>
              </a:spcBef>
            </a:pPr>
            <a:r>
              <a:rPr lang="zh-CN" altLang="zh-CN" sz="2600" b="1" kern="100" dirty="0">
                <a:effectLst/>
                <a:cs typeface="+mn-ea"/>
                <a:sym typeface="+mn-lt"/>
              </a:rPr>
              <a:t>使用中间值作为基准</a:t>
            </a:r>
            <a:r>
              <a:rPr lang="zh-CN" altLang="zh-CN" sz="2600" kern="100" dirty="0">
                <a:effectLst/>
                <a:cs typeface="+mn-ea"/>
                <a:sym typeface="+mn-lt"/>
              </a:rPr>
              <a:t>：将选出的中间值作为基准来进行分区操作，从而避免基准选择过于偏向数组的两端，减小不平衡分区的概率。</a:t>
            </a:r>
            <a:endParaRPr lang="zh-CN" altLang="en-US" sz="3000" dirty="0"/>
          </a:p>
        </p:txBody>
      </p:sp>
      <p:sp>
        <p:nvSpPr>
          <p:cNvPr id="3" name="灯片编号占位符 2"/>
          <p:cNvSpPr>
            <a:spLocks noGrp="1"/>
          </p:cNvSpPr>
          <p:nvPr>
            <p:ph type="sldNum" sz="quarter" idx="4294967295"/>
          </p:nvPr>
        </p:nvSpPr>
        <p:spPr>
          <a:xfrm>
            <a:off x="9347200" y="6356350"/>
            <a:ext cx="2844800" cy="365125"/>
          </a:xfrm>
          <a:prstGeom prst="rect">
            <a:avLst/>
          </a:prstGeom>
        </p:spPr>
        <p:txBody>
          <a:bodyPr/>
          <a:lstStyle/>
          <a:p>
            <a:pPr algn="r">
              <a:lnSpc>
                <a:spcPct val="120000"/>
              </a:lnSpc>
              <a:spcBef>
                <a:spcPts val="300"/>
              </a:spcBef>
            </a:pPr>
            <a:fld id="{0063EC4C-CFD8-4F45-A0A2-30028C1F73DB}" type="slidenum">
              <a:rPr lang="zh-CN" altLang="en-US" smtClean="0">
                <a:cs typeface="+mn-ea"/>
                <a:sym typeface="+mn-lt"/>
              </a:rPr>
              <a:t>19</a:t>
            </a:fld>
            <a:endParaRPr lang="zh-CN" altLang="en-US" dirty="0">
              <a:cs typeface="+mn-ea"/>
              <a:sym typeface="+mn-l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80" name="Rectangle 3"/>
          <p:cNvSpPr>
            <a:spLocks noGrp="1" noChangeArrowheads="1"/>
          </p:cNvSpPr>
          <p:nvPr>
            <p:ph idx="1"/>
          </p:nvPr>
        </p:nvSpPr>
        <p:spPr>
          <a:xfrm>
            <a:off x="1832768" y="1143000"/>
            <a:ext cx="8526463" cy="4876800"/>
          </a:xfrm>
        </p:spPr>
        <p:txBody>
          <a:bodyPr>
            <a:normAutofit/>
          </a:bodyPr>
          <a:lstStyle/>
          <a:p>
            <a:pPr marL="0" indent="0">
              <a:lnSpc>
                <a:spcPct val="140000"/>
              </a:lnSpc>
              <a:buNone/>
            </a:pPr>
            <a:r>
              <a:rPr lang="zh-CN" altLang="en-US" sz="2800" b="1" dirty="0">
                <a:cs typeface="+mn-ea"/>
                <a:sym typeface="+mn-lt"/>
              </a:rPr>
              <a:t>对排序算法应该从以下几个方面综合考虑：</a:t>
            </a:r>
          </a:p>
          <a:p>
            <a:pPr lvl="1">
              <a:lnSpc>
                <a:spcPct val="140000"/>
              </a:lnSpc>
            </a:pPr>
            <a:r>
              <a:rPr lang="zh-CN" altLang="en-US" b="1" dirty="0">
                <a:cs typeface="+mn-ea"/>
                <a:sym typeface="+mn-lt"/>
              </a:rPr>
              <a:t>⑴时间复杂度；</a:t>
            </a:r>
          </a:p>
          <a:p>
            <a:pPr lvl="1">
              <a:lnSpc>
                <a:spcPct val="140000"/>
              </a:lnSpc>
            </a:pPr>
            <a:r>
              <a:rPr lang="zh-CN" altLang="en-US" b="1" dirty="0">
                <a:cs typeface="+mn-ea"/>
                <a:sym typeface="+mn-lt"/>
              </a:rPr>
              <a:t>⑵空间复杂度；</a:t>
            </a:r>
          </a:p>
          <a:p>
            <a:pPr lvl="1">
              <a:lnSpc>
                <a:spcPct val="140000"/>
              </a:lnSpc>
            </a:pPr>
            <a:r>
              <a:rPr lang="zh-CN" altLang="en-US" b="1" dirty="0">
                <a:cs typeface="+mn-ea"/>
                <a:sym typeface="+mn-lt"/>
              </a:rPr>
              <a:t>⑶稳定性；</a:t>
            </a:r>
          </a:p>
          <a:p>
            <a:pPr lvl="1">
              <a:lnSpc>
                <a:spcPct val="140000"/>
              </a:lnSpc>
            </a:pPr>
            <a:r>
              <a:rPr lang="zh-CN" altLang="en-US" b="1" dirty="0">
                <a:cs typeface="+mn-ea"/>
                <a:sym typeface="+mn-lt"/>
              </a:rPr>
              <a:t>⑷算法简单性；</a:t>
            </a:r>
          </a:p>
          <a:p>
            <a:pPr lvl="1">
              <a:lnSpc>
                <a:spcPct val="140000"/>
              </a:lnSpc>
            </a:pPr>
            <a:r>
              <a:rPr lang="zh-CN" altLang="en-US" b="1" dirty="0">
                <a:cs typeface="+mn-ea"/>
                <a:sym typeface="+mn-lt"/>
              </a:rPr>
              <a:t>⑸待排序记录个数</a:t>
            </a:r>
            <a:r>
              <a:rPr lang="en-US" altLang="zh-CN" b="1" i="1" dirty="0">
                <a:cs typeface="+mn-ea"/>
                <a:sym typeface="+mn-lt"/>
              </a:rPr>
              <a:t>n</a:t>
            </a:r>
            <a:r>
              <a:rPr lang="zh-CN" altLang="en-US" b="1" dirty="0">
                <a:cs typeface="+mn-ea"/>
                <a:sym typeface="+mn-lt"/>
              </a:rPr>
              <a:t>的大小；</a:t>
            </a:r>
          </a:p>
          <a:p>
            <a:pPr lvl="1">
              <a:lnSpc>
                <a:spcPct val="140000"/>
              </a:lnSpc>
            </a:pPr>
            <a:r>
              <a:rPr lang="zh-CN" altLang="en-US" b="1" dirty="0">
                <a:cs typeface="+mn-ea"/>
                <a:sym typeface="+mn-lt"/>
              </a:rPr>
              <a:t>⑹记录本身信息量的大小；</a:t>
            </a:r>
          </a:p>
          <a:p>
            <a:pPr lvl="1">
              <a:lnSpc>
                <a:spcPct val="140000"/>
              </a:lnSpc>
            </a:pPr>
            <a:r>
              <a:rPr lang="zh-CN" altLang="en-US" b="1" dirty="0">
                <a:cs typeface="+mn-ea"/>
                <a:sym typeface="+mn-lt"/>
              </a:rPr>
              <a:t>⑺关键字值的分布情况。</a:t>
            </a:r>
            <a:endParaRPr lang="zh-CN" altLang="en-US" b="1" dirty="0">
              <a:solidFill>
                <a:srgbClr val="003366"/>
              </a:solidFill>
              <a:cs typeface="+mn-ea"/>
              <a:sym typeface="+mn-lt"/>
            </a:endParaRPr>
          </a:p>
          <a:p>
            <a:pPr algn="just" eaLnBrk="1" hangingPunct="1">
              <a:lnSpc>
                <a:spcPct val="140000"/>
              </a:lnSpc>
              <a:buClrTx/>
              <a:buSzPct val="85000"/>
              <a:buFontTx/>
              <a:buNone/>
            </a:pPr>
            <a:endParaRPr lang="en-US" altLang="zh-CN" sz="2800" dirty="0">
              <a:cs typeface="+mn-ea"/>
              <a:sym typeface="+mn-l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4" name="Rectangle 3"/>
          <p:cNvSpPr>
            <a:spLocks noGrp="1" noChangeArrowheads="1"/>
          </p:cNvSpPr>
          <p:nvPr>
            <p:ph type="body" sz="half" idx="1"/>
          </p:nvPr>
        </p:nvSpPr>
        <p:spPr>
          <a:xfrm>
            <a:off x="1295400" y="762000"/>
            <a:ext cx="5581649" cy="4876800"/>
          </a:xfrm>
        </p:spPr>
        <p:txBody>
          <a:bodyPr>
            <a:normAutofit/>
          </a:bodyPr>
          <a:lstStyle/>
          <a:p>
            <a:pPr>
              <a:lnSpc>
                <a:spcPct val="120000"/>
              </a:lnSpc>
              <a:spcBef>
                <a:spcPts val="300"/>
              </a:spcBef>
            </a:pPr>
            <a:r>
              <a:rPr lang="zh-CN" altLang="en-US" sz="2800" b="1" dirty="0">
                <a:solidFill>
                  <a:srgbClr val="FF0000"/>
                </a:solidFill>
                <a:cs typeface="+mn-ea"/>
                <a:sym typeface="+mn-lt"/>
              </a:rPr>
              <a:t>⑴时间复杂度比较：</a:t>
            </a:r>
          </a:p>
        </p:txBody>
      </p:sp>
      <p:graphicFrame>
        <p:nvGraphicFramePr>
          <p:cNvPr id="654652" name="Group 316"/>
          <p:cNvGraphicFramePr>
            <a:graphicFrameLocks noGrp="1"/>
          </p:cNvGraphicFramePr>
          <p:nvPr>
            <p:ph sz="half" idx="2"/>
          </p:nvPr>
        </p:nvGraphicFramePr>
        <p:xfrm>
          <a:off x="2133600" y="1362947"/>
          <a:ext cx="7769225" cy="3187701"/>
        </p:xfrm>
        <a:graphic>
          <a:graphicData uri="http://schemas.openxmlformats.org/drawingml/2006/table">
            <a:tbl>
              <a:tblPr/>
              <a:tblGrid>
                <a:gridCol w="2282825">
                  <a:extLst>
                    <a:ext uri="{9D8B030D-6E8A-4147-A177-3AD203B41FA5}">
                      <a16:colId xmlns:a16="http://schemas.microsoft.com/office/drawing/2014/main" val="20000"/>
                    </a:ext>
                  </a:extLst>
                </a:gridCol>
                <a:gridCol w="1760538">
                  <a:extLst>
                    <a:ext uri="{9D8B030D-6E8A-4147-A177-3AD203B41FA5}">
                      <a16:colId xmlns:a16="http://schemas.microsoft.com/office/drawing/2014/main" val="20001"/>
                    </a:ext>
                  </a:extLst>
                </a:gridCol>
                <a:gridCol w="1870075">
                  <a:extLst>
                    <a:ext uri="{9D8B030D-6E8A-4147-A177-3AD203B41FA5}">
                      <a16:colId xmlns:a16="http://schemas.microsoft.com/office/drawing/2014/main" val="20002"/>
                    </a:ext>
                  </a:extLst>
                </a:gridCol>
                <a:gridCol w="1855787">
                  <a:extLst>
                    <a:ext uri="{9D8B030D-6E8A-4147-A177-3AD203B41FA5}">
                      <a16:colId xmlns:a16="http://schemas.microsoft.com/office/drawing/2014/main" val="20003"/>
                    </a:ext>
                  </a:extLst>
                </a:gridCol>
              </a:tblGrid>
              <a:tr h="582613">
                <a:tc>
                  <a:txBody>
                    <a:bodyPr/>
                    <a:lstStyle/>
                    <a:p>
                      <a:pPr marL="342900" marR="0" lvl="0" indent="-34290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Times New Roman" panose="02020503050405090304" pitchFamily="18" charset="0"/>
                          <a:ea typeface="宋体" pitchFamily="2" charset="-122"/>
                          <a:cs typeface="Times New Roman" panose="02020503050405090304" pitchFamily="18" charset="0"/>
                        </a:rPr>
                        <a:t>排序方法</a:t>
                      </a:r>
                      <a:endParaRPr kumimoji="0" lang="zh-CN" altLang="en-US" sz="2000" b="0" i="0" u="none" strike="noStrike" cap="none" normalizeH="0" baseline="0" dirty="0">
                        <a:ln>
                          <a:noFill/>
                        </a:ln>
                        <a:solidFill>
                          <a:schemeClr val="tx1"/>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平均情况</a:t>
                      </a:r>
                      <a:endParaRPr kumimoji="0" lang="zh-CN" altLang="en-US" sz="2000" b="0"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最好情况</a:t>
                      </a:r>
                      <a:endParaRPr kumimoji="0" lang="zh-CN" altLang="en-US" sz="2000" b="0"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最坏情况</a:t>
                      </a:r>
                      <a:endParaRPr kumimoji="0" lang="zh-CN" altLang="en-US" sz="2000" b="0"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8475">
                <a:tc>
                  <a:txBody>
                    <a:bodyPr/>
                    <a:lstStyle/>
                    <a:p>
                      <a:pPr marL="342900" marR="0" lvl="0" indent="-34290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直接插入排序</a:t>
                      </a:r>
                      <a:endParaRPr kumimoji="0" lang="zh-CN" altLang="en-US" sz="2000" b="0"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O</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n</a:t>
                      </a:r>
                      <a:r>
                        <a:rPr kumimoji="0" lang="en-US" altLang="zh-CN" sz="2000" b="1" i="0" u="none" strike="noStrike" cap="none" normalizeH="0" baseline="30000">
                          <a:ln>
                            <a:noFill/>
                          </a:ln>
                          <a:solidFill>
                            <a:schemeClr val="tx1"/>
                          </a:solidFill>
                          <a:effectLst/>
                          <a:latin typeface="Times New Roman" panose="02020503050405090304" pitchFamily="18" charset="0"/>
                          <a:ea typeface="宋体" pitchFamily="2" charset="-122"/>
                          <a:cs typeface="Times New Roman" panose="02020503050405090304" pitchFamily="18" charset="0"/>
                        </a:rPr>
                        <a:t>2</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endParaRPr kumimoji="0" lang="en-US" altLang="zh-CN" sz="2000" b="0"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O</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n</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endParaRPr kumimoji="0" lang="en-US" altLang="zh-CN" sz="2000" b="0"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O</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n</a:t>
                      </a:r>
                      <a:r>
                        <a:rPr kumimoji="0" lang="en-US" altLang="zh-CN" sz="2000" b="1" i="0" u="none" strike="noStrike" cap="none" normalizeH="0" baseline="30000">
                          <a:ln>
                            <a:noFill/>
                          </a:ln>
                          <a:solidFill>
                            <a:schemeClr val="tx1"/>
                          </a:solidFill>
                          <a:effectLst/>
                          <a:latin typeface="Times New Roman" panose="02020503050405090304" pitchFamily="18" charset="0"/>
                          <a:ea typeface="宋体" pitchFamily="2" charset="-122"/>
                          <a:cs typeface="Times New Roman" panose="02020503050405090304" pitchFamily="18" charset="0"/>
                        </a:rPr>
                        <a:t>2</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endParaRPr kumimoji="0" lang="en-US" altLang="zh-CN" sz="2000" b="0"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4500">
                <a:tc>
                  <a:txBody>
                    <a:bodyPr/>
                    <a:lstStyle/>
                    <a:p>
                      <a:pPr marL="342900" marR="0" lvl="0" indent="-34290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Times New Roman" panose="02020503050405090304" pitchFamily="18" charset="0"/>
                          <a:ea typeface="宋体" pitchFamily="2" charset="-122"/>
                          <a:cs typeface="Times New Roman" panose="02020503050405090304" pitchFamily="18" charset="0"/>
                        </a:rPr>
                        <a:t>起泡排序</a:t>
                      </a:r>
                      <a:endParaRPr kumimoji="0" lang="zh-CN" altLang="en-US" sz="2000" b="0" i="0" u="none" strike="noStrike" cap="none" normalizeH="0" baseline="0" dirty="0">
                        <a:ln>
                          <a:noFill/>
                        </a:ln>
                        <a:solidFill>
                          <a:schemeClr val="tx1"/>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O</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n</a:t>
                      </a:r>
                      <a:r>
                        <a:rPr kumimoji="0" lang="en-US" altLang="zh-CN" sz="2000" b="1" i="0" u="none" strike="noStrike" cap="none" normalizeH="0" baseline="30000">
                          <a:ln>
                            <a:noFill/>
                          </a:ln>
                          <a:solidFill>
                            <a:schemeClr val="tx1"/>
                          </a:solidFill>
                          <a:effectLst/>
                          <a:latin typeface="Times New Roman" panose="02020503050405090304" pitchFamily="18" charset="0"/>
                          <a:ea typeface="宋体" pitchFamily="2" charset="-122"/>
                          <a:cs typeface="Times New Roman" panose="02020503050405090304" pitchFamily="18" charset="0"/>
                        </a:rPr>
                        <a:t>2</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O </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n</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endParaRPr kumimoji="0" lang="en-US" altLang="zh-CN" sz="2000" b="0"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O</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n</a:t>
                      </a:r>
                      <a:r>
                        <a:rPr kumimoji="0" lang="en-US" altLang="zh-CN" sz="2000" b="1" i="0" u="none" strike="noStrike" cap="none" normalizeH="0" baseline="30000">
                          <a:ln>
                            <a:noFill/>
                          </a:ln>
                          <a:solidFill>
                            <a:schemeClr val="tx1"/>
                          </a:solidFill>
                          <a:effectLst/>
                          <a:latin typeface="Times New Roman" panose="02020503050405090304" pitchFamily="18" charset="0"/>
                          <a:ea typeface="宋体" pitchFamily="2" charset="-122"/>
                          <a:cs typeface="Times New Roman" panose="02020503050405090304" pitchFamily="18" charset="0"/>
                        </a:rPr>
                        <a:t>2</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8475">
                <a:tc>
                  <a:txBody>
                    <a:bodyPr/>
                    <a:lstStyle/>
                    <a:p>
                      <a:pPr marL="342900" marR="0" lvl="0" indent="-34290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快速排序</a:t>
                      </a:r>
                      <a:endParaRPr kumimoji="0" lang="zh-CN" altLang="en-US" sz="2000" b="0"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O</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n</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log</a:t>
                      </a:r>
                      <a:r>
                        <a:rPr kumimoji="0" lang="en-US" altLang="zh-CN" sz="2000" b="1" i="0" u="none" strike="noStrike" cap="none" normalizeH="0" baseline="-25000">
                          <a:ln>
                            <a:noFill/>
                          </a:ln>
                          <a:solidFill>
                            <a:schemeClr val="tx1"/>
                          </a:solidFill>
                          <a:effectLst/>
                          <a:latin typeface="Times New Roman" panose="02020503050405090304" pitchFamily="18" charset="0"/>
                          <a:ea typeface="宋体" pitchFamily="2" charset="-122"/>
                          <a:cs typeface="Times New Roman" panose="02020503050405090304" pitchFamily="18" charset="0"/>
                        </a:rPr>
                        <a:t>2</a:t>
                      </a: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n</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O</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n</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log</a:t>
                      </a:r>
                      <a:r>
                        <a:rPr kumimoji="0" lang="en-US" altLang="zh-CN" sz="2000" b="1" i="0" u="none" strike="noStrike" cap="none" normalizeH="0" baseline="-25000">
                          <a:ln>
                            <a:noFill/>
                          </a:ln>
                          <a:solidFill>
                            <a:schemeClr val="tx1"/>
                          </a:solidFill>
                          <a:effectLst/>
                          <a:latin typeface="Times New Roman" panose="02020503050405090304" pitchFamily="18" charset="0"/>
                          <a:ea typeface="宋体" pitchFamily="2" charset="-122"/>
                          <a:cs typeface="Times New Roman" panose="02020503050405090304" pitchFamily="18" charset="0"/>
                        </a:rPr>
                        <a:t>2</a:t>
                      </a: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n</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1" i="1" u="none" strike="noStrike" cap="none" normalizeH="0" baseline="0" dirty="0">
                          <a:ln>
                            <a:noFill/>
                          </a:ln>
                          <a:solidFill>
                            <a:schemeClr val="tx1"/>
                          </a:solidFill>
                          <a:effectLst/>
                          <a:latin typeface="Times New Roman" panose="02020503050405090304" pitchFamily="18" charset="0"/>
                          <a:ea typeface="宋体" pitchFamily="2" charset="-122"/>
                          <a:cs typeface="Times New Roman" panose="02020503050405090304" pitchFamily="18" charset="0"/>
                        </a:rPr>
                        <a:t>O</a:t>
                      </a:r>
                      <a:r>
                        <a:rPr kumimoji="0" lang="en-US" altLang="zh-CN" sz="2000" b="1" i="0" u="none" strike="noStrike" cap="none" normalizeH="0" baseline="0" dirty="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r>
                        <a:rPr kumimoji="0" lang="en-US" altLang="zh-CN" sz="2000" b="1" i="1" u="none" strike="noStrike" cap="none" normalizeH="0" baseline="0" dirty="0">
                          <a:ln>
                            <a:noFill/>
                          </a:ln>
                          <a:solidFill>
                            <a:schemeClr val="tx1"/>
                          </a:solidFill>
                          <a:effectLst/>
                          <a:latin typeface="Times New Roman" panose="02020503050405090304" pitchFamily="18" charset="0"/>
                          <a:ea typeface="宋体" pitchFamily="2" charset="-122"/>
                          <a:cs typeface="Times New Roman" panose="02020503050405090304" pitchFamily="18" charset="0"/>
                        </a:rPr>
                        <a:t>n</a:t>
                      </a:r>
                      <a:r>
                        <a:rPr kumimoji="0" lang="en-US" altLang="zh-CN" sz="2000" b="1" i="0" u="none" strike="noStrike" cap="none" normalizeH="0" baseline="30000" dirty="0">
                          <a:ln>
                            <a:noFill/>
                          </a:ln>
                          <a:solidFill>
                            <a:schemeClr val="tx1"/>
                          </a:solidFill>
                          <a:effectLst/>
                          <a:latin typeface="Times New Roman" panose="02020503050405090304" pitchFamily="18" charset="0"/>
                          <a:ea typeface="宋体" pitchFamily="2" charset="-122"/>
                          <a:cs typeface="Times New Roman" panose="02020503050405090304" pitchFamily="18" charset="0"/>
                        </a:rPr>
                        <a:t>2</a:t>
                      </a:r>
                      <a:r>
                        <a:rPr kumimoji="0" lang="en-US" altLang="zh-CN" sz="2000" b="1" i="0" u="none" strike="noStrike" cap="none" normalizeH="0" baseline="0" dirty="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68325">
                <a:tc>
                  <a:txBody>
                    <a:bodyPr/>
                    <a:lstStyle/>
                    <a:p>
                      <a:pPr marL="342900" marR="0" lvl="0" indent="-34290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直接选择排序</a:t>
                      </a:r>
                      <a:endParaRPr kumimoji="0" lang="zh-CN" altLang="en-US" sz="2000" b="0"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O</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n</a:t>
                      </a:r>
                      <a:r>
                        <a:rPr kumimoji="0" lang="en-US" altLang="zh-CN" sz="2000" b="1" i="0" u="none" strike="noStrike" cap="none" normalizeH="0" baseline="30000">
                          <a:ln>
                            <a:noFill/>
                          </a:ln>
                          <a:solidFill>
                            <a:schemeClr val="tx1"/>
                          </a:solidFill>
                          <a:effectLst/>
                          <a:latin typeface="Times New Roman" panose="02020503050405090304" pitchFamily="18" charset="0"/>
                          <a:ea typeface="宋体" pitchFamily="2" charset="-122"/>
                          <a:cs typeface="Times New Roman" panose="02020503050405090304" pitchFamily="18" charset="0"/>
                        </a:rPr>
                        <a:t>2</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O</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n</a:t>
                      </a:r>
                      <a:r>
                        <a:rPr kumimoji="0" lang="en-US" altLang="zh-CN" sz="2000" b="1" i="0" u="none" strike="noStrike" cap="none" normalizeH="0" baseline="30000">
                          <a:ln>
                            <a:noFill/>
                          </a:ln>
                          <a:solidFill>
                            <a:schemeClr val="tx1"/>
                          </a:solidFill>
                          <a:effectLst/>
                          <a:latin typeface="Times New Roman" panose="02020503050405090304" pitchFamily="18" charset="0"/>
                          <a:ea typeface="宋体" pitchFamily="2" charset="-122"/>
                          <a:cs typeface="Times New Roman" panose="02020503050405090304" pitchFamily="18" charset="0"/>
                        </a:rPr>
                        <a:t>2</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O</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n</a:t>
                      </a:r>
                      <a:r>
                        <a:rPr kumimoji="0" lang="en-US" altLang="zh-CN" sz="2000" b="1" i="0" u="none" strike="noStrike" cap="none" normalizeH="0" baseline="30000">
                          <a:ln>
                            <a:noFill/>
                          </a:ln>
                          <a:solidFill>
                            <a:schemeClr val="tx1"/>
                          </a:solidFill>
                          <a:effectLst/>
                          <a:latin typeface="Times New Roman" panose="02020503050405090304" pitchFamily="18" charset="0"/>
                          <a:ea typeface="宋体" pitchFamily="2" charset="-122"/>
                          <a:cs typeface="Times New Roman" panose="02020503050405090304" pitchFamily="18" charset="0"/>
                        </a:rPr>
                        <a:t>2</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95313">
                <a:tc>
                  <a:txBody>
                    <a:bodyPr/>
                    <a:lstStyle/>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r>
                        <a:rPr kumimoji="0" lang="zh-CN" altLang="en-US" sz="2000" b="1" i="0" u="none" strike="noStrike" cap="none" normalizeH="0" baseline="0" dirty="0">
                          <a:ln>
                            <a:noFill/>
                          </a:ln>
                          <a:solidFill>
                            <a:schemeClr val="tx1"/>
                          </a:solidFill>
                          <a:effectLst/>
                          <a:latin typeface="Times New Roman" panose="02020503050405090304" pitchFamily="18" charset="0"/>
                          <a:ea typeface="宋体" pitchFamily="2" charset="-122"/>
                          <a:cs typeface="Times New Roman" panose="02020503050405090304" pitchFamily="18" charset="0"/>
                        </a:rPr>
                        <a:t>二路</a:t>
                      </a:r>
                      <a:r>
                        <a:rPr kumimoji="0" lang="en-US" altLang="zh-CN" sz="2000" b="1" i="0" u="none" strike="noStrike" cap="none" normalizeH="0" baseline="0" dirty="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r>
                        <a:rPr kumimoji="0" lang="zh-CN" altLang="en-US" sz="2000" b="1" i="0" u="none" strike="noStrike" cap="none" normalizeH="0" baseline="0" dirty="0">
                          <a:ln>
                            <a:noFill/>
                          </a:ln>
                          <a:solidFill>
                            <a:schemeClr val="tx1"/>
                          </a:solidFill>
                          <a:effectLst/>
                          <a:latin typeface="Times New Roman" panose="02020503050405090304" pitchFamily="18" charset="0"/>
                          <a:ea typeface="宋体" pitchFamily="2" charset="-122"/>
                          <a:cs typeface="Times New Roman" panose="02020503050405090304" pitchFamily="18" charset="0"/>
                        </a:rPr>
                        <a:t>归并排序</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O</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n</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log</a:t>
                      </a:r>
                      <a:r>
                        <a:rPr kumimoji="0" lang="en-US" altLang="zh-CN" sz="2000" b="1" i="0" u="none" strike="noStrike" cap="none" normalizeH="0" baseline="-25000">
                          <a:ln>
                            <a:noFill/>
                          </a:ln>
                          <a:solidFill>
                            <a:schemeClr val="tx1"/>
                          </a:solidFill>
                          <a:effectLst/>
                          <a:latin typeface="Times New Roman" panose="02020503050405090304" pitchFamily="18" charset="0"/>
                          <a:ea typeface="宋体" pitchFamily="2" charset="-122"/>
                          <a:cs typeface="Times New Roman" panose="02020503050405090304" pitchFamily="18" charset="0"/>
                        </a:rPr>
                        <a:t>2</a:t>
                      </a: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n</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O</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n</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log</a:t>
                      </a:r>
                      <a:r>
                        <a:rPr kumimoji="0" lang="en-US" altLang="zh-CN" sz="2000" b="1" i="0" u="none" strike="noStrike" cap="none" normalizeH="0" baseline="-25000">
                          <a:ln>
                            <a:noFill/>
                          </a:ln>
                          <a:solidFill>
                            <a:schemeClr val="tx1"/>
                          </a:solidFill>
                          <a:effectLst/>
                          <a:latin typeface="Times New Roman" panose="02020503050405090304" pitchFamily="18" charset="0"/>
                          <a:ea typeface="宋体" pitchFamily="2" charset="-122"/>
                          <a:cs typeface="Times New Roman" panose="02020503050405090304" pitchFamily="18" charset="0"/>
                        </a:rPr>
                        <a:t>2</a:t>
                      </a: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n</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1" i="1" u="none" strike="noStrike" cap="none" normalizeH="0" baseline="0" dirty="0">
                          <a:ln>
                            <a:noFill/>
                          </a:ln>
                          <a:solidFill>
                            <a:schemeClr val="tx1"/>
                          </a:solidFill>
                          <a:effectLst/>
                          <a:latin typeface="Times New Roman" panose="02020503050405090304" pitchFamily="18" charset="0"/>
                          <a:ea typeface="宋体" pitchFamily="2" charset="-122"/>
                          <a:cs typeface="Times New Roman" panose="02020503050405090304" pitchFamily="18" charset="0"/>
                        </a:rPr>
                        <a:t>O</a:t>
                      </a:r>
                      <a:r>
                        <a:rPr kumimoji="0" lang="en-US" altLang="zh-CN" sz="2000" b="1" i="0" u="none" strike="noStrike" cap="none" normalizeH="0" baseline="0" dirty="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r>
                        <a:rPr kumimoji="0" lang="en-US" altLang="zh-CN" sz="2000" b="1" i="1" u="none" strike="noStrike" cap="none" normalizeH="0" baseline="0" dirty="0">
                          <a:ln>
                            <a:noFill/>
                          </a:ln>
                          <a:solidFill>
                            <a:schemeClr val="tx1"/>
                          </a:solidFill>
                          <a:effectLst/>
                          <a:latin typeface="Times New Roman" panose="02020503050405090304" pitchFamily="18" charset="0"/>
                          <a:ea typeface="宋体" pitchFamily="2" charset="-122"/>
                          <a:cs typeface="Times New Roman" panose="02020503050405090304" pitchFamily="18" charset="0"/>
                        </a:rPr>
                        <a:t>n</a:t>
                      </a:r>
                      <a:r>
                        <a:rPr kumimoji="0" lang="en-US" altLang="zh-CN" sz="2000" b="1" i="0" u="none" strike="noStrike" cap="none" normalizeH="0" baseline="0" dirty="0">
                          <a:ln>
                            <a:noFill/>
                          </a:ln>
                          <a:solidFill>
                            <a:schemeClr val="tx1"/>
                          </a:solidFill>
                          <a:effectLst/>
                          <a:latin typeface="Times New Roman" panose="02020503050405090304" pitchFamily="18" charset="0"/>
                          <a:ea typeface="宋体" pitchFamily="2" charset="-122"/>
                          <a:cs typeface="Times New Roman" panose="02020503050405090304" pitchFamily="18" charset="0"/>
                        </a:rPr>
                        <a:t>log</a:t>
                      </a:r>
                      <a:r>
                        <a:rPr kumimoji="0" lang="en-US" altLang="zh-CN" sz="2000" b="1" i="0" u="none" strike="noStrike" cap="none" normalizeH="0" baseline="-25000" dirty="0">
                          <a:ln>
                            <a:noFill/>
                          </a:ln>
                          <a:solidFill>
                            <a:schemeClr val="tx1"/>
                          </a:solidFill>
                          <a:effectLst/>
                          <a:latin typeface="Times New Roman" panose="02020503050405090304" pitchFamily="18" charset="0"/>
                          <a:ea typeface="宋体" pitchFamily="2" charset="-122"/>
                          <a:cs typeface="Times New Roman" panose="02020503050405090304" pitchFamily="18" charset="0"/>
                        </a:rPr>
                        <a:t>2</a:t>
                      </a:r>
                      <a:r>
                        <a:rPr kumimoji="0" lang="en-US" altLang="zh-CN" sz="2000" b="1" i="1" u="none" strike="noStrike" cap="none" normalizeH="0" baseline="0" dirty="0">
                          <a:ln>
                            <a:noFill/>
                          </a:ln>
                          <a:solidFill>
                            <a:schemeClr val="tx1"/>
                          </a:solidFill>
                          <a:effectLst/>
                          <a:latin typeface="Times New Roman" panose="02020503050405090304" pitchFamily="18" charset="0"/>
                          <a:ea typeface="宋体" pitchFamily="2" charset="-122"/>
                          <a:cs typeface="Times New Roman" panose="02020503050405090304" pitchFamily="18" charset="0"/>
                        </a:rPr>
                        <a:t>n</a:t>
                      </a:r>
                      <a:r>
                        <a:rPr kumimoji="0" lang="en-US" altLang="zh-CN" sz="2000" b="1" i="0" u="none" strike="noStrike" cap="none" normalizeH="0" baseline="0" dirty="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828" name="Rectangle 3"/>
          <p:cNvSpPr>
            <a:spLocks noGrp="1" noChangeArrowheads="1"/>
          </p:cNvSpPr>
          <p:nvPr>
            <p:ph type="body" sz="half" idx="1"/>
          </p:nvPr>
        </p:nvSpPr>
        <p:spPr>
          <a:xfrm>
            <a:off x="838200" y="632838"/>
            <a:ext cx="5891212" cy="4876800"/>
          </a:xfrm>
        </p:spPr>
        <p:txBody>
          <a:bodyPr>
            <a:normAutofit/>
          </a:bodyPr>
          <a:lstStyle/>
          <a:p>
            <a:pPr>
              <a:lnSpc>
                <a:spcPct val="120000"/>
              </a:lnSpc>
              <a:spcBef>
                <a:spcPts val="300"/>
              </a:spcBef>
            </a:pPr>
            <a:r>
              <a:rPr lang="zh-CN" altLang="en-US" sz="2800" b="1" dirty="0">
                <a:solidFill>
                  <a:srgbClr val="FF0000"/>
                </a:solidFill>
                <a:cs typeface="+mn-ea"/>
                <a:sym typeface="+mn-lt"/>
              </a:rPr>
              <a:t>⑵空间复杂度比较和⑶稳定性比较：</a:t>
            </a:r>
          </a:p>
        </p:txBody>
      </p:sp>
      <p:graphicFrame>
        <p:nvGraphicFramePr>
          <p:cNvPr id="657672" name="Group 264"/>
          <p:cNvGraphicFramePr>
            <a:graphicFrameLocks noGrp="1"/>
          </p:cNvGraphicFramePr>
          <p:nvPr>
            <p:ph sz="half" idx="2"/>
          </p:nvPr>
        </p:nvGraphicFramePr>
        <p:xfrm>
          <a:off x="1981200" y="1371600"/>
          <a:ext cx="7972425" cy="3246438"/>
        </p:xfrm>
        <a:graphic>
          <a:graphicData uri="http://schemas.openxmlformats.org/drawingml/2006/table">
            <a:tbl>
              <a:tblPr/>
              <a:tblGrid>
                <a:gridCol w="2281237">
                  <a:extLst>
                    <a:ext uri="{9D8B030D-6E8A-4147-A177-3AD203B41FA5}">
                      <a16:colId xmlns:a16="http://schemas.microsoft.com/office/drawing/2014/main" val="20000"/>
                    </a:ext>
                  </a:extLst>
                </a:gridCol>
                <a:gridCol w="2254250">
                  <a:extLst>
                    <a:ext uri="{9D8B030D-6E8A-4147-A177-3AD203B41FA5}">
                      <a16:colId xmlns:a16="http://schemas.microsoft.com/office/drawing/2014/main" val="20001"/>
                    </a:ext>
                  </a:extLst>
                </a:gridCol>
                <a:gridCol w="3436938">
                  <a:extLst>
                    <a:ext uri="{9D8B030D-6E8A-4147-A177-3AD203B41FA5}">
                      <a16:colId xmlns:a16="http://schemas.microsoft.com/office/drawing/2014/main" val="20002"/>
                    </a:ext>
                  </a:extLst>
                </a:gridCol>
              </a:tblGrid>
              <a:tr h="542925">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Times New Roman" panose="02020503050405090304" pitchFamily="18" charset="0"/>
                          <a:ea typeface="宋体" pitchFamily="2" charset="-122"/>
                          <a:cs typeface="Times New Roman" panose="02020503050405090304" pitchFamily="18" charset="0"/>
                        </a:rPr>
                        <a:t>排序方法</a:t>
                      </a:r>
                      <a:endParaRPr kumimoji="0" lang="zh-CN" altLang="en-US" sz="2000" b="0" i="0" u="none" strike="noStrike" cap="none" normalizeH="0" baseline="0" dirty="0">
                        <a:ln>
                          <a:noFill/>
                        </a:ln>
                        <a:solidFill>
                          <a:schemeClr val="tx1"/>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Times New Roman" panose="02020503050405090304" pitchFamily="18" charset="0"/>
                          <a:ea typeface="宋体" pitchFamily="2" charset="-122"/>
                          <a:cs typeface="Times New Roman" panose="02020503050405090304" pitchFamily="18" charset="0"/>
                        </a:rPr>
                        <a:t>辅助空间</a:t>
                      </a:r>
                      <a:endParaRPr kumimoji="0" lang="zh-CN" altLang="en-US" sz="2000" b="0" i="0" u="none" strike="noStrike" cap="none" normalizeH="0" baseline="0" dirty="0">
                        <a:ln>
                          <a:noFill/>
                        </a:ln>
                        <a:solidFill>
                          <a:schemeClr val="tx1"/>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稳定性</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r>
                        <a:rPr kumimoji="0" lang="zh-CN" altLang="en-US"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不稳定举例</a:t>
                      </a:r>
                      <a:endParaRPr kumimoji="0" lang="zh-CN" altLang="en-US" sz="2000" b="0"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6575">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直接插入排序</a:t>
                      </a:r>
                      <a:endParaRPr kumimoji="0" lang="zh-CN" altLang="en-US" sz="2000" b="0"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O</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(1)</a:t>
                      </a:r>
                      <a:endParaRPr kumimoji="0" lang="en-US" altLang="zh-CN" sz="2000" b="0"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Tx/>
                        <a:buFont typeface="Monotype Sorts" pitchFamily="2" charset="2"/>
                        <a:buNone/>
                      </a:pPr>
                      <a:r>
                        <a:rPr kumimoji="1" lang="zh-CN" altLang="en-US" sz="2000" b="1" i="0" u="none" strike="noStrike" cap="none" normalizeH="0" baseline="0">
                          <a:ln>
                            <a:noFill/>
                          </a:ln>
                          <a:solidFill>
                            <a:schemeClr val="tx1"/>
                          </a:solidFill>
                          <a:effectLst/>
                          <a:latin typeface="Helvetica" pitchFamily="34" charset="0"/>
                          <a:ea typeface="宋体" pitchFamily="2" charset="-122"/>
                          <a:sym typeface="Wingdings" panose="05000000000000000000" pitchFamily="2" charset="2"/>
                        </a:rPr>
                        <a:t>是</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6575">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Times New Roman" panose="02020503050405090304" pitchFamily="18" charset="0"/>
                          <a:ea typeface="宋体" pitchFamily="2" charset="-122"/>
                          <a:cs typeface="Times New Roman" panose="02020503050405090304" pitchFamily="18" charset="0"/>
                        </a:rPr>
                        <a:t>起泡排序</a:t>
                      </a:r>
                      <a:endParaRPr kumimoji="0" lang="zh-CN" altLang="en-US" sz="2000" b="0" i="0" u="none" strike="noStrike" cap="none" normalizeH="0" baseline="0" dirty="0">
                        <a:ln>
                          <a:noFill/>
                        </a:ln>
                        <a:solidFill>
                          <a:schemeClr val="tx1"/>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O</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(1)</a:t>
                      </a:r>
                      <a:endParaRPr kumimoji="0" lang="en-US" altLang="zh-CN" sz="2000" b="0"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Tx/>
                        <a:buFont typeface="Monotype Sorts" pitchFamily="2" charset="2"/>
                        <a:buNone/>
                      </a:pPr>
                      <a:r>
                        <a:rPr kumimoji="1" lang="zh-CN" altLang="en-US" sz="2000" b="1" i="0" u="none" strike="noStrike" cap="none" normalizeH="0" baseline="0">
                          <a:ln>
                            <a:noFill/>
                          </a:ln>
                          <a:solidFill>
                            <a:schemeClr val="tx1"/>
                          </a:solidFill>
                          <a:effectLst/>
                          <a:latin typeface="Helvetica" pitchFamily="34" charset="0"/>
                          <a:ea typeface="宋体" pitchFamily="2" charset="-122"/>
                          <a:sym typeface="Wingdings" panose="05000000000000000000" pitchFamily="2" charset="2"/>
                        </a:rPr>
                        <a:t>是</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6575">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快速排序</a:t>
                      </a:r>
                      <a:endParaRPr kumimoji="0" lang="zh-CN" altLang="en-US" sz="2000" b="0"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O</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(log</a:t>
                      </a:r>
                      <a:r>
                        <a:rPr kumimoji="0" lang="en-US" altLang="zh-CN" sz="2000" b="1" i="0" u="none" strike="noStrike" cap="none" normalizeH="0" baseline="-25000">
                          <a:ln>
                            <a:noFill/>
                          </a:ln>
                          <a:solidFill>
                            <a:schemeClr val="tx1"/>
                          </a:solidFill>
                          <a:effectLst/>
                          <a:latin typeface="Times New Roman" panose="02020503050405090304" pitchFamily="18" charset="0"/>
                          <a:ea typeface="宋体" pitchFamily="2" charset="-122"/>
                          <a:cs typeface="Times New Roman" panose="02020503050405090304" pitchFamily="18" charset="0"/>
                        </a:rPr>
                        <a:t>2</a:t>
                      </a: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n</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 ~</a:t>
                      </a: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O</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n</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endParaRPr kumimoji="0" lang="en-US" altLang="zh-CN" sz="2000" b="0"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Tx/>
                        <a:buFont typeface="Monotype Sorts" pitchFamily="2" charset="2"/>
                        <a:buNone/>
                      </a:pPr>
                      <a:r>
                        <a:rPr kumimoji="1" lang="zh-CN" altLang="en-US" sz="2000" b="1" i="0" u="none" strike="noStrike" cap="none" normalizeH="0" baseline="0">
                          <a:ln>
                            <a:noFill/>
                          </a:ln>
                          <a:solidFill>
                            <a:schemeClr val="tx1"/>
                          </a:solidFill>
                          <a:effectLst/>
                          <a:latin typeface="Helvetica" pitchFamily="34" charset="0"/>
                          <a:ea typeface="宋体" pitchFamily="2" charset="-122"/>
                          <a:sym typeface="Wingdings" panose="05000000000000000000" pitchFamily="2" charset="2"/>
                        </a:rPr>
                        <a:t>否</a:t>
                      </a:r>
                      <a:r>
                        <a:rPr kumimoji="1" lang="en-US" altLang="zh-CN" sz="2000" b="1" i="0" u="none" strike="noStrike" cap="none" normalizeH="0" baseline="0">
                          <a:ln>
                            <a:noFill/>
                          </a:ln>
                          <a:solidFill>
                            <a:schemeClr val="tx1"/>
                          </a:solidFill>
                          <a:effectLst/>
                          <a:latin typeface="Helvetica" pitchFamily="34" charset="0"/>
                          <a:ea typeface="宋体" pitchFamily="2" charset="-122"/>
                          <a:sym typeface="Wingdings" panose="05000000000000000000" pitchFamily="2" charset="2"/>
                        </a:rPr>
                        <a:t>/2,2’,1</a:t>
                      </a:r>
                      <a:endParaRPr kumimoji="1" lang="zh-CN" altLang="en-US" sz="2000" b="1" i="0" u="none" strike="noStrike" cap="none" normalizeH="0" baseline="0">
                        <a:ln>
                          <a:noFill/>
                        </a:ln>
                        <a:solidFill>
                          <a:schemeClr val="tx1"/>
                        </a:solidFill>
                        <a:effectLst/>
                        <a:latin typeface="Helvetica" pitchFamily="34" charset="0"/>
                        <a:ea typeface="宋体" pitchFamily="2" charset="-122"/>
                        <a:sym typeface="Wingdings" panose="05000000000000000000" pitchFamily="2" charset="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6575">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直接选择排序</a:t>
                      </a:r>
                      <a:endParaRPr kumimoji="0" lang="zh-CN" altLang="en-US" sz="2000" b="0"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O</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(1)</a:t>
                      </a:r>
                      <a:endParaRPr kumimoji="0" lang="en-US" altLang="zh-CN" sz="2000" b="0"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Tx/>
                        <a:buFont typeface="Monotype Sorts" pitchFamily="2" charset="2"/>
                        <a:buNone/>
                      </a:pPr>
                      <a:r>
                        <a:rPr kumimoji="1" lang="zh-CN" altLang="en-US" sz="2000" b="1" i="0" u="none" strike="noStrike" cap="none" normalizeH="0" baseline="0">
                          <a:ln>
                            <a:noFill/>
                          </a:ln>
                          <a:solidFill>
                            <a:schemeClr val="tx1"/>
                          </a:solidFill>
                          <a:effectLst/>
                          <a:latin typeface="Helvetica" pitchFamily="34" charset="0"/>
                          <a:ea typeface="宋体" pitchFamily="2" charset="-122"/>
                          <a:sym typeface="Wingdings" panose="05000000000000000000" pitchFamily="2" charset="2"/>
                        </a:rPr>
                        <a:t>否</a:t>
                      </a:r>
                      <a:r>
                        <a:rPr kumimoji="1" lang="en-US" altLang="zh-CN" sz="2000" b="1" i="0" u="none" strike="noStrike" cap="none" normalizeH="0" baseline="0">
                          <a:ln>
                            <a:noFill/>
                          </a:ln>
                          <a:solidFill>
                            <a:schemeClr val="tx1"/>
                          </a:solidFill>
                          <a:effectLst/>
                          <a:latin typeface="Helvetica" pitchFamily="34" charset="0"/>
                          <a:ea typeface="宋体" pitchFamily="2" charset="-122"/>
                          <a:sym typeface="Wingdings" panose="05000000000000000000" pitchFamily="2" charset="2"/>
                        </a:rPr>
                        <a:t>/2,2’,1</a:t>
                      </a:r>
                      <a:endParaRPr kumimoji="1" lang="zh-CN" altLang="en-US" sz="2000" b="1" i="0" u="none" strike="noStrike" cap="none" normalizeH="0" baseline="0">
                        <a:ln>
                          <a:noFill/>
                        </a:ln>
                        <a:solidFill>
                          <a:schemeClr val="tx1"/>
                        </a:solidFill>
                        <a:effectLst/>
                        <a:latin typeface="Helvetica" pitchFamily="34" charset="0"/>
                        <a:ea typeface="宋体" pitchFamily="2" charset="-122"/>
                        <a:sym typeface="Wingdings" panose="05000000000000000000" pitchFamily="2" charset="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57213">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r>
                        <a:rPr kumimoji="0" lang="zh-CN" altLang="en-US" sz="2000" b="1" i="0" u="none" strike="noStrike" cap="none" normalizeH="0" baseline="0" dirty="0">
                          <a:ln>
                            <a:noFill/>
                          </a:ln>
                          <a:solidFill>
                            <a:schemeClr val="tx1"/>
                          </a:solidFill>
                          <a:effectLst/>
                          <a:latin typeface="Times New Roman" panose="02020503050405090304" pitchFamily="18" charset="0"/>
                          <a:ea typeface="宋体" pitchFamily="2" charset="-122"/>
                          <a:cs typeface="Times New Roman" panose="02020503050405090304" pitchFamily="18" charset="0"/>
                        </a:rPr>
                        <a:t>二路</a:t>
                      </a:r>
                      <a:r>
                        <a:rPr kumimoji="0" lang="en-US" altLang="zh-CN" sz="2000" b="1" i="0" u="none" strike="noStrike" cap="none" normalizeH="0" baseline="0" dirty="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r>
                        <a:rPr kumimoji="0" lang="zh-CN" altLang="en-US" sz="2000" b="1" i="0" u="none" strike="noStrike" cap="none" normalizeH="0" baseline="0" dirty="0">
                          <a:ln>
                            <a:noFill/>
                          </a:ln>
                          <a:solidFill>
                            <a:schemeClr val="tx1"/>
                          </a:solidFill>
                          <a:effectLst/>
                          <a:latin typeface="Times New Roman" panose="02020503050405090304" pitchFamily="18" charset="0"/>
                          <a:ea typeface="宋体" pitchFamily="2" charset="-122"/>
                          <a:cs typeface="Times New Roman" panose="02020503050405090304" pitchFamily="18" charset="0"/>
                        </a:rPr>
                        <a:t>归并排序</a:t>
                      </a:r>
                      <a:endParaRPr kumimoji="0" lang="zh-CN" altLang="en-US" sz="2000" b="0" i="0" u="none" strike="noStrike" cap="none" normalizeH="0" baseline="0" dirty="0">
                        <a:ln>
                          <a:noFill/>
                        </a:ln>
                        <a:solidFill>
                          <a:schemeClr val="tx1"/>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O</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r>
                        <a:rPr kumimoji="0" lang="en-US" altLang="zh-CN" sz="2000" b="1" i="1"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n</a:t>
                      </a:r>
                      <a:r>
                        <a:rPr kumimoji="0" lang="en-US" altLang="zh-CN" sz="2000" b="1"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rPr>
                        <a:t>)</a:t>
                      </a:r>
                      <a:endParaRPr kumimoji="0" lang="en-US" altLang="zh-CN" sz="2000" b="0" i="0" u="none" strike="noStrike" cap="none" normalizeH="0" baseline="0">
                        <a:ln>
                          <a:noFill/>
                        </a:ln>
                        <a:solidFill>
                          <a:schemeClr val="tx1"/>
                        </a:solidFill>
                        <a:effectLst/>
                        <a:latin typeface="Times New Roman" panose="02020503050405090304" pitchFamily="18" charset="0"/>
                        <a:ea typeface="宋体" pitchFamily="2" charset="-122"/>
                        <a:cs typeface="Times New Roman" panose="02020503050405090304"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Tx/>
                        <a:buFont typeface="Monotype Sorts" pitchFamily="2" charset="2"/>
                        <a:buNone/>
                      </a:pPr>
                      <a:r>
                        <a:rPr kumimoji="1" lang="zh-CN" altLang="en-US" sz="2000" b="1" i="0" u="none" strike="noStrike" cap="none" normalizeH="0" baseline="0" dirty="0">
                          <a:ln>
                            <a:noFill/>
                          </a:ln>
                          <a:solidFill>
                            <a:schemeClr val="tx1"/>
                          </a:solidFill>
                          <a:effectLst/>
                          <a:latin typeface="Helvetica" pitchFamily="34" charset="0"/>
                          <a:ea typeface="宋体" pitchFamily="2" charset="-122"/>
                          <a:sym typeface="Wingdings" panose="05000000000000000000" pitchFamily="2" charset="2"/>
                        </a:rPr>
                        <a:t>是</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7" name="日期占位符 3"/>
          <p:cNvSpPr txBox="1"/>
          <p:nvPr/>
        </p:nvSpPr>
        <p:spPr>
          <a:xfrm>
            <a:off x="609600" y="6356351"/>
            <a:ext cx="28448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ts val="300"/>
              </a:spcBef>
            </a:pPr>
            <a:fld id="{B4E1999C-2567-4724-B053-EB5AF60E70D4}" type="datetime1">
              <a:rPr lang="zh-CN" altLang="en-US" b="1" smtClean="0">
                <a:solidFill>
                  <a:srgbClr val="F79646">
                    <a:lumMod val="75000"/>
                  </a:srgbClr>
                </a:solidFill>
                <a:cs typeface="+mn-ea"/>
                <a:sym typeface="+mn-lt"/>
              </a:rPr>
              <a:t>2025/11/27</a:t>
            </a:fld>
            <a:endParaRPr lang="zh-CN" altLang="en-US" b="1" dirty="0">
              <a:solidFill>
                <a:srgbClr val="F79646">
                  <a:lumMod val="75000"/>
                </a:srgbClr>
              </a:solidFill>
              <a:cs typeface="+mn-ea"/>
              <a:sym typeface="+mn-l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不同排序方案应用场景</a:t>
            </a:r>
          </a:p>
        </p:txBody>
      </p:sp>
      <p:sp>
        <p:nvSpPr>
          <p:cNvPr id="13" name="内容占位符 4"/>
          <p:cNvSpPr>
            <a:spLocks noGrp="1"/>
          </p:cNvSpPr>
          <p:nvPr>
            <p:ph idx="1"/>
          </p:nvPr>
        </p:nvSpPr>
        <p:spPr/>
        <p:txBody>
          <a:bodyPr>
            <a:noAutofit/>
          </a:bodyPr>
          <a:lstStyle/>
          <a:p>
            <a:pPr marL="0" indent="0">
              <a:lnSpc>
                <a:spcPct val="120000"/>
              </a:lnSpc>
              <a:spcBef>
                <a:spcPts val="1200"/>
              </a:spcBef>
              <a:spcAft>
                <a:spcPts val="1200"/>
              </a:spcAft>
              <a:buNone/>
              <a:defRPr/>
            </a:pPr>
            <a:r>
              <a:rPr lang="en-US" altLang="zh-CN" sz="2400" dirty="0">
                <a:cs typeface="+mn-ea"/>
                <a:sym typeface="+mn-lt"/>
              </a:rPr>
              <a:t>(1)</a:t>
            </a:r>
            <a:r>
              <a:rPr lang="zh-CN" altLang="en-US" sz="2400" dirty="0">
                <a:cs typeface="+mn-ea"/>
                <a:sym typeface="+mn-lt"/>
              </a:rPr>
              <a:t>若 </a:t>
            </a:r>
            <a:r>
              <a:rPr lang="en-US" altLang="zh-CN" sz="2400" i="1" dirty="0">
                <a:cs typeface="+mn-ea"/>
                <a:sym typeface="+mn-lt"/>
              </a:rPr>
              <a:t>n </a:t>
            </a:r>
            <a:r>
              <a:rPr lang="zh-CN" altLang="en-US" sz="2400" dirty="0">
                <a:cs typeface="+mn-ea"/>
                <a:sym typeface="+mn-lt"/>
              </a:rPr>
              <a:t>较小</a:t>
            </a:r>
            <a:r>
              <a:rPr lang="en-US" altLang="zh-CN" sz="2400" dirty="0">
                <a:cs typeface="+mn-ea"/>
                <a:sym typeface="+mn-lt"/>
              </a:rPr>
              <a:t>(</a:t>
            </a:r>
            <a:r>
              <a:rPr lang="zh-CN" altLang="en-US" sz="2400" dirty="0">
                <a:cs typeface="+mn-ea"/>
                <a:sym typeface="+mn-lt"/>
              </a:rPr>
              <a:t>如 </a:t>
            </a:r>
            <a:r>
              <a:rPr lang="en-US" altLang="zh-CN" sz="2400" i="1" dirty="0">
                <a:cs typeface="+mn-ea"/>
                <a:sym typeface="+mn-lt"/>
              </a:rPr>
              <a:t>n </a:t>
            </a:r>
            <a:r>
              <a:rPr lang="en-US" altLang="zh-CN" sz="2400" dirty="0">
                <a:cs typeface="+mn-ea"/>
                <a:sym typeface="+mn-lt"/>
              </a:rPr>
              <a:t>≤ 50)</a:t>
            </a:r>
            <a:r>
              <a:rPr lang="zh-CN" altLang="en-US" sz="2400" dirty="0">
                <a:cs typeface="+mn-ea"/>
                <a:sym typeface="+mn-lt"/>
              </a:rPr>
              <a:t>，可采用直接插入或直接选择排序。</a:t>
            </a:r>
            <a:endParaRPr lang="en-US" altLang="zh-CN" sz="2400" dirty="0">
              <a:cs typeface="+mn-ea"/>
              <a:sym typeface="+mn-lt"/>
            </a:endParaRPr>
          </a:p>
          <a:p>
            <a:pPr lvl="1">
              <a:lnSpc>
                <a:spcPct val="120000"/>
              </a:lnSpc>
              <a:spcBef>
                <a:spcPts val="1200"/>
              </a:spcBef>
              <a:spcAft>
                <a:spcPts val="1200"/>
              </a:spcAft>
              <a:buFont typeface="Wingdings" panose="05000000000000000000" pitchFamily="2" charset="2"/>
              <a:buChar char="l"/>
              <a:defRPr/>
            </a:pPr>
            <a:r>
              <a:rPr lang="zh-CN" altLang="en-US" b="1" dirty="0">
                <a:cs typeface="+mn-ea"/>
                <a:sym typeface="+mn-lt"/>
              </a:rPr>
              <a:t>当记录规模较小时，直接插入排序较好；否则因为直接选择移动的记录数少于直接插人，应选直接选择排序为宜。</a:t>
            </a:r>
          </a:p>
          <a:p>
            <a:pPr marL="0" indent="0">
              <a:lnSpc>
                <a:spcPct val="120000"/>
              </a:lnSpc>
              <a:spcBef>
                <a:spcPts val="1200"/>
              </a:spcBef>
              <a:spcAft>
                <a:spcPts val="1200"/>
              </a:spcAft>
              <a:buNone/>
              <a:defRPr/>
            </a:pPr>
            <a:r>
              <a:rPr lang="en-US" altLang="zh-CN" sz="2400" dirty="0">
                <a:cs typeface="+mn-ea"/>
                <a:sym typeface="+mn-lt"/>
              </a:rPr>
              <a:t>(2)</a:t>
            </a:r>
            <a:r>
              <a:rPr lang="zh-CN" altLang="en-US" sz="2400" dirty="0">
                <a:cs typeface="+mn-ea"/>
                <a:sym typeface="+mn-lt"/>
              </a:rPr>
              <a:t>若文件初始状态基本有序</a:t>
            </a:r>
            <a:r>
              <a:rPr lang="en-US" altLang="zh-CN" sz="2400" dirty="0">
                <a:cs typeface="+mn-ea"/>
                <a:sym typeface="+mn-lt"/>
              </a:rPr>
              <a:t>(</a:t>
            </a:r>
            <a:r>
              <a:rPr lang="zh-CN" altLang="en-US" sz="2400" dirty="0">
                <a:cs typeface="+mn-ea"/>
                <a:sym typeface="+mn-lt"/>
              </a:rPr>
              <a:t>指正序</a:t>
            </a:r>
            <a:r>
              <a:rPr lang="en-US" altLang="zh-CN" sz="2400" dirty="0">
                <a:cs typeface="+mn-ea"/>
                <a:sym typeface="+mn-lt"/>
              </a:rPr>
              <a:t>)</a:t>
            </a:r>
            <a:r>
              <a:rPr lang="zh-CN" altLang="en-US" sz="2400" dirty="0">
                <a:cs typeface="+mn-ea"/>
                <a:sym typeface="+mn-lt"/>
              </a:rPr>
              <a:t>，则应选用直接插入、冒泡或随机的快速排序为宜；且以直接插入排序最佳。</a:t>
            </a:r>
            <a:endParaRPr lang="en-US" altLang="zh-CN" sz="2400" dirty="0">
              <a:cs typeface="+mn-ea"/>
              <a:sym typeface="+mn-lt"/>
            </a:endParaRPr>
          </a:p>
          <a:p>
            <a:pPr marL="0" indent="0">
              <a:lnSpc>
                <a:spcPct val="120000"/>
              </a:lnSpc>
              <a:spcBef>
                <a:spcPts val="1200"/>
              </a:spcBef>
              <a:spcAft>
                <a:spcPts val="1200"/>
              </a:spcAft>
              <a:buNone/>
              <a:defRPr/>
            </a:pPr>
            <a:r>
              <a:rPr lang="en-US" altLang="zh-CN" sz="2400" dirty="0">
                <a:cs typeface="+mn-ea"/>
                <a:sym typeface="+mn-lt"/>
              </a:rPr>
              <a:t>(3)</a:t>
            </a:r>
            <a:r>
              <a:rPr lang="zh-CN" altLang="en-US" sz="2400" dirty="0">
                <a:cs typeface="+mn-ea"/>
                <a:sym typeface="+mn-lt"/>
              </a:rPr>
              <a:t>若 </a:t>
            </a:r>
            <a:r>
              <a:rPr lang="en-US" altLang="zh-CN" sz="2400" i="1" dirty="0">
                <a:cs typeface="+mn-ea"/>
                <a:sym typeface="+mn-lt"/>
              </a:rPr>
              <a:t>n </a:t>
            </a:r>
            <a:r>
              <a:rPr lang="zh-CN" altLang="en-US" sz="2400" dirty="0">
                <a:cs typeface="+mn-ea"/>
                <a:sym typeface="+mn-lt"/>
              </a:rPr>
              <a:t>较大，则应采用时间复杂度为</a:t>
            </a:r>
            <a:r>
              <a:rPr lang="en-US" altLang="zh-CN" sz="2400" dirty="0">
                <a:cs typeface="+mn-ea"/>
                <a:sym typeface="+mn-lt"/>
              </a:rPr>
              <a:t>O( </a:t>
            </a:r>
            <a:r>
              <a:rPr lang="en-US" altLang="zh-CN" sz="2400" i="1" dirty="0" err="1">
                <a:cs typeface="+mn-ea"/>
                <a:sym typeface="+mn-lt"/>
              </a:rPr>
              <a:t>n</a:t>
            </a:r>
            <a:r>
              <a:rPr lang="en-US" altLang="zh-CN" sz="2400" dirty="0" err="1">
                <a:cs typeface="+mn-ea"/>
                <a:sym typeface="+mn-lt"/>
              </a:rPr>
              <a:t>lg</a:t>
            </a:r>
            <a:r>
              <a:rPr lang="en-US" altLang="zh-CN" sz="2400" i="1" dirty="0" err="1">
                <a:cs typeface="+mn-ea"/>
                <a:sym typeface="+mn-lt"/>
              </a:rPr>
              <a:t>n</a:t>
            </a:r>
            <a:r>
              <a:rPr lang="en-US" altLang="zh-CN" sz="2400" i="1" dirty="0">
                <a:cs typeface="+mn-ea"/>
                <a:sym typeface="+mn-lt"/>
              </a:rPr>
              <a:t> </a:t>
            </a:r>
            <a:r>
              <a:rPr lang="en-US" altLang="zh-CN" sz="2400" dirty="0">
                <a:cs typeface="+mn-ea"/>
                <a:sym typeface="+mn-lt"/>
              </a:rPr>
              <a:t>)</a:t>
            </a:r>
            <a:r>
              <a:rPr lang="zh-CN" altLang="en-US" sz="2400" dirty="0">
                <a:cs typeface="+mn-ea"/>
                <a:sym typeface="+mn-lt"/>
              </a:rPr>
              <a:t>的排序方法：</a:t>
            </a:r>
          </a:p>
          <a:p>
            <a:pPr lvl="1">
              <a:lnSpc>
                <a:spcPct val="120000"/>
              </a:lnSpc>
              <a:spcBef>
                <a:spcPts val="1200"/>
              </a:spcBef>
              <a:spcAft>
                <a:spcPts val="1200"/>
              </a:spcAft>
              <a:buFont typeface="Wingdings" panose="05000000000000000000" pitchFamily="2" charset="2"/>
              <a:buChar char="l"/>
              <a:defRPr/>
            </a:pPr>
            <a:r>
              <a:rPr lang="zh-CN" altLang="en-US" b="1" dirty="0">
                <a:cs typeface="+mn-ea"/>
                <a:sym typeface="+mn-lt"/>
              </a:rPr>
              <a:t> 快速排序、归并排序。</a:t>
            </a:r>
            <a:br>
              <a:rPr lang="zh-CN" altLang="en-US" b="1" dirty="0">
                <a:cs typeface="+mn-ea"/>
                <a:sym typeface="+mn-lt"/>
              </a:rPr>
            </a:br>
            <a:r>
              <a:rPr lang="zh-CN" altLang="en-US" sz="2000" b="1" dirty="0">
                <a:cs typeface="+mn-ea"/>
                <a:sym typeface="+mn-lt"/>
              </a:rPr>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不同排序方案应用场景</a:t>
            </a:r>
          </a:p>
        </p:txBody>
      </p:sp>
      <p:sp>
        <p:nvSpPr>
          <p:cNvPr id="13" name="内容占位符 4"/>
          <p:cNvSpPr>
            <a:spLocks noGrp="1"/>
          </p:cNvSpPr>
          <p:nvPr>
            <p:ph idx="1"/>
          </p:nvPr>
        </p:nvSpPr>
        <p:spPr>
          <a:xfrm>
            <a:off x="1127967" y="1556792"/>
            <a:ext cx="10656665" cy="4920208"/>
          </a:xfrm>
        </p:spPr>
        <p:txBody>
          <a:bodyPr>
            <a:normAutofit fontScale="92500"/>
          </a:bodyPr>
          <a:lstStyle/>
          <a:p>
            <a:pPr marL="0" indent="0">
              <a:lnSpc>
                <a:spcPct val="140000"/>
              </a:lnSpc>
              <a:spcBef>
                <a:spcPts val="600"/>
              </a:spcBef>
              <a:buNone/>
            </a:pPr>
            <a:r>
              <a:rPr lang="zh-CN" altLang="en-US" sz="2600" b="1" dirty="0">
                <a:solidFill>
                  <a:srgbClr val="FF0000"/>
                </a:solidFill>
                <a:cs typeface="+mn-ea"/>
                <a:sym typeface="+mn-lt"/>
              </a:rPr>
              <a:t>⑷算法简单性比较：</a:t>
            </a:r>
            <a:r>
              <a:rPr lang="zh-CN" altLang="en-US" sz="2600" b="1" dirty="0">
                <a:cs typeface="+mn-ea"/>
                <a:sym typeface="+mn-lt"/>
              </a:rPr>
              <a:t>从算法简单性看，</a:t>
            </a:r>
          </a:p>
          <a:p>
            <a:pPr lvl="1">
              <a:lnSpc>
                <a:spcPct val="140000"/>
              </a:lnSpc>
              <a:spcBef>
                <a:spcPts val="600"/>
              </a:spcBef>
            </a:pPr>
            <a:r>
              <a:rPr lang="zh-CN" altLang="en-US" sz="2600" b="1" dirty="0">
                <a:cs typeface="+mn-ea"/>
                <a:sym typeface="+mn-lt"/>
              </a:rPr>
              <a:t>一类是简单算法，包括直接插入排序、直接选择排序和起泡排序；</a:t>
            </a:r>
          </a:p>
          <a:p>
            <a:pPr lvl="1">
              <a:lnSpc>
                <a:spcPct val="140000"/>
              </a:lnSpc>
              <a:spcBef>
                <a:spcPts val="600"/>
              </a:spcBef>
            </a:pPr>
            <a:r>
              <a:rPr lang="zh-CN" altLang="en-US" sz="2600" b="1" dirty="0">
                <a:cs typeface="+mn-ea"/>
                <a:sym typeface="+mn-lt"/>
              </a:rPr>
              <a:t>另一类是改进后的算法，包括快速排序和归并排序，这些算法都很复杂</a:t>
            </a:r>
            <a:endParaRPr lang="zh-CN" altLang="en-US" sz="2600" b="1" dirty="0">
              <a:solidFill>
                <a:srgbClr val="FF0000"/>
              </a:solidFill>
              <a:cs typeface="+mn-ea"/>
              <a:sym typeface="+mn-lt"/>
            </a:endParaRPr>
          </a:p>
          <a:p>
            <a:pPr marL="0" indent="0">
              <a:lnSpc>
                <a:spcPct val="140000"/>
              </a:lnSpc>
              <a:spcBef>
                <a:spcPts val="600"/>
              </a:spcBef>
              <a:buNone/>
            </a:pPr>
            <a:r>
              <a:rPr lang="zh-CN" altLang="en-US" sz="2600" b="1" dirty="0">
                <a:solidFill>
                  <a:srgbClr val="FF0000"/>
                </a:solidFill>
                <a:cs typeface="+mn-ea"/>
                <a:sym typeface="+mn-lt"/>
              </a:rPr>
              <a:t>⑸待排序的记录个数比较：</a:t>
            </a:r>
            <a:r>
              <a:rPr lang="zh-CN" altLang="en-US" sz="2600" b="1" dirty="0">
                <a:cs typeface="+mn-ea"/>
                <a:sym typeface="+mn-lt"/>
              </a:rPr>
              <a:t>从待排序的记录个数</a:t>
            </a:r>
            <a:r>
              <a:rPr lang="en-US" altLang="zh-CN" sz="2600" b="1" i="1" dirty="0">
                <a:cs typeface="+mn-ea"/>
                <a:sym typeface="+mn-lt"/>
              </a:rPr>
              <a:t>n</a:t>
            </a:r>
            <a:r>
              <a:rPr lang="zh-CN" altLang="en-US" sz="2600" b="1" dirty="0">
                <a:cs typeface="+mn-ea"/>
                <a:sym typeface="+mn-lt"/>
              </a:rPr>
              <a:t>的大小看，</a:t>
            </a:r>
            <a:endParaRPr lang="zh-CN" altLang="en-US" sz="2600" b="1" dirty="0">
              <a:solidFill>
                <a:srgbClr val="FF0000"/>
              </a:solidFill>
              <a:cs typeface="+mn-ea"/>
              <a:sym typeface="+mn-lt"/>
            </a:endParaRPr>
          </a:p>
          <a:p>
            <a:pPr lvl="1">
              <a:lnSpc>
                <a:spcPct val="140000"/>
              </a:lnSpc>
              <a:spcBef>
                <a:spcPts val="600"/>
              </a:spcBef>
            </a:pPr>
            <a:r>
              <a:rPr lang="en-US" altLang="zh-CN" sz="2600" b="1" i="1" dirty="0">
                <a:cs typeface="+mn-ea"/>
                <a:sym typeface="+mn-lt"/>
              </a:rPr>
              <a:t>n</a:t>
            </a:r>
            <a:r>
              <a:rPr lang="zh-CN" altLang="en-US" sz="2600" b="1" dirty="0">
                <a:cs typeface="+mn-ea"/>
                <a:sym typeface="+mn-lt"/>
              </a:rPr>
              <a:t>越小，采用简单排序方法越合适；</a:t>
            </a:r>
          </a:p>
          <a:p>
            <a:pPr lvl="1">
              <a:lnSpc>
                <a:spcPct val="140000"/>
              </a:lnSpc>
              <a:spcBef>
                <a:spcPts val="600"/>
              </a:spcBef>
            </a:pPr>
            <a:r>
              <a:rPr lang="en-US" altLang="zh-CN" sz="2600" b="1" i="1" dirty="0">
                <a:cs typeface="+mn-ea"/>
                <a:sym typeface="+mn-lt"/>
              </a:rPr>
              <a:t>n</a:t>
            </a:r>
            <a:r>
              <a:rPr lang="zh-CN" altLang="en-US" sz="2600" b="1" dirty="0">
                <a:cs typeface="+mn-ea"/>
                <a:sym typeface="+mn-lt"/>
              </a:rPr>
              <a:t>越大，采用改进的排序方法越合适。</a:t>
            </a:r>
          </a:p>
          <a:p>
            <a:pPr lvl="1">
              <a:lnSpc>
                <a:spcPct val="140000"/>
              </a:lnSpc>
              <a:spcBef>
                <a:spcPts val="600"/>
              </a:spcBef>
            </a:pPr>
            <a:r>
              <a:rPr lang="zh-CN" altLang="en-US" sz="2600" b="1" dirty="0">
                <a:cs typeface="+mn-ea"/>
                <a:sym typeface="+mn-lt"/>
              </a:rPr>
              <a:t>因为</a:t>
            </a:r>
            <a:r>
              <a:rPr lang="en-US" altLang="zh-CN" sz="2600" b="1" i="1" dirty="0">
                <a:cs typeface="+mn-ea"/>
                <a:sym typeface="+mn-lt"/>
              </a:rPr>
              <a:t>n</a:t>
            </a:r>
            <a:r>
              <a:rPr lang="zh-CN" altLang="en-US" sz="2600" b="1" dirty="0">
                <a:cs typeface="+mn-ea"/>
                <a:sym typeface="+mn-lt"/>
              </a:rPr>
              <a:t>越小，</a:t>
            </a:r>
            <a:r>
              <a:rPr lang="en-US" altLang="zh-CN" sz="2600" b="1" i="1" dirty="0">
                <a:cs typeface="+mn-ea"/>
                <a:sym typeface="+mn-lt"/>
              </a:rPr>
              <a:t>O</a:t>
            </a:r>
            <a:r>
              <a:rPr lang="en-US" altLang="zh-CN" sz="2600" b="1" dirty="0">
                <a:cs typeface="+mn-ea"/>
                <a:sym typeface="+mn-lt"/>
              </a:rPr>
              <a:t>(</a:t>
            </a:r>
            <a:r>
              <a:rPr lang="en-US" altLang="zh-CN" sz="2600" b="1" i="1" dirty="0">
                <a:cs typeface="+mn-ea"/>
                <a:sym typeface="+mn-lt"/>
              </a:rPr>
              <a:t>n</a:t>
            </a:r>
            <a:r>
              <a:rPr lang="en-US" altLang="zh-CN" sz="2600" b="1" baseline="30000" dirty="0">
                <a:cs typeface="+mn-ea"/>
                <a:sym typeface="+mn-lt"/>
              </a:rPr>
              <a:t>2</a:t>
            </a:r>
            <a:r>
              <a:rPr lang="en-US" altLang="zh-CN" sz="2600" b="1" dirty="0">
                <a:cs typeface="+mn-ea"/>
                <a:sym typeface="+mn-lt"/>
              </a:rPr>
              <a:t>)</a:t>
            </a:r>
            <a:r>
              <a:rPr lang="zh-CN" altLang="en-US" sz="2600" b="1" dirty="0">
                <a:cs typeface="+mn-ea"/>
                <a:sym typeface="+mn-lt"/>
              </a:rPr>
              <a:t>同</a:t>
            </a:r>
            <a:r>
              <a:rPr lang="en-US" altLang="zh-CN" sz="2600" b="1" i="1" dirty="0">
                <a:cs typeface="+mn-ea"/>
                <a:sym typeface="+mn-lt"/>
              </a:rPr>
              <a:t>O</a:t>
            </a:r>
            <a:r>
              <a:rPr lang="en-US" altLang="zh-CN" sz="2600" b="1" dirty="0">
                <a:cs typeface="+mn-ea"/>
                <a:sym typeface="+mn-lt"/>
              </a:rPr>
              <a:t>(</a:t>
            </a:r>
            <a:r>
              <a:rPr lang="en-US" altLang="zh-CN" sz="2600" b="1" i="1" dirty="0">
                <a:cs typeface="+mn-ea"/>
                <a:sym typeface="+mn-lt"/>
              </a:rPr>
              <a:t>n</a:t>
            </a:r>
            <a:r>
              <a:rPr lang="en-US" altLang="zh-CN" sz="2600" b="1" dirty="0">
                <a:cs typeface="+mn-ea"/>
                <a:sym typeface="+mn-lt"/>
              </a:rPr>
              <a:t>log</a:t>
            </a:r>
            <a:r>
              <a:rPr lang="en-US" altLang="zh-CN" sz="2600" b="1" baseline="-25000" dirty="0">
                <a:cs typeface="+mn-ea"/>
                <a:sym typeface="+mn-lt"/>
              </a:rPr>
              <a:t>2</a:t>
            </a:r>
            <a:r>
              <a:rPr lang="en-US" altLang="zh-CN" sz="2600" b="1" i="1" dirty="0">
                <a:cs typeface="+mn-ea"/>
                <a:sym typeface="+mn-lt"/>
              </a:rPr>
              <a:t>n</a:t>
            </a:r>
            <a:r>
              <a:rPr lang="en-US" altLang="zh-CN" sz="2600" b="1" dirty="0">
                <a:cs typeface="+mn-ea"/>
                <a:sym typeface="+mn-lt"/>
              </a:rPr>
              <a:t>)</a:t>
            </a:r>
            <a:r>
              <a:rPr lang="zh-CN" altLang="en-US" sz="2600" b="1" dirty="0">
                <a:cs typeface="+mn-ea"/>
                <a:sym typeface="+mn-lt"/>
              </a:rPr>
              <a:t>的差距越小，并且输入和调试简单算法比输入和调试改进算法要少用许多时间。 </a:t>
            </a:r>
          </a:p>
          <a:p>
            <a:pPr>
              <a:lnSpc>
                <a:spcPct val="140000"/>
              </a:lnSpc>
              <a:spcBef>
                <a:spcPts val="600"/>
              </a:spcBef>
            </a:pPr>
            <a:endParaRPr lang="zh-CN" altLang="en-US" sz="3600" dirty="0">
              <a:cs typeface="+mn-ea"/>
              <a:sym typeface="+mn-l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不同排序方案应用场景</a:t>
            </a:r>
          </a:p>
        </p:txBody>
      </p:sp>
      <p:sp>
        <p:nvSpPr>
          <p:cNvPr id="79876" name="Rectangle 3"/>
          <p:cNvSpPr>
            <a:spLocks noGrp="1" noChangeArrowheads="1"/>
          </p:cNvSpPr>
          <p:nvPr>
            <p:ph idx="1"/>
          </p:nvPr>
        </p:nvSpPr>
        <p:spPr/>
        <p:txBody>
          <a:bodyPr>
            <a:normAutofit lnSpcReduction="10000"/>
          </a:bodyPr>
          <a:lstStyle/>
          <a:p>
            <a:pPr>
              <a:lnSpc>
                <a:spcPct val="140000"/>
              </a:lnSpc>
              <a:spcBef>
                <a:spcPts val="600"/>
              </a:spcBef>
            </a:pPr>
            <a:r>
              <a:rPr lang="zh-CN" altLang="en-US" sz="2400" b="1" dirty="0">
                <a:solidFill>
                  <a:srgbClr val="FF0000"/>
                </a:solidFill>
                <a:cs typeface="+mn-ea"/>
                <a:sym typeface="+mn-lt"/>
              </a:rPr>
              <a:t>⑹记录本身信息量比较：</a:t>
            </a:r>
            <a:endParaRPr lang="zh-CN" altLang="en-US" sz="2400" b="1" dirty="0">
              <a:cs typeface="+mn-ea"/>
              <a:sym typeface="+mn-lt"/>
            </a:endParaRPr>
          </a:p>
          <a:p>
            <a:pPr lvl="1">
              <a:lnSpc>
                <a:spcPct val="140000"/>
              </a:lnSpc>
              <a:spcBef>
                <a:spcPts val="600"/>
              </a:spcBef>
            </a:pPr>
            <a:r>
              <a:rPr lang="zh-CN" altLang="en-US" sz="2400" b="1" dirty="0">
                <a:cs typeface="+mn-ea"/>
                <a:sym typeface="+mn-lt"/>
              </a:rPr>
              <a:t>记录本身信息量越大，移动记录所花费的时间就越多，所以对记录的移动次数较多的算法不利。</a:t>
            </a:r>
            <a:endParaRPr lang="en-US" altLang="zh-CN" sz="2400" b="1" dirty="0">
              <a:cs typeface="+mn-ea"/>
              <a:sym typeface="+mn-lt"/>
            </a:endParaRPr>
          </a:p>
          <a:p>
            <a:pPr>
              <a:lnSpc>
                <a:spcPct val="140000"/>
              </a:lnSpc>
              <a:spcBef>
                <a:spcPts val="600"/>
              </a:spcBef>
            </a:pPr>
            <a:r>
              <a:rPr lang="zh-CN" altLang="en-US" sz="2400" b="1" dirty="0">
                <a:solidFill>
                  <a:srgbClr val="FF0000"/>
                </a:solidFill>
                <a:cs typeface="+mn-ea"/>
                <a:sym typeface="+mn-lt"/>
              </a:rPr>
              <a:t>⑺关键字值的分布情况比较：</a:t>
            </a:r>
          </a:p>
          <a:p>
            <a:pPr lvl="1">
              <a:lnSpc>
                <a:spcPct val="140000"/>
              </a:lnSpc>
              <a:spcBef>
                <a:spcPts val="600"/>
              </a:spcBef>
              <a:buFont typeface="Monotype Sorts" pitchFamily="2" charset="2"/>
              <a:buNone/>
            </a:pPr>
            <a:r>
              <a:rPr lang="zh-CN" altLang="en-US" sz="2400" b="1" dirty="0">
                <a:cs typeface="+mn-ea"/>
                <a:sym typeface="+mn-lt"/>
              </a:rPr>
              <a:t>当待排序记录按关键的值有序时，</a:t>
            </a:r>
            <a:endParaRPr lang="zh-CN" altLang="en-US" sz="2400" b="1" dirty="0">
              <a:solidFill>
                <a:srgbClr val="FF0000"/>
              </a:solidFill>
              <a:cs typeface="+mn-ea"/>
              <a:sym typeface="+mn-lt"/>
            </a:endParaRPr>
          </a:p>
          <a:p>
            <a:pPr lvl="1">
              <a:lnSpc>
                <a:spcPct val="140000"/>
              </a:lnSpc>
              <a:spcBef>
                <a:spcPts val="600"/>
              </a:spcBef>
            </a:pPr>
            <a:r>
              <a:rPr lang="zh-CN" altLang="en-US" sz="2400" b="1" dirty="0">
                <a:cs typeface="+mn-ea"/>
                <a:sym typeface="+mn-lt"/>
              </a:rPr>
              <a:t>插入排序和起泡排序能达到</a:t>
            </a:r>
            <a:r>
              <a:rPr lang="en-US" altLang="zh-CN" sz="2400" b="1" i="1" dirty="0">
                <a:cs typeface="+mn-ea"/>
                <a:sym typeface="+mn-lt"/>
              </a:rPr>
              <a:t>O</a:t>
            </a:r>
            <a:r>
              <a:rPr lang="en-US" altLang="zh-CN" sz="2400" b="1" dirty="0">
                <a:cs typeface="+mn-ea"/>
                <a:sym typeface="+mn-lt"/>
              </a:rPr>
              <a:t>(</a:t>
            </a:r>
            <a:r>
              <a:rPr lang="en-US" altLang="zh-CN" sz="2400" b="1" i="1" dirty="0">
                <a:cs typeface="+mn-ea"/>
                <a:sym typeface="+mn-lt"/>
              </a:rPr>
              <a:t>n</a:t>
            </a:r>
            <a:r>
              <a:rPr lang="en-US" altLang="zh-CN" sz="2400" b="1" dirty="0">
                <a:cs typeface="+mn-ea"/>
                <a:sym typeface="+mn-lt"/>
              </a:rPr>
              <a:t>)</a:t>
            </a:r>
            <a:r>
              <a:rPr lang="zh-CN" altLang="en-US" sz="2400" b="1" dirty="0">
                <a:cs typeface="+mn-ea"/>
                <a:sym typeface="+mn-lt"/>
              </a:rPr>
              <a:t>的时间复杂度；</a:t>
            </a:r>
          </a:p>
          <a:p>
            <a:pPr lvl="1">
              <a:lnSpc>
                <a:spcPct val="140000"/>
              </a:lnSpc>
              <a:spcBef>
                <a:spcPts val="600"/>
              </a:spcBef>
            </a:pPr>
            <a:r>
              <a:rPr lang="zh-CN" altLang="en-US" sz="2400" b="1" dirty="0">
                <a:cs typeface="+mn-ea"/>
                <a:sym typeface="+mn-lt"/>
              </a:rPr>
              <a:t>对于快速排序而言，这是最坏的情况，此时的时间性能蜕化为</a:t>
            </a:r>
            <a:r>
              <a:rPr lang="en-US" altLang="zh-CN" sz="2400" b="1" i="1" dirty="0">
                <a:cs typeface="+mn-ea"/>
                <a:sym typeface="+mn-lt"/>
              </a:rPr>
              <a:t>O</a:t>
            </a:r>
            <a:r>
              <a:rPr lang="en-US" altLang="zh-CN" sz="2400" b="1" dirty="0">
                <a:cs typeface="+mn-ea"/>
                <a:sym typeface="+mn-lt"/>
              </a:rPr>
              <a:t>(</a:t>
            </a:r>
            <a:r>
              <a:rPr lang="en-US" altLang="zh-CN" sz="2400" b="1" i="1" dirty="0">
                <a:cs typeface="+mn-ea"/>
                <a:sym typeface="+mn-lt"/>
              </a:rPr>
              <a:t>n</a:t>
            </a:r>
            <a:r>
              <a:rPr lang="en-US" altLang="zh-CN" sz="2400" b="1" baseline="30000" dirty="0">
                <a:cs typeface="+mn-ea"/>
                <a:sym typeface="+mn-lt"/>
              </a:rPr>
              <a:t>2</a:t>
            </a:r>
            <a:r>
              <a:rPr lang="en-US" altLang="zh-CN" sz="2400" b="1" dirty="0">
                <a:cs typeface="+mn-ea"/>
                <a:sym typeface="+mn-lt"/>
              </a:rPr>
              <a:t>)</a:t>
            </a:r>
            <a:r>
              <a:rPr lang="zh-CN" altLang="en-US" sz="2400" b="1" dirty="0">
                <a:cs typeface="+mn-ea"/>
                <a:sym typeface="+mn-lt"/>
              </a:rPr>
              <a:t>；</a:t>
            </a:r>
          </a:p>
          <a:p>
            <a:pPr lvl="1">
              <a:lnSpc>
                <a:spcPct val="140000"/>
              </a:lnSpc>
              <a:spcBef>
                <a:spcPts val="600"/>
              </a:spcBef>
            </a:pPr>
            <a:r>
              <a:rPr lang="zh-CN" altLang="en-US" sz="2400" b="1" dirty="0">
                <a:cs typeface="+mn-ea"/>
                <a:sym typeface="+mn-lt"/>
              </a:rPr>
              <a:t>选择排序和归并排序的时间性能不随记录序列中关键字的分布而改变。</a:t>
            </a:r>
          </a:p>
          <a:p>
            <a:pPr lvl="1">
              <a:lnSpc>
                <a:spcPct val="140000"/>
              </a:lnSpc>
              <a:spcBef>
                <a:spcPts val="600"/>
              </a:spcBef>
            </a:pPr>
            <a:endParaRPr lang="zh-CN" altLang="en-US" sz="2400" b="1" dirty="0">
              <a:cs typeface="+mn-ea"/>
              <a:sym typeface="+mn-lt"/>
            </a:endParaRPr>
          </a:p>
          <a:p>
            <a:pPr lvl="1">
              <a:lnSpc>
                <a:spcPct val="140000"/>
              </a:lnSpc>
              <a:spcBef>
                <a:spcPts val="600"/>
              </a:spcBef>
            </a:pPr>
            <a:endParaRPr lang="zh-CN" altLang="en-US" sz="2000" b="1" dirty="0">
              <a:cs typeface="+mn-ea"/>
              <a:sym typeface="+mn-l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3" name="Group 439"/>
          <p:cNvGraphicFramePr>
            <a:graphicFrameLocks noGrp="1"/>
          </p:cNvGraphicFramePr>
          <p:nvPr/>
        </p:nvGraphicFramePr>
        <p:xfrm>
          <a:off x="1905000" y="1981200"/>
          <a:ext cx="8535988" cy="2725862"/>
        </p:xfrm>
        <a:graphic>
          <a:graphicData uri="http://schemas.openxmlformats.org/drawingml/2006/table">
            <a:tbl>
              <a:tblPr/>
              <a:tblGrid>
                <a:gridCol w="696913">
                  <a:extLst>
                    <a:ext uri="{9D8B030D-6E8A-4147-A177-3AD203B41FA5}">
                      <a16:colId xmlns:a16="http://schemas.microsoft.com/office/drawing/2014/main" val="20000"/>
                    </a:ext>
                  </a:extLst>
                </a:gridCol>
                <a:gridCol w="1800225">
                  <a:extLst>
                    <a:ext uri="{9D8B030D-6E8A-4147-A177-3AD203B41FA5}">
                      <a16:colId xmlns:a16="http://schemas.microsoft.com/office/drawing/2014/main" val="20001"/>
                    </a:ext>
                  </a:extLst>
                </a:gridCol>
                <a:gridCol w="1871662">
                  <a:extLst>
                    <a:ext uri="{9D8B030D-6E8A-4147-A177-3AD203B41FA5}">
                      <a16:colId xmlns:a16="http://schemas.microsoft.com/office/drawing/2014/main" val="20002"/>
                    </a:ext>
                  </a:extLst>
                </a:gridCol>
                <a:gridCol w="2079625">
                  <a:extLst>
                    <a:ext uri="{9D8B030D-6E8A-4147-A177-3AD203B41FA5}">
                      <a16:colId xmlns:a16="http://schemas.microsoft.com/office/drawing/2014/main" val="20003"/>
                    </a:ext>
                  </a:extLst>
                </a:gridCol>
                <a:gridCol w="2087563">
                  <a:extLst>
                    <a:ext uri="{9D8B030D-6E8A-4147-A177-3AD203B41FA5}">
                      <a16:colId xmlns:a16="http://schemas.microsoft.com/office/drawing/2014/main" val="20004"/>
                    </a:ext>
                  </a:extLst>
                </a:gridCol>
              </a:tblGrid>
              <a:tr h="368300">
                <a:tc>
                  <a:txBody>
                    <a:bodyPr/>
                    <a:lstStyle>
                      <a:lvl1pPr>
                        <a:spcBef>
                          <a:spcPct val="20000"/>
                        </a:spcBef>
                        <a:defRPr kumimoji="1" sz="2800">
                          <a:solidFill>
                            <a:schemeClr val="tx1"/>
                          </a:solidFill>
                          <a:latin typeface="Times New Roman" panose="02020503050405090304" pitchFamily="18" charset="0"/>
                          <a:ea typeface="宋体" pitchFamily="2" charset="-122"/>
                        </a:defRPr>
                      </a:lvl1pPr>
                      <a:lvl2pPr marL="742950" indent="-285750">
                        <a:spcBef>
                          <a:spcPct val="20000"/>
                        </a:spcBef>
                        <a:defRPr kumimoji="1" sz="2400">
                          <a:solidFill>
                            <a:schemeClr val="tx1"/>
                          </a:solidFill>
                          <a:latin typeface="Times New Roman" panose="02020503050405090304" pitchFamily="18" charset="0"/>
                          <a:ea typeface="宋体" pitchFamily="2" charset="-122"/>
                        </a:defRPr>
                      </a:lvl2pPr>
                      <a:lvl3pPr marL="1143000" indent="-228600">
                        <a:spcBef>
                          <a:spcPct val="20000"/>
                        </a:spcBef>
                        <a:defRPr kumimoji="1" sz="2000">
                          <a:solidFill>
                            <a:schemeClr val="tx1"/>
                          </a:solidFill>
                          <a:latin typeface="Times New Roman" panose="02020503050405090304" pitchFamily="18" charset="0"/>
                          <a:ea typeface="宋体" pitchFamily="2" charset="-122"/>
                        </a:defRPr>
                      </a:lvl3pPr>
                      <a:lvl4pPr marL="1600200" indent="-228600">
                        <a:spcBef>
                          <a:spcPct val="20000"/>
                        </a:spcBef>
                        <a:defRPr kumimoji="1">
                          <a:solidFill>
                            <a:schemeClr val="tx1"/>
                          </a:solidFill>
                          <a:latin typeface="Times New Roman" panose="02020503050405090304" pitchFamily="18" charset="0"/>
                          <a:ea typeface="宋体" pitchFamily="2" charset="-122"/>
                        </a:defRPr>
                      </a:lvl4pPr>
                      <a:lvl5pPr marL="2057400" indent="-22860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20000"/>
                        </a:lnSpc>
                        <a:spcBef>
                          <a:spcPct val="300000"/>
                        </a:spcBef>
                        <a:spcAft>
                          <a:spcPct val="0"/>
                        </a:spcAft>
                        <a:buClrTx/>
                        <a:buSzTx/>
                        <a:buFontTx/>
                        <a:buNone/>
                      </a:pPr>
                      <a:r>
                        <a:rPr kumimoji="1" lang="zh-CN" altLang="en-US" sz="1800" b="1" i="0" u="none" strike="noStrike" cap="none" normalizeH="0" baseline="0" dirty="0">
                          <a:ln>
                            <a:noFill/>
                          </a:ln>
                          <a:solidFill>
                            <a:schemeClr val="tx1"/>
                          </a:solidFill>
                          <a:effectLst/>
                          <a:latin typeface="+mn-lt"/>
                          <a:ea typeface="+mn-ea"/>
                          <a:cs typeface="+mn-ea"/>
                          <a:sym typeface="+mn-lt"/>
                        </a:rPr>
                        <a:t>序号</a:t>
                      </a:r>
                    </a:p>
                  </a:txBody>
                  <a:tcPr marL="89990" marR="89990" marT="46823" marB="468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503050405090304" pitchFamily="18" charset="0"/>
                          <a:ea typeface="宋体" pitchFamily="2" charset="-122"/>
                        </a:defRPr>
                      </a:lvl1pPr>
                      <a:lvl2pPr marL="742950" indent="-285750">
                        <a:spcBef>
                          <a:spcPct val="20000"/>
                        </a:spcBef>
                        <a:defRPr kumimoji="1" sz="2400">
                          <a:solidFill>
                            <a:schemeClr val="tx1"/>
                          </a:solidFill>
                          <a:latin typeface="Times New Roman" panose="02020503050405090304" pitchFamily="18" charset="0"/>
                          <a:ea typeface="宋体" pitchFamily="2" charset="-122"/>
                        </a:defRPr>
                      </a:lvl2pPr>
                      <a:lvl3pPr marL="1143000" indent="-228600">
                        <a:spcBef>
                          <a:spcPct val="20000"/>
                        </a:spcBef>
                        <a:defRPr kumimoji="1" sz="2000">
                          <a:solidFill>
                            <a:schemeClr val="tx1"/>
                          </a:solidFill>
                          <a:latin typeface="Times New Roman" panose="02020503050405090304" pitchFamily="18" charset="0"/>
                          <a:ea typeface="宋体" pitchFamily="2" charset="-122"/>
                        </a:defRPr>
                      </a:lvl3pPr>
                      <a:lvl4pPr marL="1600200" indent="-228600">
                        <a:spcBef>
                          <a:spcPct val="20000"/>
                        </a:spcBef>
                        <a:defRPr kumimoji="1">
                          <a:solidFill>
                            <a:schemeClr val="tx1"/>
                          </a:solidFill>
                          <a:latin typeface="Times New Roman" panose="02020503050405090304" pitchFamily="18" charset="0"/>
                          <a:ea typeface="宋体" pitchFamily="2" charset="-122"/>
                        </a:defRPr>
                      </a:lvl4pPr>
                      <a:lvl5pPr marL="2057400" indent="-22860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20000"/>
                        </a:lnSpc>
                        <a:spcBef>
                          <a:spcPct val="300000"/>
                        </a:spcBef>
                        <a:spcAft>
                          <a:spcPct val="0"/>
                        </a:spcAft>
                        <a:buClrTx/>
                        <a:buSzTx/>
                        <a:buFontTx/>
                        <a:buNone/>
                      </a:pPr>
                      <a:r>
                        <a:rPr kumimoji="1" lang="zh-CN" altLang="en-US" sz="1800" b="1" i="0" u="none" strike="noStrike" cap="none" normalizeH="0" baseline="0">
                          <a:ln>
                            <a:noFill/>
                          </a:ln>
                          <a:solidFill>
                            <a:schemeClr val="tx1"/>
                          </a:solidFill>
                          <a:effectLst/>
                          <a:latin typeface="+mn-lt"/>
                          <a:ea typeface="+mn-ea"/>
                          <a:cs typeface="+mn-ea"/>
                          <a:sym typeface="+mn-lt"/>
                        </a:rPr>
                        <a:t>排序方法</a:t>
                      </a:r>
                    </a:p>
                  </a:txBody>
                  <a:tcPr marL="89990" marR="89990" marT="46823" marB="468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503050405090304" pitchFamily="18" charset="0"/>
                          <a:ea typeface="宋体" pitchFamily="2" charset="-122"/>
                        </a:defRPr>
                      </a:lvl1pPr>
                      <a:lvl2pPr marL="742950" indent="-285750">
                        <a:spcBef>
                          <a:spcPct val="20000"/>
                        </a:spcBef>
                        <a:defRPr kumimoji="1" sz="2400">
                          <a:solidFill>
                            <a:schemeClr val="tx1"/>
                          </a:solidFill>
                          <a:latin typeface="Times New Roman" panose="02020503050405090304" pitchFamily="18" charset="0"/>
                          <a:ea typeface="宋体" pitchFamily="2" charset="-122"/>
                        </a:defRPr>
                      </a:lvl2pPr>
                      <a:lvl3pPr marL="1143000" indent="-228600">
                        <a:spcBef>
                          <a:spcPct val="20000"/>
                        </a:spcBef>
                        <a:defRPr kumimoji="1" sz="2000">
                          <a:solidFill>
                            <a:schemeClr val="tx1"/>
                          </a:solidFill>
                          <a:latin typeface="Times New Roman" panose="02020503050405090304" pitchFamily="18" charset="0"/>
                          <a:ea typeface="宋体" pitchFamily="2" charset="-122"/>
                        </a:defRPr>
                      </a:lvl3pPr>
                      <a:lvl4pPr marL="1600200" indent="-228600">
                        <a:spcBef>
                          <a:spcPct val="20000"/>
                        </a:spcBef>
                        <a:defRPr kumimoji="1">
                          <a:solidFill>
                            <a:schemeClr val="tx1"/>
                          </a:solidFill>
                          <a:latin typeface="Times New Roman" panose="02020503050405090304" pitchFamily="18" charset="0"/>
                          <a:ea typeface="宋体" pitchFamily="2" charset="-122"/>
                        </a:defRPr>
                      </a:lvl4pPr>
                      <a:lvl5pPr marL="2057400" indent="-22860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20000"/>
                        </a:lnSpc>
                        <a:spcBef>
                          <a:spcPct val="300000"/>
                        </a:spcBef>
                        <a:spcAft>
                          <a:spcPct val="0"/>
                        </a:spcAft>
                        <a:buClrTx/>
                        <a:buSzTx/>
                        <a:buFontTx/>
                        <a:buNone/>
                      </a:pPr>
                      <a:r>
                        <a:rPr kumimoji="1" lang="zh-CN" altLang="en-US" sz="1800" b="1" i="0" u="none" strike="noStrike" cap="none" normalizeH="0" baseline="0">
                          <a:ln>
                            <a:noFill/>
                          </a:ln>
                          <a:solidFill>
                            <a:schemeClr val="tx1"/>
                          </a:solidFill>
                          <a:effectLst/>
                          <a:latin typeface="+mn-lt"/>
                          <a:ea typeface="+mn-ea"/>
                          <a:cs typeface="+mn-ea"/>
                          <a:sym typeface="+mn-lt"/>
                        </a:rPr>
                        <a:t>平均情况</a:t>
                      </a:r>
                    </a:p>
                  </a:txBody>
                  <a:tcPr marL="89990" marR="89990" marT="46823" marB="468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503050405090304" pitchFamily="18" charset="0"/>
                          <a:ea typeface="宋体" pitchFamily="2" charset="-122"/>
                        </a:defRPr>
                      </a:lvl1pPr>
                      <a:lvl2pPr marL="742950" indent="-285750">
                        <a:spcBef>
                          <a:spcPct val="20000"/>
                        </a:spcBef>
                        <a:defRPr kumimoji="1" sz="2400">
                          <a:solidFill>
                            <a:schemeClr val="tx1"/>
                          </a:solidFill>
                          <a:latin typeface="Times New Roman" panose="02020503050405090304" pitchFamily="18" charset="0"/>
                          <a:ea typeface="宋体" pitchFamily="2" charset="-122"/>
                        </a:defRPr>
                      </a:lvl2pPr>
                      <a:lvl3pPr marL="1143000" indent="-228600">
                        <a:spcBef>
                          <a:spcPct val="20000"/>
                        </a:spcBef>
                        <a:defRPr kumimoji="1" sz="2000">
                          <a:solidFill>
                            <a:schemeClr val="tx1"/>
                          </a:solidFill>
                          <a:latin typeface="Times New Roman" panose="02020503050405090304" pitchFamily="18" charset="0"/>
                          <a:ea typeface="宋体" pitchFamily="2" charset="-122"/>
                        </a:defRPr>
                      </a:lvl3pPr>
                      <a:lvl4pPr marL="1600200" indent="-228600">
                        <a:spcBef>
                          <a:spcPct val="20000"/>
                        </a:spcBef>
                        <a:defRPr kumimoji="1">
                          <a:solidFill>
                            <a:schemeClr val="tx1"/>
                          </a:solidFill>
                          <a:latin typeface="Times New Roman" panose="02020503050405090304" pitchFamily="18" charset="0"/>
                          <a:ea typeface="宋体" pitchFamily="2" charset="-122"/>
                        </a:defRPr>
                      </a:lvl4pPr>
                      <a:lvl5pPr marL="2057400" indent="-22860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20000"/>
                        </a:lnSpc>
                        <a:spcBef>
                          <a:spcPct val="300000"/>
                        </a:spcBef>
                        <a:spcAft>
                          <a:spcPct val="0"/>
                        </a:spcAft>
                        <a:buClrTx/>
                        <a:buSzTx/>
                        <a:buFontTx/>
                        <a:buNone/>
                      </a:pPr>
                      <a:r>
                        <a:rPr kumimoji="1" lang="zh-CN" altLang="en-US" sz="1800" b="1" i="0" u="none" strike="noStrike" cap="none" normalizeH="0" baseline="0">
                          <a:ln>
                            <a:noFill/>
                          </a:ln>
                          <a:solidFill>
                            <a:schemeClr val="tx1"/>
                          </a:solidFill>
                          <a:effectLst/>
                          <a:latin typeface="+mn-lt"/>
                          <a:ea typeface="+mn-ea"/>
                          <a:cs typeface="+mn-ea"/>
                          <a:sym typeface="+mn-lt"/>
                        </a:rPr>
                        <a:t>最坏情况（逆序）</a:t>
                      </a:r>
                    </a:p>
                  </a:txBody>
                  <a:tcPr marL="89990" marR="89990" marT="46823" marB="468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503050405090304" pitchFamily="18" charset="0"/>
                          <a:ea typeface="宋体" pitchFamily="2" charset="-122"/>
                        </a:defRPr>
                      </a:lvl1pPr>
                      <a:lvl2pPr marL="742950" indent="-285750">
                        <a:spcBef>
                          <a:spcPct val="20000"/>
                        </a:spcBef>
                        <a:defRPr kumimoji="1" sz="2400">
                          <a:solidFill>
                            <a:schemeClr val="tx1"/>
                          </a:solidFill>
                          <a:latin typeface="Times New Roman" panose="02020503050405090304" pitchFamily="18" charset="0"/>
                          <a:ea typeface="宋体" pitchFamily="2" charset="-122"/>
                        </a:defRPr>
                      </a:lvl2pPr>
                      <a:lvl3pPr marL="1143000" indent="-228600">
                        <a:spcBef>
                          <a:spcPct val="20000"/>
                        </a:spcBef>
                        <a:defRPr kumimoji="1" sz="2000">
                          <a:solidFill>
                            <a:schemeClr val="tx1"/>
                          </a:solidFill>
                          <a:latin typeface="Times New Roman" panose="02020503050405090304" pitchFamily="18" charset="0"/>
                          <a:ea typeface="宋体" pitchFamily="2" charset="-122"/>
                        </a:defRPr>
                      </a:lvl3pPr>
                      <a:lvl4pPr marL="1600200" indent="-228600">
                        <a:spcBef>
                          <a:spcPct val="20000"/>
                        </a:spcBef>
                        <a:defRPr kumimoji="1">
                          <a:solidFill>
                            <a:schemeClr val="tx1"/>
                          </a:solidFill>
                          <a:latin typeface="Times New Roman" panose="02020503050405090304" pitchFamily="18" charset="0"/>
                          <a:ea typeface="宋体" pitchFamily="2" charset="-122"/>
                        </a:defRPr>
                      </a:lvl4pPr>
                      <a:lvl5pPr marL="2057400" indent="-22860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20000"/>
                        </a:lnSpc>
                        <a:spcBef>
                          <a:spcPct val="300000"/>
                        </a:spcBef>
                        <a:spcAft>
                          <a:spcPct val="0"/>
                        </a:spcAft>
                        <a:buClrTx/>
                        <a:buSzTx/>
                        <a:buFontTx/>
                        <a:buNone/>
                      </a:pPr>
                      <a:r>
                        <a:rPr kumimoji="1" lang="zh-CN" altLang="en-US" sz="1800" b="1" i="0" u="none" strike="noStrike" cap="none" normalizeH="0" baseline="0">
                          <a:ln>
                            <a:noFill/>
                          </a:ln>
                          <a:solidFill>
                            <a:schemeClr val="tx1"/>
                          </a:solidFill>
                          <a:effectLst/>
                          <a:latin typeface="+mn-lt"/>
                          <a:ea typeface="+mn-ea"/>
                          <a:cs typeface="+mn-ea"/>
                          <a:sym typeface="+mn-lt"/>
                        </a:rPr>
                        <a:t>最好情况（正序）</a:t>
                      </a:r>
                    </a:p>
                  </a:txBody>
                  <a:tcPr marL="89990" marR="89990" marT="46823" marB="468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8300">
                <a:tc rowSpan="3">
                  <a:txBody>
                    <a:bodyPr/>
                    <a:lstStyle>
                      <a:lvl1pPr>
                        <a:spcBef>
                          <a:spcPct val="20000"/>
                        </a:spcBef>
                        <a:defRPr kumimoji="1" sz="2800">
                          <a:solidFill>
                            <a:schemeClr val="tx1"/>
                          </a:solidFill>
                          <a:latin typeface="Times New Roman" panose="02020503050405090304" pitchFamily="18" charset="0"/>
                          <a:ea typeface="宋体" pitchFamily="2" charset="-122"/>
                        </a:defRPr>
                      </a:lvl1pPr>
                      <a:lvl2pPr marL="742950" indent="-285750">
                        <a:spcBef>
                          <a:spcPct val="20000"/>
                        </a:spcBef>
                        <a:defRPr kumimoji="1" sz="2400">
                          <a:solidFill>
                            <a:schemeClr val="tx1"/>
                          </a:solidFill>
                          <a:latin typeface="Times New Roman" panose="02020503050405090304" pitchFamily="18" charset="0"/>
                          <a:ea typeface="宋体" pitchFamily="2" charset="-122"/>
                        </a:defRPr>
                      </a:lvl2pPr>
                      <a:lvl3pPr marL="1143000" indent="-228600">
                        <a:spcBef>
                          <a:spcPct val="20000"/>
                        </a:spcBef>
                        <a:defRPr kumimoji="1" sz="2000">
                          <a:solidFill>
                            <a:schemeClr val="tx1"/>
                          </a:solidFill>
                          <a:latin typeface="Times New Roman" panose="02020503050405090304" pitchFamily="18" charset="0"/>
                          <a:ea typeface="宋体" pitchFamily="2" charset="-122"/>
                        </a:defRPr>
                      </a:lvl3pPr>
                      <a:lvl4pPr marL="1600200" indent="-228600">
                        <a:spcBef>
                          <a:spcPct val="20000"/>
                        </a:spcBef>
                        <a:defRPr kumimoji="1">
                          <a:solidFill>
                            <a:schemeClr val="tx1"/>
                          </a:solidFill>
                          <a:latin typeface="Times New Roman" panose="02020503050405090304" pitchFamily="18" charset="0"/>
                          <a:ea typeface="宋体" pitchFamily="2" charset="-122"/>
                        </a:defRPr>
                      </a:lvl4pPr>
                      <a:lvl5pPr marL="2057400" indent="-22860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20000"/>
                        </a:lnSpc>
                        <a:spcBef>
                          <a:spcPct val="300000"/>
                        </a:spcBef>
                        <a:spcAft>
                          <a:spcPct val="0"/>
                        </a:spcAft>
                        <a:buClrTx/>
                        <a:buSzTx/>
                        <a:buFontTx/>
                        <a:buNone/>
                      </a:pPr>
                      <a:endParaRPr kumimoji="1" lang="en-US" altLang="zh-CN" sz="1800" b="1" i="0" u="none" strike="noStrike" cap="none" normalizeH="0" baseline="0" dirty="0">
                        <a:ln>
                          <a:noFill/>
                        </a:ln>
                        <a:solidFill>
                          <a:schemeClr val="tx1"/>
                        </a:solidFill>
                        <a:effectLst/>
                        <a:latin typeface="+mn-lt"/>
                        <a:ea typeface="+mn-ea"/>
                        <a:cs typeface="+mn-ea"/>
                        <a:sym typeface="+mn-lt"/>
                      </a:endParaRPr>
                    </a:p>
                    <a:p>
                      <a:pPr marL="0" marR="0" lvl="0" indent="0" algn="ctr" defTabSz="914400" rtl="0" eaLnBrk="1" fontAlgn="base" latinLnBrk="0" hangingPunct="1">
                        <a:lnSpc>
                          <a:spcPct val="120000"/>
                        </a:lnSpc>
                        <a:spcBef>
                          <a:spcPct val="300000"/>
                        </a:spcBef>
                        <a:spcAft>
                          <a:spcPct val="0"/>
                        </a:spcAft>
                        <a:buClrTx/>
                        <a:buSzTx/>
                        <a:buFontTx/>
                        <a:buNone/>
                      </a:pPr>
                      <a:r>
                        <a:rPr kumimoji="1" lang="en-US" altLang="zh-CN" sz="1800" b="1" i="0" u="none" strike="noStrike" cap="none" normalizeH="0" baseline="0" dirty="0">
                          <a:ln>
                            <a:noFill/>
                          </a:ln>
                          <a:solidFill>
                            <a:schemeClr val="tx1"/>
                          </a:solidFill>
                          <a:effectLst/>
                          <a:latin typeface="+mn-lt"/>
                          <a:ea typeface="+mn-ea"/>
                          <a:cs typeface="+mn-ea"/>
                          <a:sym typeface="+mn-lt"/>
                        </a:rPr>
                        <a:t>1</a:t>
                      </a:r>
                      <a:endParaRPr kumimoji="1" lang="zh-CN" altLang="en-US" sz="1800" b="1" i="0" u="none" strike="noStrike" cap="none" normalizeH="0" baseline="0" dirty="0">
                        <a:ln>
                          <a:noFill/>
                        </a:ln>
                        <a:solidFill>
                          <a:schemeClr val="tx1"/>
                        </a:solidFill>
                        <a:effectLst/>
                        <a:latin typeface="+mn-lt"/>
                        <a:ea typeface="+mn-ea"/>
                        <a:cs typeface="+mn-ea"/>
                        <a:sym typeface="+mn-lt"/>
                      </a:endParaRPr>
                    </a:p>
                  </a:txBody>
                  <a:tcPr marL="89990" marR="89990" marT="46823" marB="468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F3EA"/>
                    </a:solidFill>
                  </a:tcPr>
                </a:tc>
                <a:tc>
                  <a:txBody>
                    <a:bodyPr/>
                    <a:lstStyle>
                      <a:lvl1pPr>
                        <a:spcBef>
                          <a:spcPct val="20000"/>
                        </a:spcBef>
                        <a:defRPr kumimoji="1" sz="2800">
                          <a:solidFill>
                            <a:schemeClr val="tx1"/>
                          </a:solidFill>
                          <a:latin typeface="Times New Roman" panose="02020503050405090304" pitchFamily="18" charset="0"/>
                          <a:ea typeface="宋体" pitchFamily="2" charset="-122"/>
                        </a:defRPr>
                      </a:lvl1pPr>
                      <a:lvl2pPr marL="742950" indent="-285750">
                        <a:spcBef>
                          <a:spcPct val="20000"/>
                        </a:spcBef>
                        <a:defRPr kumimoji="1" sz="2400">
                          <a:solidFill>
                            <a:schemeClr val="tx1"/>
                          </a:solidFill>
                          <a:latin typeface="Times New Roman" panose="02020503050405090304" pitchFamily="18" charset="0"/>
                          <a:ea typeface="宋体" pitchFamily="2" charset="-122"/>
                        </a:defRPr>
                      </a:lvl2pPr>
                      <a:lvl3pPr marL="1143000" indent="-228600">
                        <a:spcBef>
                          <a:spcPct val="20000"/>
                        </a:spcBef>
                        <a:defRPr kumimoji="1" sz="2000">
                          <a:solidFill>
                            <a:schemeClr val="tx1"/>
                          </a:solidFill>
                          <a:latin typeface="Times New Roman" panose="02020503050405090304" pitchFamily="18" charset="0"/>
                          <a:ea typeface="宋体" pitchFamily="2" charset="-122"/>
                        </a:defRPr>
                      </a:lvl3pPr>
                      <a:lvl4pPr marL="1600200" indent="-228600">
                        <a:spcBef>
                          <a:spcPct val="20000"/>
                        </a:spcBef>
                        <a:defRPr kumimoji="1">
                          <a:solidFill>
                            <a:schemeClr val="tx1"/>
                          </a:solidFill>
                          <a:latin typeface="Times New Roman" panose="02020503050405090304" pitchFamily="18" charset="0"/>
                          <a:ea typeface="宋体" pitchFamily="2" charset="-122"/>
                        </a:defRPr>
                      </a:lvl4pPr>
                      <a:lvl5pPr marL="2057400" indent="-22860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20000"/>
                        </a:lnSpc>
                        <a:spcBef>
                          <a:spcPct val="300000"/>
                        </a:spcBef>
                        <a:spcAft>
                          <a:spcPct val="0"/>
                        </a:spcAft>
                        <a:buClrTx/>
                        <a:buSzTx/>
                        <a:buFontTx/>
                        <a:buNone/>
                      </a:pPr>
                      <a:r>
                        <a:rPr kumimoji="1" lang="zh-CN" altLang="en-US" sz="1800" b="1" i="0" u="none" strike="noStrike" cap="none" normalizeH="0" baseline="0">
                          <a:ln>
                            <a:noFill/>
                          </a:ln>
                          <a:solidFill>
                            <a:schemeClr val="tx1"/>
                          </a:solidFill>
                          <a:effectLst/>
                          <a:latin typeface="+mn-lt"/>
                          <a:ea typeface="+mn-ea"/>
                          <a:cs typeface="+mn-ea"/>
                          <a:sym typeface="+mn-lt"/>
                        </a:rPr>
                        <a:t>冒泡排序</a:t>
                      </a:r>
                    </a:p>
                  </a:txBody>
                  <a:tcPr marL="89990" marR="89990" marT="46823" marB="468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F3EA"/>
                    </a:solidFill>
                  </a:tcPr>
                </a:tc>
                <a:tc>
                  <a:txBody>
                    <a:bodyPr/>
                    <a:lstStyle>
                      <a:lvl1pPr>
                        <a:spcBef>
                          <a:spcPct val="20000"/>
                        </a:spcBef>
                        <a:defRPr kumimoji="1" sz="2800">
                          <a:solidFill>
                            <a:schemeClr val="tx1"/>
                          </a:solidFill>
                          <a:latin typeface="Times New Roman" panose="02020503050405090304" pitchFamily="18" charset="0"/>
                          <a:ea typeface="宋体" pitchFamily="2" charset="-122"/>
                        </a:defRPr>
                      </a:lvl1pPr>
                      <a:lvl2pPr marL="742950" indent="-285750">
                        <a:spcBef>
                          <a:spcPct val="20000"/>
                        </a:spcBef>
                        <a:defRPr kumimoji="1" sz="2400">
                          <a:solidFill>
                            <a:schemeClr val="tx1"/>
                          </a:solidFill>
                          <a:latin typeface="Times New Roman" panose="02020503050405090304" pitchFamily="18" charset="0"/>
                          <a:ea typeface="宋体" pitchFamily="2" charset="-122"/>
                        </a:defRPr>
                      </a:lvl2pPr>
                      <a:lvl3pPr marL="1143000" indent="-228600">
                        <a:spcBef>
                          <a:spcPct val="20000"/>
                        </a:spcBef>
                        <a:defRPr kumimoji="1" sz="2000">
                          <a:solidFill>
                            <a:schemeClr val="tx1"/>
                          </a:solidFill>
                          <a:latin typeface="Times New Roman" panose="02020503050405090304" pitchFamily="18" charset="0"/>
                          <a:ea typeface="宋体" pitchFamily="2" charset="-122"/>
                        </a:defRPr>
                      </a:lvl3pPr>
                      <a:lvl4pPr marL="1600200" indent="-228600">
                        <a:spcBef>
                          <a:spcPct val="20000"/>
                        </a:spcBef>
                        <a:defRPr kumimoji="1">
                          <a:solidFill>
                            <a:schemeClr val="tx1"/>
                          </a:solidFill>
                          <a:latin typeface="Times New Roman" panose="02020503050405090304" pitchFamily="18" charset="0"/>
                          <a:ea typeface="宋体" pitchFamily="2" charset="-122"/>
                        </a:defRPr>
                      </a:lvl4pPr>
                      <a:lvl5pPr marL="2057400" indent="-22860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r" defTabSz="914400" rtl="0" eaLnBrk="1" fontAlgn="base" latinLnBrk="0" hangingPunct="1">
                        <a:lnSpc>
                          <a:spcPct val="120000"/>
                        </a:lnSpc>
                        <a:spcBef>
                          <a:spcPct val="300000"/>
                        </a:spcBef>
                        <a:spcAft>
                          <a:spcPct val="0"/>
                        </a:spcAft>
                        <a:buClrTx/>
                        <a:buSzTx/>
                        <a:buFontTx/>
                        <a:buNone/>
                      </a:pPr>
                      <a:r>
                        <a:rPr kumimoji="1" lang="en-US" altLang="zh-CN" sz="1800" b="1" i="0" u="none" strike="noStrike" cap="none" normalizeH="0" baseline="0">
                          <a:ln>
                            <a:noFill/>
                          </a:ln>
                          <a:solidFill>
                            <a:schemeClr val="tx1"/>
                          </a:solidFill>
                          <a:effectLst/>
                          <a:latin typeface="+mn-lt"/>
                          <a:ea typeface="+mn-ea"/>
                          <a:cs typeface="+mn-ea"/>
                          <a:sym typeface="+mn-lt"/>
                        </a:rPr>
                        <a:t>549432.000</a:t>
                      </a:r>
                    </a:p>
                  </a:txBody>
                  <a:tcPr marL="89990" marR="89990" marT="46823" marB="468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F3EA"/>
                    </a:solidFill>
                  </a:tcPr>
                </a:tc>
                <a:tc>
                  <a:txBody>
                    <a:bodyPr/>
                    <a:lstStyle>
                      <a:lvl1pPr>
                        <a:spcBef>
                          <a:spcPct val="20000"/>
                        </a:spcBef>
                        <a:defRPr kumimoji="1" sz="2800">
                          <a:solidFill>
                            <a:schemeClr val="tx1"/>
                          </a:solidFill>
                          <a:latin typeface="Times New Roman" panose="02020503050405090304" pitchFamily="18" charset="0"/>
                          <a:ea typeface="宋体" pitchFamily="2" charset="-122"/>
                        </a:defRPr>
                      </a:lvl1pPr>
                      <a:lvl2pPr marL="742950" indent="-285750">
                        <a:spcBef>
                          <a:spcPct val="20000"/>
                        </a:spcBef>
                        <a:defRPr kumimoji="1" sz="2400">
                          <a:solidFill>
                            <a:schemeClr val="tx1"/>
                          </a:solidFill>
                          <a:latin typeface="Times New Roman" panose="02020503050405090304" pitchFamily="18" charset="0"/>
                          <a:ea typeface="宋体" pitchFamily="2" charset="-122"/>
                        </a:defRPr>
                      </a:lvl2pPr>
                      <a:lvl3pPr marL="1143000" indent="-228600">
                        <a:spcBef>
                          <a:spcPct val="20000"/>
                        </a:spcBef>
                        <a:defRPr kumimoji="1" sz="2000">
                          <a:solidFill>
                            <a:schemeClr val="tx1"/>
                          </a:solidFill>
                          <a:latin typeface="Times New Roman" panose="02020503050405090304" pitchFamily="18" charset="0"/>
                          <a:ea typeface="宋体" pitchFamily="2" charset="-122"/>
                        </a:defRPr>
                      </a:lvl3pPr>
                      <a:lvl4pPr marL="1600200" indent="-228600">
                        <a:spcBef>
                          <a:spcPct val="20000"/>
                        </a:spcBef>
                        <a:defRPr kumimoji="1">
                          <a:solidFill>
                            <a:schemeClr val="tx1"/>
                          </a:solidFill>
                          <a:latin typeface="Times New Roman" panose="02020503050405090304" pitchFamily="18" charset="0"/>
                          <a:ea typeface="宋体" pitchFamily="2" charset="-122"/>
                        </a:defRPr>
                      </a:lvl4pPr>
                      <a:lvl5pPr marL="2057400" indent="-22860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r" defTabSz="914400" rtl="0" eaLnBrk="1" fontAlgn="base" latinLnBrk="0" hangingPunct="1">
                        <a:lnSpc>
                          <a:spcPct val="120000"/>
                        </a:lnSpc>
                        <a:spcBef>
                          <a:spcPct val="300000"/>
                        </a:spcBef>
                        <a:spcAft>
                          <a:spcPct val="0"/>
                        </a:spcAft>
                        <a:buClrTx/>
                        <a:buSzTx/>
                        <a:buFontTx/>
                        <a:buNone/>
                      </a:pPr>
                      <a:r>
                        <a:rPr kumimoji="1" lang="en-US" altLang="zh-CN" sz="1800" b="1" i="0" u="none" strike="noStrike" cap="none" normalizeH="0" baseline="0">
                          <a:ln>
                            <a:noFill/>
                          </a:ln>
                          <a:solidFill>
                            <a:schemeClr val="tx1"/>
                          </a:solidFill>
                          <a:effectLst/>
                          <a:latin typeface="+mn-lt"/>
                          <a:ea typeface="+mn-ea"/>
                          <a:cs typeface="+mn-ea"/>
                          <a:sym typeface="+mn-lt"/>
                        </a:rPr>
                        <a:t>1534035.000</a:t>
                      </a:r>
                      <a:endParaRPr kumimoji="1" lang="zh-CN" altLang="en-US" sz="1800" b="1" i="0" u="none" strike="noStrike" cap="none" normalizeH="0" baseline="0">
                        <a:ln>
                          <a:noFill/>
                        </a:ln>
                        <a:solidFill>
                          <a:schemeClr val="tx1"/>
                        </a:solidFill>
                        <a:effectLst/>
                        <a:latin typeface="+mn-lt"/>
                        <a:ea typeface="+mn-ea"/>
                        <a:cs typeface="+mn-ea"/>
                        <a:sym typeface="+mn-lt"/>
                      </a:endParaRPr>
                    </a:p>
                  </a:txBody>
                  <a:tcPr marL="89990" marR="89990" marT="46823" marB="468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F3EA"/>
                    </a:solidFill>
                  </a:tcPr>
                </a:tc>
                <a:tc>
                  <a:txBody>
                    <a:bodyPr/>
                    <a:lstStyle>
                      <a:lvl1pPr>
                        <a:spcBef>
                          <a:spcPct val="20000"/>
                        </a:spcBef>
                        <a:defRPr kumimoji="1" sz="2800">
                          <a:solidFill>
                            <a:schemeClr val="tx1"/>
                          </a:solidFill>
                          <a:latin typeface="Times New Roman" panose="02020503050405090304" pitchFamily="18" charset="0"/>
                          <a:ea typeface="宋体" pitchFamily="2" charset="-122"/>
                        </a:defRPr>
                      </a:lvl1pPr>
                      <a:lvl2pPr marL="742950" indent="-285750">
                        <a:spcBef>
                          <a:spcPct val="20000"/>
                        </a:spcBef>
                        <a:defRPr kumimoji="1" sz="2400">
                          <a:solidFill>
                            <a:schemeClr val="tx1"/>
                          </a:solidFill>
                          <a:latin typeface="Times New Roman" panose="02020503050405090304" pitchFamily="18" charset="0"/>
                          <a:ea typeface="宋体" pitchFamily="2" charset="-122"/>
                        </a:defRPr>
                      </a:lvl2pPr>
                      <a:lvl3pPr marL="1143000" indent="-228600">
                        <a:spcBef>
                          <a:spcPct val="20000"/>
                        </a:spcBef>
                        <a:defRPr kumimoji="1" sz="2000">
                          <a:solidFill>
                            <a:schemeClr val="tx1"/>
                          </a:solidFill>
                          <a:latin typeface="Times New Roman" panose="02020503050405090304" pitchFamily="18" charset="0"/>
                          <a:ea typeface="宋体" pitchFamily="2" charset="-122"/>
                        </a:defRPr>
                      </a:lvl3pPr>
                      <a:lvl4pPr marL="1600200" indent="-228600">
                        <a:spcBef>
                          <a:spcPct val="20000"/>
                        </a:spcBef>
                        <a:defRPr kumimoji="1">
                          <a:solidFill>
                            <a:schemeClr val="tx1"/>
                          </a:solidFill>
                          <a:latin typeface="Times New Roman" panose="02020503050405090304" pitchFamily="18" charset="0"/>
                          <a:ea typeface="宋体" pitchFamily="2" charset="-122"/>
                        </a:defRPr>
                      </a:lvl4pPr>
                      <a:lvl5pPr marL="2057400" indent="-22860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r" defTabSz="914400" rtl="0" eaLnBrk="1" fontAlgn="base" latinLnBrk="0" hangingPunct="1">
                        <a:lnSpc>
                          <a:spcPct val="120000"/>
                        </a:lnSpc>
                        <a:spcBef>
                          <a:spcPct val="300000"/>
                        </a:spcBef>
                        <a:spcAft>
                          <a:spcPct val="0"/>
                        </a:spcAft>
                        <a:buClrTx/>
                        <a:buSzTx/>
                        <a:buFontTx/>
                        <a:buNone/>
                      </a:pPr>
                      <a:r>
                        <a:rPr kumimoji="1" lang="en-US" altLang="zh-CN" sz="1800" b="1" i="0" u="none" strike="noStrike" cap="none" normalizeH="0" baseline="0">
                          <a:ln>
                            <a:noFill/>
                          </a:ln>
                          <a:solidFill>
                            <a:schemeClr val="tx1"/>
                          </a:solidFill>
                          <a:effectLst/>
                          <a:latin typeface="+mn-lt"/>
                          <a:ea typeface="+mn-ea"/>
                          <a:cs typeface="+mn-ea"/>
                          <a:sym typeface="+mn-lt"/>
                        </a:rPr>
                        <a:t>366936.000</a:t>
                      </a:r>
                    </a:p>
                  </a:txBody>
                  <a:tcPr marL="89990" marR="89990" marT="46823" marB="468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F3EA"/>
                    </a:solidFill>
                  </a:tcPr>
                </a:tc>
                <a:extLst>
                  <a:ext uri="{0D108BD9-81ED-4DB2-BD59-A6C34878D82A}">
                    <a16:rowId xmlns:a16="http://schemas.microsoft.com/office/drawing/2014/main" val="10001"/>
                  </a:ext>
                </a:extLst>
              </a:tr>
              <a:tr h="368300">
                <a:tc vMerge="1">
                  <a:txBody>
                    <a:bodyPr/>
                    <a:lstStyle/>
                    <a:p>
                      <a:endParaRPr lang="zh-CN"/>
                    </a:p>
                  </a:txBody>
                  <a:tcPr/>
                </a:tc>
                <a:tc>
                  <a:txBody>
                    <a:bodyPr/>
                    <a:lstStyle>
                      <a:lvl1pPr>
                        <a:spcBef>
                          <a:spcPct val="20000"/>
                        </a:spcBef>
                        <a:defRPr kumimoji="1" sz="2800">
                          <a:solidFill>
                            <a:schemeClr val="tx1"/>
                          </a:solidFill>
                          <a:latin typeface="Times New Roman" panose="02020503050405090304" pitchFamily="18" charset="0"/>
                          <a:ea typeface="宋体" pitchFamily="2" charset="-122"/>
                        </a:defRPr>
                      </a:lvl1pPr>
                      <a:lvl2pPr marL="742950" indent="-285750">
                        <a:spcBef>
                          <a:spcPct val="20000"/>
                        </a:spcBef>
                        <a:defRPr kumimoji="1" sz="2400">
                          <a:solidFill>
                            <a:schemeClr val="tx1"/>
                          </a:solidFill>
                          <a:latin typeface="Times New Roman" panose="02020503050405090304" pitchFamily="18" charset="0"/>
                          <a:ea typeface="宋体" pitchFamily="2" charset="-122"/>
                        </a:defRPr>
                      </a:lvl2pPr>
                      <a:lvl3pPr marL="1143000" indent="-228600">
                        <a:spcBef>
                          <a:spcPct val="20000"/>
                        </a:spcBef>
                        <a:defRPr kumimoji="1" sz="2000">
                          <a:solidFill>
                            <a:schemeClr val="tx1"/>
                          </a:solidFill>
                          <a:latin typeface="Times New Roman" panose="02020503050405090304" pitchFamily="18" charset="0"/>
                          <a:ea typeface="宋体" pitchFamily="2" charset="-122"/>
                        </a:defRPr>
                      </a:lvl3pPr>
                      <a:lvl4pPr marL="1600200" indent="-228600">
                        <a:spcBef>
                          <a:spcPct val="20000"/>
                        </a:spcBef>
                        <a:defRPr kumimoji="1">
                          <a:solidFill>
                            <a:schemeClr val="tx1"/>
                          </a:solidFill>
                          <a:latin typeface="Times New Roman" panose="02020503050405090304" pitchFamily="18" charset="0"/>
                          <a:ea typeface="宋体" pitchFamily="2" charset="-122"/>
                        </a:defRPr>
                      </a:lvl4pPr>
                      <a:lvl5pPr marL="2057400" indent="-22860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20000"/>
                        </a:lnSpc>
                        <a:spcBef>
                          <a:spcPct val="300000"/>
                        </a:spcBef>
                        <a:spcAft>
                          <a:spcPct val="0"/>
                        </a:spcAft>
                        <a:buClrTx/>
                        <a:buSzTx/>
                        <a:buFontTx/>
                        <a:buNone/>
                      </a:pPr>
                      <a:r>
                        <a:rPr kumimoji="1" lang="zh-CN" altLang="en-US" sz="1800" b="1" i="0" u="none" strike="noStrike" cap="none" normalizeH="0" baseline="0">
                          <a:ln>
                            <a:noFill/>
                          </a:ln>
                          <a:solidFill>
                            <a:schemeClr val="tx1"/>
                          </a:solidFill>
                          <a:effectLst/>
                          <a:latin typeface="+mn-lt"/>
                          <a:ea typeface="+mn-ea"/>
                          <a:cs typeface="+mn-ea"/>
                          <a:sym typeface="+mn-lt"/>
                        </a:rPr>
                        <a:t>选择排序</a:t>
                      </a:r>
                    </a:p>
                  </a:txBody>
                  <a:tcPr marL="89990" marR="89990" marT="46823" marB="468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F3EA"/>
                    </a:solidFill>
                  </a:tcPr>
                </a:tc>
                <a:tc>
                  <a:txBody>
                    <a:bodyPr/>
                    <a:lstStyle>
                      <a:lvl1pPr>
                        <a:spcBef>
                          <a:spcPct val="20000"/>
                        </a:spcBef>
                        <a:defRPr kumimoji="1" sz="2800">
                          <a:solidFill>
                            <a:schemeClr val="tx1"/>
                          </a:solidFill>
                          <a:latin typeface="Times New Roman" panose="02020503050405090304" pitchFamily="18" charset="0"/>
                          <a:ea typeface="宋体" pitchFamily="2" charset="-122"/>
                        </a:defRPr>
                      </a:lvl1pPr>
                      <a:lvl2pPr marL="742950" indent="-285750">
                        <a:spcBef>
                          <a:spcPct val="20000"/>
                        </a:spcBef>
                        <a:defRPr kumimoji="1" sz="2400">
                          <a:solidFill>
                            <a:schemeClr val="tx1"/>
                          </a:solidFill>
                          <a:latin typeface="Times New Roman" panose="02020503050405090304" pitchFamily="18" charset="0"/>
                          <a:ea typeface="宋体" pitchFamily="2" charset="-122"/>
                        </a:defRPr>
                      </a:lvl2pPr>
                      <a:lvl3pPr marL="1143000" indent="-228600">
                        <a:spcBef>
                          <a:spcPct val="20000"/>
                        </a:spcBef>
                        <a:defRPr kumimoji="1" sz="2000">
                          <a:solidFill>
                            <a:schemeClr val="tx1"/>
                          </a:solidFill>
                          <a:latin typeface="Times New Roman" panose="02020503050405090304" pitchFamily="18" charset="0"/>
                          <a:ea typeface="宋体" pitchFamily="2" charset="-122"/>
                        </a:defRPr>
                      </a:lvl3pPr>
                      <a:lvl4pPr marL="1600200" indent="-228600">
                        <a:spcBef>
                          <a:spcPct val="20000"/>
                        </a:spcBef>
                        <a:defRPr kumimoji="1">
                          <a:solidFill>
                            <a:schemeClr val="tx1"/>
                          </a:solidFill>
                          <a:latin typeface="Times New Roman" panose="02020503050405090304" pitchFamily="18" charset="0"/>
                          <a:ea typeface="宋体" pitchFamily="2" charset="-122"/>
                        </a:defRPr>
                      </a:lvl4pPr>
                      <a:lvl5pPr marL="2057400" indent="-22860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r" defTabSz="914400" rtl="0" eaLnBrk="1" fontAlgn="base" latinLnBrk="0" hangingPunct="1">
                        <a:lnSpc>
                          <a:spcPct val="120000"/>
                        </a:lnSpc>
                        <a:spcBef>
                          <a:spcPct val="300000"/>
                        </a:spcBef>
                        <a:spcAft>
                          <a:spcPct val="0"/>
                        </a:spcAft>
                        <a:buClrTx/>
                        <a:buSzTx/>
                        <a:buFontTx/>
                        <a:buNone/>
                      </a:pPr>
                      <a:r>
                        <a:rPr kumimoji="1" lang="en-US" altLang="zh-CN" sz="1800" b="1" i="0" u="none" strike="noStrike" cap="none" normalizeH="0" baseline="0">
                          <a:ln>
                            <a:noFill/>
                          </a:ln>
                          <a:solidFill>
                            <a:schemeClr val="tx1"/>
                          </a:solidFill>
                          <a:effectLst/>
                          <a:latin typeface="+mn-lt"/>
                          <a:ea typeface="+mn-ea"/>
                          <a:cs typeface="+mn-ea"/>
                          <a:sym typeface="+mn-lt"/>
                        </a:rPr>
                        <a:t>478694.000</a:t>
                      </a:r>
                      <a:endParaRPr kumimoji="1" lang="zh-CN" altLang="en-US" sz="1800" b="1" i="0" u="none" strike="noStrike" cap="none" normalizeH="0" baseline="0">
                        <a:ln>
                          <a:noFill/>
                        </a:ln>
                        <a:solidFill>
                          <a:schemeClr val="tx1"/>
                        </a:solidFill>
                        <a:effectLst/>
                        <a:latin typeface="+mn-lt"/>
                        <a:ea typeface="+mn-ea"/>
                        <a:cs typeface="+mn-ea"/>
                        <a:sym typeface="+mn-lt"/>
                      </a:endParaRPr>
                    </a:p>
                  </a:txBody>
                  <a:tcPr marL="89990" marR="89990" marT="46823" marB="468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F3EA"/>
                    </a:solidFill>
                  </a:tcPr>
                </a:tc>
                <a:tc>
                  <a:txBody>
                    <a:bodyPr/>
                    <a:lstStyle>
                      <a:lvl1pPr>
                        <a:spcBef>
                          <a:spcPct val="20000"/>
                        </a:spcBef>
                        <a:defRPr kumimoji="1" sz="2800">
                          <a:solidFill>
                            <a:schemeClr val="tx1"/>
                          </a:solidFill>
                          <a:latin typeface="Times New Roman" panose="02020503050405090304" pitchFamily="18" charset="0"/>
                          <a:ea typeface="宋体" pitchFamily="2" charset="-122"/>
                        </a:defRPr>
                      </a:lvl1pPr>
                      <a:lvl2pPr marL="742950" indent="-285750">
                        <a:spcBef>
                          <a:spcPct val="20000"/>
                        </a:spcBef>
                        <a:defRPr kumimoji="1" sz="2400">
                          <a:solidFill>
                            <a:schemeClr val="tx1"/>
                          </a:solidFill>
                          <a:latin typeface="Times New Roman" panose="02020503050405090304" pitchFamily="18" charset="0"/>
                          <a:ea typeface="宋体" pitchFamily="2" charset="-122"/>
                        </a:defRPr>
                      </a:lvl2pPr>
                      <a:lvl3pPr marL="1143000" indent="-228600">
                        <a:spcBef>
                          <a:spcPct val="20000"/>
                        </a:spcBef>
                        <a:defRPr kumimoji="1" sz="2000">
                          <a:solidFill>
                            <a:schemeClr val="tx1"/>
                          </a:solidFill>
                          <a:latin typeface="Times New Roman" panose="02020503050405090304" pitchFamily="18" charset="0"/>
                          <a:ea typeface="宋体" pitchFamily="2" charset="-122"/>
                        </a:defRPr>
                      </a:lvl3pPr>
                      <a:lvl4pPr marL="1600200" indent="-228600">
                        <a:spcBef>
                          <a:spcPct val="20000"/>
                        </a:spcBef>
                        <a:defRPr kumimoji="1">
                          <a:solidFill>
                            <a:schemeClr val="tx1"/>
                          </a:solidFill>
                          <a:latin typeface="Times New Roman" panose="02020503050405090304" pitchFamily="18" charset="0"/>
                          <a:ea typeface="宋体" pitchFamily="2" charset="-122"/>
                        </a:defRPr>
                      </a:lvl4pPr>
                      <a:lvl5pPr marL="2057400" indent="-22860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r" defTabSz="914400" rtl="0" eaLnBrk="1" fontAlgn="base" latinLnBrk="0" hangingPunct="1">
                        <a:lnSpc>
                          <a:spcPct val="120000"/>
                        </a:lnSpc>
                        <a:spcBef>
                          <a:spcPct val="300000"/>
                        </a:spcBef>
                        <a:spcAft>
                          <a:spcPct val="0"/>
                        </a:spcAft>
                        <a:buClrTx/>
                        <a:buSzTx/>
                        <a:buFontTx/>
                        <a:buNone/>
                      </a:pPr>
                      <a:r>
                        <a:rPr kumimoji="1" lang="en-US" altLang="zh-CN" sz="1800" b="1" i="0" u="none" strike="noStrike" cap="none" normalizeH="0" baseline="0">
                          <a:ln>
                            <a:noFill/>
                          </a:ln>
                          <a:solidFill>
                            <a:schemeClr val="tx1"/>
                          </a:solidFill>
                          <a:effectLst/>
                          <a:latin typeface="+mn-lt"/>
                          <a:ea typeface="+mn-ea"/>
                          <a:cs typeface="+mn-ea"/>
                          <a:sym typeface="+mn-lt"/>
                        </a:rPr>
                        <a:t>587240.000</a:t>
                      </a:r>
                    </a:p>
                  </a:txBody>
                  <a:tcPr marL="89990" marR="89990" marT="46823" marB="468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F3EA"/>
                    </a:solidFill>
                  </a:tcPr>
                </a:tc>
                <a:tc>
                  <a:txBody>
                    <a:bodyPr/>
                    <a:lstStyle>
                      <a:lvl1pPr>
                        <a:spcBef>
                          <a:spcPct val="20000"/>
                        </a:spcBef>
                        <a:defRPr kumimoji="1" sz="2800">
                          <a:solidFill>
                            <a:schemeClr val="tx1"/>
                          </a:solidFill>
                          <a:latin typeface="Times New Roman" panose="02020503050405090304" pitchFamily="18" charset="0"/>
                          <a:ea typeface="宋体" pitchFamily="2" charset="-122"/>
                        </a:defRPr>
                      </a:lvl1pPr>
                      <a:lvl2pPr marL="742950" indent="-285750">
                        <a:spcBef>
                          <a:spcPct val="20000"/>
                        </a:spcBef>
                        <a:defRPr kumimoji="1" sz="2400">
                          <a:solidFill>
                            <a:schemeClr val="tx1"/>
                          </a:solidFill>
                          <a:latin typeface="Times New Roman" panose="02020503050405090304" pitchFamily="18" charset="0"/>
                          <a:ea typeface="宋体" pitchFamily="2" charset="-122"/>
                        </a:defRPr>
                      </a:lvl2pPr>
                      <a:lvl3pPr marL="1143000" indent="-228600">
                        <a:spcBef>
                          <a:spcPct val="20000"/>
                        </a:spcBef>
                        <a:defRPr kumimoji="1" sz="2000">
                          <a:solidFill>
                            <a:schemeClr val="tx1"/>
                          </a:solidFill>
                          <a:latin typeface="Times New Roman" panose="02020503050405090304" pitchFamily="18" charset="0"/>
                          <a:ea typeface="宋体" pitchFamily="2" charset="-122"/>
                        </a:defRPr>
                      </a:lvl3pPr>
                      <a:lvl4pPr marL="1600200" indent="-228600">
                        <a:spcBef>
                          <a:spcPct val="20000"/>
                        </a:spcBef>
                        <a:defRPr kumimoji="1">
                          <a:solidFill>
                            <a:schemeClr val="tx1"/>
                          </a:solidFill>
                          <a:latin typeface="Times New Roman" panose="02020503050405090304" pitchFamily="18" charset="0"/>
                          <a:ea typeface="宋体" pitchFamily="2" charset="-122"/>
                        </a:defRPr>
                      </a:lvl4pPr>
                      <a:lvl5pPr marL="2057400" indent="-22860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r" defTabSz="914400" rtl="0" eaLnBrk="1" fontAlgn="base" latinLnBrk="0" hangingPunct="1">
                        <a:lnSpc>
                          <a:spcPct val="120000"/>
                        </a:lnSpc>
                        <a:spcBef>
                          <a:spcPct val="300000"/>
                        </a:spcBef>
                        <a:spcAft>
                          <a:spcPct val="0"/>
                        </a:spcAft>
                        <a:buClrTx/>
                        <a:buSzTx/>
                        <a:buFontTx/>
                        <a:buNone/>
                      </a:pPr>
                      <a:r>
                        <a:rPr kumimoji="1" lang="en-US" altLang="zh-CN" sz="1800" b="1" i="0" u="none" strike="noStrike" cap="none" normalizeH="0" baseline="0">
                          <a:ln>
                            <a:noFill/>
                          </a:ln>
                          <a:solidFill>
                            <a:schemeClr val="tx1"/>
                          </a:solidFill>
                          <a:effectLst/>
                          <a:latin typeface="+mn-lt"/>
                          <a:ea typeface="+mn-ea"/>
                          <a:cs typeface="+mn-ea"/>
                          <a:sym typeface="+mn-lt"/>
                        </a:rPr>
                        <a:t>367658.000</a:t>
                      </a:r>
                    </a:p>
                  </a:txBody>
                  <a:tcPr marL="89990" marR="89990" marT="46823" marB="468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F3EA"/>
                    </a:solidFill>
                  </a:tcPr>
                </a:tc>
                <a:extLst>
                  <a:ext uri="{0D108BD9-81ED-4DB2-BD59-A6C34878D82A}">
                    <a16:rowId xmlns:a16="http://schemas.microsoft.com/office/drawing/2014/main" val="10002"/>
                  </a:ext>
                </a:extLst>
              </a:tr>
              <a:tr h="0">
                <a:tc vMerge="1">
                  <a:txBody>
                    <a:bodyPr/>
                    <a:lstStyle/>
                    <a:p>
                      <a:endParaRPr lang="zh-CN"/>
                    </a:p>
                  </a:txBody>
                  <a:tcPr/>
                </a:tc>
                <a:tc>
                  <a:txBody>
                    <a:bodyPr/>
                    <a:lstStyle>
                      <a:lvl1pPr>
                        <a:spcBef>
                          <a:spcPct val="20000"/>
                        </a:spcBef>
                        <a:defRPr kumimoji="1" sz="2800">
                          <a:solidFill>
                            <a:schemeClr val="tx1"/>
                          </a:solidFill>
                          <a:latin typeface="Times New Roman" panose="02020503050405090304" pitchFamily="18" charset="0"/>
                          <a:ea typeface="宋体" pitchFamily="2" charset="-122"/>
                        </a:defRPr>
                      </a:lvl1pPr>
                      <a:lvl2pPr marL="742950" indent="-285750">
                        <a:spcBef>
                          <a:spcPct val="20000"/>
                        </a:spcBef>
                        <a:defRPr kumimoji="1" sz="2400">
                          <a:solidFill>
                            <a:schemeClr val="tx1"/>
                          </a:solidFill>
                          <a:latin typeface="Times New Roman" panose="02020503050405090304" pitchFamily="18" charset="0"/>
                          <a:ea typeface="宋体" pitchFamily="2" charset="-122"/>
                        </a:defRPr>
                      </a:lvl2pPr>
                      <a:lvl3pPr marL="1143000" indent="-228600">
                        <a:spcBef>
                          <a:spcPct val="20000"/>
                        </a:spcBef>
                        <a:defRPr kumimoji="1" sz="2000">
                          <a:solidFill>
                            <a:schemeClr val="tx1"/>
                          </a:solidFill>
                          <a:latin typeface="Times New Roman" panose="02020503050405090304" pitchFamily="18" charset="0"/>
                          <a:ea typeface="宋体" pitchFamily="2" charset="-122"/>
                        </a:defRPr>
                      </a:lvl3pPr>
                      <a:lvl4pPr marL="1600200" indent="-228600">
                        <a:spcBef>
                          <a:spcPct val="20000"/>
                        </a:spcBef>
                        <a:defRPr kumimoji="1">
                          <a:solidFill>
                            <a:schemeClr val="tx1"/>
                          </a:solidFill>
                          <a:latin typeface="Times New Roman" panose="02020503050405090304" pitchFamily="18" charset="0"/>
                          <a:ea typeface="宋体" pitchFamily="2" charset="-122"/>
                        </a:defRPr>
                      </a:lvl4pPr>
                      <a:lvl5pPr marL="2057400" indent="-22860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20000"/>
                        </a:lnSpc>
                        <a:spcBef>
                          <a:spcPct val="300000"/>
                        </a:spcBef>
                        <a:spcAft>
                          <a:spcPct val="0"/>
                        </a:spcAft>
                        <a:buClrTx/>
                        <a:buSzTx/>
                        <a:buFontTx/>
                        <a:buNone/>
                      </a:pPr>
                      <a:r>
                        <a:rPr kumimoji="1" lang="zh-CN" altLang="en-US" sz="1800" b="1" i="0" u="none" strike="noStrike" cap="none" normalizeH="0" baseline="0" dirty="0">
                          <a:ln>
                            <a:noFill/>
                          </a:ln>
                          <a:solidFill>
                            <a:schemeClr val="tx1"/>
                          </a:solidFill>
                          <a:effectLst/>
                          <a:latin typeface="+mn-lt"/>
                          <a:ea typeface="+mn-ea"/>
                          <a:cs typeface="+mn-ea"/>
                          <a:sym typeface="+mn-lt"/>
                        </a:rPr>
                        <a:t>插入排序</a:t>
                      </a:r>
                    </a:p>
                  </a:txBody>
                  <a:tcPr marL="89990" marR="89990" marT="46823" marB="468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F3EA"/>
                    </a:solidFill>
                  </a:tcPr>
                </a:tc>
                <a:tc>
                  <a:txBody>
                    <a:bodyPr/>
                    <a:lstStyle>
                      <a:lvl1pPr>
                        <a:spcBef>
                          <a:spcPct val="20000"/>
                        </a:spcBef>
                        <a:defRPr kumimoji="1" sz="2800">
                          <a:solidFill>
                            <a:schemeClr val="tx1"/>
                          </a:solidFill>
                          <a:latin typeface="Times New Roman" panose="02020503050405090304" pitchFamily="18" charset="0"/>
                          <a:ea typeface="宋体" pitchFamily="2" charset="-122"/>
                        </a:defRPr>
                      </a:lvl1pPr>
                      <a:lvl2pPr marL="742950" indent="-285750">
                        <a:spcBef>
                          <a:spcPct val="20000"/>
                        </a:spcBef>
                        <a:defRPr kumimoji="1" sz="2400">
                          <a:solidFill>
                            <a:schemeClr val="tx1"/>
                          </a:solidFill>
                          <a:latin typeface="Times New Roman" panose="02020503050405090304" pitchFamily="18" charset="0"/>
                          <a:ea typeface="宋体" pitchFamily="2" charset="-122"/>
                        </a:defRPr>
                      </a:lvl2pPr>
                      <a:lvl3pPr marL="1143000" indent="-228600">
                        <a:spcBef>
                          <a:spcPct val="20000"/>
                        </a:spcBef>
                        <a:defRPr kumimoji="1" sz="2000">
                          <a:solidFill>
                            <a:schemeClr val="tx1"/>
                          </a:solidFill>
                          <a:latin typeface="Times New Roman" panose="02020503050405090304" pitchFamily="18" charset="0"/>
                          <a:ea typeface="宋体" pitchFamily="2" charset="-122"/>
                        </a:defRPr>
                      </a:lvl3pPr>
                      <a:lvl4pPr marL="1600200" indent="-228600">
                        <a:spcBef>
                          <a:spcPct val="20000"/>
                        </a:spcBef>
                        <a:defRPr kumimoji="1">
                          <a:solidFill>
                            <a:schemeClr val="tx1"/>
                          </a:solidFill>
                          <a:latin typeface="Times New Roman" panose="02020503050405090304" pitchFamily="18" charset="0"/>
                          <a:ea typeface="宋体" pitchFamily="2" charset="-122"/>
                        </a:defRPr>
                      </a:lvl4pPr>
                      <a:lvl5pPr marL="2057400" indent="-22860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r" defTabSz="914400" rtl="0" eaLnBrk="1" fontAlgn="base" latinLnBrk="0" hangingPunct="1">
                        <a:lnSpc>
                          <a:spcPct val="120000"/>
                        </a:lnSpc>
                        <a:spcBef>
                          <a:spcPct val="300000"/>
                        </a:spcBef>
                        <a:spcAft>
                          <a:spcPct val="0"/>
                        </a:spcAft>
                        <a:buClrTx/>
                        <a:buSzTx/>
                        <a:buFontTx/>
                        <a:buNone/>
                      </a:pPr>
                      <a:r>
                        <a:rPr kumimoji="1" lang="en-US" altLang="zh-CN" sz="1800" b="1" i="0" u="none" strike="noStrike" cap="none" normalizeH="0" baseline="0" dirty="0">
                          <a:ln>
                            <a:noFill/>
                          </a:ln>
                          <a:solidFill>
                            <a:schemeClr val="tx1"/>
                          </a:solidFill>
                          <a:effectLst/>
                          <a:latin typeface="+mn-lt"/>
                          <a:ea typeface="+mn-ea"/>
                          <a:cs typeface="+mn-ea"/>
                          <a:sym typeface="+mn-lt"/>
                        </a:rPr>
                        <a:t>253115.000</a:t>
                      </a:r>
                    </a:p>
                  </a:txBody>
                  <a:tcPr marL="89990" marR="89990" marT="46823" marB="468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F3EA"/>
                    </a:solidFill>
                  </a:tcPr>
                </a:tc>
                <a:tc>
                  <a:txBody>
                    <a:bodyPr/>
                    <a:lstStyle>
                      <a:lvl1pPr>
                        <a:spcBef>
                          <a:spcPct val="20000"/>
                        </a:spcBef>
                        <a:defRPr kumimoji="1" sz="2800">
                          <a:solidFill>
                            <a:schemeClr val="tx1"/>
                          </a:solidFill>
                          <a:latin typeface="Times New Roman" panose="02020503050405090304" pitchFamily="18" charset="0"/>
                          <a:ea typeface="宋体" pitchFamily="2" charset="-122"/>
                        </a:defRPr>
                      </a:lvl1pPr>
                      <a:lvl2pPr marL="742950" indent="-285750">
                        <a:spcBef>
                          <a:spcPct val="20000"/>
                        </a:spcBef>
                        <a:defRPr kumimoji="1" sz="2400">
                          <a:solidFill>
                            <a:schemeClr val="tx1"/>
                          </a:solidFill>
                          <a:latin typeface="Times New Roman" panose="02020503050405090304" pitchFamily="18" charset="0"/>
                          <a:ea typeface="宋体" pitchFamily="2" charset="-122"/>
                        </a:defRPr>
                      </a:lvl2pPr>
                      <a:lvl3pPr marL="1143000" indent="-228600">
                        <a:spcBef>
                          <a:spcPct val="20000"/>
                        </a:spcBef>
                        <a:defRPr kumimoji="1" sz="2000">
                          <a:solidFill>
                            <a:schemeClr val="tx1"/>
                          </a:solidFill>
                          <a:latin typeface="Times New Roman" panose="02020503050405090304" pitchFamily="18" charset="0"/>
                          <a:ea typeface="宋体" pitchFamily="2" charset="-122"/>
                        </a:defRPr>
                      </a:lvl3pPr>
                      <a:lvl4pPr marL="1600200" indent="-228600">
                        <a:spcBef>
                          <a:spcPct val="20000"/>
                        </a:spcBef>
                        <a:defRPr kumimoji="1">
                          <a:solidFill>
                            <a:schemeClr val="tx1"/>
                          </a:solidFill>
                          <a:latin typeface="Times New Roman" panose="02020503050405090304" pitchFamily="18" charset="0"/>
                          <a:ea typeface="宋体" pitchFamily="2" charset="-122"/>
                        </a:defRPr>
                      </a:lvl4pPr>
                      <a:lvl5pPr marL="2057400" indent="-22860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r" defTabSz="914400" rtl="0" eaLnBrk="1" fontAlgn="base" latinLnBrk="0" hangingPunct="1">
                        <a:lnSpc>
                          <a:spcPct val="120000"/>
                        </a:lnSpc>
                        <a:spcBef>
                          <a:spcPct val="300000"/>
                        </a:spcBef>
                        <a:spcAft>
                          <a:spcPct val="0"/>
                        </a:spcAft>
                        <a:buClrTx/>
                        <a:buSzTx/>
                        <a:buFontTx/>
                        <a:buNone/>
                      </a:pPr>
                      <a:r>
                        <a:rPr kumimoji="1" lang="en-US" altLang="zh-CN" sz="1800" b="1" i="0" u="none" strike="noStrike" cap="none" normalizeH="0" baseline="0">
                          <a:ln>
                            <a:noFill/>
                          </a:ln>
                          <a:solidFill>
                            <a:schemeClr val="tx1"/>
                          </a:solidFill>
                          <a:effectLst/>
                          <a:latin typeface="+mn-lt"/>
                          <a:ea typeface="+mn-ea"/>
                          <a:cs typeface="+mn-ea"/>
                          <a:sym typeface="+mn-lt"/>
                        </a:rPr>
                        <a:t>515621.000</a:t>
                      </a:r>
                    </a:p>
                  </a:txBody>
                  <a:tcPr marL="89990" marR="89990" marT="46823" marB="468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F3EA"/>
                    </a:solidFill>
                  </a:tcPr>
                </a:tc>
                <a:tc>
                  <a:txBody>
                    <a:bodyPr/>
                    <a:lstStyle>
                      <a:lvl1pPr>
                        <a:spcBef>
                          <a:spcPct val="20000"/>
                        </a:spcBef>
                        <a:defRPr kumimoji="1" sz="2800">
                          <a:solidFill>
                            <a:schemeClr val="tx1"/>
                          </a:solidFill>
                          <a:latin typeface="Times New Roman" panose="02020503050405090304" pitchFamily="18" charset="0"/>
                          <a:ea typeface="宋体" pitchFamily="2" charset="-122"/>
                        </a:defRPr>
                      </a:lvl1pPr>
                      <a:lvl2pPr marL="742950" indent="-285750">
                        <a:spcBef>
                          <a:spcPct val="20000"/>
                        </a:spcBef>
                        <a:defRPr kumimoji="1" sz="2400">
                          <a:solidFill>
                            <a:schemeClr val="tx1"/>
                          </a:solidFill>
                          <a:latin typeface="Times New Roman" panose="02020503050405090304" pitchFamily="18" charset="0"/>
                          <a:ea typeface="宋体" pitchFamily="2" charset="-122"/>
                        </a:defRPr>
                      </a:lvl2pPr>
                      <a:lvl3pPr marL="1143000" indent="-228600">
                        <a:spcBef>
                          <a:spcPct val="20000"/>
                        </a:spcBef>
                        <a:defRPr kumimoji="1" sz="2000">
                          <a:solidFill>
                            <a:schemeClr val="tx1"/>
                          </a:solidFill>
                          <a:latin typeface="Times New Roman" panose="02020503050405090304" pitchFamily="18" charset="0"/>
                          <a:ea typeface="宋体" pitchFamily="2" charset="-122"/>
                        </a:defRPr>
                      </a:lvl3pPr>
                      <a:lvl4pPr marL="1600200" indent="-228600">
                        <a:spcBef>
                          <a:spcPct val="20000"/>
                        </a:spcBef>
                        <a:defRPr kumimoji="1">
                          <a:solidFill>
                            <a:schemeClr val="tx1"/>
                          </a:solidFill>
                          <a:latin typeface="Times New Roman" panose="02020503050405090304" pitchFamily="18" charset="0"/>
                          <a:ea typeface="宋体" pitchFamily="2" charset="-122"/>
                        </a:defRPr>
                      </a:lvl4pPr>
                      <a:lvl5pPr marL="2057400" indent="-22860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r" defTabSz="914400" rtl="0" eaLnBrk="1" fontAlgn="base" latinLnBrk="0" hangingPunct="1">
                        <a:lnSpc>
                          <a:spcPct val="120000"/>
                        </a:lnSpc>
                        <a:spcBef>
                          <a:spcPct val="300000"/>
                        </a:spcBef>
                        <a:spcAft>
                          <a:spcPct val="0"/>
                        </a:spcAft>
                        <a:buClrTx/>
                        <a:buSzTx/>
                        <a:buFontTx/>
                        <a:buNone/>
                      </a:pPr>
                      <a:r>
                        <a:rPr kumimoji="1" lang="en-US" altLang="zh-CN" sz="1800" b="1" i="0" u="none" strike="noStrike" cap="none" normalizeH="0" baseline="0" dirty="0">
                          <a:ln>
                            <a:noFill/>
                          </a:ln>
                          <a:solidFill>
                            <a:schemeClr val="tx1"/>
                          </a:solidFill>
                          <a:effectLst/>
                          <a:latin typeface="+mn-lt"/>
                          <a:ea typeface="+mn-ea"/>
                          <a:cs typeface="+mn-ea"/>
                          <a:sym typeface="+mn-lt"/>
                        </a:rPr>
                        <a:t>0.897</a:t>
                      </a:r>
                    </a:p>
                  </a:txBody>
                  <a:tcPr marL="89990" marR="89990" marT="46823" marB="468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F3EA"/>
                    </a:solidFill>
                  </a:tcPr>
                </a:tc>
                <a:extLst>
                  <a:ext uri="{0D108BD9-81ED-4DB2-BD59-A6C34878D82A}">
                    <a16:rowId xmlns:a16="http://schemas.microsoft.com/office/drawing/2014/main" val="10003"/>
                  </a:ext>
                </a:extLst>
              </a:tr>
              <a:tr h="368300">
                <a:tc>
                  <a:txBody>
                    <a:bodyPr/>
                    <a:lstStyle>
                      <a:lvl1pPr>
                        <a:spcBef>
                          <a:spcPct val="20000"/>
                        </a:spcBef>
                        <a:defRPr kumimoji="1" sz="2800">
                          <a:solidFill>
                            <a:schemeClr val="tx1"/>
                          </a:solidFill>
                          <a:latin typeface="Times New Roman" panose="02020503050405090304" pitchFamily="18" charset="0"/>
                          <a:ea typeface="宋体" pitchFamily="2" charset="-122"/>
                        </a:defRPr>
                      </a:lvl1pPr>
                      <a:lvl2pPr marL="742950" indent="-285750">
                        <a:spcBef>
                          <a:spcPct val="20000"/>
                        </a:spcBef>
                        <a:defRPr kumimoji="1" sz="2400">
                          <a:solidFill>
                            <a:schemeClr val="tx1"/>
                          </a:solidFill>
                          <a:latin typeface="Times New Roman" panose="02020503050405090304" pitchFamily="18" charset="0"/>
                          <a:ea typeface="宋体" pitchFamily="2" charset="-122"/>
                        </a:defRPr>
                      </a:lvl2pPr>
                      <a:lvl3pPr marL="1143000" indent="-228600">
                        <a:spcBef>
                          <a:spcPct val="20000"/>
                        </a:spcBef>
                        <a:defRPr kumimoji="1" sz="2000">
                          <a:solidFill>
                            <a:schemeClr val="tx1"/>
                          </a:solidFill>
                          <a:latin typeface="Times New Roman" panose="02020503050405090304" pitchFamily="18" charset="0"/>
                          <a:ea typeface="宋体" pitchFamily="2" charset="-122"/>
                        </a:defRPr>
                      </a:lvl3pPr>
                      <a:lvl4pPr marL="1600200" indent="-228600">
                        <a:spcBef>
                          <a:spcPct val="20000"/>
                        </a:spcBef>
                        <a:defRPr kumimoji="1">
                          <a:solidFill>
                            <a:schemeClr val="tx1"/>
                          </a:solidFill>
                          <a:latin typeface="Times New Roman" panose="02020503050405090304" pitchFamily="18" charset="0"/>
                          <a:ea typeface="宋体" pitchFamily="2" charset="-122"/>
                        </a:defRPr>
                      </a:lvl4pPr>
                      <a:lvl5pPr marL="2057400" indent="-22860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20000"/>
                        </a:lnSpc>
                        <a:spcBef>
                          <a:spcPct val="300000"/>
                        </a:spcBef>
                        <a:spcAft>
                          <a:spcPct val="0"/>
                        </a:spcAft>
                        <a:buClrTx/>
                        <a:buSzTx/>
                        <a:buFontTx/>
                        <a:buNone/>
                      </a:pPr>
                      <a:r>
                        <a:rPr kumimoji="1" lang="en-US" altLang="zh-CN" sz="1800" b="1" i="0" u="none" strike="noStrike" cap="none" normalizeH="0" baseline="0" dirty="0">
                          <a:ln>
                            <a:noFill/>
                          </a:ln>
                          <a:solidFill>
                            <a:schemeClr val="tx1"/>
                          </a:solidFill>
                          <a:effectLst/>
                          <a:latin typeface="+mn-lt"/>
                          <a:ea typeface="+mn-ea"/>
                          <a:cs typeface="+mn-ea"/>
                          <a:sym typeface="+mn-lt"/>
                        </a:rPr>
                        <a:t>4</a:t>
                      </a:r>
                      <a:endParaRPr kumimoji="1" lang="zh-CN" altLang="en-US" sz="1800" b="1" i="0" u="none" strike="noStrike" cap="none" normalizeH="0" baseline="0" dirty="0">
                        <a:ln>
                          <a:noFill/>
                        </a:ln>
                        <a:solidFill>
                          <a:schemeClr val="tx1"/>
                        </a:solidFill>
                        <a:effectLst/>
                        <a:latin typeface="+mn-lt"/>
                        <a:ea typeface="+mn-ea"/>
                        <a:cs typeface="+mn-ea"/>
                        <a:sym typeface="+mn-lt"/>
                      </a:endParaRPr>
                    </a:p>
                  </a:txBody>
                  <a:tcPr marL="89990" marR="89990" marT="46823" marB="468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503050405090304" pitchFamily="18" charset="0"/>
                          <a:ea typeface="宋体" pitchFamily="2" charset="-122"/>
                        </a:defRPr>
                      </a:lvl1pPr>
                      <a:lvl2pPr marL="742950" indent="-285750">
                        <a:spcBef>
                          <a:spcPct val="20000"/>
                        </a:spcBef>
                        <a:defRPr kumimoji="1" sz="2400">
                          <a:solidFill>
                            <a:schemeClr val="tx1"/>
                          </a:solidFill>
                          <a:latin typeface="Times New Roman" panose="02020503050405090304" pitchFamily="18" charset="0"/>
                          <a:ea typeface="宋体" pitchFamily="2" charset="-122"/>
                        </a:defRPr>
                      </a:lvl2pPr>
                      <a:lvl3pPr marL="1143000" indent="-228600">
                        <a:spcBef>
                          <a:spcPct val="20000"/>
                        </a:spcBef>
                        <a:defRPr kumimoji="1" sz="2000">
                          <a:solidFill>
                            <a:schemeClr val="tx1"/>
                          </a:solidFill>
                          <a:latin typeface="Times New Roman" panose="02020503050405090304" pitchFamily="18" charset="0"/>
                          <a:ea typeface="宋体" pitchFamily="2" charset="-122"/>
                        </a:defRPr>
                      </a:lvl3pPr>
                      <a:lvl4pPr marL="1600200" indent="-228600">
                        <a:spcBef>
                          <a:spcPct val="20000"/>
                        </a:spcBef>
                        <a:defRPr kumimoji="1">
                          <a:solidFill>
                            <a:schemeClr val="tx1"/>
                          </a:solidFill>
                          <a:latin typeface="Times New Roman" panose="02020503050405090304" pitchFamily="18" charset="0"/>
                          <a:ea typeface="宋体" pitchFamily="2" charset="-122"/>
                        </a:defRPr>
                      </a:lvl4pPr>
                      <a:lvl5pPr marL="2057400" indent="-22860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20000"/>
                        </a:lnSpc>
                        <a:spcBef>
                          <a:spcPct val="300000"/>
                        </a:spcBef>
                        <a:spcAft>
                          <a:spcPct val="0"/>
                        </a:spcAft>
                        <a:buClrTx/>
                        <a:buSzTx/>
                        <a:buFontTx/>
                        <a:buNone/>
                      </a:pPr>
                      <a:r>
                        <a:rPr kumimoji="1" lang="zh-CN" altLang="en-US" sz="1800" b="1" i="0" u="none" strike="noStrike" cap="none" normalizeH="0" baseline="0">
                          <a:ln>
                            <a:noFill/>
                          </a:ln>
                          <a:solidFill>
                            <a:schemeClr val="tx1"/>
                          </a:solidFill>
                          <a:effectLst/>
                          <a:latin typeface="+mn-lt"/>
                          <a:ea typeface="+mn-ea"/>
                          <a:cs typeface="+mn-ea"/>
                          <a:sym typeface="+mn-lt"/>
                        </a:rPr>
                        <a:t>归并排序</a:t>
                      </a:r>
                    </a:p>
                  </a:txBody>
                  <a:tcPr marL="89990" marR="89990" marT="46823" marB="468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503050405090304" pitchFamily="18" charset="0"/>
                          <a:ea typeface="宋体" pitchFamily="2" charset="-122"/>
                        </a:defRPr>
                      </a:lvl1pPr>
                      <a:lvl2pPr marL="742950" indent="-285750">
                        <a:spcBef>
                          <a:spcPct val="20000"/>
                        </a:spcBef>
                        <a:defRPr kumimoji="1" sz="2400">
                          <a:solidFill>
                            <a:schemeClr val="tx1"/>
                          </a:solidFill>
                          <a:latin typeface="Times New Roman" panose="02020503050405090304" pitchFamily="18" charset="0"/>
                          <a:ea typeface="宋体" pitchFamily="2" charset="-122"/>
                        </a:defRPr>
                      </a:lvl2pPr>
                      <a:lvl3pPr marL="1143000" indent="-228600">
                        <a:spcBef>
                          <a:spcPct val="20000"/>
                        </a:spcBef>
                        <a:defRPr kumimoji="1" sz="2000">
                          <a:solidFill>
                            <a:schemeClr val="tx1"/>
                          </a:solidFill>
                          <a:latin typeface="Times New Roman" panose="02020503050405090304" pitchFamily="18" charset="0"/>
                          <a:ea typeface="宋体" pitchFamily="2" charset="-122"/>
                        </a:defRPr>
                      </a:lvl3pPr>
                      <a:lvl4pPr marL="1600200" indent="-228600">
                        <a:spcBef>
                          <a:spcPct val="20000"/>
                        </a:spcBef>
                        <a:defRPr kumimoji="1">
                          <a:solidFill>
                            <a:schemeClr val="tx1"/>
                          </a:solidFill>
                          <a:latin typeface="Times New Roman" panose="02020503050405090304" pitchFamily="18" charset="0"/>
                          <a:ea typeface="宋体" pitchFamily="2" charset="-122"/>
                        </a:defRPr>
                      </a:lvl4pPr>
                      <a:lvl5pPr marL="2057400" indent="-22860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r" defTabSz="914400" rtl="0" eaLnBrk="1" fontAlgn="base" latinLnBrk="0" hangingPunct="1">
                        <a:lnSpc>
                          <a:spcPct val="120000"/>
                        </a:lnSpc>
                        <a:spcBef>
                          <a:spcPct val="300000"/>
                        </a:spcBef>
                        <a:spcAft>
                          <a:spcPct val="0"/>
                        </a:spcAft>
                        <a:buClrTx/>
                        <a:buSzTx/>
                        <a:buFontTx/>
                        <a:buNone/>
                      </a:pPr>
                      <a:r>
                        <a:rPr kumimoji="1" lang="en-US" altLang="zh-CN" sz="1800" b="1" i="0" u="none" strike="noStrike" cap="none" normalizeH="0" baseline="0">
                          <a:ln>
                            <a:noFill/>
                          </a:ln>
                          <a:solidFill>
                            <a:schemeClr val="tx1"/>
                          </a:solidFill>
                          <a:effectLst/>
                          <a:latin typeface="+mn-lt"/>
                          <a:ea typeface="+mn-ea"/>
                          <a:cs typeface="+mn-ea"/>
                          <a:sym typeface="+mn-lt"/>
                        </a:rPr>
                        <a:t>70.000</a:t>
                      </a:r>
                    </a:p>
                  </a:txBody>
                  <a:tcPr marL="89990" marR="89990" marT="46823" marB="468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503050405090304" pitchFamily="18" charset="0"/>
                          <a:ea typeface="宋体" pitchFamily="2" charset="-122"/>
                        </a:defRPr>
                      </a:lvl1pPr>
                      <a:lvl2pPr marL="742950" indent="-285750">
                        <a:spcBef>
                          <a:spcPct val="20000"/>
                        </a:spcBef>
                        <a:defRPr kumimoji="1" sz="2400">
                          <a:solidFill>
                            <a:schemeClr val="tx1"/>
                          </a:solidFill>
                          <a:latin typeface="Times New Roman" panose="02020503050405090304" pitchFamily="18" charset="0"/>
                          <a:ea typeface="宋体" pitchFamily="2" charset="-122"/>
                        </a:defRPr>
                      </a:lvl2pPr>
                      <a:lvl3pPr marL="1143000" indent="-228600">
                        <a:spcBef>
                          <a:spcPct val="20000"/>
                        </a:spcBef>
                        <a:defRPr kumimoji="1" sz="2000">
                          <a:solidFill>
                            <a:schemeClr val="tx1"/>
                          </a:solidFill>
                          <a:latin typeface="Times New Roman" panose="02020503050405090304" pitchFamily="18" charset="0"/>
                          <a:ea typeface="宋体" pitchFamily="2" charset="-122"/>
                        </a:defRPr>
                      </a:lvl3pPr>
                      <a:lvl4pPr marL="1600200" indent="-228600">
                        <a:spcBef>
                          <a:spcPct val="20000"/>
                        </a:spcBef>
                        <a:defRPr kumimoji="1">
                          <a:solidFill>
                            <a:schemeClr val="tx1"/>
                          </a:solidFill>
                          <a:latin typeface="Times New Roman" panose="02020503050405090304" pitchFamily="18" charset="0"/>
                          <a:ea typeface="宋体" pitchFamily="2" charset="-122"/>
                        </a:defRPr>
                      </a:lvl4pPr>
                      <a:lvl5pPr marL="2057400" indent="-22860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r" defTabSz="914400" rtl="0" eaLnBrk="1" fontAlgn="base" latinLnBrk="0" hangingPunct="1">
                        <a:lnSpc>
                          <a:spcPct val="120000"/>
                        </a:lnSpc>
                        <a:spcBef>
                          <a:spcPct val="300000"/>
                        </a:spcBef>
                        <a:spcAft>
                          <a:spcPct val="0"/>
                        </a:spcAft>
                        <a:buClrTx/>
                        <a:buSzTx/>
                        <a:buFontTx/>
                        <a:buNone/>
                      </a:pPr>
                      <a:r>
                        <a:rPr kumimoji="1" lang="en-US" altLang="zh-CN" sz="1800" b="1" i="0" u="none" strike="noStrike" cap="none" normalizeH="0" baseline="0">
                          <a:ln>
                            <a:noFill/>
                          </a:ln>
                          <a:solidFill>
                            <a:schemeClr val="tx1"/>
                          </a:solidFill>
                          <a:effectLst/>
                          <a:latin typeface="+mn-lt"/>
                          <a:ea typeface="+mn-ea"/>
                          <a:cs typeface="+mn-ea"/>
                          <a:sym typeface="+mn-lt"/>
                        </a:rPr>
                        <a:t>140.000</a:t>
                      </a:r>
                    </a:p>
                  </a:txBody>
                  <a:tcPr marL="89990" marR="89990" marT="46823" marB="468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503050405090304" pitchFamily="18" charset="0"/>
                          <a:ea typeface="宋体" pitchFamily="2" charset="-122"/>
                        </a:defRPr>
                      </a:lvl1pPr>
                      <a:lvl2pPr marL="742950" indent="-285750">
                        <a:spcBef>
                          <a:spcPct val="20000"/>
                        </a:spcBef>
                        <a:defRPr kumimoji="1" sz="2400">
                          <a:solidFill>
                            <a:schemeClr val="tx1"/>
                          </a:solidFill>
                          <a:latin typeface="Times New Roman" panose="02020503050405090304" pitchFamily="18" charset="0"/>
                          <a:ea typeface="宋体" pitchFamily="2" charset="-122"/>
                        </a:defRPr>
                      </a:lvl2pPr>
                      <a:lvl3pPr marL="1143000" indent="-228600">
                        <a:spcBef>
                          <a:spcPct val="20000"/>
                        </a:spcBef>
                        <a:defRPr kumimoji="1" sz="2000">
                          <a:solidFill>
                            <a:schemeClr val="tx1"/>
                          </a:solidFill>
                          <a:latin typeface="Times New Roman" panose="02020503050405090304" pitchFamily="18" charset="0"/>
                          <a:ea typeface="宋体" pitchFamily="2" charset="-122"/>
                        </a:defRPr>
                      </a:lvl3pPr>
                      <a:lvl4pPr marL="1600200" indent="-228600">
                        <a:spcBef>
                          <a:spcPct val="20000"/>
                        </a:spcBef>
                        <a:defRPr kumimoji="1">
                          <a:solidFill>
                            <a:schemeClr val="tx1"/>
                          </a:solidFill>
                          <a:latin typeface="Times New Roman" panose="02020503050405090304" pitchFamily="18" charset="0"/>
                          <a:ea typeface="宋体" pitchFamily="2" charset="-122"/>
                        </a:defRPr>
                      </a:lvl4pPr>
                      <a:lvl5pPr marL="2057400" indent="-22860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r" defTabSz="914400" rtl="0" eaLnBrk="1" fontAlgn="base" latinLnBrk="0" hangingPunct="1">
                        <a:lnSpc>
                          <a:spcPct val="120000"/>
                        </a:lnSpc>
                        <a:spcBef>
                          <a:spcPct val="300000"/>
                        </a:spcBef>
                        <a:spcAft>
                          <a:spcPct val="0"/>
                        </a:spcAft>
                        <a:buClrTx/>
                        <a:buSzTx/>
                        <a:buFontTx/>
                        <a:buNone/>
                      </a:pPr>
                      <a:r>
                        <a:rPr kumimoji="1" lang="en-US" altLang="zh-CN" sz="1800" b="1" i="0" u="none" strike="noStrike" cap="none" normalizeH="0" baseline="0">
                          <a:ln>
                            <a:noFill/>
                          </a:ln>
                          <a:solidFill>
                            <a:schemeClr val="tx1"/>
                          </a:solidFill>
                          <a:effectLst/>
                          <a:latin typeface="+mn-lt"/>
                          <a:ea typeface="+mn-ea"/>
                          <a:cs typeface="+mn-ea"/>
                          <a:sym typeface="+mn-lt"/>
                        </a:rPr>
                        <a:t>61.000</a:t>
                      </a:r>
                    </a:p>
                  </a:txBody>
                  <a:tcPr marL="89990" marR="89990" marT="46823" marB="468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8300">
                <a:tc>
                  <a:txBody>
                    <a:bodyPr/>
                    <a:lstStyle>
                      <a:lvl1pPr>
                        <a:spcBef>
                          <a:spcPct val="20000"/>
                        </a:spcBef>
                        <a:defRPr kumimoji="1" sz="2800">
                          <a:solidFill>
                            <a:schemeClr val="tx1"/>
                          </a:solidFill>
                          <a:latin typeface="Times New Roman" panose="02020503050405090304" pitchFamily="18" charset="0"/>
                          <a:ea typeface="宋体" pitchFamily="2" charset="-122"/>
                        </a:defRPr>
                      </a:lvl1pPr>
                      <a:lvl2pPr marL="742950" indent="-285750">
                        <a:spcBef>
                          <a:spcPct val="20000"/>
                        </a:spcBef>
                        <a:defRPr kumimoji="1" sz="2400">
                          <a:solidFill>
                            <a:schemeClr val="tx1"/>
                          </a:solidFill>
                          <a:latin typeface="Times New Roman" panose="02020503050405090304" pitchFamily="18" charset="0"/>
                          <a:ea typeface="宋体" pitchFamily="2" charset="-122"/>
                        </a:defRPr>
                      </a:lvl2pPr>
                      <a:lvl3pPr marL="1143000" indent="-228600">
                        <a:spcBef>
                          <a:spcPct val="20000"/>
                        </a:spcBef>
                        <a:defRPr kumimoji="1" sz="2000">
                          <a:solidFill>
                            <a:schemeClr val="tx1"/>
                          </a:solidFill>
                          <a:latin typeface="Times New Roman" panose="02020503050405090304" pitchFamily="18" charset="0"/>
                          <a:ea typeface="宋体" pitchFamily="2" charset="-122"/>
                        </a:defRPr>
                      </a:lvl3pPr>
                      <a:lvl4pPr marL="1600200" indent="-228600">
                        <a:spcBef>
                          <a:spcPct val="20000"/>
                        </a:spcBef>
                        <a:defRPr kumimoji="1">
                          <a:solidFill>
                            <a:schemeClr val="tx1"/>
                          </a:solidFill>
                          <a:latin typeface="Times New Roman" panose="02020503050405090304" pitchFamily="18" charset="0"/>
                          <a:ea typeface="宋体" pitchFamily="2" charset="-122"/>
                        </a:defRPr>
                      </a:lvl4pPr>
                      <a:lvl5pPr marL="2057400" indent="-22860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20000"/>
                        </a:lnSpc>
                        <a:spcBef>
                          <a:spcPct val="300000"/>
                        </a:spcBef>
                        <a:spcAft>
                          <a:spcPct val="0"/>
                        </a:spcAft>
                        <a:buClrTx/>
                        <a:buSzTx/>
                        <a:buFontTx/>
                        <a:buNone/>
                      </a:pPr>
                      <a:r>
                        <a:rPr kumimoji="1" lang="en-US" altLang="zh-CN" sz="1800" b="1" i="0" u="none" strike="noStrike" cap="none" normalizeH="0" baseline="0">
                          <a:ln>
                            <a:noFill/>
                          </a:ln>
                          <a:solidFill>
                            <a:schemeClr val="tx1"/>
                          </a:solidFill>
                          <a:effectLst/>
                          <a:latin typeface="+mn-lt"/>
                          <a:ea typeface="+mn-ea"/>
                          <a:cs typeface="+mn-ea"/>
                          <a:sym typeface="+mn-lt"/>
                        </a:rPr>
                        <a:t>5</a:t>
                      </a:r>
                      <a:endParaRPr kumimoji="1" lang="zh-CN" altLang="en-US" sz="1800" b="1" i="0" u="none" strike="noStrike" cap="none" normalizeH="0" baseline="0">
                        <a:ln>
                          <a:noFill/>
                        </a:ln>
                        <a:solidFill>
                          <a:schemeClr val="tx1"/>
                        </a:solidFill>
                        <a:effectLst/>
                        <a:latin typeface="+mn-lt"/>
                        <a:ea typeface="+mn-ea"/>
                        <a:cs typeface="+mn-ea"/>
                        <a:sym typeface="+mn-lt"/>
                      </a:endParaRPr>
                    </a:p>
                  </a:txBody>
                  <a:tcPr marL="89990" marR="89990" marT="46823" marB="468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503050405090304" pitchFamily="18" charset="0"/>
                          <a:ea typeface="宋体" pitchFamily="2" charset="-122"/>
                        </a:defRPr>
                      </a:lvl1pPr>
                      <a:lvl2pPr marL="742950" indent="-285750">
                        <a:spcBef>
                          <a:spcPct val="20000"/>
                        </a:spcBef>
                        <a:defRPr kumimoji="1" sz="2400">
                          <a:solidFill>
                            <a:schemeClr val="tx1"/>
                          </a:solidFill>
                          <a:latin typeface="Times New Roman" panose="02020503050405090304" pitchFamily="18" charset="0"/>
                          <a:ea typeface="宋体" pitchFamily="2" charset="-122"/>
                        </a:defRPr>
                      </a:lvl2pPr>
                      <a:lvl3pPr marL="1143000" indent="-228600">
                        <a:spcBef>
                          <a:spcPct val="20000"/>
                        </a:spcBef>
                        <a:defRPr kumimoji="1" sz="2000">
                          <a:solidFill>
                            <a:schemeClr val="tx1"/>
                          </a:solidFill>
                          <a:latin typeface="Times New Roman" panose="02020503050405090304" pitchFamily="18" charset="0"/>
                          <a:ea typeface="宋体" pitchFamily="2" charset="-122"/>
                        </a:defRPr>
                      </a:lvl3pPr>
                      <a:lvl4pPr marL="1600200" indent="-228600">
                        <a:spcBef>
                          <a:spcPct val="20000"/>
                        </a:spcBef>
                        <a:defRPr kumimoji="1">
                          <a:solidFill>
                            <a:schemeClr val="tx1"/>
                          </a:solidFill>
                          <a:latin typeface="Times New Roman" panose="02020503050405090304" pitchFamily="18" charset="0"/>
                          <a:ea typeface="宋体" pitchFamily="2" charset="-122"/>
                        </a:defRPr>
                      </a:lvl4pPr>
                      <a:lvl5pPr marL="2057400" indent="-22860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ctr" defTabSz="914400" rtl="0" eaLnBrk="1" fontAlgn="base" latinLnBrk="0" hangingPunct="1">
                        <a:lnSpc>
                          <a:spcPct val="120000"/>
                        </a:lnSpc>
                        <a:spcBef>
                          <a:spcPct val="300000"/>
                        </a:spcBef>
                        <a:spcAft>
                          <a:spcPct val="0"/>
                        </a:spcAft>
                        <a:buClrTx/>
                        <a:buSzTx/>
                        <a:buFontTx/>
                        <a:buNone/>
                      </a:pPr>
                      <a:r>
                        <a:rPr kumimoji="1" lang="zh-CN" altLang="en-US" sz="1800" b="1" i="0" u="none" strike="noStrike" cap="none" normalizeH="0" baseline="0">
                          <a:ln>
                            <a:noFill/>
                          </a:ln>
                          <a:solidFill>
                            <a:schemeClr val="tx1"/>
                          </a:solidFill>
                          <a:effectLst/>
                          <a:latin typeface="+mn-lt"/>
                          <a:ea typeface="+mn-ea"/>
                          <a:cs typeface="+mn-ea"/>
                          <a:sym typeface="+mn-lt"/>
                        </a:rPr>
                        <a:t>快速排序</a:t>
                      </a:r>
                    </a:p>
                  </a:txBody>
                  <a:tcPr marL="89990" marR="89990" marT="46823" marB="468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503050405090304" pitchFamily="18" charset="0"/>
                          <a:ea typeface="宋体" pitchFamily="2" charset="-122"/>
                        </a:defRPr>
                      </a:lvl1pPr>
                      <a:lvl2pPr marL="742950" indent="-285750">
                        <a:spcBef>
                          <a:spcPct val="20000"/>
                        </a:spcBef>
                        <a:defRPr kumimoji="1" sz="2400">
                          <a:solidFill>
                            <a:schemeClr val="tx1"/>
                          </a:solidFill>
                          <a:latin typeface="Times New Roman" panose="02020503050405090304" pitchFamily="18" charset="0"/>
                          <a:ea typeface="宋体" pitchFamily="2" charset="-122"/>
                        </a:defRPr>
                      </a:lvl2pPr>
                      <a:lvl3pPr marL="1143000" indent="-228600">
                        <a:spcBef>
                          <a:spcPct val="20000"/>
                        </a:spcBef>
                        <a:defRPr kumimoji="1" sz="2000">
                          <a:solidFill>
                            <a:schemeClr val="tx1"/>
                          </a:solidFill>
                          <a:latin typeface="Times New Roman" panose="02020503050405090304" pitchFamily="18" charset="0"/>
                          <a:ea typeface="宋体" pitchFamily="2" charset="-122"/>
                        </a:defRPr>
                      </a:lvl3pPr>
                      <a:lvl4pPr marL="1600200" indent="-228600">
                        <a:spcBef>
                          <a:spcPct val="20000"/>
                        </a:spcBef>
                        <a:defRPr kumimoji="1">
                          <a:solidFill>
                            <a:schemeClr val="tx1"/>
                          </a:solidFill>
                          <a:latin typeface="Times New Roman" panose="02020503050405090304" pitchFamily="18" charset="0"/>
                          <a:ea typeface="宋体" pitchFamily="2" charset="-122"/>
                        </a:defRPr>
                      </a:lvl4pPr>
                      <a:lvl5pPr marL="2057400" indent="-22860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r" defTabSz="914400" rtl="0" eaLnBrk="1" fontAlgn="base" latinLnBrk="0" hangingPunct="1">
                        <a:lnSpc>
                          <a:spcPct val="120000"/>
                        </a:lnSpc>
                        <a:spcBef>
                          <a:spcPct val="300000"/>
                        </a:spcBef>
                        <a:spcAft>
                          <a:spcPct val="0"/>
                        </a:spcAft>
                        <a:buClrTx/>
                        <a:buSzTx/>
                        <a:buFontTx/>
                        <a:buNone/>
                      </a:pPr>
                      <a:r>
                        <a:rPr kumimoji="1" lang="en-US" altLang="zh-CN" sz="1800" b="1" i="0" u="none" strike="noStrike" cap="none" normalizeH="0" baseline="0" dirty="0">
                          <a:ln>
                            <a:noFill/>
                          </a:ln>
                          <a:solidFill>
                            <a:schemeClr val="tx1"/>
                          </a:solidFill>
                          <a:effectLst/>
                          <a:latin typeface="+mn-lt"/>
                          <a:ea typeface="+mn-ea"/>
                          <a:cs typeface="+mn-ea"/>
                          <a:sym typeface="+mn-lt"/>
                        </a:rPr>
                        <a:t>31.</a:t>
                      </a:r>
                      <a:r>
                        <a:rPr kumimoji="1" lang="en-US" altLang="zh-CN" sz="1800" b="1" i="0" u="none" strike="noStrike" kern="1200" cap="none" normalizeH="0" baseline="0" dirty="0">
                          <a:ln>
                            <a:noFill/>
                          </a:ln>
                          <a:solidFill>
                            <a:schemeClr val="tx1"/>
                          </a:solidFill>
                          <a:effectLst/>
                          <a:latin typeface="Times New Roman" panose="02020503050405090304" pitchFamily="18" charset="0"/>
                          <a:ea typeface="宋体" pitchFamily="2" charset="-122"/>
                          <a:cs typeface="+mn-ea"/>
                          <a:sym typeface="+mn-lt"/>
                        </a:rPr>
                        <a:t> 5</a:t>
                      </a:r>
                      <a:r>
                        <a:rPr kumimoji="1" lang="en-US" altLang="zh-CN" sz="1800" b="1" i="0" u="none" strike="noStrike" cap="none" normalizeH="0" baseline="0" dirty="0">
                          <a:ln>
                            <a:noFill/>
                          </a:ln>
                          <a:solidFill>
                            <a:schemeClr val="tx1"/>
                          </a:solidFill>
                          <a:effectLst/>
                          <a:latin typeface="+mn-lt"/>
                          <a:ea typeface="+mn-ea"/>
                          <a:cs typeface="+mn-ea"/>
                          <a:sym typeface="+mn-lt"/>
                        </a:rPr>
                        <a:t>00</a:t>
                      </a:r>
                    </a:p>
                  </a:txBody>
                  <a:tcPr marL="89990" marR="89990" marT="46823" marB="468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503050405090304" pitchFamily="18" charset="0"/>
                          <a:ea typeface="宋体" pitchFamily="2" charset="-122"/>
                        </a:defRPr>
                      </a:lvl1pPr>
                      <a:lvl2pPr marL="742950" indent="-285750">
                        <a:spcBef>
                          <a:spcPct val="20000"/>
                        </a:spcBef>
                        <a:defRPr kumimoji="1" sz="2400">
                          <a:solidFill>
                            <a:schemeClr val="tx1"/>
                          </a:solidFill>
                          <a:latin typeface="Times New Roman" panose="02020503050405090304" pitchFamily="18" charset="0"/>
                          <a:ea typeface="宋体" pitchFamily="2" charset="-122"/>
                        </a:defRPr>
                      </a:lvl2pPr>
                      <a:lvl3pPr marL="1143000" indent="-228600">
                        <a:spcBef>
                          <a:spcPct val="20000"/>
                        </a:spcBef>
                        <a:defRPr kumimoji="1" sz="2000">
                          <a:solidFill>
                            <a:schemeClr val="tx1"/>
                          </a:solidFill>
                          <a:latin typeface="Times New Roman" panose="02020503050405090304" pitchFamily="18" charset="0"/>
                          <a:ea typeface="宋体" pitchFamily="2" charset="-122"/>
                        </a:defRPr>
                      </a:lvl3pPr>
                      <a:lvl4pPr marL="1600200" indent="-228600">
                        <a:spcBef>
                          <a:spcPct val="20000"/>
                        </a:spcBef>
                        <a:defRPr kumimoji="1">
                          <a:solidFill>
                            <a:schemeClr val="tx1"/>
                          </a:solidFill>
                          <a:latin typeface="Times New Roman" panose="02020503050405090304" pitchFamily="18" charset="0"/>
                          <a:ea typeface="宋体" pitchFamily="2" charset="-122"/>
                        </a:defRPr>
                      </a:lvl4pPr>
                      <a:lvl5pPr marL="2057400" indent="-22860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r" defTabSz="914400" rtl="0" eaLnBrk="1" fontAlgn="base" latinLnBrk="0" hangingPunct="1">
                        <a:lnSpc>
                          <a:spcPct val="120000"/>
                        </a:lnSpc>
                        <a:spcBef>
                          <a:spcPct val="300000"/>
                        </a:spcBef>
                        <a:spcAft>
                          <a:spcPct val="0"/>
                        </a:spcAft>
                        <a:buClrTx/>
                        <a:buSzTx/>
                        <a:buFontTx/>
                        <a:buNone/>
                      </a:pPr>
                      <a:r>
                        <a:rPr kumimoji="1" lang="en-US" altLang="zh-CN" sz="1800" b="1" i="0" u="none" strike="noStrike" cap="none" normalizeH="0" baseline="0">
                          <a:ln>
                            <a:noFill/>
                          </a:ln>
                          <a:solidFill>
                            <a:schemeClr val="tx1"/>
                          </a:solidFill>
                          <a:effectLst/>
                          <a:latin typeface="+mn-lt"/>
                          <a:ea typeface="+mn-ea"/>
                          <a:cs typeface="+mn-ea"/>
                          <a:sym typeface="+mn-lt"/>
                        </a:rPr>
                        <a:t>93.000</a:t>
                      </a:r>
                    </a:p>
                  </a:txBody>
                  <a:tcPr marL="89990" marR="89990" marT="46823" marB="468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503050405090304" pitchFamily="18" charset="0"/>
                          <a:ea typeface="宋体" pitchFamily="2" charset="-122"/>
                        </a:defRPr>
                      </a:lvl1pPr>
                      <a:lvl2pPr marL="742950" indent="-285750">
                        <a:spcBef>
                          <a:spcPct val="20000"/>
                        </a:spcBef>
                        <a:defRPr kumimoji="1" sz="2400">
                          <a:solidFill>
                            <a:schemeClr val="tx1"/>
                          </a:solidFill>
                          <a:latin typeface="Times New Roman" panose="02020503050405090304" pitchFamily="18" charset="0"/>
                          <a:ea typeface="宋体" pitchFamily="2" charset="-122"/>
                        </a:defRPr>
                      </a:lvl2pPr>
                      <a:lvl3pPr marL="1143000" indent="-228600">
                        <a:spcBef>
                          <a:spcPct val="20000"/>
                        </a:spcBef>
                        <a:defRPr kumimoji="1" sz="2000">
                          <a:solidFill>
                            <a:schemeClr val="tx1"/>
                          </a:solidFill>
                          <a:latin typeface="Times New Roman" panose="02020503050405090304" pitchFamily="18" charset="0"/>
                          <a:ea typeface="宋体" pitchFamily="2" charset="-122"/>
                        </a:defRPr>
                      </a:lvl3pPr>
                      <a:lvl4pPr marL="1600200" indent="-228600">
                        <a:spcBef>
                          <a:spcPct val="20000"/>
                        </a:spcBef>
                        <a:defRPr kumimoji="1">
                          <a:solidFill>
                            <a:schemeClr val="tx1"/>
                          </a:solidFill>
                          <a:latin typeface="Times New Roman" panose="02020503050405090304" pitchFamily="18" charset="0"/>
                          <a:ea typeface="宋体" pitchFamily="2" charset="-122"/>
                        </a:defRPr>
                      </a:lvl4pPr>
                      <a:lvl5pPr marL="2057400" indent="-228600">
                        <a:spcBef>
                          <a:spcPct val="20000"/>
                        </a:spcBef>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anose="02020503050405090304" pitchFamily="18" charset="0"/>
                          <a:ea typeface="宋体" pitchFamily="2" charset="-122"/>
                        </a:defRPr>
                      </a:lvl9pPr>
                    </a:lstStyle>
                    <a:p>
                      <a:pPr marL="0" marR="0" lvl="0" indent="0" algn="r" defTabSz="914400" rtl="0" eaLnBrk="1" fontAlgn="base" latinLnBrk="0" hangingPunct="1">
                        <a:lnSpc>
                          <a:spcPct val="120000"/>
                        </a:lnSpc>
                        <a:spcBef>
                          <a:spcPct val="300000"/>
                        </a:spcBef>
                        <a:spcAft>
                          <a:spcPct val="0"/>
                        </a:spcAft>
                        <a:buClrTx/>
                        <a:buSzTx/>
                        <a:buFontTx/>
                        <a:buNone/>
                      </a:pPr>
                      <a:r>
                        <a:rPr kumimoji="1" lang="en-US" altLang="zh-CN" sz="1800" b="1" i="0" u="none" strike="noStrike" cap="none" normalizeH="0" baseline="0" dirty="0">
                          <a:ln>
                            <a:noFill/>
                          </a:ln>
                          <a:solidFill>
                            <a:schemeClr val="tx1"/>
                          </a:solidFill>
                          <a:effectLst/>
                          <a:latin typeface="+mn-lt"/>
                          <a:ea typeface="+mn-ea"/>
                          <a:cs typeface="+mn-ea"/>
                          <a:sym typeface="+mn-lt"/>
                        </a:rPr>
                        <a:t>30.000</a:t>
                      </a:r>
                    </a:p>
                  </a:txBody>
                  <a:tcPr marL="89990" marR="89990" marT="46823" marB="468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4" name="TextBox 3"/>
          <p:cNvSpPr txBox="1">
            <a:spLocks noChangeArrowheads="1"/>
          </p:cNvSpPr>
          <p:nvPr/>
        </p:nvSpPr>
        <p:spPr bwMode="auto">
          <a:xfrm>
            <a:off x="3236913" y="1262062"/>
            <a:ext cx="5832475" cy="493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a:solidFill>
                  <a:schemeClr val="tx1"/>
                </a:solidFill>
                <a:latin typeface="Times New Roman" panose="02020503050405090304" pitchFamily="18" charset="0"/>
                <a:ea typeface="宋体" pitchFamily="2" charset="-122"/>
              </a:defRPr>
            </a:lvl1pPr>
            <a:lvl2pPr marL="742950" indent="-285750">
              <a:defRPr kumimoji="1">
                <a:solidFill>
                  <a:schemeClr val="tx1"/>
                </a:solidFill>
                <a:latin typeface="Times New Roman" panose="02020503050405090304" pitchFamily="18" charset="0"/>
                <a:ea typeface="宋体" pitchFamily="2" charset="-122"/>
              </a:defRPr>
            </a:lvl2pPr>
            <a:lvl3pPr marL="1143000" indent="-228600">
              <a:defRPr kumimoji="1">
                <a:solidFill>
                  <a:schemeClr val="tx1"/>
                </a:solidFill>
                <a:latin typeface="Times New Roman" panose="02020503050405090304" pitchFamily="18" charset="0"/>
                <a:ea typeface="宋体" pitchFamily="2" charset="-122"/>
              </a:defRPr>
            </a:lvl3pPr>
            <a:lvl4pPr marL="1600200" indent="-228600">
              <a:defRPr kumimoji="1">
                <a:solidFill>
                  <a:schemeClr val="tx1"/>
                </a:solidFill>
                <a:latin typeface="Times New Roman" panose="02020503050405090304" pitchFamily="18" charset="0"/>
                <a:ea typeface="宋体" pitchFamily="2" charset="-122"/>
              </a:defRPr>
            </a:lvl4pPr>
            <a:lvl5pPr marL="2057400" indent="-228600">
              <a:defRPr kumimoji="1">
                <a:solidFill>
                  <a:schemeClr val="tx1"/>
                </a:solidFill>
                <a:latin typeface="Times New Roman" panose="02020503050405090304" pitchFamily="18" charset="0"/>
                <a:ea typeface="宋体" pitchFamily="2" charset="-122"/>
              </a:defRPr>
            </a:lvl5pPr>
            <a:lvl6pPr marL="2514600" indent="-228600" eaLnBrk="0" fontAlgn="base" hangingPunct="0">
              <a:spcBef>
                <a:spcPct val="0"/>
              </a:spcBef>
              <a:spcAft>
                <a:spcPct val="0"/>
              </a:spcAft>
              <a:defRPr kumimoji="1">
                <a:solidFill>
                  <a:schemeClr val="tx1"/>
                </a:solidFill>
                <a:latin typeface="Times New Roman" panose="02020503050405090304" pitchFamily="18" charset="0"/>
                <a:ea typeface="宋体" pitchFamily="2" charset="-122"/>
              </a:defRPr>
            </a:lvl6pPr>
            <a:lvl7pPr marL="2971800" indent="-228600" eaLnBrk="0" fontAlgn="base" hangingPunct="0">
              <a:spcBef>
                <a:spcPct val="0"/>
              </a:spcBef>
              <a:spcAft>
                <a:spcPct val="0"/>
              </a:spcAft>
              <a:defRPr kumimoji="1">
                <a:solidFill>
                  <a:schemeClr val="tx1"/>
                </a:solidFill>
                <a:latin typeface="Times New Roman" panose="02020503050405090304" pitchFamily="18" charset="0"/>
                <a:ea typeface="宋体" pitchFamily="2" charset="-122"/>
              </a:defRPr>
            </a:lvl7pPr>
            <a:lvl8pPr marL="3429000" indent="-228600" eaLnBrk="0" fontAlgn="base" hangingPunct="0">
              <a:spcBef>
                <a:spcPct val="0"/>
              </a:spcBef>
              <a:spcAft>
                <a:spcPct val="0"/>
              </a:spcAft>
              <a:defRPr kumimoji="1">
                <a:solidFill>
                  <a:schemeClr val="tx1"/>
                </a:solidFill>
                <a:latin typeface="Times New Roman" panose="02020503050405090304" pitchFamily="18" charset="0"/>
                <a:ea typeface="宋体" pitchFamily="2" charset="-122"/>
              </a:defRPr>
            </a:lvl8pPr>
            <a:lvl9pPr marL="3886200" indent="-228600" eaLnBrk="0" fontAlgn="base" hangingPunct="0">
              <a:spcBef>
                <a:spcPct val="0"/>
              </a:spcBef>
              <a:spcAft>
                <a:spcPct val="0"/>
              </a:spcAft>
              <a:defRPr kumimoji="1">
                <a:solidFill>
                  <a:schemeClr val="tx1"/>
                </a:solidFill>
                <a:latin typeface="Times New Roman" panose="02020503050405090304" pitchFamily="18" charset="0"/>
                <a:ea typeface="宋体" pitchFamily="2" charset="-122"/>
              </a:defRPr>
            </a:lvl9pPr>
          </a:lstStyle>
          <a:p>
            <a:pPr algn="ctr">
              <a:lnSpc>
                <a:spcPct val="120000"/>
              </a:lnSpc>
              <a:spcBef>
                <a:spcPts val="300"/>
              </a:spcBef>
            </a:pPr>
            <a:r>
              <a:rPr lang="zh-CN" altLang="en-US" sz="2400" b="1">
                <a:solidFill>
                  <a:srgbClr val="0000CC"/>
                </a:solidFill>
                <a:latin typeface="+mn-lt"/>
                <a:ea typeface="+mn-ea"/>
                <a:cs typeface="+mn-ea"/>
                <a:sym typeface="+mn-lt"/>
              </a:rPr>
              <a:t>对</a:t>
            </a:r>
            <a:r>
              <a:rPr lang="en-US" altLang="zh-CN" sz="2400" b="1">
                <a:solidFill>
                  <a:srgbClr val="0000CC"/>
                </a:solidFill>
                <a:latin typeface="+mn-lt"/>
                <a:ea typeface="+mn-ea"/>
                <a:cs typeface="+mn-ea"/>
                <a:sym typeface="+mn-lt"/>
              </a:rPr>
              <a:t>100</a:t>
            </a:r>
            <a:r>
              <a:rPr lang="zh-CN" altLang="en-US" sz="2400" b="1">
                <a:solidFill>
                  <a:srgbClr val="0000CC"/>
                </a:solidFill>
                <a:latin typeface="+mn-lt"/>
                <a:ea typeface="+mn-ea"/>
                <a:cs typeface="+mn-ea"/>
                <a:sym typeface="+mn-lt"/>
              </a:rPr>
              <a:t>万个数据排序统计结果</a:t>
            </a:r>
            <a:r>
              <a:rPr lang="en-US" altLang="zh-CN" sz="2400" b="1">
                <a:solidFill>
                  <a:srgbClr val="0000CC"/>
                </a:solidFill>
                <a:latin typeface="+mn-lt"/>
                <a:ea typeface="+mn-ea"/>
                <a:cs typeface="+mn-ea"/>
                <a:sym typeface="+mn-lt"/>
              </a:rPr>
              <a:t>(</a:t>
            </a:r>
            <a:r>
              <a:rPr lang="zh-CN" altLang="en-US" sz="2400" b="1">
                <a:solidFill>
                  <a:srgbClr val="0000CC"/>
                </a:solidFill>
                <a:latin typeface="+mn-lt"/>
                <a:ea typeface="+mn-ea"/>
                <a:cs typeface="+mn-ea"/>
                <a:sym typeface="+mn-lt"/>
              </a:rPr>
              <a:t>单位：毫秒</a:t>
            </a:r>
            <a:r>
              <a:rPr lang="en-US" altLang="zh-CN" sz="2400" b="1">
                <a:solidFill>
                  <a:srgbClr val="0000CC"/>
                </a:solidFill>
                <a:latin typeface="+mn-lt"/>
                <a:ea typeface="+mn-ea"/>
                <a:cs typeface="+mn-ea"/>
                <a:sym typeface="+mn-lt"/>
              </a:rPr>
              <a:t>)</a:t>
            </a:r>
            <a:endParaRPr lang="zh-CN" altLang="en-US" sz="2400" b="1">
              <a:solidFill>
                <a:srgbClr val="0000CC"/>
              </a:solidFill>
              <a:latin typeface="+mn-lt"/>
              <a:ea typeface="+mn-ea"/>
              <a:cs typeface="+mn-ea"/>
              <a:sym typeface="+mn-l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lvl="0" fontAlgn="base">
              <a:lnSpc>
                <a:spcPct val="150000"/>
              </a:lnSpc>
              <a:spcBef>
                <a:spcPct val="5000"/>
              </a:spcBef>
              <a:spcAft>
                <a:spcPct val="5000"/>
              </a:spcAft>
            </a:pPr>
            <a:r>
              <a:rPr kumimoji="1" lang="zh-CN" altLang="en-US" sz="4000" b="1" dirty="0">
                <a:solidFill>
                  <a:srgbClr val="0000FF"/>
                </a:solidFill>
                <a:latin typeface="+mn-lt"/>
                <a:ea typeface="+mn-ea"/>
                <a:cs typeface="+mn-ea"/>
                <a:sym typeface="+mn-lt"/>
              </a:rPr>
              <a:t>本章小结</a:t>
            </a:r>
          </a:p>
        </p:txBody>
      </p:sp>
      <p:sp>
        <p:nvSpPr>
          <p:cNvPr id="3" name="内容占位符 2"/>
          <p:cNvSpPr>
            <a:spLocks noGrp="1"/>
          </p:cNvSpPr>
          <p:nvPr>
            <p:ph idx="1"/>
          </p:nvPr>
        </p:nvSpPr>
        <p:spPr>
          <a:xfrm>
            <a:off x="1981200" y="1295400"/>
            <a:ext cx="8229600" cy="5105400"/>
          </a:xfrm>
        </p:spPr>
        <p:txBody>
          <a:bodyPr>
            <a:normAutofit/>
          </a:bodyPr>
          <a:lstStyle/>
          <a:p>
            <a:pPr marL="457200" lvl="1" indent="0">
              <a:spcBef>
                <a:spcPts val="300"/>
              </a:spcBef>
              <a:buNone/>
            </a:pPr>
            <a:endParaRPr lang="en-US" altLang="zh-CN" sz="2400" b="1" dirty="0">
              <a:cs typeface="+mn-ea"/>
              <a:sym typeface="+mn-lt"/>
            </a:endParaRPr>
          </a:p>
          <a:p>
            <a:pPr lvl="1">
              <a:spcBef>
                <a:spcPts val="300"/>
              </a:spcBef>
            </a:pPr>
            <a:endParaRPr lang="en-US" altLang="zh-CN" sz="2400" b="1" dirty="0">
              <a:cs typeface="+mn-ea"/>
              <a:sym typeface="+mn-lt"/>
            </a:endParaRPr>
          </a:p>
          <a:p>
            <a:pPr lvl="1">
              <a:spcBef>
                <a:spcPts val="300"/>
              </a:spcBef>
            </a:pPr>
            <a:endParaRPr lang="en-US" altLang="zh-CN" sz="2400" b="1" dirty="0">
              <a:cs typeface="+mn-ea"/>
              <a:sym typeface="+mn-lt"/>
            </a:endParaRPr>
          </a:p>
          <a:p>
            <a:pPr lvl="1">
              <a:spcBef>
                <a:spcPts val="300"/>
              </a:spcBef>
            </a:pPr>
            <a:endParaRPr lang="en-US" altLang="zh-CN" sz="2400" b="1" dirty="0">
              <a:cs typeface="+mn-ea"/>
              <a:sym typeface="+mn-lt"/>
            </a:endParaRPr>
          </a:p>
          <a:p>
            <a:pPr lvl="1">
              <a:spcBef>
                <a:spcPts val="300"/>
              </a:spcBef>
            </a:pPr>
            <a:endParaRPr lang="en-US" altLang="zh-CN" sz="2400" b="1" dirty="0">
              <a:cs typeface="+mn-ea"/>
              <a:sym typeface="+mn-lt"/>
            </a:endParaRPr>
          </a:p>
          <a:p>
            <a:pPr lvl="1">
              <a:spcBef>
                <a:spcPts val="300"/>
              </a:spcBef>
            </a:pPr>
            <a:endParaRPr lang="en-US" altLang="zh-CN" sz="2400" b="1" dirty="0">
              <a:cs typeface="+mn-ea"/>
              <a:sym typeface="+mn-lt"/>
            </a:endParaRPr>
          </a:p>
          <a:p>
            <a:pPr lvl="1">
              <a:spcBef>
                <a:spcPts val="300"/>
              </a:spcBef>
            </a:pPr>
            <a:endParaRPr lang="en-US" altLang="zh-CN" sz="2400" b="1" dirty="0">
              <a:cs typeface="+mn-ea"/>
              <a:sym typeface="+mn-lt"/>
            </a:endParaRPr>
          </a:p>
        </p:txBody>
      </p:sp>
      <p:sp>
        <p:nvSpPr>
          <p:cNvPr id="13" name="Rectangle 3"/>
          <p:cNvSpPr txBox="1">
            <a:spLocks noChangeArrowheads="1"/>
          </p:cNvSpPr>
          <p:nvPr/>
        </p:nvSpPr>
        <p:spPr bwMode="auto">
          <a:xfrm>
            <a:off x="2041525" y="1752600"/>
            <a:ext cx="8175625" cy="4795837"/>
          </a:xfrm>
          <a:prstGeom prst="rect">
            <a:avLst/>
          </a:prstGeom>
          <a:noFill/>
          <a:ln w="38100" cmpd="dbl">
            <a:solidFill>
              <a:srgbClr val="0000FF"/>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None/>
              <a:defRPr sz="28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None/>
              <a:defRPr sz="2800">
                <a:solidFill>
                  <a:schemeClr val="tx1"/>
                </a:solidFill>
                <a:latin typeface="+mn-lt"/>
                <a:ea typeface="+mn-ea"/>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None/>
              <a:defRPr sz="2800">
                <a:solidFill>
                  <a:schemeClr val="tx1"/>
                </a:solidFill>
                <a:latin typeface="+mn-lt"/>
                <a:ea typeface="+mn-ea"/>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800">
                <a:solidFill>
                  <a:schemeClr val="tx1"/>
                </a:solidFill>
                <a:latin typeface="+mn-lt"/>
                <a:ea typeface="+mn-ea"/>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800">
                <a:solidFill>
                  <a:schemeClr val="tx1"/>
                </a:solidFill>
                <a:latin typeface="+mn-lt"/>
                <a:ea typeface="+mn-ea"/>
              </a:defRPr>
            </a:lvl5pPr>
            <a:lvl6pPr marL="1919605" indent="-209550" algn="l" rtl="0" fontAlgn="base">
              <a:spcBef>
                <a:spcPct val="20000"/>
              </a:spcBef>
              <a:spcAft>
                <a:spcPct val="0"/>
              </a:spcAft>
              <a:buClr>
                <a:srgbClr val="10CF9B"/>
              </a:buClr>
              <a:buSzPct val="65000"/>
              <a:buFont typeface="Wingdings 2" panose="05020102010507070707" pitchFamily="18" charset="2"/>
              <a:buChar char=""/>
              <a:defRPr sz="2800">
                <a:solidFill>
                  <a:schemeClr val="tx1"/>
                </a:solidFill>
                <a:latin typeface="+mn-lt"/>
                <a:ea typeface="+mn-ea"/>
              </a:defRPr>
            </a:lvl6pPr>
            <a:lvl7pPr marL="2376805" indent="-209550" algn="l" rtl="0" fontAlgn="base">
              <a:spcBef>
                <a:spcPct val="20000"/>
              </a:spcBef>
              <a:spcAft>
                <a:spcPct val="0"/>
              </a:spcAft>
              <a:buClr>
                <a:srgbClr val="10CF9B"/>
              </a:buClr>
              <a:buSzPct val="65000"/>
              <a:buFont typeface="Wingdings 2" panose="05020102010507070707" pitchFamily="18" charset="2"/>
              <a:buChar char=""/>
              <a:defRPr sz="2800">
                <a:solidFill>
                  <a:schemeClr val="tx1"/>
                </a:solidFill>
                <a:latin typeface="+mn-lt"/>
                <a:ea typeface="+mn-ea"/>
              </a:defRPr>
            </a:lvl7pPr>
            <a:lvl8pPr marL="2834005" indent="-209550" algn="l" rtl="0" fontAlgn="base">
              <a:spcBef>
                <a:spcPct val="20000"/>
              </a:spcBef>
              <a:spcAft>
                <a:spcPct val="0"/>
              </a:spcAft>
              <a:buClr>
                <a:srgbClr val="10CF9B"/>
              </a:buClr>
              <a:buSzPct val="65000"/>
              <a:buFont typeface="Wingdings 2" panose="05020102010507070707" pitchFamily="18" charset="2"/>
              <a:buChar char=""/>
              <a:defRPr sz="2800">
                <a:solidFill>
                  <a:schemeClr val="tx1"/>
                </a:solidFill>
                <a:latin typeface="+mn-lt"/>
                <a:ea typeface="+mn-ea"/>
              </a:defRPr>
            </a:lvl8pPr>
            <a:lvl9pPr marL="3291205" indent="-209550" algn="l" rtl="0" fontAlgn="base">
              <a:spcBef>
                <a:spcPct val="20000"/>
              </a:spcBef>
              <a:spcAft>
                <a:spcPct val="0"/>
              </a:spcAft>
              <a:buClr>
                <a:srgbClr val="10CF9B"/>
              </a:buClr>
              <a:buSzPct val="65000"/>
              <a:buFont typeface="Wingdings 2" panose="05020102010507070707" pitchFamily="18" charset="2"/>
              <a:buChar char=""/>
              <a:defRPr sz="2800">
                <a:solidFill>
                  <a:schemeClr val="tx1"/>
                </a:solidFill>
                <a:latin typeface="+mn-lt"/>
                <a:ea typeface="+mn-ea"/>
              </a:defRPr>
            </a:lvl9pPr>
          </a:lstStyle>
          <a:p>
            <a:pPr marL="457200" indent="-457200" eaLnBrk="1" hangingPunct="1">
              <a:lnSpc>
                <a:spcPct val="120000"/>
              </a:lnSpc>
              <a:spcBef>
                <a:spcPts val="600"/>
              </a:spcBef>
              <a:buClr>
                <a:srgbClr val="0000FF"/>
              </a:buClr>
              <a:buFont typeface="Wingdings" panose="05000000000000000000" pitchFamily="2" charset="2"/>
              <a:buChar char="ü"/>
            </a:pPr>
            <a:r>
              <a:rPr lang="zh-CN" altLang="en-US" kern="0" dirty="0">
                <a:cs typeface="+mn-ea"/>
                <a:sym typeface="+mn-lt"/>
              </a:rPr>
              <a:t> 熟练掌握：</a:t>
            </a:r>
          </a:p>
          <a:p>
            <a:pPr marL="824230" lvl="1" indent="-457200" eaLnBrk="1" hangingPunct="1">
              <a:lnSpc>
                <a:spcPct val="120000"/>
              </a:lnSpc>
              <a:spcBef>
                <a:spcPts val="600"/>
              </a:spcBef>
              <a:buClr>
                <a:srgbClr val="0000FF"/>
              </a:buClr>
              <a:buFont typeface="Wingdings" panose="05000000000000000000" pitchFamily="2" charset="2"/>
              <a:buChar char="p"/>
            </a:pPr>
            <a:r>
              <a:rPr lang="zh-CN" altLang="en-US" kern="0" dirty="0">
                <a:cs typeface="+mn-ea"/>
                <a:sym typeface="+mn-lt"/>
              </a:rPr>
              <a:t>直接插入排序、冒泡排序、快速排序、简单选择排序、归并排序的思想和算法。充分了解各种排序算法的应用背景和优缺点。</a:t>
            </a:r>
          </a:p>
          <a:p>
            <a:pPr marL="457200" indent="-457200" eaLnBrk="1" hangingPunct="1">
              <a:lnSpc>
                <a:spcPct val="120000"/>
              </a:lnSpc>
              <a:spcBef>
                <a:spcPts val="600"/>
              </a:spcBef>
              <a:buClr>
                <a:srgbClr val="0000FF"/>
              </a:buClr>
              <a:buFont typeface="Wingdings" panose="05000000000000000000" pitchFamily="2" charset="2"/>
              <a:buChar char="ü"/>
            </a:pPr>
            <a:r>
              <a:rPr lang="zh-CN" altLang="en-US" kern="0" dirty="0">
                <a:cs typeface="+mn-ea"/>
                <a:sym typeface="+mn-lt"/>
              </a:rPr>
              <a:t> 重点学习：</a:t>
            </a:r>
          </a:p>
          <a:p>
            <a:pPr marL="824230" lvl="1" indent="-457200" eaLnBrk="1" hangingPunct="1">
              <a:lnSpc>
                <a:spcPct val="120000"/>
              </a:lnSpc>
              <a:spcBef>
                <a:spcPts val="600"/>
              </a:spcBef>
              <a:buClr>
                <a:srgbClr val="0000FF"/>
              </a:buClr>
              <a:buFont typeface="Wingdings" panose="05000000000000000000" pitchFamily="2" charset="2"/>
              <a:buChar char="p"/>
            </a:pPr>
            <a:r>
              <a:rPr lang="zh-CN" altLang="en-US" kern="0" dirty="0">
                <a:cs typeface="+mn-ea"/>
                <a:sym typeface="+mn-lt"/>
              </a:rPr>
              <a:t>加强各种排序算法在实际应用中的训练，提高实际应用水平。</a:t>
            </a:r>
          </a:p>
          <a:p>
            <a:pPr marL="457200" indent="-457200" eaLnBrk="1" hangingPunct="1">
              <a:lnSpc>
                <a:spcPct val="120000"/>
              </a:lnSpc>
              <a:spcBef>
                <a:spcPts val="600"/>
              </a:spcBef>
              <a:buClr>
                <a:srgbClr val="0000FF"/>
              </a:buClr>
              <a:buFont typeface="Wingdings" panose="05000000000000000000" pitchFamily="2" charset="2"/>
              <a:buChar char="ü"/>
            </a:pPr>
            <a:endParaRPr lang="zh-CN" altLang="en-US" kern="0" dirty="0">
              <a:cs typeface="+mn-ea"/>
              <a:sym typeface="+mn-l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textbox 256"/>
          <p:cNvSpPr/>
          <p:nvPr/>
        </p:nvSpPr>
        <p:spPr>
          <a:xfrm>
            <a:off x="433166" y="1288642"/>
            <a:ext cx="3587777" cy="434975"/>
          </a:xfrm>
          <a:prstGeom prst="rect">
            <a:avLst/>
          </a:prstGeom>
          <a:solidFill>
            <a:srgbClr val="005C60">
              <a:alpha val="100000"/>
            </a:srgbClr>
          </a:solidFill>
          <a:ln w="0" cap="flat">
            <a:noFill/>
            <a:prstDash val="solid"/>
            <a:miter lim="0"/>
          </a:ln>
        </p:spPr>
        <p:txBody>
          <a:bodyPr vert="horz" wrap="square" lIns="0" tIns="0" rIns="0" bIns="0"/>
          <a:lstStyle/>
          <a:p>
            <a:pPr algn="ctr" rtl="0" eaLnBrk="0">
              <a:lnSpc>
                <a:spcPct val="108000"/>
              </a:lnSpc>
            </a:pPr>
            <a:r>
              <a:rPr lang="zh-CN" altLang="en-US" sz="2400" b="1" dirty="0">
                <a:solidFill>
                  <a:schemeClr val="bg1"/>
                </a:solidFill>
                <a:latin typeface="华文中宋" panose="02010600040101010101" charset="-122"/>
                <a:ea typeface="华文中宋" panose="02010600040101010101" charset="-122"/>
                <a:cs typeface="华文中宋" panose="02010600040101010101" charset="-122"/>
              </a:rPr>
              <a:t>栈结构体中使用动态内存</a:t>
            </a:r>
            <a:endParaRPr sz="2400" b="1" dirty="0">
              <a:solidFill>
                <a:schemeClr val="bg1"/>
              </a:solidFill>
              <a:latin typeface="华文中宋" panose="02010600040101010101" charset="-122"/>
              <a:ea typeface="华文中宋" panose="02010600040101010101" charset="-122"/>
              <a:cs typeface="华文中宋" panose="02010600040101010101" charset="-122"/>
            </a:endParaRPr>
          </a:p>
        </p:txBody>
      </p:sp>
      <p:graphicFrame>
        <p:nvGraphicFramePr>
          <p:cNvPr id="8" name="table 198"/>
          <p:cNvGraphicFramePr>
            <a:graphicFrameLocks noGrp="1"/>
          </p:cNvGraphicFramePr>
          <p:nvPr/>
        </p:nvGraphicFramePr>
        <p:xfrm>
          <a:off x="525222" y="2310367"/>
          <a:ext cx="5570778" cy="3775075"/>
        </p:xfrm>
        <a:graphic>
          <a:graphicData uri="http://schemas.openxmlformats.org/drawingml/2006/table">
            <a:tbl>
              <a:tblPr>
                <a:solidFill>
                  <a:srgbClr val="FFFFCC"/>
                </a:solidFill>
              </a:tblPr>
              <a:tblGrid>
                <a:gridCol w="5570778">
                  <a:extLst>
                    <a:ext uri="{9D8B030D-6E8A-4147-A177-3AD203B41FA5}">
                      <a16:colId xmlns:a16="http://schemas.microsoft.com/office/drawing/2014/main" val="20000"/>
                    </a:ext>
                  </a:extLst>
                </a:gridCol>
              </a:tblGrid>
              <a:tr h="3151794">
                <a:tc>
                  <a:txBody>
                    <a:bodyPr/>
                    <a:lstStyle/>
                    <a:p>
                      <a:pPr marL="111125" algn="l" rtl="0" eaLnBrk="0">
                        <a:lnSpc>
                          <a:spcPct val="125000"/>
                        </a:lnSpc>
                      </a:pPr>
                      <a:r>
                        <a:rPr lang="zh-CN" altLang="en-US" sz="2000" b="1" kern="0" spc="-30" dirty="0">
                          <a:solidFill>
                            <a:srgbClr val="2F2F2F">
                              <a:alpha val="100000"/>
                            </a:srgbClr>
                          </a:solidFill>
                          <a:latin typeface="华文中宋" panose="02010600040101010101" charset="-122"/>
                          <a:ea typeface="华文中宋" panose="02010600040101010101" charset="-122"/>
                          <a:cs typeface="华文中宋" panose="02010600040101010101" charset="-122"/>
                        </a:rPr>
                        <a:t>  </a:t>
                      </a:r>
                      <a:r>
                        <a:rPr lang="en-US" altLang="zh-CN" sz="2000" b="1" kern="0" spc="-30" dirty="0">
                          <a:solidFill>
                            <a:srgbClr val="2F2F2F">
                              <a:alpha val="100000"/>
                            </a:srgbClr>
                          </a:solidFill>
                          <a:latin typeface="华文中宋" panose="02010600040101010101" charset="-122"/>
                          <a:ea typeface="华文中宋" panose="02010600040101010101" charset="-122"/>
                          <a:cs typeface="华文中宋" panose="02010600040101010101" charset="-122"/>
                        </a:rPr>
                        <a:t>//----- </a:t>
                      </a:r>
                      <a:r>
                        <a:rPr lang="zh-CN" altLang="en-US" sz="2000" b="1" kern="0" spc="-30" dirty="0">
                          <a:solidFill>
                            <a:srgbClr val="2F2F2F">
                              <a:alpha val="100000"/>
                            </a:srgbClr>
                          </a:solidFill>
                          <a:latin typeface="华文中宋" panose="02010600040101010101" charset="-122"/>
                          <a:ea typeface="华文中宋" panose="02010600040101010101" charset="-122"/>
                          <a:cs typeface="华文中宋" panose="02010600040101010101" charset="-122"/>
                        </a:rPr>
                        <a:t>栈的动态存储表示 </a:t>
                      </a:r>
                      <a:r>
                        <a:rPr lang="en-US" altLang="zh-CN" sz="2000" b="1" kern="0" spc="-30" dirty="0">
                          <a:solidFill>
                            <a:srgbClr val="2F2F2F">
                              <a:alpha val="100000"/>
                            </a:srgbClr>
                          </a:solidFill>
                          <a:latin typeface="华文中宋" panose="02010600040101010101" charset="-122"/>
                          <a:ea typeface="华文中宋" panose="02010600040101010101" charset="-122"/>
                          <a:cs typeface="华文中宋" panose="02010600040101010101" charset="-122"/>
                        </a:rPr>
                        <a:t>-----</a:t>
                      </a:r>
                    </a:p>
                    <a:p>
                      <a:pPr marL="111125" algn="l" rtl="0" eaLnBrk="0">
                        <a:lnSpc>
                          <a:spcPct val="125000"/>
                        </a:lnSpc>
                      </a:pPr>
                      <a:r>
                        <a:rPr lang="en-US" altLang="zh-CN" sz="2000" b="1" kern="0" spc="-30" dirty="0">
                          <a:solidFill>
                            <a:srgbClr val="2F2F2F">
                              <a:alpha val="100000"/>
                            </a:srgbClr>
                          </a:solidFill>
                          <a:latin typeface="华文中宋" panose="02010600040101010101" charset="-122"/>
                          <a:ea typeface="华文中宋" panose="02010600040101010101" charset="-122"/>
                          <a:cs typeface="华文中宋" panose="02010600040101010101" charset="-122"/>
                        </a:rPr>
                        <a:t>  #define  STACK_INIT_SIZE  100;    //</a:t>
                      </a:r>
                      <a:r>
                        <a:rPr lang="zh-CN" altLang="en-US" sz="2000" b="1" kern="0" spc="-30" dirty="0">
                          <a:solidFill>
                            <a:srgbClr val="2F2F2F">
                              <a:alpha val="100000"/>
                            </a:srgbClr>
                          </a:solidFill>
                          <a:latin typeface="华文中宋" panose="02010600040101010101" charset="-122"/>
                          <a:ea typeface="华文中宋" panose="02010600040101010101" charset="-122"/>
                          <a:cs typeface="华文中宋" panose="02010600040101010101" charset="-122"/>
                        </a:rPr>
                        <a:t>栈容量</a:t>
                      </a:r>
                    </a:p>
                    <a:p>
                      <a:pPr marL="111125" algn="l" rtl="0" eaLnBrk="0">
                        <a:lnSpc>
                          <a:spcPct val="125000"/>
                        </a:lnSpc>
                      </a:pPr>
                      <a:r>
                        <a:rPr lang="zh-CN" altLang="en-US" sz="2000" b="1" kern="0" spc="-30" dirty="0">
                          <a:solidFill>
                            <a:srgbClr val="2F2F2F">
                              <a:alpha val="100000"/>
                            </a:srgbClr>
                          </a:solidFill>
                          <a:latin typeface="华文中宋" panose="02010600040101010101" charset="-122"/>
                          <a:ea typeface="华文中宋" panose="02010600040101010101" charset="-122"/>
                          <a:cs typeface="华文中宋" panose="02010600040101010101" charset="-122"/>
                        </a:rPr>
                        <a:t>  </a:t>
                      </a:r>
                      <a:r>
                        <a:rPr lang="en-US" altLang="zh-CN" sz="2000" b="1" kern="0" spc="-30" dirty="0">
                          <a:solidFill>
                            <a:srgbClr val="2F2F2F">
                              <a:alpha val="100000"/>
                            </a:srgbClr>
                          </a:solidFill>
                          <a:latin typeface="华文中宋" panose="02010600040101010101" charset="-122"/>
                          <a:ea typeface="华文中宋" panose="02010600040101010101" charset="-122"/>
                          <a:cs typeface="华文中宋" panose="02010600040101010101" charset="-122"/>
                        </a:rPr>
                        <a:t>#define  STACKINCREMENT   10;  //</a:t>
                      </a:r>
                      <a:r>
                        <a:rPr lang="zh-CN" altLang="en-US" sz="2000" b="1" kern="0" spc="-30" dirty="0">
                          <a:solidFill>
                            <a:srgbClr val="2F2F2F">
                              <a:alpha val="100000"/>
                            </a:srgbClr>
                          </a:solidFill>
                          <a:latin typeface="华文中宋" panose="02010600040101010101" charset="-122"/>
                          <a:ea typeface="华文中宋" panose="02010600040101010101" charset="-122"/>
                          <a:cs typeface="华文中宋" panose="02010600040101010101" charset="-122"/>
                        </a:rPr>
                        <a:t>栈增量</a:t>
                      </a:r>
                    </a:p>
                    <a:p>
                      <a:pPr marL="111125" algn="l" rtl="0" eaLnBrk="0">
                        <a:lnSpc>
                          <a:spcPct val="125000"/>
                        </a:lnSpc>
                      </a:pPr>
                      <a:r>
                        <a:rPr lang="zh-CN" altLang="en-US" sz="2000" b="1" kern="0" spc="-30" dirty="0">
                          <a:solidFill>
                            <a:srgbClr val="2F2F2F">
                              <a:alpha val="100000"/>
                            </a:srgbClr>
                          </a:solidFill>
                          <a:latin typeface="华文中宋" panose="02010600040101010101" charset="-122"/>
                          <a:ea typeface="华文中宋" panose="02010600040101010101" charset="-122"/>
                          <a:cs typeface="华文中宋" panose="02010600040101010101" charset="-122"/>
                        </a:rPr>
                        <a:t>  </a:t>
                      </a:r>
                      <a:r>
                        <a:rPr lang="en-US" altLang="zh-CN" sz="2000" b="1" kern="0" spc="-30" dirty="0">
                          <a:solidFill>
                            <a:srgbClr val="2F2F2F">
                              <a:alpha val="100000"/>
                            </a:srgbClr>
                          </a:solidFill>
                          <a:latin typeface="华文中宋" panose="02010600040101010101" charset="-122"/>
                          <a:ea typeface="华文中宋" panose="02010600040101010101" charset="-122"/>
                          <a:cs typeface="华文中宋" panose="02010600040101010101" charset="-122"/>
                        </a:rPr>
                        <a:t>typedef struct {</a:t>
                      </a:r>
                    </a:p>
                    <a:p>
                      <a:pPr marL="111125" algn="l" rtl="0" eaLnBrk="0">
                        <a:lnSpc>
                          <a:spcPct val="125000"/>
                        </a:lnSpc>
                      </a:pPr>
                      <a:r>
                        <a:rPr lang="en-US" altLang="zh-CN" sz="2000" b="1" kern="0" spc="-30" dirty="0">
                          <a:solidFill>
                            <a:srgbClr val="2F2F2F">
                              <a:alpha val="100000"/>
                            </a:srgbClr>
                          </a:solidFill>
                          <a:latin typeface="华文中宋" panose="02010600040101010101" charset="-122"/>
                          <a:ea typeface="华文中宋" panose="02010600040101010101" charset="-122"/>
                          <a:cs typeface="华文中宋" panose="02010600040101010101" charset="-122"/>
                        </a:rPr>
                        <a:t>       </a:t>
                      </a:r>
                      <a:r>
                        <a:rPr kumimoji="1" lang="en-US" altLang="zh-CN" sz="2000" b="1" dirty="0" err="1">
                          <a:solidFill>
                            <a:schemeClr val="tx1"/>
                          </a:solidFill>
                          <a:latin typeface="华文中宋" panose="02010600040101010101" charset="-122"/>
                          <a:ea typeface="华文中宋" panose="02010600040101010101" charset="-122"/>
                        </a:rPr>
                        <a:t>DataType</a:t>
                      </a:r>
                      <a:r>
                        <a:rPr lang="en-US" altLang="zh-CN" sz="2000" b="1" kern="0" spc="-30" dirty="0">
                          <a:solidFill>
                            <a:srgbClr val="2F2F2F">
                              <a:alpha val="100000"/>
                            </a:srgbClr>
                          </a:solidFill>
                          <a:latin typeface="华文中宋" panose="02010600040101010101" charset="-122"/>
                          <a:ea typeface="华文中宋" panose="02010600040101010101" charset="-122"/>
                          <a:cs typeface="华文中宋" panose="02010600040101010101" charset="-122"/>
                        </a:rPr>
                        <a:t>  *base;        //</a:t>
                      </a:r>
                      <a:r>
                        <a:rPr lang="zh-CN" altLang="en-US" sz="2000" b="1" kern="0" spc="-30" dirty="0">
                          <a:solidFill>
                            <a:srgbClr val="2F2F2F">
                              <a:alpha val="100000"/>
                            </a:srgbClr>
                          </a:solidFill>
                          <a:latin typeface="华文中宋" panose="02010600040101010101" charset="-122"/>
                          <a:ea typeface="华文中宋" panose="02010600040101010101" charset="-122"/>
                          <a:cs typeface="华文中宋" panose="02010600040101010101" charset="-122"/>
                        </a:rPr>
                        <a:t>基地址</a:t>
                      </a:r>
                    </a:p>
                    <a:p>
                      <a:pPr marL="111125" algn="l" rtl="0" eaLnBrk="0">
                        <a:lnSpc>
                          <a:spcPct val="125000"/>
                        </a:lnSpc>
                      </a:pPr>
                      <a:r>
                        <a:rPr lang="zh-CN" altLang="en-US" sz="2000" b="1" kern="0" spc="-30" dirty="0">
                          <a:solidFill>
                            <a:srgbClr val="2F2F2F">
                              <a:alpha val="100000"/>
                            </a:srgbClr>
                          </a:solidFill>
                          <a:latin typeface="华文中宋" panose="02010600040101010101" charset="-122"/>
                          <a:ea typeface="华文中宋" panose="02010600040101010101" charset="-122"/>
                          <a:cs typeface="华文中宋" panose="02010600040101010101" charset="-122"/>
                        </a:rPr>
                        <a:t>       </a:t>
                      </a:r>
                      <a:r>
                        <a:rPr kumimoji="1" lang="en-US" altLang="zh-CN" sz="2000" b="1" dirty="0" err="1">
                          <a:solidFill>
                            <a:schemeClr val="tx1"/>
                          </a:solidFill>
                          <a:latin typeface="华文中宋" panose="02010600040101010101" charset="-122"/>
                          <a:ea typeface="华文中宋" panose="02010600040101010101" charset="-122"/>
                        </a:rPr>
                        <a:t>DataType</a:t>
                      </a:r>
                      <a:r>
                        <a:rPr lang="en-US" altLang="zh-CN" sz="2000" b="1" kern="0" spc="-30" dirty="0">
                          <a:solidFill>
                            <a:srgbClr val="2F2F2F">
                              <a:alpha val="100000"/>
                            </a:srgbClr>
                          </a:solidFill>
                          <a:latin typeface="华文中宋" panose="02010600040101010101" charset="-122"/>
                          <a:ea typeface="华文中宋" panose="02010600040101010101" charset="-122"/>
                          <a:cs typeface="华文中宋" panose="02010600040101010101" charset="-122"/>
                        </a:rPr>
                        <a:t>  *top;          //</a:t>
                      </a:r>
                      <a:r>
                        <a:rPr lang="zh-CN" altLang="en-US" sz="2000" b="1" kern="0" spc="-30" dirty="0">
                          <a:solidFill>
                            <a:srgbClr val="2F2F2F">
                              <a:alpha val="100000"/>
                            </a:srgbClr>
                          </a:solidFill>
                          <a:latin typeface="华文中宋" panose="02010600040101010101" charset="-122"/>
                          <a:ea typeface="华文中宋" panose="02010600040101010101" charset="-122"/>
                          <a:cs typeface="华文中宋" panose="02010600040101010101" charset="-122"/>
                        </a:rPr>
                        <a:t>栈顶</a:t>
                      </a:r>
                    </a:p>
                    <a:p>
                      <a:pPr marL="111125" algn="l" rtl="0" eaLnBrk="0">
                        <a:lnSpc>
                          <a:spcPct val="125000"/>
                        </a:lnSpc>
                      </a:pPr>
                      <a:r>
                        <a:rPr lang="zh-CN" altLang="en-US" sz="2000" b="1" kern="0" spc="-30" dirty="0">
                          <a:solidFill>
                            <a:srgbClr val="2F2F2F">
                              <a:alpha val="100000"/>
                            </a:srgbClr>
                          </a:solidFill>
                          <a:latin typeface="华文中宋" panose="02010600040101010101" charset="-122"/>
                          <a:ea typeface="华文中宋" panose="02010600040101010101" charset="-122"/>
                          <a:cs typeface="华文中宋" panose="02010600040101010101" charset="-122"/>
                        </a:rPr>
                        <a:t>       </a:t>
                      </a:r>
                      <a:r>
                        <a:rPr lang="en-US" altLang="zh-CN" sz="2000" b="1" kern="0" spc="-30" dirty="0">
                          <a:solidFill>
                            <a:srgbClr val="2F2F2F">
                              <a:alpha val="100000"/>
                            </a:srgbClr>
                          </a:solidFill>
                          <a:latin typeface="华文中宋" panose="02010600040101010101" charset="-122"/>
                          <a:ea typeface="华文中宋" panose="02010600040101010101" charset="-122"/>
                          <a:cs typeface="华文中宋" panose="02010600040101010101" charset="-122"/>
                        </a:rPr>
                        <a:t>int  </a:t>
                      </a:r>
                      <a:r>
                        <a:rPr lang="en-US" altLang="zh-CN" sz="2000" b="1" kern="0" spc="-30" dirty="0" err="1">
                          <a:solidFill>
                            <a:srgbClr val="2F2F2F">
                              <a:alpha val="100000"/>
                            </a:srgbClr>
                          </a:solidFill>
                          <a:latin typeface="华文中宋" panose="02010600040101010101" charset="-122"/>
                          <a:ea typeface="华文中宋" panose="02010600040101010101" charset="-122"/>
                          <a:cs typeface="华文中宋" panose="02010600040101010101" charset="-122"/>
                        </a:rPr>
                        <a:t>stacksize</a:t>
                      </a:r>
                      <a:r>
                        <a:rPr lang="en-US" altLang="zh-CN" sz="2000" b="1" kern="0" spc="-30" dirty="0">
                          <a:solidFill>
                            <a:srgbClr val="2F2F2F">
                              <a:alpha val="100000"/>
                            </a:srgbClr>
                          </a:solidFill>
                          <a:latin typeface="华文中宋" panose="02010600040101010101" charset="-122"/>
                          <a:ea typeface="华文中宋" panose="02010600040101010101" charset="-122"/>
                          <a:cs typeface="华文中宋" panose="02010600040101010101" charset="-122"/>
                        </a:rPr>
                        <a:t>;             //</a:t>
                      </a:r>
                      <a:r>
                        <a:rPr lang="zh-CN" altLang="en-US" sz="2000" b="1" kern="0" spc="-30" dirty="0">
                          <a:solidFill>
                            <a:srgbClr val="2F2F2F">
                              <a:alpha val="100000"/>
                            </a:srgbClr>
                          </a:solidFill>
                          <a:latin typeface="华文中宋" panose="02010600040101010101" charset="-122"/>
                          <a:ea typeface="华文中宋" panose="02010600040101010101" charset="-122"/>
                          <a:cs typeface="华文中宋" panose="02010600040101010101" charset="-122"/>
                        </a:rPr>
                        <a:t>栈容量  </a:t>
                      </a:r>
                    </a:p>
                    <a:p>
                      <a:pPr marL="111125" algn="l" rtl="0" eaLnBrk="0">
                        <a:lnSpc>
                          <a:spcPct val="125000"/>
                        </a:lnSpc>
                      </a:pPr>
                      <a:r>
                        <a:rPr lang="zh-CN" altLang="en-US" sz="2000" b="1" kern="0" spc="-30" dirty="0">
                          <a:solidFill>
                            <a:srgbClr val="2F2F2F">
                              <a:alpha val="100000"/>
                            </a:srgbClr>
                          </a:solidFill>
                          <a:latin typeface="华文中宋" panose="02010600040101010101" charset="-122"/>
                          <a:ea typeface="华文中宋" panose="02010600040101010101" charset="-122"/>
                          <a:cs typeface="华文中宋" panose="02010600040101010101" charset="-122"/>
                        </a:rPr>
                        <a:t>  </a:t>
                      </a:r>
                      <a:r>
                        <a:rPr lang="en-US" altLang="zh-CN" sz="2000" b="1" kern="0" spc="-30" dirty="0">
                          <a:solidFill>
                            <a:srgbClr val="2F2F2F">
                              <a:alpha val="100000"/>
                            </a:srgbClr>
                          </a:solidFill>
                          <a:latin typeface="华文中宋" panose="02010600040101010101" charset="-122"/>
                          <a:ea typeface="华文中宋" panose="02010600040101010101" charset="-122"/>
                          <a:cs typeface="华文中宋" panose="02010600040101010101" charset="-122"/>
                        </a:rPr>
                        <a:t>} </a:t>
                      </a:r>
                      <a:r>
                        <a:rPr lang="en-US" altLang="zh-CN" sz="2000" b="1" kern="0" spc="-30" dirty="0" err="1">
                          <a:solidFill>
                            <a:srgbClr val="2F2F2F">
                              <a:alpha val="100000"/>
                            </a:srgbClr>
                          </a:solidFill>
                          <a:latin typeface="华文中宋" panose="02010600040101010101" charset="-122"/>
                          <a:ea typeface="华文中宋" panose="02010600040101010101" charset="-122"/>
                          <a:cs typeface="华文中宋" panose="02010600040101010101" charset="-122"/>
                        </a:rPr>
                        <a:t>SqStack</a:t>
                      </a:r>
                      <a:r>
                        <a:rPr lang="en-US" altLang="zh-CN" sz="2000" b="1" kern="0" spc="-30" dirty="0">
                          <a:solidFill>
                            <a:srgbClr val="2F2F2F">
                              <a:alpha val="100000"/>
                            </a:srgbClr>
                          </a:solidFill>
                          <a:latin typeface="华文中宋" panose="02010600040101010101" charset="-122"/>
                          <a:ea typeface="华文中宋" panose="02010600040101010101" charset="-122"/>
                          <a:cs typeface="华文中宋" panose="02010600040101010101" charset="-122"/>
                        </a:rPr>
                        <a:t>;</a:t>
                      </a:r>
                    </a:p>
                  </a:txBody>
                  <a:tcPr marL="0" marR="0" marT="0" marB="0">
                    <a:lnL w="25400" cap="flat" cmpd="sng" algn="ctr">
                      <a:solidFill>
                        <a:srgbClr val="009900"/>
                      </a:solidFill>
                      <a:prstDash val="solid"/>
                      <a:round/>
                      <a:headEnd type="none" w="med" len="med"/>
                      <a:tailEnd type="none" w="med" len="med"/>
                    </a:lnL>
                    <a:lnR w="25400" cap="flat" cmpd="sng" algn="ctr">
                      <a:solidFill>
                        <a:srgbClr val="009900"/>
                      </a:solidFill>
                      <a:prstDash val="solid"/>
                      <a:round/>
                      <a:headEnd type="none" w="med" len="med"/>
                      <a:tailEnd type="none" w="med" len="med"/>
                    </a:lnR>
                    <a:lnT w="25400" cap="flat" cmpd="sng" algn="ctr">
                      <a:solidFill>
                        <a:srgbClr val="009900"/>
                      </a:solidFill>
                      <a:prstDash val="solid"/>
                      <a:round/>
                      <a:headEnd type="none" w="med" len="med"/>
                      <a:tailEnd type="none" w="med" len="med"/>
                    </a:lnT>
                    <a:lnB w="25400" cap="flat" cmpd="sng" algn="ctr">
                      <a:solidFill>
                        <a:srgbClr val="009900"/>
                      </a:solidFill>
                      <a:prstDash val="solid"/>
                      <a:round/>
                      <a:headEnd type="none" w="med" len="med"/>
                      <a:tailEnd type="none" w="med" len="med"/>
                    </a:lnB>
                    <a:solidFill>
                      <a:srgbClr val="FFFFCC"/>
                    </a:solidFill>
                  </a:tcPr>
                </a:tc>
                <a:extLst>
                  <a:ext uri="{0D108BD9-81ED-4DB2-BD59-A6C34878D82A}">
                    <a16:rowId xmlns:a16="http://schemas.microsoft.com/office/drawing/2014/main" val="10000"/>
                  </a:ext>
                </a:extLst>
              </a:tr>
            </a:tbl>
          </a:graphicData>
        </a:graphic>
      </p:graphicFrame>
      <p:graphicFrame>
        <p:nvGraphicFramePr>
          <p:cNvPr id="18" name="table 198"/>
          <p:cNvGraphicFramePr>
            <a:graphicFrameLocks noGrp="1"/>
          </p:cNvGraphicFramePr>
          <p:nvPr/>
        </p:nvGraphicFramePr>
        <p:xfrm>
          <a:off x="6304699" y="2310367"/>
          <a:ext cx="5570778" cy="3429000"/>
        </p:xfrm>
        <a:graphic>
          <a:graphicData uri="http://schemas.openxmlformats.org/drawingml/2006/table">
            <a:tbl>
              <a:tblPr>
                <a:solidFill>
                  <a:srgbClr val="FFFFCC"/>
                </a:solidFill>
              </a:tblPr>
              <a:tblGrid>
                <a:gridCol w="5570778">
                  <a:extLst>
                    <a:ext uri="{9D8B030D-6E8A-4147-A177-3AD203B41FA5}">
                      <a16:colId xmlns:a16="http://schemas.microsoft.com/office/drawing/2014/main" val="20000"/>
                    </a:ext>
                  </a:extLst>
                </a:gridCol>
              </a:tblGrid>
              <a:tr h="3151794">
                <a:tc>
                  <a:txBody>
                    <a:bodyPr/>
                    <a:lstStyle/>
                    <a:p>
                      <a:pPr marL="111125" algn="l" rtl="0" eaLnBrk="0">
                        <a:lnSpc>
                          <a:spcPct val="125000"/>
                        </a:lnSpc>
                      </a:pPr>
                      <a:r>
                        <a:rPr lang="zh-CN" altLang="en-US" sz="2000" b="1" kern="0" spc="-30" dirty="0">
                          <a:solidFill>
                            <a:srgbClr val="2F2F2F">
                              <a:alpha val="100000"/>
                            </a:srgbClr>
                          </a:solidFill>
                          <a:latin typeface="华文中宋" panose="02010600040101010101" charset="-122"/>
                          <a:ea typeface="华文中宋" panose="02010600040101010101" charset="-122"/>
                          <a:cs typeface="华文中宋" panose="02010600040101010101" charset="-122"/>
                        </a:rPr>
                        <a:t>  </a:t>
                      </a:r>
                      <a:r>
                        <a:rPr lang="en-US" altLang="zh-CN" sz="2000" b="1" kern="0" spc="-30" dirty="0">
                          <a:solidFill>
                            <a:srgbClr val="2F2F2F">
                              <a:alpha val="100000"/>
                            </a:srgbClr>
                          </a:solidFill>
                          <a:latin typeface="华文中宋" panose="02010600040101010101" charset="-122"/>
                          <a:ea typeface="华文中宋" panose="02010600040101010101" charset="-122"/>
                          <a:cs typeface="华文中宋" panose="02010600040101010101" charset="-122"/>
                        </a:rPr>
                        <a:t>//----- </a:t>
                      </a:r>
                      <a:r>
                        <a:rPr lang="zh-CN" altLang="en-US" sz="2000" b="1" kern="0" spc="-30" dirty="0">
                          <a:solidFill>
                            <a:srgbClr val="2F2F2F">
                              <a:alpha val="100000"/>
                            </a:srgbClr>
                          </a:solidFill>
                          <a:latin typeface="华文中宋" panose="02010600040101010101" charset="-122"/>
                          <a:ea typeface="华文中宋" panose="02010600040101010101" charset="-122"/>
                          <a:cs typeface="华文中宋" panose="02010600040101010101" charset="-122"/>
                        </a:rPr>
                        <a:t>栈的初始化</a:t>
                      </a:r>
                      <a:r>
                        <a:rPr lang="en-US" altLang="zh-CN" sz="2000" b="1" kern="0" spc="-30" dirty="0">
                          <a:solidFill>
                            <a:srgbClr val="2F2F2F">
                              <a:alpha val="100000"/>
                            </a:srgbClr>
                          </a:solidFill>
                          <a:latin typeface="华文中宋" panose="02010600040101010101" charset="-122"/>
                          <a:ea typeface="华文中宋" panose="02010600040101010101" charset="-122"/>
                          <a:cs typeface="华文中宋" panose="02010600040101010101" charset="-122"/>
                        </a:rPr>
                        <a:t>-----</a:t>
                      </a:r>
                    </a:p>
                    <a:p>
                      <a:pPr eaLnBrk="0" fontAlgn="base" hangingPunct="0">
                        <a:lnSpc>
                          <a:spcPct val="120000"/>
                        </a:lnSpc>
                        <a:spcBef>
                          <a:spcPct val="0"/>
                        </a:spcBef>
                        <a:spcAft>
                          <a:spcPct val="0"/>
                        </a:spcAft>
                      </a:pPr>
                      <a:r>
                        <a:rPr lang="en-US" altLang="zh-CN" sz="2000" b="1" kern="0" spc="-30" dirty="0">
                          <a:solidFill>
                            <a:srgbClr val="2F2F2F">
                              <a:alpha val="100000"/>
                            </a:srgbClr>
                          </a:solidFill>
                          <a:latin typeface="华文中宋" panose="02010600040101010101" charset="-122"/>
                          <a:ea typeface="华文中宋" panose="02010600040101010101" charset="-122"/>
                          <a:cs typeface="华文中宋" panose="02010600040101010101" charset="-122"/>
                        </a:rPr>
                        <a:t> </a:t>
                      </a:r>
                      <a:r>
                        <a:rPr kumimoji="1" lang="en-US" altLang="zh-CN" sz="2000" b="1" dirty="0">
                          <a:solidFill>
                            <a:srgbClr val="0000FF"/>
                          </a:solidFill>
                          <a:latin typeface="Times New Roman" panose="02020503050405090304" pitchFamily="18" charset="0"/>
                        </a:rPr>
                        <a:t>Status </a:t>
                      </a:r>
                      <a:r>
                        <a:rPr kumimoji="1" lang="en-US" altLang="zh-CN" sz="2000" b="1" dirty="0" err="1">
                          <a:solidFill>
                            <a:srgbClr val="0000FF"/>
                          </a:solidFill>
                          <a:latin typeface="Times New Roman" panose="02020503050405090304" pitchFamily="18" charset="0"/>
                        </a:rPr>
                        <a:t>InitStack</a:t>
                      </a:r>
                      <a:r>
                        <a:rPr kumimoji="1" lang="en-US" altLang="zh-CN" sz="2000" b="1" dirty="0">
                          <a:solidFill>
                            <a:srgbClr val="0000FF"/>
                          </a:solidFill>
                          <a:latin typeface="Times New Roman" panose="02020503050405090304" pitchFamily="18" charset="0"/>
                        </a:rPr>
                        <a:t> (</a:t>
                      </a:r>
                      <a:r>
                        <a:rPr kumimoji="1" lang="en-US" altLang="zh-CN" sz="2000" b="1" dirty="0" err="1">
                          <a:solidFill>
                            <a:srgbClr val="0000FF"/>
                          </a:solidFill>
                          <a:latin typeface="Times New Roman" panose="02020503050405090304" pitchFamily="18" charset="0"/>
                        </a:rPr>
                        <a:t>SqStack</a:t>
                      </a:r>
                      <a:r>
                        <a:rPr kumimoji="1" lang="en-US" altLang="zh-CN" sz="2000" b="1" dirty="0">
                          <a:solidFill>
                            <a:srgbClr val="0000FF"/>
                          </a:solidFill>
                          <a:latin typeface="Times New Roman" panose="02020503050405090304" pitchFamily="18" charset="0"/>
                        </a:rPr>
                        <a:t> </a:t>
                      </a:r>
                      <a:r>
                        <a:rPr kumimoji="1" lang="zh-CN" altLang="en-US" sz="2000" b="1" dirty="0">
                          <a:solidFill>
                            <a:srgbClr val="0000FF"/>
                          </a:solidFill>
                          <a:latin typeface="Times New Roman" panose="02020503050405090304" pitchFamily="18" charset="0"/>
                        </a:rPr>
                        <a:t>*</a:t>
                      </a:r>
                      <a:r>
                        <a:rPr kumimoji="1" lang="en-US" altLang="zh-CN" sz="2000" b="1" dirty="0">
                          <a:solidFill>
                            <a:srgbClr val="0000FF"/>
                          </a:solidFill>
                          <a:latin typeface="Times New Roman" panose="02020503050405090304" pitchFamily="18" charset="0"/>
                        </a:rPr>
                        <a:t>S)</a:t>
                      </a:r>
                      <a:r>
                        <a:rPr kumimoji="1" lang="en-US" altLang="zh-CN" sz="2000" b="1" dirty="0">
                          <a:solidFill>
                            <a:srgbClr val="000000"/>
                          </a:solidFill>
                          <a:latin typeface="Times New Roman" panose="02020503050405090304" pitchFamily="18" charset="0"/>
                        </a:rPr>
                        <a:t> // </a:t>
                      </a:r>
                      <a:r>
                        <a:rPr kumimoji="1" lang="zh-CN" altLang="en-US" sz="2000" b="1" dirty="0">
                          <a:solidFill>
                            <a:srgbClr val="000000"/>
                          </a:solidFill>
                          <a:latin typeface="Times New Roman" panose="02020503050405090304" pitchFamily="18" charset="0"/>
                        </a:rPr>
                        <a:t>构造一个空栈</a:t>
                      </a:r>
                      <a:r>
                        <a:rPr kumimoji="1" lang="en-US" altLang="zh-CN" sz="2000" b="1" dirty="0">
                          <a:solidFill>
                            <a:srgbClr val="000000"/>
                          </a:solidFill>
                          <a:latin typeface="Times New Roman" panose="02020503050405090304" pitchFamily="18" charset="0"/>
                        </a:rPr>
                        <a:t>S</a:t>
                      </a:r>
                      <a:endParaRPr kumimoji="1" lang="en-US" altLang="zh-CN" sz="2000" b="1" dirty="0">
                        <a:solidFill>
                          <a:srgbClr val="0000FF"/>
                        </a:solidFill>
                        <a:latin typeface="Times New Roman" panose="02020503050405090304" pitchFamily="18" charset="0"/>
                      </a:endParaRPr>
                    </a:p>
                    <a:p>
                      <a:pPr eaLnBrk="0" fontAlgn="base" hangingPunct="0">
                        <a:lnSpc>
                          <a:spcPct val="120000"/>
                        </a:lnSpc>
                        <a:spcBef>
                          <a:spcPct val="0"/>
                        </a:spcBef>
                        <a:spcAft>
                          <a:spcPct val="0"/>
                        </a:spcAft>
                      </a:pPr>
                      <a:r>
                        <a:rPr kumimoji="1" lang="en-US" altLang="zh-CN" sz="2000" b="1" dirty="0">
                          <a:solidFill>
                            <a:srgbClr val="0000FF"/>
                          </a:solidFill>
                          <a:latin typeface="Times New Roman" panose="02020503050405090304" pitchFamily="18" charset="0"/>
                        </a:rPr>
                        <a:t>{</a:t>
                      </a:r>
                      <a:endParaRPr kumimoji="1" lang="en-US" altLang="zh-CN" sz="2000" b="1" dirty="0">
                        <a:solidFill>
                          <a:srgbClr val="000000"/>
                        </a:solidFill>
                        <a:latin typeface="Times New Roman" panose="02020503050405090304" pitchFamily="18" charset="0"/>
                      </a:endParaRPr>
                    </a:p>
                    <a:p>
                      <a:pPr eaLnBrk="0" fontAlgn="base" hangingPunct="0">
                        <a:lnSpc>
                          <a:spcPct val="120000"/>
                        </a:lnSpc>
                        <a:spcBef>
                          <a:spcPct val="0"/>
                        </a:spcBef>
                        <a:spcAft>
                          <a:spcPct val="0"/>
                        </a:spcAft>
                      </a:pPr>
                      <a:r>
                        <a:rPr kumimoji="1" lang="en-US" altLang="zh-CN" sz="2000" b="1" dirty="0">
                          <a:solidFill>
                            <a:srgbClr val="0000FF"/>
                          </a:solidFill>
                          <a:latin typeface="Times New Roman" panose="02020503050405090304" pitchFamily="18" charset="0"/>
                        </a:rPr>
                        <a:t>  </a:t>
                      </a:r>
                      <a:r>
                        <a:rPr kumimoji="1" lang="en-US" altLang="zh-CN" sz="1800" b="1" dirty="0">
                          <a:solidFill>
                            <a:srgbClr val="0000FF"/>
                          </a:solidFill>
                          <a:latin typeface="Times New Roman" panose="02020503050405090304" pitchFamily="18" charset="0"/>
                        </a:rPr>
                        <a:t>S-&gt;base=(</a:t>
                      </a:r>
                      <a:r>
                        <a:rPr kumimoji="1" lang="en-US" altLang="zh-CN" sz="1800" b="1" dirty="0" err="1">
                          <a:solidFill>
                            <a:srgbClr val="0000FF"/>
                          </a:solidFill>
                          <a:latin typeface="Times New Roman" panose="02020503050405090304" pitchFamily="18" charset="0"/>
                        </a:rPr>
                        <a:t>DataType</a:t>
                      </a:r>
                      <a:r>
                        <a:rPr kumimoji="1" lang="en-US" altLang="zh-CN" sz="1800" b="1" dirty="0">
                          <a:solidFill>
                            <a:srgbClr val="0000FF"/>
                          </a:solidFill>
                          <a:latin typeface="Times New Roman" panose="02020503050405090304" pitchFamily="18" charset="0"/>
                        </a:rPr>
                        <a:t>*)malloc(STACK_INIT_SIZE*</a:t>
                      </a:r>
                    </a:p>
                    <a:p>
                      <a:pPr eaLnBrk="0" fontAlgn="base" hangingPunct="0">
                        <a:lnSpc>
                          <a:spcPct val="120000"/>
                        </a:lnSpc>
                        <a:spcBef>
                          <a:spcPct val="0"/>
                        </a:spcBef>
                        <a:spcAft>
                          <a:spcPct val="0"/>
                        </a:spcAft>
                      </a:pPr>
                      <a:r>
                        <a:rPr kumimoji="1" lang="en-US" altLang="zh-CN" sz="1800" b="1" dirty="0">
                          <a:solidFill>
                            <a:srgbClr val="0000FF"/>
                          </a:solidFill>
                          <a:latin typeface="Times New Roman" panose="02020503050405090304" pitchFamily="18" charset="0"/>
                        </a:rPr>
                        <a:t>                                           </a:t>
                      </a:r>
                      <a:r>
                        <a:rPr kumimoji="1" lang="en-US" altLang="zh-CN" sz="1800" b="1" dirty="0" err="1">
                          <a:solidFill>
                            <a:srgbClr val="0000FF"/>
                          </a:solidFill>
                          <a:latin typeface="Times New Roman" panose="02020503050405090304" pitchFamily="18" charset="0"/>
                        </a:rPr>
                        <a:t>sizeof</a:t>
                      </a:r>
                      <a:r>
                        <a:rPr kumimoji="1" lang="en-US" altLang="zh-CN" sz="1800" b="1" dirty="0">
                          <a:solidFill>
                            <a:srgbClr val="0000FF"/>
                          </a:solidFill>
                          <a:latin typeface="Times New Roman" panose="02020503050405090304" pitchFamily="18" charset="0"/>
                        </a:rPr>
                        <a:t>(</a:t>
                      </a:r>
                      <a:r>
                        <a:rPr kumimoji="1" lang="en-US" altLang="zh-CN" sz="1800" b="1" dirty="0" err="1">
                          <a:solidFill>
                            <a:srgbClr val="0000FF"/>
                          </a:solidFill>
                          <a:latin typeface="Times New Roman" panose="02020503050405090304" pitchFamily="18" charset="0"/>
                        </a:rPr>
                        <a:t>DataType</a:t>
                      </a:r>
                      <a:r>
                        <a:rPr kumimoji="1" lang="en-US" altLang="zh-CN" sz="1800" b="1" dirty="0">
                          <a:solidFill>
                            <a:srgbClr val="0000FF"/>
                          </a:solidFill>
                          <a:latin typeface="Times New Roman" panose="02020503050405090304" pitchFamily="18" charset="0"/>
                        </a:rPr>
                        <a:t>));</a:t>
                      </a:r>
                    </a:p>
                    <a:p>
                      <a:pPr eaLnBrk="0" fontAlgn="base" hangingPunct="0">
                        <a:lnSpc>
                          <a:spcPct val="120000"/>
                        </a:lnSpc>
                        <a:spcBef>
                          <a:spcPct val="0"/>
                        </a:spcBef>
                        <a:spcAft>
                          <a:spcPct val="0"/>
                        </a:spcAft>
                      </a:pPr>
                      <a:r>
                        <a:rPr kumimoji="1" lang="en-US" altLang="zh-CN" sz="1800" b="1" dirty="0">
                          <a:solidFill>
                            <a:srgbClr val="0000FF"/>
                          </a:solidFill>
                          <a:latin typeface="Times New Roman" panose="02020503050405090304" pitchFamily="18" charset="0"/>
                        </a:rPr>
                        <a:t>   if (!S-&gt;base) exit (OVERFLOW); </a:t>
                      </a:r>
                      <a:r>
                        <a:rPr kumimoji="1" lang="en-US" altLang="zh-CN" sz="1800" b="1" dirty="0">
                          <a:solidFill>
                            <a:srgbClr val="000000"/>
                          </a:solidFill>
                          <a:latin typeface="Times New Roman" panose="02020503050405090304" pitchFamily="18" charset="0"/>
                        </a:rPr>
                        <a:t>//</a:t>
                      </a:r>
                      <a:r>
                        <a:rPr kumimoji="1" lang="zh-CN" altLang="en-US" sz="1800" b="1" dirty="0">
                          <a:solidFill>
                            <a:srgbClr val="000000"/>
                          </a:solidFill>
                          <a:latin typeface="Times New Roman" panose="02020503050405090304" pitchFamily="18" charset="0"/>
                        </a:rPr>
                        <a:t>存储分配失败</a:t>
                      </a:r>
                    </a:p>
                    <a:p>
                      <a:pPr eaLnBrk="0" fontAlgn="base" hangingPunct="0">
                        <a:lnSpc>
                          <a:spcPct val="120000"/>
                        </a:lnSpc>
                        <a:spcBef>
                          <a:spcPct val="0"/>
                        </a:spcBef>
                        <a:spcAft>
                          <a:spcPct val="0"/>
                        </a:spcAft>
                      </a:pPr>
                      <a:r>
                        <a:rPr kumimoji="1" lang="zh-CN" altLang="en-US" sz="1800" b="1" dirty="0">
                          <a:solidFill>
                            <a:srgbClr val="0000FF"/>
                          </a:solidFill>
                          <a:latin typeface="Times New Roman" panose="02020503050405090304" pitchFamily="18" charset="0"/>
                        </a:rPr>
                        <a:t>   </a:t>
                      </a:r>
                      <a:r>
                        <a:rPr kumimoji="1" lang="en-US" altLang="zh-CN" sz="1800" b="1" dirty="0">
                          <a:solidFill>
                            <a:srgbClr val="FF3300"/>
                          </a:solidFill>
                          <a:latin typeface="Times New Roman" panose="02020503050405090304" pitchFamily="18" charset="0"/>
                        </a:rPr>
                        <a:t>S</a:t>
                      </a:r>
                      <a:r>
                        <a:rPr kumimoji="1" lang="en-US" altLang="zh-CN" sz="1800" b="1" dirty="0">
                          <a:solidFill>
                            <a:srgbClr val="0000FF"/>
                          </a:solidFill>
                          <a:latin typeface="Times New Roman" panose="02020503050405090304" pitchFamily="18" charset="0"/>
                        </a:rPr>
                        <a:t>-&gt;</a:t>
                      </a:r>
                      <a:r>
                        <a:rPr kumimoji="1" lang="en-US" altLang="zh-CN" sz="1800" b="1" dirty="0">
                          <a:solidFill>
                            <a:srgbClr val="FF3300"/>
                          </a:solidFill>
                          <a:latin typeface="Times New Roman" panose="02020503050405090304" pitchFamily="18" charset="0"/>
                        </a:rPr>
                        <a:t>top = S</a:t>
                      </a:r>
                      <a:r>
                        <a:rPr kumimoji="1" lang="en-US" altLang="zh-CN" sz="1800" b="1" dirty="0">
                          <a:solidFill>
                            <a:srgbClr val="0000FF"/>
                          </a:solidFill>
                          <a:latin typeface="Times New Roman" panose="02020503050405090304" pitchFamily="18" charset="0"/>
                        </a:rPr>
                        <a:t>-&gt;</a:t>
                      </a:r>
                      <a:r>
                        <a:rPr kumimoji="1" lang="en-US" altLang="zh-CN" sz="1800" b="1" dirty="0">
                          <a:solidFill>
                            <a:srgbClr val="FF3300"/>
                          </a:solidFill>
                          <a:latin typeface="Times New Roman" panose="02020503050405090304" pitchFamily="18" charset="0"/>
                        </a:rPr>
                        <a:t>base;</a:t>
                      </a:r>
                    </a:p>
                    <a:p>
                      <a:pPr eaLnBrk="0" fontAlgn="base" hangingPunct="0">
                        <a:lnSpc>
                          <a:spcPct val="120000"/>
                        </a:lnSpc>
                        <a:spcBef>
                          <a:spcPct val="0"/>
                        </a:spcBef>
                        <a:spcAft>
                          <a:spcPct val="0"/>
                        </a:spcAft>
                      </a:pPr>
                      <a:r>
                        <a:rPr kumimoji="1" lang="en-US" altLang="zh-CN" sz="1800" b="1" dirty="0">
                          <a:solidFill>
                            <a:srgbClr val="FF3300"/>
                          </a:solidFill>
                          <a:latin typeface="Times New Roman" panose="02020503050405090304" pitchFamily="18" charset="0"/>
                        </a:rPr>
                        <a:t>   S</a:t>
                      </a:r>
                      <a:r>
                        <a:rPr kumimoji="1" lang="en-US" altLang="zh-CN" sz="1800" b="1" dirty="0">
                          <a:solidFill>
                            <a:srgbClr val="0000FF"/>
                          </a:solidFill>
                          <a:latin typeface="Times New Roman" panose="02020503050405090304" pitchFamily="18" charset="0"/>
                        </a:rPr>
                        <a:t>-&gt;</a:t>
                      </a:r>
                      <a:r>
                        <a:rPr kumimoji="1" lang="en-US" altLang="zh-CN" sz="1800" b="1" dirty="0" err="1">
                          <a:solidFill>
                            <a:srgbClr val="FF3300"/>
                          </a:solidFill>
                          <a:latin typeface="Times New Roman" panose="02020503050405090304" pitchFamily="18" charset="0"/>
                        </a:rPr>
                        <a:t>stacksize</a:t>
                      </a:r>
                      <a:r>
                        <a:rPr kumimoji="1" lang="en-US" altLang="zh-CN" sz="1800" b="1" dirty="0">
                          <a:solidFill>
                            <a:srgbClr val="FF3300"/>
                          </a:solidFill>
                          <a:latin typeface="Times New Roman" panose="02020503050405090304" pitchFamily="18" charset="0"/>
                        </a:rPr>
                        <a:t> = STACK_INIT_SIZE;</a:t>
                      </a:r>
                    </a:p>
                    <a:p>
                      <a:pPr eaLnBrk="0" fontAlgn="base" hangingPunct="0">
                        <a:lnSpc>
                          <a:spcPct val="120000"/>
                        </a:lnSpc>
                        <a:spcBef>
                          <a:spcPct val="0"/>
                        </a:spcBef>
                        <a:spcAft>
                          <a:spcPct val="0"/>
                        </a:spcAft>
                      </a:pPr>
                      <a:r>
                        <a:rPr kumimoji="1" lang="en-US" altLang="zh-CN" sz="1800" b="1" dirty="0">
                          <a:solidFill>
                            <a:srgbClr val="0000FF"/>
                          </a:solidFill>
                          <a:latin typeface="Times New Roman" panose="02020503050405090304" pitchFamily="18" charset="0"/>
                        </a:rPr>
                        <a:t>   return OK;</a:t>
                      </a:r>
                    </a:p>
                    <a:p>
                      <a:pPr eaLnBrk="0" fontAlgn="base" hangingPunct="0">
                        <a:spcBef>
                          <a:spcPct val="0"/>
                        </a:spcBef>
                        <a:spcAft>
                          <a:spcPct val="0"/>
                        </a:spcAft>
                      </a:pPr>
                      <a:r>
                        <a:rPr kumimoji="1" lang="en-US" altLang="zh-CN" sz="2000" b="1" dirty="0">
                          <a:solidFill>
                            <a:srgbClr val="0000FF"/>
                          </a:solidFill>
                          <a:latin typeface="Times New Roman" panose="02020503050405090304" pitchFamily="18" charset="0"/>
                        </a:rPr>
                        <a:t>}</a:t>
                      </a:r>
                    </a:p>
                  </a:txBody>
                  <a:tcPr marL="0" marR="0" marT="0" marB="0">
                    <a:lnL w="25400" cap="flat" cmpd="sng" algn="ctr">
                      <a:solidFill>
                        <a:srgbClr val="009900"/>
                      </a:solidFill>
                      <a:prstDash val="solid"/>
                      <a:round/>
                      <a:headEnd type="none" w="med" len="med"/>
                      <a:tailEnd type="none" w="med" len="med"/>
                    </a:lnL>
                    <a:lnR w="25400" cap="flat" cmpd="sng" algn="ctr">
                      <a:solidFill>
                        <a:srgbClr val="009900"/>
                      </a:solidFill>
                      <a:prstDash val="solid"/>
                      <a:round/>
                      <a:headEnd type="none" w="med" len="med"/>
                      <a:tailEnd type="none" w="med" len="med"/>
                    </a:lnR>
                    <a:lnT w="25400" cap="flat" cmpd="sng" algn="ctr">
                      <a:solidFill>
                        <a:srgbClr val="009900"/>
                      </a:solidFill>
                      <a:prstDash val="solid"/>
                      <a:round/>
                      <a:headEnd type="none" w="med" len="med"/>
                      <a:tailEnd type="none" w="med" len="med"/>
                    </a:lnT>
                    <a:lnB w="25400" cap="flat" cmpd="sng" algn="ctr">
                      <a:solidFill>
                        <a:srgbClr val="009900"/>
                      </a:solidFill>
                      <a:prstDash val="solid"/>
                      <a:round/>
                      <a:headEnd type="none" w="med" len="med"/>
                      <a:tailEnd type="none" w="med" len="med"/>
                    </a:lnB>
                    <a:solidFill>
                      <a:srgbClr val="FFFFCC"/>
                    </a:solidFill>
                  </a:tcPr>
                </a:tc>
                <a:extLst>
                  <a:ext uri="{0D108BD9-81ED-4DB2-BD59-A6C34878D82A}">
                    <a16:rowId xmlns:a16="http://schemas.microsoft.com/office/drawing/2014/main" val="10000"/>
                  </a:ext>
                </a:extLst>
              </a:tr>
            </a:tbl>
          </a:graphicData>
        </a:graphic>
      </p:graphicFrame>
      <p:sp>
        <p:nvSpPr>
          <p:cNvPr id="10" name="textbox 160"/>
          <p:cNvSpPr/>
          <p:nvPr/>
        </p:nvSpPr>
        <p:spPr>
          <a:xfrm>
            <a:off x="433166" y="370292"/>
            <a:ext cx="4605598" cy="405765"/>
          </a:xfrm>
          <a:prstGeom prst="rect">
            <a:avLst/>
          </a:prstGeom>
          <a:noFill/>
          <a:ln w="0" cap="flat">
            <a:noFill/>
            <a:prstDash val="solid"/>
            <a:miter lim="0"/>
          </a:ln>
        </p:spPr>
        <p:txBody>
          <a:bodyPr vert="horz" wrap="square" lIns="0" tIns="0" rIns="0" bIns="0"/>
          <a:lstStyle/>
          <a:p>
            <a:pPr algn="l" rtl="0" eaLnBrk="0">
              <a:lnSpc>
                <a:spcPct val="80000"/>
              </a:lnSpc>
            </a:pPr>
            <a:endParaRPr lang="zh-CN" altLang="en-US" sz="200" dirty="0">
              <a:solidFill>
                <a:srgbClr val="C00000"/>
              </a:solidFill>
              <a:latin typeface="Arial" panose="020B0604020202090204"/>
              <a:ea typeface="Arial" panose="020B0604020202090204"/>
              <a:cs typeface="Arial" panose="020B0604020202090204"/>
            </a:endParaRPr>
          </a:p>
          <a:p>
            <a:pPr marL="12700" algn="l" rtl="0" eaLnBrk="0">
              <a:lnSpc>
                <a:spcPct val="92000"/>
              </a:lnSpc>
            </a:pPr>
            <a:r>
              <a:rPr lang="zh-CN" altLang="en-US" sz="3200" b="1" kern="0" spc="30" dirty="0">
                <a:solidFill>
                  <a:srgbClr val="C00000"/>
                </a:solidFill>
                <a:latin typeface="华文中宋" panose="02010600040101010101" charset="-122"/>
                <a:ea typeface="华文中宋" panose="02010600040101010101" charset="-122"/>
                <a:cs typeface="华文中宋" panose="02010600040101010101" charset="-122"/>
              </a:rPr>
              <a:t>结构体中使用动态内存</a:t>
            </a:r>
            <a:endParaRPr lang="zh-CN" altLang="en-US" sz="3200" dirty="0">
              <a:solidFill>
                <a:srgbClr val="C00000"/>
              </a:solidFill>
              <a:latin typeface="华文中宋" panose="02010600040101010101" charset="-122"/>
              <a:ea typeface="华文中宋" panose="02010600040101010101" charset="-122"/>
              <a:cs typeface="华文中宋" panose="02010600040101010101" charset="-122"/>
            </a:endParaRPr>
          </a:p>
        </p:txBody>
      </p:sp>
      <p:sp>
        <p:nvSpPr>
          <p:cNvPr id="4" name="灯片编号占位符 3"/>
          <p:cNvSpPr>
            <a:spLocks noGrp="1"/>
          </p:cNvSpPr>
          <p:nvPr>
            <p:ph type="sldNum" sz="quarter" idx="10"/>
          </p:nvPr>
        </p:nvSpPr>
        <p:spPr/>
        <p:txBody>
          <a:bodyPr/>
          <a:lstStyle/>
          <a:p>
            <a:fld id="{FF06C3A7-B92A-4017-B3A5-9A7F07BC465B}" type="slidenum">
              <a:rPr lang="zh-CN" altLang="en-US" smtClean="0"/>
              <a:t>28</a:t>
            </a:fld>
            <a:r>
              <a:rPr lang="en-US" altLang="zh-CN" dirty="0"/>
              <a:t> </a:t>
            </a:r>
            <a:endParaRPr lang="zh-CN" altLang="en-US" dirty="0"/>
          </a:p>
        </p:txBody>
      </p:sp>
      <p:sp>
        <p:nvSpPr>
          <p:cNvPr id="2" name="文本框 1"/>
          <p:cNvSpPr txBox="1"/>
          <p:nvPr/>
        </p:nvSpPr>
        <p:spPr>
          <a:xfrm>
            <a:off x="6493510" y="1067435"/>
            <a:ext cx="4064000" cy="368300"/>
          </a:xfrm>
          <a:prstGeom prst="rect">
            <a:avLst/>
          </a:prstGeom>
          <a:noFill/>
        </p:spPr>
        <p:txBody>
          <a:bodyPr wrap="square" rtlCol="0">
            <a:spAutoFit/>
          </a:bodyPr>
          <a:lstStyle/>
          <a:p>
            <a:r>
              <a:rPr lang="zh-CN" altLang="en-US"/>
              <a:t>补充一下</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98"/>
          <p:cNvGraphicFramePr>
            <a:graphicFrameLocks noGrp="1"/>
          </p:cNvGraphicFramePr>
          <p:nvPr/>
        </p:nvGraphicFramePr>
        <p:xfrm>
          <a:off x="433166" y="1884299"/>
          <a:ext cx="8870034" cy="4861560"/>
        </p:xfrm>
        <a:graphic>
          <a:graphicData uri="http://schemas.openxmlformats.org/drawingml/2006/table">
            <a:tbl>
              <a:tblPr>
                <a:solidFill>
                  <a:srgbClr val="FFFFCC"/>
                </a:solidFill>
              </a:tblPr>
              <a:tblGrid>
                <a:gridCol w="8870034">
                  <a:extLst>
                    <a:ext uri="{9D8B030D-6E8A-4147-A177-3AD203B41FA5}">
                      <a16:colId xmlns:a16="http://schemas.microsoft.com/office/drawing/2014/main" val="20000"/>
                    </a:ext>
                  </a:extLst>
                </a:gridCol>
              </a:tblGrid>
              <a:tr h="4116650">
                <a:tc>
                  <a:txBody>
                    <a:bodyPr/>
                    <a:lstStyle/>
                    <a:p>
                      <a:pPr marL="111125" algn="l" rtl="0" eaLnBrk="0">
                        <a:lnSpc>
                          <a:spcPct val="125000"/>
                        </a:lnSpc>
                      </a:pPr>
                      <a:r>
                        <a:rPr lang="zh-CN" altLang="en-US" sz="2000" b="1" kern="0" spc="-30" dirty="0">
                          <a:solidFill>
                            <a:srgbClr val="2F2F2F">
                              <a:alpha val="100000"/>
                            </a:srgbClr>
                          </a:solidFill>
                          <a:latin typeface="华文中宋" panose="02010600040101010101" charset="-122"/>
                          <a:ea typeface="华文中宋" panose="02010600040101010101" charset="-122"/>
                          <a:cs typeface="华文中宋" panose="02010600040101010101" charset="-122"/>
                        </a:rPr>
                        <a:t>  </a:t>
                      </a:r>
                      <a:r>
                        <a:rPr lang="en-US" altLang="zh-CN" sz="2000" b="1" kern="0" spc="-30" dirty="0">
                          <a:solidFill>
                            <a:srgbClr val="2F2F2F">
                              <a:alpha val="100000"/>
                            </a:srgbClr>
                          </a:solidFill>
                          <a:latin typeface="华文中宋" panose="02010600040101010101" charset="-122"/>
                          <a:ea typeface="华文中宋" panose="02010600040101010101" charset="-122"/>
                          <a:cs typeface="华文中宋" panose="02010600040101010101" charset="-122"/>
                        </a:rPr>
                        <a:t>//----- </a:t>
                      </a:r>
                      <a:r>
                        <a:rPr lang="zh-CN" altLang="en-US" sz="2000" b="1" kern="0" spc="-30" dirty="0">
                          <a:solidFill>
                            <a:srgbClr val="2F2F2F">
                              <a:alpha val="100000"/>
                            </a:srgbClr>
                          </a:solidFill>
                          <a:latin typeface="华文中宋" panose="02010600040101010101" charset="-122"/>
                          <a:ea typeface="华文中宋" panose="02010600040101010101" charset="-122"/>
                          <a:cs typeface="华文中宋" panose="02010600040101010101" charset="-122"/>
                        </a:rPr>
                        <a:t>栈的动态扩容</a:t>
                      </a:r>
                      <a:r>
                        <a:rPr lang="en-US" altLang="zh-CN" sz="2000" b="1" kern="0" spc="-30" dirty="0">
                          <a:solidFill>
                            <a:srgbClr val="2F2F2F">
                              <a:alpha val="100000"/>
                            </a:srgbClr>
                          </a:solidFill>
                          <a:latin typeface="华文中宋" panose="02010600040101010101" charset="-122"/>
                          <a:ea typeface="华文中宋" panose="02010600040101010101" charset="-122"/>
                          <a:cs typeface="华文中宋" panose="02010600040101010101" charset="-122"/>
                        </a:rPr>
                        <a:t>-----</a:t>
                      </a:r>
                    </a:p>
                    <a:p>
                      <a:pPr eaLnBrk="0" fontAlgn="base" hangingPunct="0">
                        <a:spcBef>
                          <a:spcPct val="0"/>
                        </a:spcBef>
                        <a:spcAft>
                          <a:spcPct val="0"/>
                        </a:spcAft>
                        <a:defRPr/>
                      </a:pPr>
                      <a:r>
                        <a:rPr kumimoji="1" lang="zh-CN" altLang="en-US" sz="2000" b="1" kern="0" dirty="0">
                          <a:solidFill>
                            <a:srgbClr val="000000"/>
                          </a:solidFill>
                          <a:latin typeface="Times New Roman" panose="02020503050405090304" pitchFamily="18" charset="0"/>
                          <a:ea typeface="宋体"/>
                        </a:rPr>
                        <a:t>  </a:t>
                      </a:r>
                      <a:r>
                        <a:rPr kumimoji="1" lang="en-US" altLang="zh-CN" sz="2000" b="1" kern="0" dirty="0">
                          <a:solidFill>
                            <a:srgbClr val="000000"/>
                          </a:solidFill>
                          <a:latin typeface="Times New Roman" panose="02020503050405090304" pitchFamily="18" charset="0"/>
                          <a:ea typeface="宋体"/>
                        </a:rPr>
                        <a:t>Status Push (</a:t>
                      </a:r>
                      <a:r>
                        <a:rPr kumimoji="1" lang="en-US" altLang="zh-CN" sz="2000" b="1" kern="0" dirty="0" err="1">
                          <a:solidFill>
                            <a:srgbClr val="000000"/>
                          </a:solidFill>
                          <a:latin typeface="Times New Roman" panose="02020503050405090304" pitchFamily="18" charset="0"/>
                          <a:ea typeface="宋体"/>
                        </a:rPr>
                        <a:t>SqStack</a:t>
                      </a:r>
                      <a:r>
                        <a:rPr kumimoji="1" lang="en-US" altLang="zh-CN" sz="2000" b="1" kern="0" dirty="0">
                          <a:solidFill>
                            <a:srgbClr val="000000"/>
                          </a:solidFill>
                          <a:latin typeface="Times New Roman" panose="02020503050405090304" pitchFamily="18" charset="0"/>
                          <a:ea typeface="宋体"/>
                        </a:rPr>
                        <a:t> </a:t>
                      </a:r>
                      <a:r>
                        <a:rPr kumimoji="1" lang="zh-CN" altLang="en-US" sz="2000" b="1" kern="0" dirty="0">
                          <a:solidFill>
                            <a:srgbClr val="000000"/>
                          </a:solidFill>
                          <a:latin typeface="Times New Roman" panose="02020503050405090304" pitchFamily="18" charset="0"/>
                          <a:ea typeface="宋体"/>
                        </a:rPr>
                        <a:t>*</a:t>
                      </a:r>
                      <a:r>
                        <a:rPr kumimoji="1" lang="en-US" altLang="zh-CN" sz="2000" b="1" kern="0" dirty="0">
                          <a:solidFill>
                            <a:srgbClr val="000000"/>
                          </a:solidFill>
                          <a:latin typeface="Times New Roman" panose="02020503050405090304" pitchFamily="18" charset="0"/>
                          <a:ea typeface="宋体"/>
                        </a:rPr>
                        <a:t>S, </a:t>
                      </a:r>
                      <a:r>
                        <a:rPr kumimoji="1" lang="en-US" altLang="zh-CN" sz="2000" b="1" kern="0" dirty="0" err="1">
                          <a:solidFill>
                            <a:srgbClr val="000000"/>
                          </a:solidFill>
                          <a:latin typeface="Times New Roman" panose="02020503050405090304" pitchFamily="18" charset="0"/>
                          <a:ea typeface="宋体"/>
                        </a:rPr>
                        <a:t>DataType</a:t>
                      </a:r>
                      <a:r>
                        <a:rPr kumimoji="1" lang="en-US" altLang="zh-CN" sz="2000" b="1" kern="0" dirty="0">
                          <a:solidFill>
                            <a:srgbClr val="000000"/>
                          </a:solidFill>
                          <a:latin typeface="Times New Roman" panose="02020503050405090304" pitchFamily="18" charset="0"/>
                          <a:ea typeface="宋体"/>
                        </a:rPr>
                        <a:t> e) {</a:t>
                      </a:r>
                    </a:p>
                    <a:p>
                      <a:pPr eaLnBrk="0" fontAlgn="base" hangingPunct="0">
                        <a:spcBef>
                          <a:spcPct val="0"/>
                        </a:spcBef>
                        <a:spcAft>
                          <a:spcPct val="0"/>
                        </a:spcAft>
                        <a:defRPr/>
                      </a:pPr>
                      <a:r>
                        <a:rPr kumimoji="1" lang="en-US" altLang="zh-CN" sz="2000" b="1" kern="0" dirty="0">
                          <a:solidFill>
                            <a:srgbClr val="000000"/>
                          </a:solidFill>
                          <a:latin typeface="Times New Roman" panose="02020503050405090304" pitchFamily="18" charset="0"/>
                          <a:ea typeface="宋体"/>
                        </a:rPr>
                        <a:t>   </a:t>
                      </a:r>
                      <a:r>
                        <a:rPr kumimoji="1" lang="zh-CN" altLang="en-US" sz="2000" b="1" kern="0" dirty="0">
                          <a:solidFill>
                            <a:srgbClr val="000000"/>
                          </a:solidFill>
                          <a:latin typeface="Times New Roman" panose="02020503050405090304" pitchFamily="18" charset="0"/>
                          <a:ea typeface="宋体"/>
                        </a:rPr>
                        <a:t>  </a:t>
                      </a:r>
                      <a:r>
                        <a:rPr kumimoji="1" lang="en-US" altLang="zh-CN" sz="1800" b="1" kern="0" dirty="0">
                          <a:solidFill>
                            <a:srgbClr val="000000"/>
                          </a:solidFill>
                          <a:latin typeface="Times New Roman" panose="02020503050405090304" pitchFamily="18" charset="0"/>
                          <a:ea typeface="宋体"/>
                        </a:rPr>
                        <a:t>if (S</a:t>
                      </a:r>
                      <a:r>
                        <a:rPr kumimoji="1" lang="en-US" altLang="zh-CN" sz="1800" b="1" dirty="0">
                          <a:solidFill>
                            <a:srgbClr val="0000FF"/>
                          </a:solidFill>
                          <a:latin typeface="Times New Roman" panose="02020503050405090304" pitchFamily="18" charset="0"/>
                        </a:rPr>
                        <a:t>-&gt;</a:t>
                      </a:r>
                      <a:r>
                        <a:rPr kumimoji="1" lang="en-US" altLang="zh-CN" sz="1800" b="1" kern="0" dirty="0">
                          <a:solidFill>
                            <a:srgbClr val="000000"/>
                          </a:solidFill>
                          <a:latin typeface="Times New Roman" panose="02020503050405090304" pitchFamily="18" charset="0"/>
                          <a:ea typeface="宋体"/>
                        </a:rPr>
                        <a:t>top - S</a:t>
                      </a:r>
                      <a:r>
                        <a:rPr kumimoji="1" lang="en-US" altLang="zh-CN" sz="1800" b="1" dirty="0">
                          <a:solidFill>
                            <a:srgbClr val="0000FF"/>
                          </a:solidFill>
                          <a:latin typeface="Times New Roman" panose="02020503050405090304" pitchFamily="18" charset="0"/>
                        </a:rPr>
                        <a:t>-&gt;</a:t>
                      </a:r>
                      <a:r>
                        <a:rPr kumimoji="1" lang="en-US" altLang="zh-CN" sz="1800" b="1" kern="0" dirty="0">
                          <a:solidFill>
                            <a:srgbClr val="000000"/>
                          </a:solidFill>
                          <a:latin typeface="Times New Roman" panose="02020503050405090304" pitchFamily="18" charset="0"/>
                          <a:ea typeface="宋体"/>
                        </a:rPr>
                        <a:t>base &gt;= S</a:t>
                      </a:r>
                      <a:r>
                        <a:rPr kumimoji="1" lang="en-US" altLang="zh-CN" sz="1800" b="1" dirty="0">
                          <a:solidFill>
                            <a:srgbClr val="0000FF"/>
                          </a:solidFill>
                          <a:latin typeface="Times New Roman" panose="02020503050405090304" pitchFamily="18" charset="0"/>
                        </a:rPr>
                        <a:t>-&gt;</a:t>
                      </a:r>
                      <a:r>
                        <a:rPr kumimoji="1" lang="en-US" altLang="zh-CN" sz="1800" b="1" kern="0" dirty="0" err="1">
                          <a:solidFill>
                            <a:srgbClr val="000000"/>
                          </a:solidFill>
                          <a:latin typeface="Times New Roman" panose="02020503050405090304" pitchFamily="18" charset="0"/>
                          <a:ea typeface="宋体"/>
                        </a:rPr>
                        <a:t>stacksize</a:t>
                      </a:r>
                      <a:r>
                        <a:rPr kumimoji="1" lang="en-US" altLang="zh-CN" sz="1800" b="1" kern="0" dirty="0">
                          <a:solidFill>
                            <a:srgbClr val="000000"/>
                          </a:solidFill>
                          <a:latin typeface="Times New Roman" panose="02020503050405090304" pitchFamily="18" charset="0"/>
                          <a:ea typeface="宋体"/>
                        </a:rPr>
                        <a:t>)               //</a:t>
                      </a:r>
                      <a:r>
                        <a:rPr kumimoji="1" lang="zh-CN" altLang="en-US" sz="1800" b="1" kern="0" dirty="0">
                          <a:solidFill>
                            <a:srgbClr val="000000"/>
                          </a:solidFill>
                          <a:latin typeface="Times New Roman" panose="02020503050405090304" pitchFamily="18" charset="0"/>
                          <a:ea typeface="宋体"/>
                        </a:rPr>
                        <a:t>栈满，追加存储空间</a:t>
                      </a:r>
                      <a:endParaRPr kumimoji="1" lang="en-US" altLang="zh-CN" sz="1800" b="1" kern="0" dirty="0">
                        <a:solidFill>
                          <a:srgbClr val="000000"/>
                        </a:solidFill>
                        <a:latin typeface="Times New Roman" panose="02020503050405090304" pitchFamily="18" charset="0"/>
                        <a:ea typeface="宋体"/>
                      </a:endParaRPr>
                    </a:p>
                    <a:p>
                      <a:pPr eaLnBrk="0" fontAlgn="base" hangingPunct="0">
                        <a:spcBef>
                          <a:spcPct val="0"/>
                        </a:spcBef>
                        <a:spcAft>
                          <a:spcPct val="0"/>
                        </a:spcAft>
                        <a:defRPr/>
                      </a:pPr>
                      <a:r>
                        <a:rPr kumimoji="1" lang="en-US" altLang="zh-CN" sz="1800" b="1" kern="0" dirty="0">
                          <a:solidFill>
                            <a:srgbClr val="000000"/>
                          </a:solidFill>
                          <a:latin typeface="Times New Roman" panose="02020503050405090304" pitchFamily="18" charset="0"/>
                          <a:ea typeface="宋体"/>
                        </a:rPr>
                        <a:t>      { </a:t>
                      </a:r>
                    </a:p>
                    <a:p>
                      <a:pPr eaLnBrk="0" fontAlgn="base" hangingPunct="0">
                        <a:spcBef>
                          <a:spcPct val="0"/>
                        </a:spcBef>
                        <a:spcAft>
                          <a:spcPct val="0"/>
                        </a:spcAft>
                        <a:defRPr/>
                      </a:pPr>
                      <a:r>
                        <a:rPr kumimoji="1" lang="zh-CN" altLang="en-US" sz="1800" b="1" kern="0" dirty="0">
                          <a:solidFill>
                            <a:srgbClr val="000000"/>
                          </a:solidFill>
                          <a:latin typeface="Times New Roman" panose="02020503050405090304" pitchFamily="18" charset="0"/>
                          <a:ea typeface="宋体"/>
                        </a:rPr>
                        <a:t>         </a:t>
                      </a:r>
                      <a:r>
                        <a:rPr kumimoji="1" lang="en-US" altLang="zh-CN" sz="1800" b="1" kern="0" dirty="0" err="1">
                          <a:solidFill>
                            <a:srgbClr val="000000"/>
                          </a:solidFill>
                          <a:latin typeface="Times New Roman" panose="02020503050405090304" pitchFamily="18" charset="0"/>
                          <a:ea typeface="宋体"/>
                        </a:rPr>
                        <a:t>DataType</a:t>
                      </a:r>
                      <a:r>
                        <a:rPr kumimoji="1" lang="zh-CN" altLang="en-US" sz="1800" b="1" kern="0" dirty="0">
                          <a:solidFill>
                            <a:srgbClr val="000000"/>
                          </a:solidFill>
                          <a:latin typeface="Times New Roman" panose="02020503050405090304" pitchFamily="18" charset="0"/>
                          <a:ea typeface="宋体"/>
                        </a:rPr>
                        <a:t> * </a:t>
                      </a:r>
                      <a:r>
                        <a:rPr kumimoji="1" lang="en-US" altLang="zh-CN" sz="1800" b="1" kern="0" dirty="0">
                          <a:solidFill>
                            <a:srgbClr val="000000"/>
                          </a:solidFill>
                          <a:latin typeface="Times New Roman" panose="02020503050405090304" pitchFamily="18" charset="0"/>
                          <a:ea typeface="宋体"/>
                        </a:rPr>
                        <a:t>temp</a:t>
                      </a:r>
                      <a:r>
                        <a:rPr kumimoji="1" lang="zh-CN" altLang="en-US" sz="1800" b="1" kern="0" dirty="0">
                          <a:solidFill>
                            <a:srgbClr val="000000"/>
                          </a:solidFill>
                          <a:latin typeface="Times New Roman" panose="02020503050405090304" pitchFamily="18" charset="0"/>
                          <a:ea typeface="宋体"/>
                        </a:rPr>
                        <a:t> </a:t>
                      </a:r>
                      <a:r>
                        <a:rPr kumimoji="1" lang="en-US" altLang="zh-CN" sz="1800" b="1" kern="0" dirty="0">
                          <a:solidFill>
                            <a:srgbClr val="000000"/>
                          </a:solidFill>
                          <a:latin typeface="Times New Roman" panose="02020503050405090304" pitchFamily="18" charset="0"/>
                          <a:ea typeface="宋体"/>
                        </a:rPr>
                        <a:t>=</a:t>
                      </a:r>
                      <a:r>
                        <a:rPr kumimoji="1" lang="zh-CN" altLang="en-US" sz="1800" b="1" kern="0" dirty="0">
                          <a:solidFill>
                            <a:srgbClr val="000000"/>
                          </a:solidFill>
                          <a:latin typeface="Times New Roman" panose="02020503050405090304" pitchFamily="18" charset="0"/>
                          <a:ea typeface="宋体"/>
                        </a:rPr>
                        <a:t> </a:t>
                      </a:r>
                      <a:r>
                        <a:rPr kumimoji="1" lang="en-US" altLang="zh-CN" sz="1800" b="1" kern="0" dirty="0">
                          <a:solidFill>
                            <a:srgbClr val="000000"/>
                          </a:solidFill>
                          <a:latin typeface="Times New Roman" panose="02020503050405090304" pitchFamily="18" charset="0"/>
                          <a:ea typeface="宋体"/>
                        </a:rPr>
                        <a:t>NULL;</a:t>
                      </a:r>
                    </a:p>
                    <a:p>
                      <a:pPr eaLnBrk="0" fontAlgn="base" hangingPunct="0">
                        <a:spcBef>
                          <a:spcPct val="0"/>
                        </a:spcBef>
                        <a:spcAft>
                          <a:spcPct val="0"/>
                        </a:spcAft>
                        <a:defRPr/>
                      </a:pPr>
                      <a:r>
                        <a:rPr kumimoji="1" lang="zh-CN" altLang="en-US" sz="1800" b="1" kern="0" dirty="0">
                          <a:solidFill>
                            <a:srgbClr val="000000"/>
                          </a:solidFill>
                          <a:latin typeface="Times New Roman" panose="02020503050405090304" pitchFamily="18" charset="0"/>
                          <a:ea typeface="宋体"/>
                        </a:rPr>
                        <a:t>         </a:t>
                      </a:r>
                      <a:r>
                        <a:rPr kumimoji="1" lang="en-US" altLang="zh-CN" sz="1800" b="1" kern="0" dirty="0">
                          <a:solidFill>
                            <a:srgbClr val="000000"/>
                          </a:solidFill>
                          <a:latin typeface="Times New Roman" panose="02020503050405090304" pitchFamily="18" charset="0"/>
                          <a:ea typeface="宋体"/>
                        </a:rPr>
                        <a:t>temp</a:t>
                      </a:r>
                      <a:r>
                        <a:rPr kumimoji="1" lang="zh-CN" altLang="en-US" sz="1800" b="1" kern="0" dirty="0">
                          <a:solidFill>
                            <a:srgbClr val="000000"/>
                          </a:solidFill>
                          <a:latin typeface="Times New Roman" panose="02020503050405090304" pitchFamily="18" charset="0"/>
                          <a:ea typeface="宋体"/>
                        </a:rPr>
                        <a:t> </a:t>
                      </a:r>
                      <a:r>
                        <a:rPr kumimoji="1" lang="en-US" altLang="zh-CN" sz="1800" b="1" kern="0" dirty="0">
                          <a:solidFill>
                            <a:srgbClr val="000000"/>
                          </a:solidFill>
                          <a:latin typeface="Times New Roman" panose="02020503050405090304" pitchFamily="18" charset="0"/>
                          <a:ea typeface="宋体"/>
                        </a:rPr>
                        <a:t>= (</a:t>
                      </a:r>
                      <a:r>
                        <a:rPr kumimoji="1" lang="en-US" altLang="zh-CN" sz="1800" b="1" kern="0" dirty="0" err="1">
                          <a:solidFill>
                            <a:srgbClr val="000000"/>
                          </a:solidFill>
                          <a:latin typeface="Times New Roman" panose="02020503050405090304" pitchFamily="18" charset="0"/>
                          <a:ea typeface="宋体"/>
                        </a:rPr>
                        <a:t>DataType</a:t>
                      </a:r>
                      <a:r>
                        <a:rPr kumimoji="1" lang="en-US" altLang="zh-CN" sz="1800" b="1" kern="0" dirty="0">
                          <a:solidFill>
                            <a:srgbClr val="000000"/>
                          </a:solidFill>
                          <a:latin typeface="Times New Roman" panose="02020503050405090304" pitchFamily="18" charset="0"/>
                          <a:ea typeface="宋体"/>
                        </a:rPr>
                        <a:t> *) </a:t>
                      </a:r>
                      <a:r>
                        <a:rPr kumimoji="1" lang="en-US" altLang="zh-CN" sz="1800" b="1" kern="0" dirty="0" err="1">
                          <a:solidFill>
                            <a:srgbClr val="FF0000"/>
                          </a:solidFill>
                          <a:latin typeface="Times New Roman" panose="02020503050405090304" pitchFamily="18" charset="0"/>
                          <a:ea typeface="宋体"/>
                        </a:rPr>
                        <a:t>realloc</a:t>
                      </a:r>
                      <a:r>
                        <a:rPr kumimoji="1" lang="en-US" altLang="zh-CN" sz="1800" b="1" kern="0" dirty="0">
                          <a:solidFill>
                            <a:srgbClr val="FF0000"/>
                          </a:solidFill>
                          <a:latin typeface="Times New Roman" panose="02020503050405090304" pitchFamily="18" charset="0"/>
                          <a:ea typeface="宋体"/>
                        </a:rPr>
                        <a:t> </a:t>
                      </a:r>
                      <a:r>
                        <a:rPr kumimoji="1" lang="en-US" altLang="zh-CN" sz="1800" b="1" kern="0" dirty="0">
                          <a:solidFill>
                            <a:srgbClr val="000000"/>
                          </a:solidFill>
                          <a:latin typeface="Times New Roman" panose="02020503050405090304" pitchFamily="18" charset="0"/>
                          <a:ea typeface="宋体"/>
                        </a:rPr>
                        <a:t>( S</a:t>
                      </a:r>
                      <a:r>
                        <a:rPr kumimoji="1" lang="en-US" altLang="zh-CN" sz="1800" b="1" dirty="0">
                          <a:solidFill>
                            <a:srgbClr val="0000FF"/>
                          </a:solidFill>
                          <a:latin typeface="Times New Roman" panose="02020503050405090304" pitchFamily="18" charset="0"/>
                        </a:rPr>
                        <a:t>-&gt;</a:t>
                      </a:r>
                      <a:r>
                        <a:rPr kumimoji="1" lang="en-US" altLang="zh-CN" sz="1800" b="1" kern="0" dirty="0">
                          <a:solidFill>
                            <a:srgbClr val="000000"/>
                          </a:solidFill>
                          <a:latin typeface="Times New Roman" panose="02020503050405090304" pitchFamily="18" charset="0"/>
                          <a:ea typeface="宋体"/>
                        </a:rPr>
                        <a:t>base,</a:t>
                      </a:r>
                      <a:r>
                        <a:rPr kumimoji="1" lang="zh-CN" altLang="en-US" sz="1800" b="1" kern="0" dirty="0">
                          <a:solidFill>
                            <a:srgbClr val="000000"/>
                          </a:solidFill>
                          <a:latin typeface="Times New Roman" panose="02020503050405090304" pitchFamily="18" charset="0"/>
                          <a:ea typeface="宋体"/>
                        </a:rPr>
                        <a:t> </a:t>
                      </a:r>
                      <a:endParaRPr kumimoji="1" lang="en-US" altLang="zh-CN" sz="1800" b="1" kern="0" dirty="0">
                        <a:solidFill>
                          <a:srgbClr val="000000"/>
                        </a:solidFill>
                        <a:latin typeface="Times New Roman" panose="02020503050405090304" pitchFamily="18" charset="0"/>
                        <a:ea typeface="宋体"/>
                      </a:endParaRPr>
                    </a:p>
                    <a:p>
                      <a:pPr eaLnBrk="0" fontAlgn="base" hangingPunct="0">
                        <a:spcBef>
                          <a:spcPct val="0"/>
                        </a:spcBef>
                        <a:spcAft>
                          <a:spcPct val="0"/>
                        </a:spcAft>
                        <a:defRPr/>
                      </a:pPr>
                      <a:r>
                        <a:rPr kumimoji="1" lang="en-US" altLang="zh-CN" sz="1800" b="1" kern="0" dirty="0">
                          <a:solidFill>
                            <a:srgbClr val="000000"/>
                          </a:solidFill>
                          <a:latin typeface="Times New Roman" panose="02020503050405090304" pitchFamily="18" charset="0"/>
                          <a:ea typeface="宋体"/>
                        </a:rPr>
                        <a:t>         (S</a:t>
                      </a:r>
                      <a:r>
                        <a:rPr kumimoji="1" lang="en-US" altLang="zh-CN" sz="1800" b="1" dirty="0">
                          <a:solidFill>
                            <a:srgbClr val="0000FF"/>
                          </a:solidFill>
                          <a:latin typeface="Times New Roman" panose="02020503050405090304" pitchFamily="18" charset="0"/>
                        </a:rPr>
                        <a:t>-&gt;</a:t>
                      </a:r>
                      <a:r>
                        <a:rPr kumimoji="1" lang="en-US" altLang="zh-CN" sz="1800" b="1" kern="0" dirty="0" err="1">
                          <a:solidFill>
                            <a:srgbClr val="000000"/>
                          </a:solidFill>
                          <a:latin typeface="Times New Roman" panose="02020503050405090304" pitchFamily="18" charset="0"/>
                          <a:ea typeface="宋体"/>
                        </a:rPr>
                        <a:t>stacksize</a:t>
                      </a:r>
                      <a:r>
                        <a:rPr kumimoji="1" lang="en-US" altLang="zh-CN" sz="1800" b="1" kern="0" dirty="0">
                          <a:solidFill>
                            <a:srgbClr val="000000"/>
                          </a:solidFill>
                          <a:latin typeface="Times New Roman" panose="02020503050405090304" pitchFamily="18" charset="0"/>
                          <a:ea typeface="宋体"/>
                        </a:rPr>
                        <a:t> + STACKINCREMENT) *  </a:t>
                      </a:r>
                      <a:r>
                        <a:rPr kumimoji="1" lang="en-US" altLang="zh-CN" sz="1800" b="1" kern="0" dirty="0" err="1">
                          <a:solidFill>
                            <a:srgbClr val="000000"/>
                          </a:solidFill>
                          <a:latin typeface="Times New Roman" panose="02020503050405090304" pitchFamily="18" charset="0"/>
                          <a:ea typeface="宋体"/>
                        </a:rPr>
                        <a:t>sizeof</a:t>
                      </a:r>
                      <a:r>
                        <a:rPr kumimoji="1" lang="en-US" altLang="zh-CN" sz="1800" b="1" kern="0" dirty="0">
                          <a:solidFill>
                            <a:srgbClr val="000000"/>
                          </a:solidFill>
                          <a:latin typeface="Times New Roman" panose="02020503050405090304" pitchFamily="18" charset="0"/>
                          <a:ea typeface="宋体"/>
                        </a:rPr>
                        <a:t> (</a:t>
                      </a:r>
                      <a:r>
                        <a:rPr kumimoji="1" lang="en-US" altLang="zh-CN" sz="1800" b="1" kern="0" dirty="0" err="1">
                          <a:solidFill>
                            <a:srgbClr val="000000"/>
                          </a:solidFill>
                          <a:latin typeface="Times New Roman" panose="02020503050405090304" pitchFamily="18" charset="0"/>
                          <a:ea typeface="宋体"/>
                        </a:rPr>
                        <a:t>DataType</a:t>
                      </a:r>
                      <a:r>
                        <a:rPr kumimoji="1" lang="en-US" altLang="zh-CN" sz="1800" b="1" kern="0" dirty="0">
                          <a:solidFill>
                            <a:srgbClr val="000000"/>
                          </a:solidFill>
                          <a:latin typeface="Times New Roman" panose="02020503050405090304" pitchFamily="18" charset="0"/>
                          <a:ea typeface="宋体"/>
                        </a:rPr>
                        <a:t>));</a:t>
                      </a:r>
                    </a:p>
                    <a:p>
                      <a:pPr eaLnBrk="0" fontAlgn="base" hangingPunct="0">
                        <a:spcBef>
                          <a:spcPct val="0"/>
                        </a:spcBef>
                        <a:spcAft>
                          <a:spcPct val="0"/>
                        </a:spcAft>
                        <a:defRPr/>
                      </a:pPr>
                      <a:endParaRPr kumimoji="1" lang="en-US" altLang="zh-CN" sz="1800" b="1" kern="0" dirty="0">
                        <a:solidFill>
                          <a:srgbClr val="000000"/>
                        </a:solidFill>
                        <a:latin typeface="Times New Roman" panose="02020503050405090304" pitchFamily="18" charset="0"/>
                        <a:ea typeface="宋体"/>
                      </a:endParaRPr>
                    </a:p>
                    <a:p>
                      <a:pPr eaLnBrk="0" fontAlgn="base" hangingPunct="0">
                        <a:spcBef>
                          <a:spcPct val="0"/>
                        </a:spcBef>
                        <a:spcAft>
                          <a:spcPct val="0"/>
                        </a:spcAft>
                        <a:defRPr/>
                      </a:pPr>
                      <a:r>
                        <a:rPr kumimoji="1" lang="en-US" altLang="zh-CN" sz="1800" b="1" kern="0" dirty="0">
                          <a:solidFill>
                            <a:srgbClr val="000000"/>
                          </a:solidFill>
                          <a:latin typeface="Times New Roman" panose="02020503050405090304" pitchFamily="18" charset="0"/>
                          <a:ea typeface="宋体"/>
                        </a:rPr>
                        <a:t>       </a:t>
                      </a:r>
                      <a:r>
                        <a:rPr kumimoji="1" lang="zh-CN" altLang="en-US" sz="1800" b="1" kern="0" dirty="0">
                          <a:solidFill>
                            <a:srgbClr val="000000"/>
                          </a:solidFill>
                          <a:latin typeface="Times New Roman" panose="02020503050405090304" pitchFamily="18" charset="0"/>
                          <a:ea typeface="宋体"/>
                        </a:rPr>
                        <a:t> </a:t>
                      </a:r>
                      <a:r>
                        <a:rPr kumimoji="1" lang="en-US" altLang="zh-CN" sz="1800" b="1" kern="0" dirty="0">
                          <a:solidFill>
                            <a:srgbClr val="000000"/>
                          </a:solidFill>
                          <a:latin typeface="Times New Roman" panose="02020503050405090304" pitchFamily="18" charset="0"/>
                          <a:ea typeface="宋体"/>
                        </a:rPr>
                        <a:t> </a:t>
                      </a:r>
                      <a:r>
                        <a:rPr kumimoji="1" lang="en-US" altLang="zh-CN" sz="1800" b="1" kern="0" dirty="0">
                          <a:solidFill>
                            <a:srgbClr val="C00000"/>
                          </a:solidFill>
                          <a:latin typeface="Times New Roman" panose="02020503050405090304" pitchFamily="18" charset="0"/>
                          <a:ea typeface="宋体"/>
                        </a:rPr>
                        <a:t>if (!temp) exit (OVERFLOW);         //</a:t>
                      </a:r>
                      <a:r>
                        <a:rPr kumimoji="1" lang="zh-CN" altLang="en-US" sz="1800" b="1" kern="0" dirty="0">
                          <a:solidFill>
                            <a:srgbClr val="C00000"/>
                          </a:solidFill>
                          <a:latin typeface="Times New Roman" panose="02020503050405090304" pitchFamily="18" charset="0"/>
                          <a:ea typeface="宋体"/>
                        </a:rPr>
                        <a:t>存储分配失败</a:t>
                      </a:r>
                      <a:r>
                        <a:rPr kumimoji="1" lang="zh-CN" altLang="en-US" sz="1800" b="1" kern="0" dirty="0">
                          <a:solidFill>
                            <a:srgbClr val="000000"/>
                          </a:solidFill>
                          <a:latin typeface="Times New Roman" panose="02020503050405090304" pitchFamily="18" charset="0"/>
                          <a:ea typeface="宋体"/>
                        </a:rPr>
                        <a:t>         </a:t>
                      </a:r>
                      <a:endParaRPr kumimoji="1" lang="en-US" altLang="zh-CN" sz="1800" b="1" kern="0" dirty="0">
                        <a:solidFill>
                          <a:srgbClr val="000000"/>
                        </a:solidFill>
                        <a:latin typeface="Times New Roman" panose="02020503050405090304" pitchFamily="18" charset="0"/>
                        <a:ea typeface="宋体"/>
                      </a:endParaRPr>
                    </a:p>
                    <a:p>
                      <a:pPr eaLnBrk="0" fontAlgn="base" hangingPunct="0">
                        <a:spcBef>
                          <a:spcPct val="0"/>
                        </a:spcBef>
                        <a:spcAft>
                          <a:spcPct val="0"/>
                        </a:spcAft>
                        <a:defRPr/>
                      </a:pPr>
                      <a:r>
                        <a:rPr kumimoji="1" lang="zh-CN" altLang="en-US" sz="1800" b="1" kern="0" dirty="0">
                          <a:solidFill>
                            <a:srgbClr val="C00000"/>
                          </a:solidFill>
                          <a:latin typeface="Times New Roman" panose="02020503050405090304" pitchFamily="18" charset="0"/>
                          <a:ea typeface="宋体"/>
                        </a:rPr>
                        <a:t>         </a:t>
                      </a:r>
                      <a:r>
                        <a:rPr kumimoji="1" lang="en-US" altLang="zh-CN" sz="1800" b="1" kern="0" dirty="0">
                          <a:solidFill>
                            <a:srgbClr val="C00000"/>
                          </a:solidFill>
                          <a:latin typeface="Times New Roman" panose="02020503050405090304" pitchFamily="18" charset="0"/>
                          <a:ea typeface="+mn-ea"/>
                        </a:rPr>
                        <a:t>S</a:t>
                      </a:r>
                      <a:r>
                        <a:rPr kumimoji="1" lang="en-US" altLang="zh-CN" sz="1800" b="1" dirty="0">
                          <a:solidFill>
                            <a:srgbClr val="C00000"/>
                          </a:solidFill>
                          <a:latin typeface="Times New Roman" panose="02020503050405090304" pitchFamily="18" charset="0"/>
                        </a:rPr>
                        <a:t>-&gt;</a:t>
                      </a:r>
                      <a:r>
                        <a:rPr kumimoji="1" lang="en-US" altLang="zh-CN" sz="1800" b="1" kern="0" dirty="0">
                          <a:solidFill>
                            <a:srgbClr val="C00000"/>
                          </a:solidFill>
                          <a:latin typeface="Times New Roman" panose="02020503050405090304" pitchFamily="18" charset="0"/>
                          <a:ea typeface="+mn-ea"/>
                        </a:rPr>
                        <a:t>base =</a:t>
                      </a:r>
                      <a:r>
                        <a:rPr kumimoji="1" lang="zh-CN" altLang="en-US" sz="1800" b="1" kern="0" dirty="0">
                          <a:solidFill>
                            <a:srgbClr val="C00000"/>
                          </a:solidFill>
                          <a:latin typeface="Times New Roman" panose="02020503050405090304" pitchFamily="18" charset="0"/>
                          <a:ea typeface="+mn-ea"/>
                        </a:rPr>
                        <a:t> </a:t>
                      </a:r>
                      <a:r>
                        <a:rPr kumimoji="1" lang="en-US" altLang="zh-CN" sz="1800" b="1" kern="0" dirty="0">
                          <a:solidFill>
                            <a:srgbClr val="C00000"/>
                          </a:solidFill>
                          <a:latin typeface="Times New Roman" panose="02020503050405090304" pitchFamily="18" charset="0"/>
                          <a:ea typeface="+mn-ea"/>
                        </a:rPr>
                        <a:t>temp;</a:t>
                      </a:r>
                      <a:r>
                        <a:rPr kumimoji="1" lang="zh-CN" altLang="en-US" sz="1800" b="1" kern="0" dirty="0">
                          <a:solidFill>
                            <a:srgbClr val="C00000"/>
                          </a:solidFill>
                          <a:latin typeface="Times New Roman" panose="02020503050405090304" pitchFamily="18" charset="0"/>
                          <a:ea typeface="+mn-ea"/>
                        </a:rPr>
                        <a:t>                                 </a:t>
                      </a:r>
                      <a:r>
                        <a:rPr kumimoji="1" lang="en-US" altLang="zh-CN" sz="1800" b="1" kern="0" dirty="0">
                          <a:solidFill>
                            <a:srgbClr val="C00000"/>
                          </a:solidFill>
                          <a:latin typeface="Times New Roman" panose="02020503050405090304" pitchFamily="18" charset="0"/>
                          <a:ea typeface="+mn-ea"/>
                        </a:rPr>
                        <a:t>//</a:t>
                      </a:r>
                      <a:r>
                        <a:rPr kumimoji="1" lang="zh-CN" altLang="en-US" sz="1800" b="1" kern="0" dirty="0">
                          <a:solidFill>
                            <a:srgbClr val="C00000"/>
                          </a:solidFill>
                          <a:latin typeface="Times New Roman" panose="02020503050405090304" pitchFamily="18" charset="0"/>
                          <a:ea typeface="+mn-ea"/>
                        </a:rPr>
                        <a:t>存储分配成功，原来的</a:t>
                      </a:r>
                      <a:r>
                        <a:rPr kumimoji="1" lang="en-US" altLang="zh-CN" sz="1800" b="1" kern="0" dirty="0">
                          <a:solidFill>
                            <a:srgbClr val="C00000"/>
                          </a:solidFill>
                          <a:latin typeface="Times New Roman" panose="02020503050405090304" pitchFamily="18" charset="0"/>
                          <a:ea typeface="+mn-ea"/>
                        </a:rPr>
                        <a:t>S-&gt;base</a:t>
                      </a:r>
                      <a:r>
                        <a:rPr kumimoji="1" lang="zh-CN" altLang="en-US" sz="1800" b="1" kern="0" dirty="0">
                          <a:solidFill>
                            <a:srgbClr val="C00000"/>
                          </a:solidFill>
                          <a:latin typeface="Times New Roman" panose="02020503050405090304" pitchFamily="18" charset="0"/>
                          <a:ea typeface="+mn-ea"/>
                        </a:rPr>
                        <a:t>失效</a:t>
                      </a:r>
                      <a:endParaRPr kumimoji="1" lang="en-US" altLang="zh-CN" sz="1800" b="1" kern="0" dirty="0">
                        <a:solidFill>
                          <a:srgbClr val="C00000"/>
                        </a:solidFill>
                        <a:latin typeface="Times New Roman" panose="02020503050405090304" pitchFamily="18" charset="0"/>
                        <a:ea typeface="+mn-ea"/>
                      </a:endParaRPr>
                    </a:p>
                    <a:p>
                      <a:pPr eaLnBrk="0" fontAlgn="base" hangingPunct="0">
                        <a:spcBef>
                          <a:spcPct val="0"/>
                        </a:spcBef>
                        <a:spcAft>
                          <a:spcPct val="0"/>
                        </a:spcAft>
                        <a:defRPr/>
                      </a:pPr>
                      <a:endParaRPr kumimoji="1" lang="zh-CN" altLang="en-US" sz="1800" b="1" kern="0" dirty="0">
                        <a:solidFill>
                          <a:srgbClr val="C00000"/>
                        </a:solidFill>
                        <a:latin typeface="Times New Roman" panose="02020503050405090304" pitchFamily="18" charset="0"/>
                        <a:ea typeface="宋体"/>
                      </a:endParaRPr>
                    </a:p>
                    <a:p>
                      <a:pPr eaLnBrk="0" fontAlgn="base" hangingPunct="0">
                        <a:spcBef>
                          <a:spcPct val="0"/>
                        </a:spcBef>
                        <a:spcAft>
                          <a:spcPct val="0"/>
                        </a:spcAft>
                        <a:defRPr/>
                      </a:pPr>
                      <a:r>
                        <a:rPr kumimoji="1" lang="zh-CN" altLang="en-US" sz="1800" b="1" kern="0" dirty="0">
                          <a:solidFill>
                            <a:schemeClr val="tx1"/>
                          </a:solidFill>
                          <a:latin typeface="Times New Roman" panose="02020503050405090304" pitchFamily="18" charset="0"/>
                          <a:ea typeface="宋体"/>
                        </a:rPr>
                        <a:t>         </a:t>
                      </a:r>
                      <a:r>
                        <a:rPr kumimoji="1" lang="en-US" altLang="zh-CN" sz="1800" b="1" kern="0" dirty="0">
                          <a:solidFill>
                            <a:schemeClr val="tx1"/>
                          </a:solidFill>
                          <a:latin typeface="Times New Roman" panose="02020503050405090304" pitchFamily="18" charset="0"/>
                          <a:ea typeface="宋体"/>
                        </a:rPr>
                        <a:t>S</a:t>
                      </a:r>
                      <a:r>
                        <a:rPr kumimoji="1" lang="en-US" altLang="zh-CN" sz="1800" b="1" dirty="0">
                          <a:solidFill>
                            <a:schemeClr val="tx1"/>
                          </a:solidFill>
                          <a:latin typeface="Times New Roman" panose="02020503050405090304" pitchFamily="18" charset="0"/>
                        </a:rPr>
                        <a:t>-&gt;</a:t>
                      </a:r>
                      <a:r>
                        <a:rPr kumimoji="1" lang="en-US" altLang="zh-CN" sz="1800" b="1" kern="0" dirty="0">
                          <a:solidFill>
                            <a:schemeClr val="tx1"/>
                          </a:solidFill>
                          <a:latin typeface="Times New Roman" panose="02020503050405090304" pitchFamily="18" charset="0"/>
                          <a:ea typeface="宋体"/>
                        </a:rPr>
                        <a:t>top = S</a:t>
                      </a:r>
                      <a:r>
                        <a:rPr kumimoji="1" lang="en-US" altLang="zh-CN" sz="1800" b="1" dirty="0">
                          <a:solidFill>
                            <a:schemeClr val="tx1"/>
                          </a:solidFill>
                          <a:latin typeface="Times New Roman" panose="02020503050405090304" pitchFamily="18" charset="0"/>
                        </a:rPr>
                        <a:t>-&gt;</a:t>
                      </a:r>
                      <a:r>
                        <a:rPr kumimoji="1" lang="en-US" altLang="zh-CN" sz="1800" b="1" kern="0" dirty="0">
                          <a:solidFill>
                            <a:schemeClr val="tx1"/>
                          </a:solidFill>
                          <a:latin typeface="Times New Roman" panose="02020503050405090304" pitchFamily="18" charset="0"/>
                          <a:ea typeface="宋体"/>
                        </a:rPr>
                        <a:t>base + S</a:t>
                      </a:r>
                      <a:r>
                        <a:rPr kumimoji="1" lang="en-US" altLang="zh-CN" sz="1800" b="1" dirty="0">
                          <a:solidFill>
                            <a:schemeClr val="tx1"/>
                          </a:solidFill>
                          <a:latin typeface="Times New Roman" panose="02020503050405090304" pitchFamily="18" charset="0"/>
                        </a:rPr>
                        <a:t>-&gt;</a:t>
                      </a:r>
                      <a:r>
                        <a:rPr kumimoji="1" lang="en-US" altLang="zh-CN" sz="1800" b="1" kern="0" dirty="0" err="1">
                          <a:solidFill>
                            <a:schemeClr val="tx1"/>
                          </a:solidFill>
                          <a:latin typeface="Times New Roman" panose="02020503050405090304" pitchFamily="18" charset="0"/>
                          <a:ea typeface="宋体"/>
                        </a:rPr>
                        <a:t>stacksize</a:t>
                      </a:r>
                      <a:r>
                        <a:rPr kumimoji="1" lang="en-US" altLang="zh-CN" sz="1800" b="1" kern="0" dirty="0">
                          <a:solidFill>
                            <a:schemeClr val="tx1"/>
                          </a:solidFill>
                          <a:latin typeface="Times New Roman" panose="02020503050405090304" pitchFamily="18" charset="0"/>
                          <a:ea typeface="宋体"/>
                        </a:rPr>
                        <a:t>;</a:t>
                      </a:r>
                    </a:p>
                    <a:p>
                      <a:pPr eaLnBrk="0" fontAlgn="base" hangingPunct="0">
                        <a:spcBef>
                          <a:spcPct val="0"/>
                        </a:spcBef>
                        <a:spcAft>
                          <a:spcPct val="0"/>
                        </a:spcAft>
                        <a:defRPr/>
                      </a:pPr>
                      <a:r>
                        <a:rPr kumimoji="1" lang="en-US" altLang="zh-CN" sz="1800" b="1" kern="0" dirty="0">
                          <a:solidFill>
                            <a:schemeClr val="tx1"/>
                          </a:solidFill>
                          <a:latin typeface="Times New Roman" panose="02020503050405090304" pitchFamily="18" charset="0"/>
                          <a:ea typeface="宋体"/>
                        </a:rPr>
                        <a:t>        </a:t>
                      </a:r>
                      <a:r>
                        <a:rPr kumimoji="1" lang="zh-CN" altLang="en-US" sz="1800" b="1" kern="0" dirty="0">
                          <a:solidFill>
                            <a:schemeClr val="tx1"/>
                          </a:solidFill>
                          <a:latin typeface="Times New Roman" panose="02020503050405090304" pitchFamily="18" charset="0"/>
                          <a:ea typeface="宋体"/>
                        </a:rPr>
                        <a:t> </a:t>
                      </a:r>
                      <a:r>
                        <a:rPr kumimoji="1" lang="en-US" altLang="zh-CN" sz="1800" b="1" kern="0" dirty="0">
                          <a:solidFill>
                            <a:schemeClr val="tx1"/>
                          </a:solidFill>
                          <a:latin typeface="Times New Roman" panose="02020503050405090304" pitchFamily="18" charset="0"/>
                          <a:ea typeface="宋体"/>
                        </a:rPr>
                        <a:t>S</a:t>
                      </a:r>
                      <a:r>
                        <a:rPr kumimoji="1" lang="en-US" altLang="zh-CN" sz="1800" b="1" dirty="0">
                          <a:solidFill>
                            <a:schemeClr val="tx1"/>
                          </a:solidFill>
                          <a:latin typeface="Times New Roman" panose="02020503050405090304" pitchFamily="18" charset="0"/>
                        </a:rPr>
                        <a:t>-&gt;</a:t>
                      </a:r>
                      <a:r>
                        <a:rPr kumimoji="1" lang="en-US" altLang="zh-CN" sz="1800" b="1" kern="0" dirty="0" err="1">
                          <a:solidFill>
                            <a:schemeClr val="tx1"/>
                          </a:solidFill>
                          <a:latin typeface="Times New Roman" panose="02020503050405090304" pitchFamily="18" charset="0"/>
                          <a:ea typeface="宋体"/>
                        </a:rPr>
                        <a:t>stacksize</a:t>
                      </a:r>
                      <a:r>
                        <a:rPr kumimoji="1" lang="en-US" altLang="zh-CN" sz="1800" b="1" kern="0" dirty="0">
                          <a:solidFill>
                            <a:schemeClr val="tx1"/>
                          </a:solidFill>
                          <a:latin typeface="Times New Roman" panose="02020503050405090304" pitchFamily="18" charset="0"/>
                          <a:ea typeface="宋体"/>
                        </a:rPr>
                        <a:t> += STACKINCREMENT;</a:t>
                      </a:r>
                    </a:p>
                    <a:p>
                      <a:pPr eaLnBrk="0" fontAlgn="base" hangingPunct="0">
                        <a:spcBef>
                          <a:spcPct val="0"/>
                        </a:spcBef>
                        <a:spcAft>
                          <a:spcPct val="0"/>
                        </a:spcAft>
                        <a:defRPr/>
                      </a:pPr>
                      <a:r>
                        <a:rPr kumimoji="1" lang="en-US" altLang="zh-CN" sz="1800" b="1" kern="0" dirty="0">
                          <a:solidFill>
                            <a:srgbClr val="000000"/>
                          </a:solidFill>
                          <a:latin typeface="Times New Roman" panose="02020503050405090304" pitchFamily="18" charset="0"/>
                          <a:ea typeface="宋体"/>
                        </a:rPr>
                        <a:t>      }</a:t>
                      </a:r>
                    </a:p>
                    <a:p>
                      <a:pPr eaLnBrk="0" fontAlgn="base" hangingPunct="0">
                        <a:spcBef>
                          <a:spcPct val="0"/>
                        </a:spcBef>
                        <a:spcAft>
                          <a:spcPct val="0"/>
                        </a:spcAft>
                        <a:defRPr/>
                      </a:pPr>
                      <a:r>
                        <a:rPr kumimoji="1" lang="en-US" altLang="zh-CN" sz="1800" b="1" kern="0" dirty="0">
                          <a:solidFill>
                            <a:srgbClr val="000000"/>
                          </a:solidFill>
                          <a:latin typeface="Times New Roman" panose="02020503050405090304" pitchFamily="18" charset="0"/>
                          <a:ea typeface="宋体"/>
                        </a:rPr>
                        <a:t>   </a:t>
                      </a:r>
                      <a:r>
                        <a:rPr kumimoji="1" lang="zh-CN" altLang="en-US" sz="1800" b="1" kern="0" dirty="0">
                          <a:solidFill>
                            <a:srgbClr val="000000"/>
                          </a:solidFill>
                          <a:latin typeface="Times New Roman" panose="02020503050405090304" pitchFamily="18" charset="0"/>
                          <a:ea typeface="宋体"/>
                        </a:rPr>
                        <a:t>   </a:t>
                      </a:r>
                      <a:r>
                        <a:rPr kumimoji="1" lang="en-US" altLang="zh-CN" sz="1800" b="1" kern="0" dirty="0">
                          <a:solidFill>
                            <a:srgbClr val="000000"/>
                          </a:solidFill>
                          <a:latin typeface="Times New Roman" panose="02020503050405090304" pitchFamily="18" charset="0"/>
                          <a:ea typeface="+mn-ea"/>
                        </a:rPr>
                        <a:t>S</a:t>
                      </a:r>
                      <a:r>
                        <a:rPr kumimoji="1" lang="en-US" altLang="zh-CN" sz="1800" b="1" dirty="0">
                          <a:solidFill>
                            <a:srgbClr val="0000FF"/>
                          </a:solidFill>
                          <a:latin typeface="Times New Roman" panose="02020503050405090304" pitchFamily="18" charset="0"/>
                        </a:rPr>
                        <a:t>-&gt;</a:t>
                      </a:r>
                      <a:r>
                        <a:rPr kumimoji="1" lang="en-US" altLang="zh-CN" sz="1800" b="1" kern="0" dirty="0">
                          <a:solidFill>
                            <a:srgbClr val="000000"/>
                          </a:solidFill>
                          <a:latin typeface="Times New Roman" panose="02020503050405090304" pitchFamily="18" charset="0"/>
                          <a:ea typeface="+mn-ea"/>
                        </a:rPr>
                        <a:t>top++; </a:t>
                      </a:r>
                      <a:r>
                        <a:rPr kumimoji="1" lang="zh-CN" altLang="en-US" sz="1800" b="1" kern="0" dirty="0">
                          <a:solidFill>
                            <a:srgbClr val="000000"/>
                          </a:solidFill>
                          <a:latin typeface="Times New Roman" panose="02020503050405090304" pitchFamily="18" charset="0"/>
                          <a:ea typeface="+mn-ea"/>
                        </a:rPr>
                        <a:t> </a:t>
                      </a:r>
                      <a:r>
                        <a:rPr kumimoji="1" lang="en-US" altLang="zh-CN" sz="1800" b="1" kern="0" dirty="0">
                          <a:solidFill>
                            <a:srgbClr val="000000"/>
                          </a:solidFill>
                          <a:latin typeface="Times New Roman" panose="02020503050405090304" pitchFamily="18" charset="0"/>
                          <a:ea typeface="宋体"/>
                        </a:rPr>
                        <a:t>*(S</a:t>
                      </a:r>
                      <a:r>
                        <a:rPr kumimoji="1" lang="en-US" altLang="zh-CN" sz="1800" b="1" dirty="0">
                          <a:solidFill>
                            <a:srgbClr val="0000FF"/>
                          </a:solidFill>
                          <a:latin typeface="Times New Roman" panose="02020503050405090304" pitchFamily="18" charset="0"/>
                        </a:rPr>
                        <a:t>-&gt;</a:t>
                      </a:r>
                      <a:r>
                        <a:rPr kumimoji="1" lang="en-US" altLang="zh-CN" sz="1800" b="1" kern="0" dirty="0">
                          <a:solidFill>
                            <a:srgbClr val="000000"/>
                          </a:solidFill>
                          <a:latin typeface="Times New Roman" panose="02020503050405090304" pitchFamily="18" charset="0"/>
                          <a:ea typeface="宋体"/>
                        </a:rPr>
                        <a:t>top) = e; //</a:t>
                      </a:r>
                      <a:r>
                        <a:rPr kumimoji="1" lang="zh-CN" altLang="en-US" sz="1800" b="1" kern="0" dirty="0">
                          <a:solidFill>
                            <a:srgbClr val="000000"/>
                          </a:solidFill>
                          <a:latin typeface="Times New Roman" panose="02020503050405090304" pitchFamily="18" charset="0"/>
                          <a:ea typeface="+mn-ea"/>
                        </a:rPr>
                        <a:t>先移动指针</a:t>
                      </a:r>
                      <a:r>
                        <a:rPr kumimoji="1" lang="zh-CN" altLang="en-US" sz="1800" b="1" kern="0" dirty="0">
                          <a:solidFill>
                            <a:srgbClr val="000000"/>
                          </a:solidFill>
                          <a:latin typeface="Times New Roman" panose="02020503050405090304" pitchFamily="18" charset="0"/>
                          <a:ea typeface="宋体"/>
                        </a:rPr>
                        <a:t>再</a:t>
                      </a:r>
                      <a:r>
                        <a:rPr kumimoji="1" lang="zh-CN" altLang="en-US" sz="1800" b="1" kern="0" dirty="0">
                          <a:solidFill>
                            <a:srgbClr val="000000"/>
                          </a:solidFill>
                          <a:latin typeface="Times New Roman" panose="02020503050405090304" pitchFamily="18" charset="0"/>
                          <a:ea typeface="+mn-ea"/>
                        </a:rPr>
                        <a:t>传数据</a:t>
                      </a:r>
                      <a:endParaRPr kumimoji="1" lang="en-US" altLang="zh-CN" sz="1800" b="1" kern="0" dirty="0">
                        <a:solidFill>
                          <a:srgbClr val="000000"/>
                        </a:solidFill>
                        <a:latin typeface="Times New Roman" panose="02020503050405090304" pitchFamily="18" charset="0"/>
                        <a:ea typeface="宋体"/>
                      </a:endParaRPr>
                    </a:p>
                    <a:p>
                      <a:pPr eaLnBrk="0" fontAlgn="base" hangingPunct="0">
                        <a:spcBef>
                          <a:spcPct val="0"/>
                        </a:spcBef>
                        <a:spcAft>
                          <a:spcPct val="0"/>
                        </a:spcAft>
                        <a:defRPr/>
                      </a:pPr>
                      <a:r>
                        <a:rPr kumimoji="1" lang="en-US" altLang="zh-CN" sz="1800" b="1" kern="0" dirty="0">
                          <a:solidFill>
                            <a:srgbClr val="000000"/>
                          </a:solidFill>
                          <a:latin typeface="Times New Roman" panose="02020503050405090304" pitchFamily="18" charset="0"/>
                          <a:ea typeface="宋体"/>
                        </a:rPr>
                        <a:t>   </a:t>
                      </a:r>
                      <a:r>
                        <a:rPr kumimoji="1" lang="zh-CN" altLang="en-US" sz="1800" b="1" kern="0" dirty="0">
                          <a:solidFill>
                            <a:srgbClr val="000000"/>
                          </a:solidFill>
                          <a:latin typeface="Times New Roman" panose="02020503050405090304" pitchFamily="18" charset="0"/>
                          <a:ea typeface="宋体"/>
                        </a:rPr>
                        <a:t>   </a:t>
                      </a:r>
                      <a:r>
                        <a:rPr kumimoji="1" lang="en-US" altLang="zh-CN" sz="1800" b="1" kern="0" dirty="0">
                          <a:solidFill>
                            <a:srgbClr val="000000"/>
                          </a:solidFill>
                          <a:latin typeface="Times New Roman" panose="02020503050405090304" pitchFamily="18" charset="0"/>
                          <a:ea typeface="宋体"/>
                        </a:rPr>
                        <a:t>return OK;</a:t>
                      </a:r>
                    </a:p>
                    <a:p>
                      <a:pPr eaLnBrk="0" fontAlgn="base" hangingPunct="0">
                        <a:spcBef>
                          <a:spcPct val="0"/>
                        </a:spcBef>
                        <a:spcAft>
                          <a:spcPct val="0"/>
                        </a:spcAft>
                        <a:defRPr/>
                      </a:pPr>
                      <a:r>
                        <a:rPr kumimoji="1" lang="zh-CN" altLang="en-US" sz="2000" b="1" kern="0" dirty="0">
                          <a:solidFill>
                            <a:srgbClr val="000000"/>
                          </a:solidFill>
                          <a:latin typeface="Times New Roman" panose="02020503050405090304" pitchFamily="18" charset="0"/>
                          <a:ea typeface="宋体"/>
                        </a:rPr>
                        <a:t>  </a:t>
                      </a:r>
                      <a:r>
                        <a:rPr kumimoji="1" lang="en-US" altLang="zh-CN" sz="2000" b="1" kern="0" dirty="0">
                          <a:solidFill>
                            <a:srgbClr val="000000"/>
                          </a:solidFill>
                          <a:latin typeface="Times New Roman" panose="02020503050405090304" pitchFamily="18" charset="0"/>
                          <a:ea typeface="宋体"/>
                        </a:rPr>
                        <a:t>}</a:t>
                      </a:r>
                    </a:p>
                  </a:txBody>
                  <a:tcPr marL="0" marR="0" marT="0" marB="0">
                    <a:lnL w="25400" cap="flat" cmpd="sng" algn="ctr">
                      <a:solidFill>
                        <a:srgbClr val="009900"/>
                      </a:solidFill>
                      <a:prstDash val="solid"/>
                      <a:round/>
                      <a:headEnd type="none" w="med" len="med"/>
                      <a:tailEnd type="none" w="med" len="med"/>
                    </a:lnL>
                    <a:lnR w="25400" cap="flat" cmpd="sng" algn="ctr">
                      <a:solidFill>
                        <a:srgbClr val="009900"/>
                      </a:solidFill>
                      <a:prstDash val="solid"/>
                      <a:round/>
                      <a:headEnd type="none" w="med" len="med"/>
                      <a:tailEnd type="none" w="med" len="med"/>
                    </a:lnR>
                    <a:lnT w="25400" cap="flat" cmpd="sng" algn="ctr">
                      <a:solidFill>
                        <a:srgbClr val="009900"/>
                      </a:solidFill>
                      <a:prstDash val="solid"/>
                      <a:round/>
                      <a:headEnd type="none" w="med" len="med"/>
                      <a:tailEnd type="none" w="med" len="med"/>
                    </a:lnT>
                    <a:lnB w="25400" cap="flat" cmpd="sng" algn="ctr">
                      <a:solidFill>
                        <a:srgbClr val="009900"/>
                      </a:solidFill>
                      <a:prstDash val="solid"/>
                      <a:round/>
                      <a:headEnd type="none" w="med" len="med"/>
                      <a:tailEnd type="none" w="med" len="med"/>
                    </a:lnB>
                    <a:solidFill>
                      <a:srgbClr val="FFFFCC"/>
                    </a:solidFill>
                  </a:tcPr>
                </a:tc>
                <a:extLst>
                  <a:ext uri="{0D108BD9-81ED-4DB2-BD59-A6C34878D82A}">
                    <a16:rowId xmlns:a16="http://schemas.microsoft.com/office/drawing/2014/main" val="10000"/>
                  </a:ext>
                </a:extLst>
              </a:tr>
            </a:tbl>
          </a:graphicData>
        </a:graphic>
      </p:graphicFrame>
      <p:sp>
        <p:nvSpPr>
          <p:cNvPr id="9" name="textbox 160"/>
          <p:cNvSpPr/>
          <p:nvPr/>
        </p:nvSpPr>
        <p:spPr>
          <a:xfrm>
            <a:off x="433166" y="370292"/>
            <a:ext cx="4605598" cy="405765"/>
          </a:xfrm>
          <a:prstGeom prst="rect">
            <a:avLst/>
          </a:prstGeom>
          <a:noFill/>
          <a:ln w="0" cap="flat">
            <a:noFill/>
            <a:prstDash val="solid"/>
            <a:miter lim="0"/>
          </a:ln>
        </p:spPr>
        <p:txBody>
          <a:bodyPr vert="horz" wrap="square" lIns="0" tIns="0" rIns="0" bIns="0"/>
          <a:lstStyle/>
          <a:p>
            <a:pPr algn="l" rtl="0" eaLnBrk="0">
              <a:lnSpc>
                <a:spcPct val="80000"/>
              </a:lnSpc>
            </a:pPr>
            <a:endParaRPr lang="zh-CN" altLang="en-US" sz="200" dirty="0">
              <a:solidFill>
                <a:srgbClr val="C00000"/>
              </a:solidFill>
              <a:latin typeface="Arial" panose="020B0604020202090204"/>
              <a:ea typeface="Arial" panose="020B0604020202090204"/>
              <a:cs typeface="Arial" panose="020B0604020202090204"/>
            </a:endParaRPr>
          </a:p>
          <a:p>
            <a:pPr marL="12700" algn="l" rtl="0" eaLnBrk="0">
              <a:lnSpc>
                <a:spcPct val="92000"/>
              </a:lnSpc>
            </a:pPr>
            <a:r>
              <a:rPr lang="zh-CN" altLang="en-US" sz="3200" b="1" kern="0" spc="30" dirty="0">
                <a:solidFill>
                  <a:srgbClr val="C00000"/>
                </a:solidFill>
                <a:latin typeface="华文中宋" panose="02010600040101010101" charset="-122"/>
                <a:ea typeface="华文中宋" panose="02010600040101010101" charset="-122"/>
                <a:cs typeface="华文中宋" panose="02010600040101010101" charset="-122"/>
              </a:rPr>
              <a:t>结构体中使用动态内存</a:t>
            </a:r>
            <a:endParaRPr lang="zh-CN" altLang="en-US" sz="3200" dirty="0">
              <a:solidFill>
                <a:srgbClr val="C00000"/>
              </a:solidFill>
              <a:latin typeface="华文中宋" panose="02010600040101010101" charset="-122"/>
              <a:ea typeface="华文中宋" panose="02010600040101010101" charset="-122"/>
              <a:cs typeface="华文中宋" panose="02010600040101010101" charset="-122"/>
            </a:endParaRPr>
          </a:p>
        </p:txBody>
      </p:sp>
      <p:sp>
        <p:nvSpPr>
          <p:cNvPr id="10" name="textbox 256"/>
          <p:cNvSpPr/>
          <p:nvPr/>
        </p:nvSpPr>
        <p:spPr>
          <a:xfrm>
            <a:off x="433166" y="1288642"/>
            <a:ext cx="3587777" cy="434975"/>
          </a:xfrm>
          <a:prstGeom prst="rect">
            <a:avLst/>
          </a:prstGeom>
          <a:solidFill>
            <a:srgbClr val="005C60">
              <a:alpha val="100000"/>
            </a:srgbClr>
          </a:solidFill>
          <a:ln w="0" cap="flat">
            <a:noFill/>
            <a:prstDash val="solid"/>
            <a:miter lim="0"/>
          </a:ln>
        </p:spPr>
        <p:txBody>
          <a:bodyPr vert="horz" wrap="square" lIns="0" tIns="0" rIns="0" bIns="0"/>
          <a:lstStyle/>
          <a:p>
            <a:pPr algn="ctr" rtl="0" eaLnBrk="0">
              <a:lnSpc>
                <a:spcPct val="108000"/>
              </a:lnSpc>
            </a:pPr>
            <a:r>
              <a:rPr lang="zh-CN" altLang="en-US" sz="2400" b="1" dirty="0">
                <a:solidFill>
                  <a:schemeClr val="bg1"/>
                </a:solidFill>
                <a:latin typeface="华文中宋" panose="02010600040101010101" charset="-122"/>
                <a:ea typeface="华文中宋" panose="02010600040101010101" charset="-122"/>
                <a:cs typeface="华文中宋" panose="02010600040101010101" charset="-122"/>
              </a:rPr>
              <a:t>栈结构体中使用动态内存</a:t>
            </a:r>
            <a:endParaRPr sz="2400" b="1" dirty="0">
              <a:solidFill>
                <a:schemeClr val="bg1"/>
              </a:solidFill>
              <a:latin typeface="华文中宋" panose="02010600040101010101" charset="-122"/>
              <a:ea typeface="华文中宋" panose="02010600040101010101" charset="-122"/>
              <a:cs typeface="华文中宋" panose="02010600040101010101" charset="-122"/>
            </a:endParaRPr>
          </a:p>
        </p:txBody>
      </p:sp>
      <p:sp>
        <p:nvSpPr>
          <p:cNvPr id="4" name="灯片编号占位符 3"/>
          <p:cNvSpPr>
            <a:spLocks noGrp="1"/>
          </p:cNvSpPr>
          <p:nvPr>
            <p:ph type="sldNum" sz="quarter" idx="10"/>
          </p:nvPr>
        </p:nvSpPr>
        <p:spPr/>
        <p:txBody>
          <a:bodyPr/>
          <a:lstStyle/>
          <a:p>
            <a:fld id="{FF06C3A7-B92A-4017-B3A5-9A7F07BC465B}" type="slidenum">
              <a:rPr lang="zh-CN" altLang="en-US" smtClean="0"/>
              <a:t>29</a:t>
            </a:fld>
            <a:r>
              <a:rPr lang="en-US" altLang="zh-CN" dirty="0"/>
              <a:t> </a:t>
            </a:r>
            <a:endParaRPr lang="zh-CN" altLang="en-US" dirty="0"/>
          </a:p>
        </p:txBody>
      </p:sp>
    </p:spTree>
  </p:cSld>
  <p:clrMapOvr>
    <a:masterClrMapping/>
  </p:clrMapOvr>
</p:sld>
</file>

<file path=ppt/theme/theme1.xml><?xml version="1.0" encoding="utf-8"?>
<a:theme xmlns:a="http://schemas.openxmlformats.org/drawingml/2006/main" name="1_Office 主题​​">
  <a:themeElements>
    <a:clrScheme name="橙色">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Temp">
      <a:majorFont>
        <a:latin typeface="Times New Roman"/>
        <a:ea typeface="黑体"/>
        <a:cs typeface=""/>
      </a:majorFont>
      <a:minorFont>
        <a:latin typeface="Times New Roman"/>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3900</Words>
  <Application>Microsoft Macintosh PowerPoint</Application>
  <PresentationFormat>宽屏</PresentationFormat>
  <Paragraphs>444</Paragraphs>
  <Slides>29</Slides>
  <Notes>13</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29</vt:i4>
      </vt:variant>
    </vt:vector>
  </HeadingPairs>
  <TitlesOfParts>
    <vt:vector size="45" baseType="lpstr">
      <vt:lpstr>华文行楷</vt:lpstr>
      <vt:lpstr>黑体</vt:lpstr>
      <vt:lpstr>Times New Roman</vt:lpstr>
      <vt:lpstr>Arial</vt:lpstr>
      <vt:lpstr>DejaVu Math TeX Gyre</vt:lpstr>
      <vt:lpstr>等线</vt:lpstr>
      <vt:lpstr>Monotype Sorts</vt:lpstr>
      <vt:lpstr>Helvetica</vt:lpstr>
      <vt:lpstr>楷体_GB2312</vt:lpstr>
      <vt:lpstr>Helvetica Neue</vt:lpstr>
      <vt:lpstr>Cambria Math</vt:lpstr>
      <vt:lpstr>Calibri</vt:lpstr>
      <vt:lpstr>Wingdings</vt:lpstr>
      <vt:lpstr>华文中宋</vt:lpstr>
      <vt:lpstr>1_Office 主题​​</vt:lpstr>
      <vt:lpstr>文档</vt:lpstr>
      <vt:lpstr>PowerPoint 演示文稿</vt:lpstr>
      <vt:lpstr>选择排序</vt:lpstr>
      <vt:lpstr>插入排序</vt:lpstr>
      <vt:lpstr>冒泡排序</vt:lpstr>
      <vt:lpstr>现有排序算法分析</vt:lpstr>
      <vt:lpstr>改进思路</vt:lpstr>
      <vt:lpstr>PowerPoint 演示文稿</vt:lpstr>
      <vt:lpstr>快速排序</vt:lpstr>
      <vt:lpstr>快速排序</vt:lpstr>
      <vt:lpstr> 快速排序的一趟排序过程 </vt:lpstr>
      <vt:lpstr>算法关键语句</vt:lpstr>
      <vt:lpstr>快速排序——算法</vt:lpstr>
      <vt:lpstr>快速排序——算法</vt:lpstr>
      <vt:lpstr>最佳情况</vt:lpstr>
      <vt:lpstr>最坏情况</vt:lpstr>
      <vt:lpstr>平均情况</vt:lpstr>
      <vt:lpstr>PowerPoint 演示文稿</vt:lpstr>
      <vt:lpstr>PowerPoint 演示文稿</vt:lpstr>
      <vt:lpstr>快排改进</vt:lpstr>
      <vt:lpstr>PowerPoint 演示文稿</vt:lpstr>
      <vt:lpstr>PowerPoint 演示文稿</vt:lpstr>
      <vt:lpstr>PowerPoint 演示文稿</vt:lpstr>
      <vt:lpstr>不同排序方案应用场景</vt:lpstr>
      <vt:lpstr>不同排序方案应用场景</vt:lpstr>
      <vt:lpstr>不同排序方案应用场景</vt:lpstr>
      <vt:lpstr>PowerPoint 演示文稿</vt:lpstr>
      <vt:lpstr>本章小结</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数据结构 Data Structures</dc:title>
  <dc:creator>Haijun ZHANG</dc:creator>
  <cp:lastModifiedBy>Microsoft Office User</cp:lastModifiedBy>
  <cp:revision>742</cp:revision>
  <dcterms:created xsi:type="dcterms:W3CDTF">2025-11-23T14:43:13Z</dcterms:created>
  <dcterms:modified xsi:type="dcterms:W3CDTF">2025-11-27T15:26:15Z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3A91404CCAFF8E8C1B765A670A6A2728_42</vt:lpwstr>
  </property>
  <property fmtid="{D5CDD505-2E9C-101B-9397-08002B2CF9AE}" pid="3" name="KSOProductBuildVer">
    <vt:lpwstr>2052-12.1.22522.22522</vt:lpwstr>
  </property>
</Properties>
</file>