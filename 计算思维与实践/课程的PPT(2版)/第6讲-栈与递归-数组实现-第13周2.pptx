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 id="2147483660" r:id="rId2"/>
  </p:sldMasterIdLst>
  <p:notesMasterIdLst>
    <p:notesMasterId r:id="rId37"/>
  </p:notesMasterIdLst>
  <p:handoutMasterIdLst>
    <p:handoutMasterId r:id="rId38"/>
  </p:handoutMasterIdLst>
  <p:sldIdLst>
    <p:sldId id="673" r:id="rId3"/>
    <p:sldId id="1400" r:id="rId4"/>
    <p:sldId id="527" r:id="rId5"/>
    <p:sldId id="340" r:id="rId6"/>
    <p:sldId id="283" r:id="rId7"/>
    <p:sldId id="284" r:id="rId8"/>
    <p:sldId id="280" r:id="rId9"/>
    <p:sldId id="342" r:id="rId10"/>
    <p:sldId id="286" r:id="rId11"/>
    <p:sldId id="419" r:id="rId12"/>
    <p:sldId id="420" r:id="rId13"/>
    <p:sldId id="421" r:id="rId14"/>
    <p:sldId id="285" r:id="rId15"/>
    <p:sldId id="528" r:id="rId16"/>
    <p:sldId id="529" r:id="rId17"/>
    <p:sldId id="530" r:id="rId18"/>
    <p:sldId id="355" r:id="rId19"/>
    <p:sldId id="386" r:id="rId20"/>
    <p:sldId id="289" r:id="rId21"/>
    <p:sldId id="532" r:id="rId22"/>
    <p:sldId id="533" r:id="rId23"/>
    <p:sldId id="491" r:id="rId24"/>
    <p:sldId id="531" r:id="rId25"/>
    <p:sldId id="494" r:id="rId26"/>
    <p:sldId id="427" r:id="rId27"/>
    <p:sldId id="428" r:id="rId28"/>
    <p:sldId id="429" r:id="rId29"/>
    <p:sldId id="430" r:id="rId30"/>
    <p:sldId id="431" r:id="rId31"/>
    <p:sldId id="433" r:id="rId32"/>
    <p:sldId id="434" r:id="rId33"/>
    <p:sldId id="435" r:id="rId34"/>
    <p:sldId id="438" r:id="rId35"/>
    <p:sldId id="444" r:id="rId36"/>
  </p:sldIdLst>
  <p:sldSz cx="12192000" cy="6858000"/>
  <p:notesSz cx="6757988" cy="9866313"/>
  <p:custDataLst>
    <p:tags r:id="rId39"/>
  </p:custDataLst>
  <p:defaultTextStyle>
    <a:defPPr>
      <a:defRPr lang="en-US"/>
    </a:defPPr>
    <a:lvl1pPr marL="0" lvl="0"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1pPr>
    <a:lvl2pPr marL="457200" lvl="1"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5pPr>
    <a:lvl6pPr marL="2286000" lvl="5"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6pPr>
    <a:lvl7pPr marL="2743200" lvl="6"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7pPr>
    <a:lvl8pPr marL="3200400" lvl="7"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8pPr>
    <a:lvl9pPr marL="3657600" lvl="8"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769"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091"/>
    <p:restoredTop sz="79241" autoAdjust="0"/>
  </p:normalViewPr>
  <p:slideViewPr>
    <p:cSldViewPr showGuides="1">
      <p:cViewPr varScale="1">
        <p:scale>
          <a:sx n="98" d="100"/>
          <a:sy n="98" d="100"/>
        </p:scale>
        <p:origin x="1080" y="200"/>
      </p:cViewPr>
      <p:guideLst>
        <p:guide orient="horz" pos="2160"/>
        <p:guide pos="3769"/>
      </p:guideLst>
    </p:cSldViewPr>
  </p:slideViewPr>
  <p:outlineViewPr>
    <p:cViewPr>
      <p:scale>
        <a:sx n="25" d="100"/>
        <a:sy n="25" d="100"/>
      </p:scale>
      <p:origin x="0" y="0"/>
    </p:cViewPr>
  </p:outlineViewPr>
  <p:notesTextViewPr>
    <p:cViewPr>
      <p:scale>
        <a:sx n="125" d="100"/>
        <a:sy n="125" d="100"/>
      </p:scale>
      <p:origin x="0" y="0"/>
    </p:cViewPr>
  </p:notesTextViewPr>
  <p:sorterViewPr showFormatting="0">
    <p:cViewPr>
      <p:scale>
        <a:sx n="100" d="100"/>
        <a:sy n="100" d="100"/>
      </p:scale>
      <p:origin x="0" y="189912"/>
    </p:cViewPr>
  </p:sorterViewPr>
  <p:notesViewPr>
    <p:cSldViewPr>
      <p:cViewPr>
        <p:scale>
          <a:sx n="25" d="100"/>
          <a:sy n="25" d="100"/>
        </p:scale>
        <p:origin x="3928" y="156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ags" Target="tags/tag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notesMaster" Target="notesMasters/notesMaster1.xml"/><Relationship Id="rId40"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3906" name="Rectangle 2"/>
          <p:cNvSpPr>
            <a:spLocks noGrp="1" noChangeArrowheads="1"/>
          </p:cNvSpPr>
          <p:nvPr>
            <p:ph type="hdr" sz="quarter"/>
          </p:nvPr>
        </p:nvSpPr>
        <p:spPr bwMode="auto">
          <a:xfrm>
            <a:off x="0" y="0"/>
            <a:ext cx="2928938" cy="493713"/>
          </a:xfrm>
          <a:prstGeom prst="rect">
            <a:avLst/>
          </a:prstGeom>
          <a:noFill/>
          <a:ln w="9525">
            <a:noFill/>
            <a:miter lim="800000"/>
          </a:ln>
          <a:effectLst/>
        </p:spPr>
        <p:txBody>
          <a:bodyPr vert="horz" wrap="square" lIns="91422" tIns="45711" rIns="91422" bIns="45711" numCol="1" anchor="t" anchorCtr="0" compatLnSpc="1"/>
          <a:lstStyle>
            <a:lvl1pPr eaLnBrk="1" hangingPunct="1">
              <a:lnSpc>
                <a:spcPct val="100000"/>
              </a:lnSpc>
              <a:spcBef>
                <a:spcPct val="0"/>
              </a:spcBef>
              <a:spcAft>
                <a:spcPct val="0"/>
              </a:spcAft>
              <a:buClrTx/>
              <a:buSzTx/>
              <a:buFontTx/>
              <a:buNone/>
              <a:defRPr sz="1200">
                <a:latin typeface="Times New Roman" panose="02020503050405090304" pitchFamily="18" charset="0"/>
                <a:ea typeface="宋体"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123907" name="Rectangle 3"/>
          <p:cNvSpPr>
            <a:spLocks noGrp="1" noChangeArrowheads="1"/>
          </p:cNvSpPr>
          <p:nvPr>
            <p:ph type="dt" sz="quarter" idx="1"/>
          </p:nvPr>
        </p:nvSpPr>
        <p:spPr bwMode="auto">
          <a:xfrm>
            <a:off x="3829050" y="0"/>
            <a:ext cx="2928938" cy="493713"/>
          </a:xfrm>
          <a:prstGeom prst="rect">
            <a:avLst/>
          </a:prstGeom>
          <a:noFill/>
          <a:ln w="9525">
            <a:noFill/>
            <a:miter lim="800000"/>
          </a:ln>
          <a:effectLst/>
        </p:spPr>
        <p:txBody>
          <a:bodyPr vert="horz" wrap="square" lIns="91422" tIns="45711" rIns="91422" bIns="45711" numCol="1" anchor="t" anchorCtr="0" compatLnSpc="1"/>
          <a:lstStyle>
            <a:lvl1pPr algn="r" eaLnBrk="1" hangingPunct="1">
              <a:lnSpc>
                <a:spcPct val="100000"/>
              </a:lnSpc>
              <a:spcBef>
                <a:spcPct val="0"/>
              </a:spcBef>
              <a:spcAft>
                <a:spcPct val="0"/>
              </a:spcAft>
              <a:buClrTx/>
              <a:buSzTx/>
              <a:buFontTx/>
              <a:buNone/>
              <a:defRPr sz="1200">
                <a:latin typeface="Times New Roman" panose="02020503050405090304" pitchFamily="18" charset="0"/>
                <a:ea typeface="宋体"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123908" name="Rectangle 4"/>
          <p:cNvSpPr>
            <a:spLocks noGrp="1" noChangeArrowheads="1"/>
          </p:cNvSpPr>
          <p:nvPr>
            <p:ph type="ftr" sz="quarter" idx="2"/>
          </p:nvPr>
        </p:nvSpPr>
        <p:spPr bwMode="auto">
          <a:xfrm>
            <a:off x="0" y="9372600"/>
            <a:ext cx="2928938" cy="493713"/>
          </a:xfrm>
          <a:prstGeom prst="rect">
            <a:avLst/>
          </a:prstGeom>
          <a:noFill/>
          <a:ln w="9525">
            <a:noFill/>
            <a:miter lim="800000"/>
          </a:ln>
          <a:effectLst/>
        </p:spPr>
        <p:txBody>
          <a:bodyPr vert="horz" wrap="square" lIns="91422" tIns="45711" rIns="91422" bIns="45711" numCol="1" anchor="b" anchorCtr="0" compatLnSpc="1"/>
          <a:lstStyle>
            <a:lvl1pPr eaLnBrk="1" hangingPunct="1">
              <a:lnSpc>
                <a:spcPct val="100000"/>
              </a:lnSpc>
              <a:spcBef>
                <a:spcPct val="0"/>
              </a:spcBef>
              <a:spcAft>
                <a:spcPct val="0"/>
              </a:spcAft>
              <a:buClrTx/>
              <a:buSzTx/>
              <a:buFontTx/>
              <a:buNone/>
              <a:defRPr sz="1200">
                <a:latin typeface="Times New Roman" panose="02020503050405090304" pitchFamily="18" charset="0"/>
                <a:ea typeface="宋体"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123909" name="Rectangle 5"/>
          <p:cNvSpPr>
            <a:spLocks noGrp="1" noChangeArrowheads="1"/>
          </p:cNvSpPr>
          <p:nvPr>
            <p:ph type="sldNum" sz="quarter" idx="3"/>
          </p:nvPr>
        </p:nvSpPr>
        <p:spPr bwMode="auto">
          <a:xfrm>
            <a:off x="3829050" y="9372600"/>
            <a:ext cx="2928938" cy="493713"/>
          </a:xfrm>
          <a:prstGeom prst="rect">
            <a:avLst/>
          </a:prstGeom>
          <a:noFill/>
          <a:ln w="9525">
            <a:noFill/>
            <a:miter lim="800000"/>
          </a:ln>
          <a:effectLst/>
        </p:spPr>
        <p:txBody>
          <a:bodyPr vert="horz" wrap="square" lIns="91422" tIns="45711" rIns="91422" bIns="45711" numCol="1" anchor="b" anchorCtr="0" compatLnSpc="1"/>
          <a:lstStyle/>
          <a:p>
            <a:pPr lvl="0" algn="r" eaLnBrk="1" fontAlgn="base" hangingPunct="1">
              <a:buNone/>
            </a:pPr>
            <a:fld id="{9A0DB2DC-4C9A-4742-B13C-FB6460FD3503}" type="slidenum">
              <a:rPr lang="zh-CN" altLang="en-US" sz="1200" strike="noStrike" noProof="1" dirty="0">
                <a:latin typeface="Times New Roman" panose="02020503050405090304" pitchFamily="18" charset="0"/>
                <a:ea typeface="宋体" pitchFamily="2" charset="-122"/>
                <a:cs typeface="+mn-cs"/>
              </a:rPr>
              <a:t>‹#›</a:t>
            </a:fld>
            <a:endParaRPr lang="zh-CN" altLang="en-US" sz="1200" strike="noStrike" noProof="1">
              <a:latin typeface="Times New Roman" panose="02020503050405090304" pitchFamily="18" charset="0"/>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71394" name="Rectangle 2"/>
          <p:cNvSpPr>
            <a:spLocks noGrp="1" noChangeArrowheads="1"/>
          </p:cNvSpPr>
          <p:nvPr>
            <p:ph type="hdr" sz="quarter"/>
          </p:nvPr>
        </p:nvSpPr>
        <p:spPr bwMode="auto">
          <a:xfrm>
            <a:off x="0" y="0"/>
            <a:ext cx="2895600" cy="457200"/>
          </a:xfrm>
          <a:prstGeom prst="rect">
            <a:avLst/>
          </a:prstGeom>
          <a:noFill/>
          <a:ln w="9525">
            <a:noFill/>
            <a:miter lim="800000"/>
          </a:ln>
          <a:effectLst/>
        </p:spPr>
        <p:txBody>
          <a:bodyPr vert="horz" wrap="square" lIns="91422" tIns="45711" rIns="91422" bIns="45711" numCol="1" anchor="t" anchorCtr="0" compatLnSpc="1"/>
          <a:lstStyle>
            <a:lvl1pPr eaLnBrk="1" hangingPunct="1">
              <a:lnSpc>
                <a:spcPct val="100000"/>
              </a:lnSpc>
              <a:spcBef>
                <a:spcPct val="0"/>
              </a:spcBef>
              <a:spcAft>
                <a:spcPct val="0"/>
              </a:spcAft>
              <a:buClrTx/>
              <a:buSzTx/>
              <a:buFontTx/>
              <a:buNone/>
              <a:defRPr sz="1200">
                <a:latin typeface="Times New Roman" panose="02020503050405090304" pitchFamily="18" charset="0"/>
                <a:ea typeface="宋体"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571395" name="Rectangle 3"/>
          <p:cNvSpPr>
            <a:spLocks noGrp="1" noChangeArrowheads="1"/>
          </p:cNvSpPr>
          <p:nvPr>
            <p:ph type="dt" idx="1"/>
          </p:nvPr>
        </p:nvSpPr>
        <p:spPr bwMode="auto">
          <a:xfrm>
            <a:off x="3808413" y="0"/>
            <a:ext cx="2971800" cy="457200"/>
          </a:xfrm>
          <a:prstGeom prst="rect">
            <a:avLst/>
          </a:prstGeom>
          <a:noFill/>
          <a:ln w="9525">
            <a:noFill/>
            <a:miter lim="800000"/>
          </a:ln>
          <a:effectLst/>
        </p:spPr>
        <p:txBody>
          <a:bodyPr vert="horz" wrap="square" lIns="91422" tIns="45711" rIns="91422" bIns="45711" numCol="1" anchor="t" anchorCtr="0" compatLnSpc="1"/>
          <a:lstStyle>
            <a:lvl1pPr algn="r" eaLnBrk="1" hangingPunct="1">
              <a:lnSpc>
                <a:spcPct val="100000"/>
              </a:lnSpc>
              <a:spcBef>
                <a:spcPct val="0"/>
              </a:spcBef>
              <a:spcAft>
                <a:spcPct val="0"/>
              </a:spcAft>
              <a:buClrTx/>
              <a:buSzTx/>
              <a:buFontTx/>
              <a:buNone/>
              <a:defRPr sz="1200">
                <a:latin typeface="Times New Roman" panose="02020503050405090304" pitchFamily="18" charset="0"/>
                <a:ea typeface="宋体"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10244" name="Rectangle 4"/>
          <p:cNvSpPr>
            <a:spLocks noGrp="1" noRot="1" noChangeAspect="1" noTextEdit="1"/>
          </p:cNvSpPr>
          <p:nvPr>
            <p:ph type="sldImg"/>
          </p:nvPr>
        </p:nvSpPr>
        <p:spPr>
          <a:xfrm>
            <a:off x="139700" y="762000"/>
            <a:ext cx="6502400" cy="3657600"/>
          </a:xfrm>
          <a:prstGeom prst="rect">
            <a:avLst/>
          </a:prstGeom>
          <a:noFill/>
          <a:ln w="9525" cap="flat" cmpd="sng">
            <a:solidFill>
              <a:srgbClr val="000000"/>
            </a:solidFill>
            <a:prstDash val="solid"/>
            <a:miter/>
            <a:headEnd type="none" w="med" len="med"/>
            <a:tailEnd type="none" w="med" len="med"/>
          </a:ln>
        </p:spPr>
      </p:sp>
      <p:sp>
        <p:nvSpPr>
          <p:cNvPr id="10245" name="Rectangle 5"/>
          <p:cNvSpPr>
            <a:spLocks noGrp="1"/>
          </p:cNvSpPr>
          <p:nvPr>
            <p:ph type="body" sz="quarter"/>
          </p:nvPr>
        </p:nvSpPr>
        <p:spPr>
          <a:xfrm>
            <a:off x="914400" y="4724400"/>
            <a:ext cx="4951413" cy="4418013"/>
          </a:xfrm>
          <a:prstGeom prst="rect">
            <a:avLst/>
          </a:prstGeom>
          <a:noFill/>
          <a:ln w="9525">
            <a:noFill/>
          </a:ln>
        </p:spPr>
        <p:txBody>
          <a:bodyPr vert="horz" wrap="square" lIns="91422" tIns="45711" rIns="91422" bIns="45711" anchor="t" anchorCtr="0"/>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71398" name="Rectangle 6"/>
          <p:cNvSpPr>
            <a:spLocks noGrp="1" noChangeArrowheads="1"/>
          </p:cNvSpPr>
          <p:nvPr>
            <p:ph type="ftr" sz="quarter" idx="4"/>
          </p:nvPr>
        </p:nvSpPr>
        <p:spPr bwMode="auto">
          <a:xfrm>
            <a:off x="0" y="9371013"/>
            <a:ext cx="2895600" cy="457200"/>
          </a:xfrm>
          <a:prstGeom prst="rect">
            <a:avLst/>
          </a:prstGeom>
          <a:noFill/>
          <a:ln w="9525">
            <a:noFill/>
            <a:miter lim="800000"/>
          </a:ln>
          <a:effectLst/>
        </p:spPr>
        <p:txBody>
          <a:bodyPr vert="horz" wrap="square" lIns="91422" tIns="45711" rIns="91422" bIns="45711" numCol="1" anchor="b" anchorCtr="0" compatLnSpc="1"/>
          <a:lstStyle>
            <a:lvl1pPr eaLnBrk="1" hangingPunct="1">
              <a:lnSpc>
                <a:spcPct val="100000"/>
              </a:lnSpc>
              <a:spcBef>
                <a:spcPct val="0"/>
              </a:spcBef>
              <a:spcAft>
                <a:spcPct val="0"/>
              </a:spcAft>
              <a:buClrTx/>
              <a:buSzTx/>
              <a:buFontTx/>
              <a:buNone/>
              <a:defRPr sz="1200">
                <a:latin typeface="Times New Roman" panose="02020503050405090304" pitchFamily="18" charset="0"/>
                <a:ea typeface="宋体"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571399" name="Rectangle 7"/>
          <p:cNvSpPr>
            <a:spLocks noGrp="1" noChangeArrowheads="1"/>
          </p:cNvSpPr>
          <p:nvPr>
            <p:ph type="sldNum" sz="quarter" idx="5"/>
          </p:nvPr>
        </p:nvSpPr>
        <p:spPr bwMode="auto">
          <a:xfrm>
            <a:off x="3808413" y="9371013"/>
            <a:ext cx="2971800" cy="457200"/>
          </a:xfrm>
          <a:prstGeom prst="rect">
            <a:avLst/>
          </a:prstGeom>
          <a:noFill/>
          <a:ln w="9525">
            <a:noFill/>
            <a:miter lim="800000"/>
          </a:ln>
          <a:effectLst/>
        </p:spPr>
        <p:txBody>
          <a:bodyPr vert="horz" wrap="square" lIns="91422" tIns="45711" rIns="91422" bIns="45711" numCol="1" anchor="b" anchorCtr="0" compatLnSpc="1"/>
          <a:lstStyle/>
          <a:p>
            <a:pPr lvl="0" algn="r" eaLnBrk="1" fontAlgn="base" hangingPunct="1">
              <a:buNone/>
            </a:pPr>
            <a:fld id="{9A0DB2DC-4C9A-4742-B13C-FB6460FD3503}" type="slidenum">
              <a:rPr lang="zh-CN" altLang="en-US" sz="1200" strike="noStrike" noProof="1" dirty="0">
                <a:latin typeface="Times New Roman" panose="02020503050405090304" pitchFamily="18" charset="0"/>
                <a:ea typeface="宋体" pitchFamily="2" charset="-122"/>
                <a:cs typeface="+mn-cs"/>
              </a:rPr>
              <a:t>‹#›</a:t>
            </a:fld>
            <a:endParaRPr lang="zh-CN" altLang="en-US" sz="1200" strike="noStrike" noProof="1">
              <a:latin typeface="Times New Roman" panose="02020503050405090304" pitchFamily="18" charset="0"/>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anose="0202050305040509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50305040509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50305040509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50305040509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50305040509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9700" y="768350"/>
            <a:ext cx="6819900" cy="3836988"/>
          </a:xfrm>
        </p:spPr>
      </p:sp>
      <p:sp>
        <p:nvSpPr>
          <p:cNvPr id="3" name="备注占位符 2"/>
          <p:cNvSpPr>
            <a:spLocks noGrp="1"/>
          </p:cNvSpPr>
          <p:nvPr>
            <p:ph type="body" idx="1"/>
          </p:nvPr>
        </p:nvSpPr>
        <p:spPr/>
        <p:txBody>
          <a:bodyPr/>
          <a:lstStyle/>
          <a:p>
            <a:r>
              <a:rPr lang="zh-CN" altLang="en-US" dirty="0"/>
              <a:t>学籍管理</a:t>
            </a:r>
            <a:endParaRPr lang="en-US" altLang="zh-CN" dirty="0"/>
          </a:p>
          <a:p>
            <a:endParaRPr lang="en-US" altLang="zh-CN" dirty="0"/>
          </a:p>
          <a:p>
            <a:r>
              <a:rPr lang="zh-CN" altLang="en-US" dirty="0"/>
              <a:t>学生</a:t>
            </a:r>
            <a:r>
              <a:rPr lang="en-US" altLang="zh-CN" dirty="0"/>
              <a:t>( </a:t>
            </a:r>
            <a:r>
              <a:rPr lang="zh-CN" altLang="en-US" dirty="0"/>
              <a:t>数据元素</a:t>
            </a:r>
            <a:r>
              <a:rPr lang="en-US" altLang="zh-CN" dirty="0"/>
              <a:t>)</a:t>
            </a:r>
            <a:r>
              <a:rPr lang="zh-CN" altLang="en-US" dirty="0"/>
              <a:t>；</a:t>
            </a:r>
            <a:endParaRPr lang="en-US" altLang="zh-CN" dirty="0"/>
          </a:p>
          <a:p>
            <a:r>
              <a:rPr lang="zh-CN" altLang="en-US" dirty="0"/>
              <a:t>姓名，性别，年龄，班级等是数据项；</a:t>
            </a:r>
            <a:endParaRPr lang="en-US" altLang="zh-CN" dirty="0"/>
          </a:p>
          <a:p>
            <a:r>
              <a:rPr lang="zh-CN" altLang="en-US" dirty="0"/>
              <a:t>数据对象：所有班名相同的记录集合；</a:t>
            </a:r>
            <a:endParaRPr lang="en-US" altLang="zh-CN" dirty="0"/>
          </a:p>
          <a:p>
            <a:r>
              <a:rPr lang="zh-CN" altLang="en-US" dirty="0"/>
              <a:t>结点对应数据元素；域或字段对应数据项；信息表对应数据对象。。。</a:t>
            </a:r>
            <a:endParaRPr lang="en-US" altLang="zh-CN"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t>4</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9700" y="768350"/>
            <a:ext cx="6819900" cy="3836988"/>
          </a:xfrm>
        </p:spPr>
      </p:sp>
      <p:sp>
        <p:nvSpPr>
          <p:cNvPr id="3" name="备注占位符 2"/>
          <p:cNvSpPr>
            <a:spLocks noGrp="1"/>
          </p:cNvSpPr>
          <p:nvPr>
            <p:ph type="body" idx="1"/>
          </p:nvPr>
        </p:nvSpPr>
        <p:spPr/>
        <p:txBody>
          <a:bodyPr/>
          <a:lstStyle/>
          <a:p>
            <a:r>
              <a:rPr lang="zh-CN" altLang="en-US" dirty="0"/>
              <a:t>学生</a:t>
            </a:r>
            <a:r>
              <a:rPr lang="en-US" altLang="zh-CN" dirty="0"/>
              <a:t>( </a:t>
            </a:r>
            <a:r>
              <a:rPr lang="zh-CN" altLang="en-US" dirty="0"/>
              <a:t>数据元素</a:t>
            </a:r>
            <a:r>
              <a:rPr lang="en-US" altLang="zh-CN" dirty="0"/>
              <a:t>)</a:t>
            </a:r>
            <a:r>
              <a:rPr lang="zh-CN" altLang="en-US" dirty="0"/>
              <a:t>；</a:t>
            </a:r>
            <a:endParaRPr lang="en-US" altLang="zh-CN" dirty="0"/>
          </a:p>
          <a:p>
            <a:r>
              <a:rPr lang="zh-CN" altLang="en-US" dirty="0"/>
              <a:t>姓名，性别，年龄，班级等是数据项；</a:t>
            </a:r>
            <a:endParaRPr lang="en-US" altLang="zh-CN" dirty="0"/>
          </a:p>
          <a:p>
            <a:r>
              <a:rPr lang="zh-CN" altLang="en-US" dirty="0"/>
              <a:t>数据对象：所有班名相同的记录集合；</a:t>
            </a:r>
            <a:endParaRPr lang="en-US" altLang="zh-CN" dirty="0"/>
          </a:p>
          <a:p>
            <a:r>
              <a:rPr lang="zh-CN" altLang="en-US" dirty="0"/>
              <a:t>结点对应数据元素；域或字段对应数据项；信息表对应数据对象。。。</a:t>
            </a:r>
            <a:endParaRPr lang="en-US" altLang="zh-CN"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t>5</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9700" y="768350"/>
            <a:ext cx="6819900" cy="3836988"/>
          </a:xfrm>
        </p:spPr>
      </p:sp>
      <p:sp>
        <p:nvSpPr>
          <p:cNvPr id="3" name="备注占位符 2"/>
          <p:cNvSpPr>
            <a:spLocks noGrp="1"/>
          </p:cNvSpPr>
          <p:nvPr>
            <p:ph type="body" idx="1"/>
          </p:nvPr>
        </p:nvSpPr>
        <p:spPr/>
        <p:txBody>
          <a:bodyPr/>
          <a:lstStyle/>
          <a:p>
            <a:r>
              <a:rPr lang="zh-CN" altLang="en-US" dirty="0"/>
              <a:t>简单概念，例子中，任何数据都不是孤立存在的，关系称之为结构。。学籍管理问题中，表项之间的逻辑关系指的是什么？ 迷宫问题，各个走法的逻辑关系指的是什么？ 教学计划编排问题中，课程之间的逻辑关系指的是什么</a:t>
            </a:r>
            <a:r>
              <a:rPr lang="en-US" altLang="zh-CN" dirty="0"/>
              <a:t>?</a:t>
            </a:r>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t>6</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9700" y="768350"/>
            <a:ext cx="6819900" cy="3836988"/>
          </a:xfrm>
        </p:spPr>
      </p:sp>
      <p:sp>
        <p:nvSpPr>
          <p:cNvPr id="3" name="备注占位符 2"/>
          <p:cNvSpPr>
            <a:spLocks noGrp="1"/>
          </p:cNvSpPr>
          <p:nvPr>
            <p:ph type="body" idx="1"/>
          </p:nvPr>
        </p:nvSpPr>
        <p:spPr/>
        <p:txBody>
          <a:bodyPr/>
          <a:lstStyle/>
          <a:p>
            <a:r>
              <a:rPr lang="zh-CN" altLang="en-US" dirty="0"/>
              <a:t>总结一下，也就是说。。。</a:t>
            </a:r>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t>7</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9700" y="768350"/>
            <a:ext cx="6819900" cy="3836988"/>
          </a:xfrm>
        </p:spPr>
      </p:sp>
      <p:sp>
        <p:nvSpPr>
          <p:cNvPr id="3" name="备注占位符 2"/>
          <p:cNvSpPr>
            <a:spLocks noGrp="1"/>
          </p:cNvSpPr>
          <p:nvPr>
            <p:ph type="body" idx="1"/>
          </p:nvPr>
        </p:nvSpPr>
        <p:spPr/>
        <p:txBody>
          <a:bodyPr/>
          <a:lstStyle/>
          <a:p>
            <a:r>
              <a:rPr lang="zh-CN" altLang="en-US" dirty="0"/>
              <a:t>总结一下，也就是说。。。</a:t>
            </a:r>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t>8</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9700" y="768350"/>
            <a:ext cx="6819900" cy="3836988"/>
          </a:xfrm>
        </p:spPr>
      </p:sp>
      <p:sp>
        <p:nvSpPr>
          <p:cNvPr id="3" name="备注占位符 2"/>
          <p:cNvSpPr>
            <a:spLocks noGrp="1"/>
          </p:cNvSpPr>
          <p:nvPr>
            <p:ph type="body" idx="1"/>
          </p:nvPr>
        </p:nvSpPr>
        <p:spPr/>
        <p:txBody>
          <a:bodyPr/>
          <a:lstStyle/>
          <a:p>
            <a:r>
              <a:rPr lang="zh-CN" altLang="en-US" dirty="0"/>
              <a:t>第一周第</a:t>
            </a:r>
            <a:r>
              <a:rPr lang="en-US" altLang="zh-CN" dirty="0"/>
              <a:t>1</a:t>
            </a:r>
            <a:r>
              <a:rPr lang="zh-CN" altLang="en-US"/>
              <a:t>次课结束。。。</a:t>
            </a:r>
          </a:p>
          <a:p>
            <a:endParaRPr lang="en-US" altLang="zh-CN"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t>9</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9700" y="768350"/>
            <a:ext cx="6819900" cy="3836988"/>
          </a:xfrm>
        </p:spPr>
      </p:sp>
      <p:sp>
        <p:nvSpPr>
          <p:cNvPr id="3" name="备注占位符 2"/>
          <p:cNvSpPr>
            <a:spLocks noGrp="1"/>
          </p:cNvSpPr>
          <p:nvPr>
            <p:ph type="body" idx="1"/>
          </p:nvPr>
        </p:nvSpPr>
        <p:spPr/>
        <p:txBody>
          <a:bodyPr/>
          <a:lstStyle/>
          <a:p>
            <a:r>
              <a:rPr lang="zh-CN" altLang="en-US" dirty="0"/>
              <a:t>总结一下，也就是说。。。</a:t>
            </a:r>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t>10</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序偶也是译名</a:t>
            </a:r>
            <a:r>
              <a:rPr lang="en-US" altLang="zh-CN" sz="1200" b="0" i="0" kern="1200" dirty="0">
                <a:solidFill>
                  <a:schemeClr val="tx1"/>
                </a:solidFill>
                <a:effectLst/>
                <a:latin typeface="+mn-lt"/>
                <a:ea typeface="+mn-ea"/>
                <a:cs typeface="+mn-cs"/>
              </a:rPr>
              <a:t>, ordered</a:t>
            </a:r>
            <a:r>
              <a:rPr lang="en-US" altLang="zh-CN" sz="1200" b="0" i="0" kern="1200" baseline="0" dirty="0">
                <a:solidFill>
                  <a:schemeClr val="tx1"/>
                </a:solidFill>
                <a:effectLst/>
                <a:latin typeface="+mn-lt"/>
                <a:ea typeface="+mn-ea"/>
                <a:cs typeface="+mn-cs"/>
              </a:rPr>
              <a:t> pair </a:t>
            </a:r>
            <a:r>
              <a:rPr lang="zh-CN" altLang="en-US" sz="1200" b="0" i="0" kern="1200" dirty="0">
                <a:solidFill>
                  <a:schemeClr val="tx1"/>
                </a:solidFill>
                <a:effectLst/>
                <a:latin typeface="+mn-lt"/>
                <a:ea typeface="+mn-ea"/>
                <a:cs typeface="+mn-cs"/>
              </a:rPr>
              <a:t>将两个元素 </a:t>
            </a:r>
            <a:r>
              <a:rPr lang="en-US" altLang="zh-CN" sz="1200" b="0" i="0" kern="1200" dirty="0" err="1">
                <a:solidFill>
                  <a:schemeClr val="tx1"/>
                </a:solidFill>
                <a:effectLst/>
                <a:latin typeface="+mn-lt"/>
                <a:ea typeface="+mn-ea"/>
                <a:cs typeface="+mn-cs"/>
              </a:rPr>
              <a:t>x,y</a:t>
            </a:r>
            <a:r>
              <a:rPr lang="en-US" altLang="zh-C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有顺序地放在一起构成一个组合</a:t>
            </a:r>
            <a:r>
              <a:rPr lang="en-US" altLang="zh-CN" sz="1200" b="0" i="0" kern="1200" dirty="0">
                <a:solidFill>
                  <a:schemeClr val="tx1"/>
                </a:solidFill>
                <a:effectLst/>
                <a:latin typeface="+mn-lt"/>
                <a:ea typeface="+mn-ea"/>
                <a:cs typeface="+mn-cs"/>
              </a:rPr>
              <a:t>(</a:t>
            </a:r>
            <a:r>
              <a:rPr lang="en-US" altLang="zh-CN" sz="1200" b="0" i="0" kern="1200" dirty="0" err="1">
                <a:solidFill>
                  <a:schemeClr val="tx1"/>
                </a:solidFill>
                <a:effectLst/>
                <a:latin typeface="+mn-lt"/>
                <a:ea typeface="+mn-ea"/>
                <a:cs typeface="+mn-cs"/>
              </a:rPr>
              <a:t>x,y</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称为序偶</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直译类似于二元有序组</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有时为了强调顺序也写为</a:t>
            </a:r>
            <a:r>
              <a:rPr lang="en-US" altLang="zh-CN" sz="1200" b="0" i="0" kern="1200" dirty="0">
                <a:solidFill>
                  <a:schemeClr val="tx1"/>
                </a:solidFill>
                <a:effectLst/>
                <a:latin typeface="+mn-lt"/>
                <a:ea typeface="+mn-ea"/>
                <a:cs typeface="+mn-cs"/>
              </a:rPr>
              <a:t>&lt;</a:t>
            </a:r>
            <a:r>
              <a:rPr lang="en-US" altLang="zh-CN" sz="1200" b="0" i="0" kern="1200" dirty="0" err="1">
                <a:solidFill>
                  <a:schemeClr val="tx1"/>
                </a:solidFill>
                <a:effectLst/>
                <a:latin typeface="+mn-lt"/>
                <a:ea typeface="+mn-ea"/>
                <a:cs typeface="+mn-cs"/>
              </a:rPr>
              <a:t>x,y</a:t>
            </a:r>
            <a:r>
              <a:rPr lang="en-US" altLang="zh-CN" sz="1200" b="0" i="0" kern="1200" dirty="0">
                <a:solidFill>
                  <a:schemeClr val="tx1"/>
                </a:solidFill>
                <a:effectLst/>
                <a:latin typeface="+mn-lt"/>
                <a:ea typeface="+mn-ea"/>
                <a:cs typeface="+mn-cs"/>
              </a:rPr>
              <a:t>&gt;</a:t>
            </a:r>
            <a:endParaRPr lang="zh-CN" altLang="en-US" dirty="0"/>
          </a:p>
        </p:txBody>
      </p:sp>
      <p:sp>
        <p:nvSpPr>
          <p:cNvPr id="4" name="页眉占位符 3"/>
          <p:cNvSpPr>
            <a:spLocks noGrp="1"/>
          </p:cNvSpPr>
          <p:nvPr>
            <p:ph type="hdr" sz="quarter" idx="10"/>
          </p:nvPr>
        </p:nvSpPr>
        <p:spPr/>
        <p:txBody>
          <a:bodyPr/>
          <a:lstStyle/>
          <a:p>
            <a:r>
              <a:rPr lang="zh-CN" altLang="en-US"/>
              <a:t>第</a:t>
            </a:r>
            <a:r>
              <a:rPr lang="en-US" altLang="zh-CN"/>
              <a:t>1</a:t>
            </a:r>
            <a:r>
              <a:rPr lang="zh-CN" altLang="en-US"/>
              <a:t>章 绪论</a:t>
            </a:r>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73ADF5C-0B53-4BD5-BF19-A16D1C70E8AA}" type="slidenum">
              <a:rPr lang="zh-CN" altLang="en-US" smtClean="0"/>
              <a:t>11</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9700" y="768350"/>
            <a:ext cx="6819900" cy="3836988"/>
          </a:xfrm>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t>13</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t>14</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加一个后继指针。。。</a:t>
            </a:r>
            <a:endParaRPr lang="en-US" altLang="zh-CN"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t>15</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t>16</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9700" y="768350"/>
            <a:ext cx="6819900" cy="3836988"/>
          </a:xfrm>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t>17</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9700" y="768350"/>
            <a:ext cx="6819900" cy="3836988"/>
          </a:xfrm>
        </p:spPr>
      </p:sp>
      <p:sp>
        <p:nvSpPr>
          <p:cNvPr id="3" name="备注占位符 2"/>
          <p:cNvSpPr>
            <a:spLocks noGrp="1"/>
          </p:cNvSpPr>
          <p:nvPr>
            <p:ph type="body" idx="1"/>
          </p:nvPr>
        </p:nvSpPr>
        <p:spPr/>
        <p:txBody>
          <a:bodyPr/>
          <a:lstStyle/>
          <a:p>
            <a:r>
              <a:rPr lang="zh-CN" altLang="en-US" dirty="0"/>
              <a:t>总结一下，也就是说。。。</a:t>
            </a:r>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t>18</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9700" y="768350"/>
            <a:ext cx="6819900" cy="3836988"/>
          </a:xfrm>
        </p:spPr>
      </p:sp>
      <p:sp>
        <p:nvSpPr>
          <p:cNvPr id="3" name="备注占位符 2"/>
          <p:cNvSpPr>
            <a:spLocks noGrp="1"/>
          </p:cNvSpPr>
          <p:nvPr>
            <p:ph type="body" idx="1"/>
          </p:nvPr>
        </p:nvSpPr>
        <p:spPr/>
        <p:txBody>
          <a:bodyPr/>
          <a:lstStyle/>
          <a:p>
            <a:pPr>
              <a:lnSpc>
                <a:spcPts val="2800"/>
              </a:lnSpc>
            </a:pPr>
            <a:r>
              <a:rPr lang="zh-CN" altLang="en-US" sz="2800" b="1" dirty="0">
                <a:solidFill>
                  <a:srgbClr val="FF0000"/>
                </a:solidFill>
              </a:rPr>
              <a:t>逻辑结构与存储结构的关系 ：</a:t>
            </a:r>
            <a:r>
              <a:rPr kumimoji="1" lang="zh-CN" altLang="en-US" sz="2000" b="1" dirty="0">
                <a:latin typeface="Arial" panose="020B0604020202090204" pitchFamily="34" charset="0"/>
                <a:ea typeface="宋体" pitchFamily="2" charset="-122"/>
              </a:rPr>
              <a:t>数据的逻辑结构属于用户视图，是</a:t>
            </a:r>
            <a:r>
              <a:rPr kumimoji="1" lang="zh-CN" altLang="en-US" sz="2000" b="1" dirty="0">
                <a:solidFill>
                  <a:srgbClr val="FF0000"/>
                </a:solidFill>
                <a:latin typeface="Arial" panose="020B0604020202090204" pitchFamily="34" charset="0"/>
                <a:ea typeface="宋体" pitchFamily="2" charset="-122"/>
              </a:rPr>
              <a:t>面向问题</a:t>
            </a:r>
            <a:r>
              <a:rPr kumimoji="1" lang="zh-CN" altLang="en-US" sz="2000" b="1" dirty="0">
                <a:latin typeface="Arial" panose="020B0604020202090204" pitchFamily="34" charset="0"/>
                <a:ea typeface="宋体" pitchFamily="2" charset="-122"/>
              </a:rPr>
              <a:t>的，反映了数据内部的构成方式；数据的存储结构属于具体实现的视图，是</a:t>
            </a:r>
            <a:r>
              <a:rPr kumimoji="1" lang="zh-CN" altLang="en-US" sz="2000" b="1" dirty="0">
                <a:solidFill>
                  <a:srgbClr val="FF0000"/>
                </a:solidFill>
                <a:latin typeface="Arial" panose="020B0604020202090204" pitchFamily="34" charset="0"/>
                <a:ea typeface="宋体" pitchFamily="2" charset="-122"/>
              </a:rPr>
              <a:t>面向计算机</a:t>
            </a:r>
            <a:r>
              <a:rPr kumimoji="1" lang="zh-CN" altLang="en-US" sz="2000" b="1" dirty="0">
                <a:latin typeface="Arial" panose="020B0604020202090204" pitchFamily="34" charset="0"/>
                <a:ea typeface="宋体" pitchFamily="2" charset="-122"/>
              </a:rPr>
              <a:t>的。一种数据的逻辑结构可以用多种存储结构来存储，而采用不同的存储结构，其数据处理的效率往往是不同的。</a:t>
            </a:r>
            <a:endParaRPr kumimoji="1" lang="en-US" altLang="zh-CN" sz="2000" b="1" dirty="0">
              <a:latin typeface="Arial" panose="020B0604020202090204" pitchFamily="34" charset="0"/>
              <a:ea typeface="宋体" pitchFamily="2" charset="-122"/>
            </a:endParaRPr>
          </a:p>
          <a:p>
            <a:endParaRPr lang="en-US" altLang="zh-CN"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t>19</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t>20</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t>21</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b="0" i="0" kern="1200" dirty="0">
                <a:solidFill>
                  <a:schemeClr val="tx1"/>
                </a:solidFill>
                <a:effectLst/>
                <a:latin typeface="+mn-lt"/>
                <a:ea typeface="+mn-ea"/>
                <a:cs typeface="+mn-cs"/>
              </a:rPr>
              <a:t>在了解了，我们需要实现哪些基本操作之后，我们来探讨一个问题，我们为什么需要实现对数据结构的基本操作呢？</a:t>
            </a:r>
            <a:endParaRPr lang="en-US" altLang="zh-CN" sz="1200" b="0" i="0" kern="1200" dirty="0">
              <a:solidFill>
                <a:schemeClr val="tx1"/>
              </a:solidFill>
              <a:effectLst/>
              <a:latin typeface="+mn-lt"/>
              <a:ea typeface="+mn-ea"/>
              <a:cs typeface="+mn-cs"/>
            </a:endParaRPr>
          </a:p>
          <a:p>
            <a:r>
              <a:rPr lang="zh-CN" altLang="zh-CN" sz="1200" b="0" i="0" kern="1200" dirty="0">
                <a:solidFill>
                  <a:schemeClr val="tx1"/>
                </a:solidFill>
                <a:effectLst/>
                <a:latin typeface="+mn-lt"/>
                <a:ea typeface="+mn-ea"/>
                <a:cs typeface="+mn-cs"/>
              </a:rPr>
              <a:t>在的项目一般都是大型的项目都需要一个很大的团队来合作的编程，所以如果你是定义一个数据结构的这个定义者的话，那么你定义的数据结构，肯定是需要能够让你的队友们能够很方便的使用的，所以在你定义了一个数据结构之后，你还需要给你的队友们提供一些很方便，易用的韩束把这些基本操作用函数的方式给封装起来</a:t>
            </a:r>
            <a:endParaRPr lang="en-US" altLang="zh-CN"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b="0" i="0" kern="1200" dirty="0">
                <a:solidFill>
                  <a:schemeClr val="tx1"/>
                </a:solidFill>
                <a:effectLst/>
                <a:latin typeface="+mn-lt"/>
                <a:ea typeface="+mn-ea"/>
                <a:cs typeface="+mn-cs"/>
              </a:rPr>
              <a:t>第二当把这些基本操作呃封装成函数之后就可以避免重复的工作，因为这些基本操作都是很常用的。你把它封装成函数之后，以后每一次要用你不需要重新写一遍代码只需要调用一个函数就可以</a:t>
            </a:r>
            <a:endParaRPr lang="zh-CN" altLang="en-US" dirty="0"/>
          </a:p>
          <a:p>
            <a:endParaRPr lang="en-US" altLang="zh-CN" sz="1200" b="0" i="0" kern="1200" dirty="0">
              <a:solidFill>
                <a:schemeClr val="tx1"/>
              </a:solidFill>
              <a:effectLst/>
              <a:latin typeface="+mn-lt"/>
              <a:ea typeface="+mn-ea"/>
              <a:cs typeface="+mn-cs"/>
            </a:endParaRPr>
          </a:p>
          <a:p>
            <a:r>
              <a:rPr lang="zh-CN" altLang="zh-CN" sz="1200" b="0" i="0" kern="1200" dirty="0">
                <a:solidFill>
                  <a:schemeClr val="tx1"/>
                </a:solidFill>
                <a:effectLst/>
                <a:latin typeface="+mn-lt"/>
                <a:ea typeface="+mn-ea"/>
                <a:cs typeface="+mn-cs"/>
              </a:rPr>
              <a:t>其实想明白为什么这一点是很重要的只有想明白为什么做一件事做一件事的意义是什么，然后你在学习做这件事的时候，才会更有动力更加积极主动。那这是和课程内容本身无关的一些小建议</a:t>
            </a:r>
            <a:endParaRPr lang="en-US" altLang="zh-CN" sz="1200" b="0" i="0" kern="1200" dirty="0">
              <a:solidFill>
                <a:schemeClr val="tx1"/>
              </a:solidFill>
              <a:effectLst/>
              <a:latin typeface="+mn-lt"/>
              <a:ea typeface="+mn-ea"/>
              <a:cs typeface="+mn-cs"/>
            </a:endParaRPr>
          </a:p>
          <a:p>
            <a:r>
              <a:rPr lang="zh-CN" altLang="en-US" dirty="0"/>
              <a:t>因为，团队合作，所以名称不能乱起。因为重复使用，所以要注意边界条件。</a:t>
            </a:r>
            <a:r>
              <a:rPr lang="en-US" altLang="zh-CN" dirty="0"/>
              <a:t>How</a:t>
            </a:r>
            <a:r>
              <a:rPr lang="zh-CN" altLang="en-US" dirty="0"/>
              <a:t>是很容易遗忘的，知识框架，思维方式，在课程当中养成的习惯，在以后的学习和工作中会一直受益。这也是我希望大家在学完这门课程之后真正掌握的东西。分数也重要，两手都要抓</a:t>
            </a:r>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t>22</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t>23</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有且仅有一个</a:t>
            </a:r>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t>24</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t>25</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t>26</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t>27</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t>28</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t>29</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定义栈中元素的最大个数；</a:t>
            </a:r>
            <a:endParaRPr lang="en-US" altLang="zh-CN" dirty="0"/>
          </a:p>
          <a:p>
            <a:r>
              <a:rPr lang="en-US" altLang="zh-CN" dirty="0"/>
              <a:t>Data【】</a:t>
            </a:r>
            <a:r>
              <a:rPr lang="zh-CN" altLang="en-US" dirty="0"/>
              <a:t>，存放栈中的元素；</a:t>
            </a:r>
            <a:endParaRPr lang="en-US" altLang="zh-CN" dirty="0"/>
          </a:p>
          <a:p>
            <a:r>
              <a:rPr lang="zh-CN" altLang="en-US" dirty="0"/>
              <a:t>对于数组实现，栈顶指针是栈顶元素的位置</a:t>
            </a:r>
            <a:endParaRPr lang="en-US" altLang="zh-CN"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t>30</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备注：这里的 </a:t>
            </a:r>
            <a:r>
              <a:rPr lang="en-US" altLang="zh-CN" dirty="0" err="1"/>
              <a:t>SqStack</a:t>
            </a:r>
            <a:r>
              <a:rPr lang="zh-CN" altLang="en-US" dirty="0"/>
              <a:t> * 是代表</a:t>
            </a:r>
            <a:r>
              <a:rPr lang="en-US" altLang="zh-CN" dirty="0" err="1"/>
              <a:t>SqStack</a:t>
            </a:r>
            <a:r>
              <a:rPr lang="zh-CN" altLang="en-US" dirty="0"/>
              <a:t>的指针类型，传递实参的时候，要传递地址类型。就比如</a:t>
            </a:r>
            <a:r>
              <a:rPr lang="en-US" altLang="zh-CN" dirty="0" err="1"/>
              <a:t>scanf</a:t>
            </a:r>
            <a:r>
              <a:rPr lang="zh-CN" altLang="en-US" dirty="0"/>
              <a:t>函数的参数列表要给地址一样。后续会专门介绍指针。</a:t>
            </a:r>
            <a:endParaRPr lang="en-US" altLang="zh-CN" dirty="0"/>
          </a:p>
          <a:p>
            <a:r>
              <a:rPr lang="en-US" altLang="zh-CN" dirty="0"/>
              <a:t>S-&gt;top</a:t>
            </a:r>
            <a:r>
              <a:rPr lang="zh-CN" altLang="en-US" dirty="0"/>
              <a:t> 表示对结构体指针类型，取它的成员变量，和一般结构体变量如前面讲的</a:t>
            </a:r>
            <a:r>
              <a:rPr lang="en-US" altLang="zh-CN" dirty="0"/>
              <a:t>Student</a:t>
            </a:r>
            <a:r>
              <a:rPr lang="zh-CN" altLang="en-US" dirty="0"/>
              <a:t>结构体的变量</a:t>
            </a:r>
            <a:r>
              <a:rPr lang="en-US" altLang="zh-CN" dirty="0" err="1"/>
              <a:t>stu</a:t>
            </a:r>
            <a:r>
              <a:rPr lang="zh-CN" altLang="en-US" dirty="0"/>
              <a:t>的成员运算符如“</a:t>
            </a:r>
            <a:r>
              <a:rPr lang="en-US" altLang="zh-CN" dirty="0" err="1"/>
              <a:t>stu.name</a:t>
            </a:r>
            <a:r>
              <a:rPr lang="zh-CN" altLang="en-US" dirty="0"/>
              <a:t>”等价。</a:t>
            </a:r>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t>31</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进栈操作：栈不满时，栈顶指针先加</a:t>
            </a:r>
            <a:r>
              <a:rPr lang="en-US" altLang="zh-CN" dirty="0"/>
              <a:t>1</a:t>
            </a:r>
            <a:r>
              <a:rPr lang="zh-CN" altLang="en-US" dirty="0"/>
              <a:t>，再送值到栈顶元素；</a:t>
            </a:r>
            <a:endParaRPr lang="en-US" altLang="zh-CN" dirty="0"/>
          </a:p>
          <a:p>
            <a:r>
              <a:rPr lang="zh-CN" altLang="en-US" dirty="0"/>
              <a:t>可不可以调换顺序？</a:t>
            </a:r>
            <a:endParaRPr lang="en-US" altLang="zh-CN" dirty="0"/>
          </a:p>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t>32</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出栈操作：栈非空时，先取栈顶元素值，再将栈顶指针减</a:t>
            </a:r>
            <a:r>
              <a:rPr lang="en-US" altLang="zh-CN" dirty="0"/>
              <a:t>1.</a:t>
            </a:r>
            <a:r>
              <a:rPr lang="zh-CN" altLang="en-US" dirty="0"/>
              <a:t> 这里用 *</a:t>
            </a:r>
            <a:r>
              <a:rPr lang="en-US" altLang="zh-CN" dirty="0"/>
              <a:t>x</a:t>
            </a:r>
            <a:r>
              <a:rPr lang="zh-CN" altLang="en-US" dirty="0"/>
              <a:t>代表对指针变量，间接寻址的方式访问对应的地址，以便赋值。（后续会展开，这里先有这个概念）</a:t>
            </a:r>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t>33</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这里需要大家掌握的是如何对顺序栈的数组域进行相应的扩容操作。</a:t>
            </a:r>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t>34</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6"/>
            <a:ext cx="10515600" cy="1325563"/>
          </a:xfrm>
          <a:prstGeom prst="rect">
            <a:avLst/>
          </a:prstGeom>
        </p:spPr>
        <p:txBody>
          <a:bodyPr/>
          <a:lstStyle/>
          <a:p>
            <a:r>
              <a:rPr lang="zh-CN" altLang="en-US"/>
              <a:t>单击此处编辑母版标题样式</a:t>
            </a:r>
          </a:p>
        </p:txBody>
      </p:sp>
      <p:sp>
        <p:nvSpPr>
          <p:cNvPr id="3" name="内容占位符 2"/>
          <p:cNvSpPr>
            <a:spLocks noGrp="1"/>
          </p:cNvSpPr>
          <p:nvPr>
            <p:ph idx="1" hasCustomPrompt="1"/>
          </p:nvPr>
        </p:nvSpPr>
        <p:spPr>
          <a:xfrm>
            <a:off x="838200" y="1825625"/>
            <a:ext cx="10515600" cy="435133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39"/>
            <a:ext cx="10515600" cy="2852737"/>
          </a:xfrm>
          <a:prstGeom prst="rect">
            <a:avLst/>
          </a:prstGeo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1" y="4589464"/>
            <a:ext cx="10515600" cy="1500187"/>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6"/>
            <a:ext cx="10515600" cy="1325563"/>
          </a:xfrm>
          <a:prstGeom prst="rect">
            <a:avLst/>
          </a:prstGeom>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56200" cy="435133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97600" y="1825625"/>
            <a:ext cx="5156200" cy="435133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40317" y="365126"/>
            <a:ext cx="10515600" cy="1325563"/>
          </a:xfrm>
          <a:prstGeom prst="rect">
            <a:avLst/>
          </a:prstGeom>
        </p:spPr>
        <p:txBody>
          <a:bodyPr/>
          <a:lstStyle/>
          <a:p>
            <a:r>
              <a:rPr lang="zh-CN" altLang="en-US"/>
              <a:t>单击此处编辑母版标题样式</a:t>
            </a:r>
          </a:p>
        </p:txBody>
      </p:sp>
      <p:sp>
        <p:nvSpPr>
          <p:cNvPr id="3" name="文本占位符 2"/>
          <p:cNvSpPr>
            <a:spLocks noGrp="1"/>
          </p:cNvSpPr>
          <p:nvPr>
            <p:ph type="body" idx="1" hasCustomPrompt="1"/>
          </p:nvPr>
        </p:nvSpPr>
        <p:spPr>
          <a:xfrm>
            <a:off x="840318" y="1681163"/>
            <a:ext cx="5158316"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40318" y="2505075"/>
            <a:ext cx="5158316" cy="368458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71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717" cy="368458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6"/>
            <a:ext cx="10515600" cy="1325563"/>
          </a:xfrm>
          <a:prstGeom prst="rect">
            <a:avLst/>
          </a:prstGeom>
        </p:spPr>
        <p:txBody>
          <a:bodyPr/>
          <a:lstStyle/>
          <a:p>
            <a:r>
              <a:rPr lang="zh-CN" altLang="en-US"/>
              <a:t>单击此处编辑母版标题样式</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40318" y="457200"/>
            <a:ext cx="3932767" cy="1600200"/>
          </a:xfrm>
          <a:prstGeom prst="rect">
            <a:avLst/>
          </a:prstGeo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717" y="987426"/>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40318" y="2057400"/>
            <a:ext cx="393276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40318" y="457200"/>
            <a:ext cx="3932767" cy="1600200"/>
          </a:xfrm>
          <a:prstGeom prst="rect">
            <a:avLst/>
          </a:prstGeo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717" y="987426"/>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40318" y="2057400"/>
            <a:ext cx="393276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6"/>
            <a:ext cx="10515600" cy="1325563"/>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a:xfrm>
            <a:off x="838200" y="1825625"/>
            <a:ext cx="10515600" cy="4351338"/>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1" y="365125"/>
            <a:ext cx="2628900" cy="5811838"/>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1" y="365125"/>
            <a:ext cx="7683500" cy="5811838"/>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en-US" dirty="0"/>
          </a:p>
        </p:txBody>
      </p:sp>
      <p:sp>
        <p:nvSpPr>
          <p:cNvPr id="4" name="Date Placeholder 3"/>
          <p:cNvSpPr>
            <a:spLocks noGrp="1"/>
          </p:cNvSpPr>
          <p:nvPr>
            <p:ph type="dt" sz="half" idx="10"/>
          </p:nvPr>
        </p:nvSpPr>
        <p:spPr/>
        <p:txBody>
          <a:bodyPr/>
          <a:lstStyle/>
          <a:p>
            <a:fld id="{526DFB96-F52A-8843-84FA-47BC900A8910}" type="datetime1">
              <a:rPr lang="zh-CN" altLang="en-US" smtClean="0"/>
              <a:t>2025/11/27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8EB88976-C699-694C-8FC3-2C73659D9726}" type="datetime1">
              <a:rPr lang="zh-CN" altLang="en-US" smtClean="0"/>
              <a:t>2025/11/27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1DDC5AAC-2156-CD4A-A6E3-EC73B19DD58B}" type="datetime1">
              <a:rPr lang="zh-CN" altLang="en-US" smtClean="0"/>
              <a:t>2025/11/27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A5590480-9F6D-A447-9616-D5CD4E8FDC36}" type="datetime1">
              <a:rPr lang="zh-CN" altLang="en-US" smtClean="0"/>
              <a:t>2025/11/27</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Content Placeholder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Content Placeholder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207CBD0B-8F46-6947-B45B-7E7AD1CA56E5}" type="datetime1">
              <a:rPr lang="zh-CN" altLang="en-US" smtClean="0"/>
              <a:t>2025/11/27</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4230834A-6F26-5848-A787-C7770A860D72}" type="datetime1">
              <a:rPr lang="zh-CN" altLang="en-US" smtClean="0"/>
              <a:t>2025/11/27</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526EE23-ED9D-1D48-9E60-667A5EC57B0E}" type="datetime1">
              <a:rPr lang="zh-CN" altLang="en-US" smtClean="0"/>
              <a:t>2025/11/27</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92A2E3B8-FA09-FE40-AF32-CB65150F232B}" type="datetime1">
              <a:rPr lang="zh-CN" altLang="en-US" smtClean="0"/>
              <a:t>2025/11/27</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C0AFE01C-A490-6343-970F-1E5142ADA754}" type="datetime1">
              <a:rPr lang="zh-CN" altLang="en-US" smtClean="0"/>
              <a:t>2025/11/27</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591EFBF4-33F7-1E40-ADEB-32F4348040B3}" type="datetime1">
              <a:rPr lang="zh-CN" altLang="en-US" smtClean="0"/>
              <a:t>2025/11/27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3D7BB398-5083-114D-895C-DF0023DF475E}" type="datetime1">
              <a:rPr lang="zh-CN" altLang="en-US" smtClean="0"/>
              <a:t>2025/11/27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hasCustomPrompt="1"/>
          </p:nvPr>
        </p:nvSpPr>
        <p:spPr>
          <a:xfrm>
            <a:off x="838200" y="365125"/>
            <a:ext cx="10515600" cy="581183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p:zoom/>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cSld name="1_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1399"/>
    </mc:Choice>
    <mc:Fallback xmlns="">
      <p:transition spd="slow"/>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Rectangle 9"/>
          <p:cNvSpPr>
            <a:spLocks noChangeArrowheads="1"/>
          </p:cNvSpPr>
          <p:nvPr userDrawn="1"/>
        </p:nvSpPr>
        <p:spPr bwMode="auto">
          <a:xfrm>
            <a:off x="0" y="1000125"/>
            <a:ext cx="645584" cy="166832"/>
          </a:xfrm>
          <a:prstGeom prst="rect">
            <a:avLst/>
          </a:prstGeom>
          <a:gradFill flip="none" rotWithShape="1">
            <a:gsLst>
              <a:gs pos="0">
                <a:srgbClr val="0066CC">
                  <a:shade val="30000"/>
                  <a:satMod val="115000"/>
                </a:srgbClr>
              </a:gs>
              <a:gs pos="50000">
                <a:srgbClr val="0066CC">
                  <a:shade val="67500"/>
                  <a:satMod val="115000"/>
                </a:srgbClr>
              </a:gs>
              <a:gs pos="100000">
                <a:srgbClr val="0066CC">
                  <a:shade val="100000"/>
                  <a:satMod val="115000"/>
                </a:srgbClr>
              </a:gs>
            </a:gsLst>
            <a:lin ang="0" scaled="1"/>
            <a:tileRect/>
          </a:gradFill>
          <a:ln>
            <a:noFill/>
          </a:ln>
          <a:effectLst/>
        </p:spPr>
        <p:txBody>
          <a:bodyPr wrap="none" anchor="ctr"/>
          <a:lstStyle>
            <a:lvl1pPr>
              <a:defRPr sz="2400">
                <a:solidFill>
                  <a:schemeClr val="tx1"/>
                </a:solidFill>
                <a:latin typeface="Arial" panose="020B0604020202090204" pitchFamily="34" charset="0"/>
                <a:ea typeface="微软雅黑" panose="020B0503020204020204" pitchFamily="34" charset="-122"/>
              </a:defRPr>
            </a:lvl1pPr>
            <a:lvl2pPr marL="742950" indent="-285750">
              <a:defRPr sz="2400">
                <a:solidFill>
                  <a:schemeClr val="tx1"/>
                </a:solidFill>
                <a:latin typeface="Arial" panose="020B0604020202090204" pitchFamily="34" charset="0"/>
                <a:ea typeface="微软雅黑" panose="020B0503020204020204" pitchFamily="34" charset="-122"/>
              </a:defRPr>
            </a:lvl2pPr>
            <a:lvl3pPr marL="1143000" indent="-228600">
              <a:defRPr sz="2400">
                <a:solidFill>
                  <a:schemeClr val="tx1"/>
                </a:solidFill>
                <a:latin typeface="Arial" panose="020B0604020202090204" pitchFamily="34" charset="0"/>
                <a:ea typeface="微软雅黑" panose="020B0503020204020204" pitchFamily="34" charset="-122"/>
              </a:defRPr>
            </a:lvl3pPr>
            <a:lvl4pPr marL="1600200" indent="-228600">
              <a:defRPr sz="2400">
                <a:solidFill>
                  <a:schemeClr val="tx1"/>
                </a:solidFill>
                <a:latin typeface="Arial" panose="020B0604020202090204" pitchFamily="34" charset="0"/>
                <a:ea typeface="微软雅黑" panose="020B0503020204020204" pitchFamily="34" charset="-122"/>
              </a:defRPr>
            </a:lvl4pPr>
            <a:lvl5pPr marL="2057400" indent="-228600">
              <a:defRPr sz="2400">
                <a:solidFill>
                  <a:schemeClr val="tx1"/>
                </a:solidFill>
                <a:latin typeface="Arial" panose="020B0604020202090204" pitchFamily="34" charset="0"/>
                <a:ea typeface="微软雅黑" panose="020B0503020204020204" pitchFamily="34" charset="-122"/>
              </a:defRPr>
            </a:lvl5pPr>
            <a:lvl6pPr marL="2514600" indent="-228600" eaLnBrk="0" fontAlgn="base" hangingPunct="0">
              <a:spcBef>
                <a:spcPct val="0"/>
              </a:spcBef>
              <a:spcAft>
                <a:spcPct val="0"/>
              </a:spcAft>
              <a:defRPr sz="2400">
                <a:solidFill>
                  <a:schemeClr val="tx1"/>
                </a:solidFill>
                <a:latin typeface="Arial" panose="020B0604020202090204" pitchFamily="34" charset="0"/>
                <a:ea typeface="微软雅黑" panose="020B0503020204020204" pitchFamily="34" charset="-122"/>
              </a:defRPr>
            </a:lvl6pPr>
            <a:lvl7pPr marL="2971800" indent="-228600" eaLnBrk="0" fontAlgn="base" hangingPunct="0">
              <a:spcBef>
                <a:spcPct val="0"/>
              </a:spcBef>
              <a:spcAft>
                <a:spcPct val="0"/>
              </a:spcAft>
              <a:defRPr sz="2400">
                <a:solidFill>
                  <a:schemeClr val="tx1"/>
                </a:solidFill>
                <a:latin typeface="Arial" panose="020B0604020202090204" pitchFamily="34" charset="0"/>
                <a:ea typeface="微软雅黑" panose="020B0503020204020204" pitchFamily="34" charset="-122"/>
              </a:defRPr>
            </a:lvl7pPr>
            <a:lvl8pPr marL="3429000" indent="-228600" eaLnBrk="0" fontAlgn="base" hangingPunct="0">
              <a:spcBef>
                <a:spcPct val="0"/>
              </a:spcBef>
              <a:spcAft>
                <a:spcPct val="0"/>
              </a:spcAft>
              <a:defRPr sz="2400">
                <a:solidFill>
                  <a:schemeClr val="tx1"/>
                </a:solidFill>
                <a:latin typeface="Arial" panose="020B0604020202090204" pitchFamily="34" charset="0"/>
                <a:ea typeface="微软雅黑" panose="020B0503020204020204" pitchFamily="34" charset="-122"/>
              </a:defRPr>
            </a:lvl8pPr>
            <a:lvl9pPr marL="3886200" indent="-228600" eaLnBrk="0" fontAlgn="base" hangingPunct="0">
              <a:spcBef>
                <a:spcPct val="0"/>
              </a:spcBef>
              <a:spcAft>
                <a:spcPct val="0"/>
              </a:spcAft>
              <a:defRPr sz="2400">
                <a:solidFill>
                  <a:schemeClr val="tx1"/>
                </a:solidFill>
                <a:latin typeface="Arial" panose="020B0604020202090204" pitchFamily="34" charset="0"/>
                <a:ea typeface="微软雅黑" panose="020B0503020204020204" pitchFamily="34" charset="-122"/>
              </a:defRPr>
            </a:lvl9pPr>
          </a:lstStyle>
          <a:p>
            <a:pPr eaLnBrk="1" hangingPunct="1">
              <a:defRPr/>
            </a:pPr>
            <a:endParaRPr lang="zh-CN" altLang="en-US" sz="2400"/>
          </a:p>
        </p:txBody>
      </p:sp>
      <p:sp>
        <p:nvSpPr>
          <p:cNvPr id="3" name="Rectangle 10"/>
          <p:cNvSpPr>
            <a:spLocks noChangeArrowheads="1"/>
          </p:cNvSpPr>
          <p:nvPr userDrawn="1"/>
        </p:nvSpPr>
        <p:spPr bwMode="auto">
          <a:xfrm>
            <a:off x="702733" y="996950"/>
            <a:ext cx="11489267" cy="166832"/>
          </a:xfrm>
          <a:prstGeom prst="rect">
            <a:avLst/>
          </a:prstGeom>
          <a:solidFill>
            <a:srgbClr val="A500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lvl="0" eaLnBrk="1" hangingPunct="1"/>
            <a:endParaRPr lang="zh-CN" altLang="en-US" sz="2400"/>
          </a:p>
        </p:txBody>
      </p:sp>
      <p:sp>
        <p:nvSpPr>
          <p:cNvPr id="4" name="Text Box 11"/>
          <p:cNvSpPr txBox="1">
            <a:spLocks noChangeArrowheads="1"/>
          </p:cNvSpPr>
          <p:nvPr userDrawn="1"/>
        </p:nvSpPr>
        <p:spPr bwMode="auto">
          <a:xfrm>
            <a:off x="322873" y="935906"/>
            <a:ext cx="341760"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panose="020B0604020202090204" pitchFamily="34" charset="0"/>
                <a:ea typeface="微软雅黑" panose="020B0503020204020204" pitchFamily="34" charset="-122"/>
              </a:defRPr>
            </a:lvl1pPr>
            <a:lvl2pPr marL="742950" indent="-285750">
              <a:defRPr sz="2400">
                <a:solidFill>
                  <a:schemeClr val="tx1"/>
                </a:solidFill>
                <a:latin typeface="Arial" panose="020B0604020202090204" pitchFamily="34" charset="0"/>
                <a:ea typeface="微软雅黑" panose="020B0503020204020204" pitchFamily="34" charset="-122"/>
              </a:defRPr>
            </a:lvl2pPr>
            <a:lvl3pPr marL="1143000" indent="-228600">
              <a:defRPr sz="2400">
                <a:solidFill>
                  <a:schemeClr val="tx1"/>
                </a:solidFill>
                <a:latin typeface="Arial" panose="020B0604020202090204" pitchFamily="34" charset="0"/>
                <a:ea typeface="微软雅黑" panose="020B0503020204020204" pitchFamily="34" charset="-122"/>
              </a:defRPr>
            </a:lvl3pPr>
            <a:lvl4pPr marL="1600200" indent="-228600">
              <a:defRPr sz="2400">
                <a:solidFill>
                  <a:schemeClr val="tx1"/>
                </a:solidFill>
                <a:latin typeface="Arial" panose="020B0604020202090204" pitchFamily="34" charset="0"/>
                <a:ea typeface="微软雅黑" panose="020B0503020204020204" pitchFamily="34" charset="-122"/>
              </a:defRPr>
            </a:lvl4pPr>
            <a:lvl5pPr marL="2057400" indent="-228600">
              <a:defRPr sz="2400">
                <a:solidFill>
                  <a:schemeClr val="tx1"/>
                </a:solidFill>
                <a:latin typeface="Arial" panose="020B0604020202090204" pitchFamily="34" charset="0"/>
                <a:ea typeface="微软雅黑" panose="020B0503020204020204" pitchFamily="34" charset="-122"/>
              </a:defRPr>
            </a:lvl5pPr>
            <a:lvl6pPr marL="2514600" indent="-228600" eaLnBrk="0" fontAlgn="base" hangingPunct="0">
              <a:spcBef>
                <a:spcPct val="0"/>
              </a:spcBef>
              <a:spcAft>
                <a:spcPct val="0"/>
              </a:spcAft>
              <a:defRPr sz="2400">
                <a:solidFill>
                  <a:schemeClr val="tx1"/>
                </a:solidFill>
                <a:latin typeface="Arial" panose="020B0604020202090204" pitchFamily="34" charset="0"/>
                <a:ea typeface="微软雅黑" panose="020B0503020204020204" pitchFamily="34" charset="-122"/>
              </a:defRPr>
            </a:lvl6pPr>
            <a:lvl7pPr marL="2971800" indent="-228600" eaLnBrk="0" fontAlgn="base" hangingPunct="0">
              <a:spcBef>
                <a:spcPct val="0"/>
              </a:spcBef>
              <a:spcAft>
                <a:spcPct val="0"/>
              </a:spcAft>
              <a:defRPr sz="2400">
                <a:solidFill>
                  <a:schemeClr val="tx1"/>
                </a:solidFill>
                <a:latin typeface="Arial" panose="020B0604020202090204" pitchFamily="34" charset="0"/>
                <a:ea typeface="微软雅黑" panose="020B0503020204020204" pitchFamily="34" charset="-122"/>
              </a:defRPr>
            </a:lvl7pPr>
            <a:lvl8pPr marL="3429000" indent="-228600" eaLnBrk="0" fontAlgn="base" hangingPunct="0">
              <a:spcBef>
                <a:spcPct val="0"/>
              </a:spcBef>
              <a:spcAft>
                <a:spcPct val="0"/>
              </a:spcAft>
              <a:defRPr sz="2400">
                <a:solidFill>
                  <a:schemeClr val="tx1"/>
                </a:solidFill>
                <a:latin typeface="Arial" panose="020B0604020202090204" pitchFamily="34" charset="0"/>
                <a:ea typeface="微软雅黑" panose="020B0503020204020204" pitchFamily="34" charset="-122"/>
              </a:defRPr>
            </a:lvl8pPr>
            <a:lvl9pPr marL="3886200" indent="-228600" eaLnBrk="0" fontAlgn="base" hangingPunct="0">
              <a:spcBef>
                <a:spcPct val="0"/>
              </a:spcBef>
              <a:spcAft>
                <a:spcPct val="0"/>
              </a:spcAft>
              <a:defRPr sz="2400">
                <a:solidFill>
                  <a:schemeClr val="tx1"/>
                </a:solidFill>
                <a:latin typeface="Arial" panose="020B0604020202090204" pitchFamily="34" charset="0"/>
                <a:ea typeface="微软雅黑" panose="020B0503020204020204" pitchFamily="34" charset="-122"/>
              </a:defRPr>
            </a:lvl9pPr>
          </a:lstStyle>
          <a:p>
            <a:pPr algn="r" eaLnBrk="1" hangingPunct="1">
              <a:defRPr/>
            </a:pPr>
            <a:fld id="{CC6AFE6F-DA54-4337-ADC7-9B4643189B01}" type="slidenum">
              <a:rPr lang="en-US" altLang="zh-CN" sz="1000" b="1" smtClean="0">
                <a:solidFill>
                  <a:schemeClr val="bg1"/>
                </a:solidFill>
                <a:ea typeface="宋体" pitchFamily="2" charset="-122"/>
              </a:rPr>
              <a:t>‹#›</a:t>
            </a:fld>
            <a:endParaRPr lang="en-US" altLang="zh-CN" sz="1000" b="1" dirty="0">
              <a:solidFill>
                <a:schemeClr val="bg1"/>
              </a:solidFill>
              <a:ea typeface="宋体" pitchFamily="2"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90204" pitchFamily="34" charset="0"/>
          <a:ea typeface="宋体" pitchFamily="2" charset="-122"/>
        </a:defRPr>
      </a:lvl2pPr>
      <a:lvl3pPr algn="ctr" rtl="0" fontAlgn="base">
        <a:spcBef>
          <a:spcPct val="0"/>
        </a:spcBef>
        <a:spcAft>
          <a:spcPct val="0"/>
        </a:spcAft>
        <a:defRPr sz="4400">
          <a:solidFill>
            <a:schemeClr val="tx2"/>
          </a:solidFill>
          <a:latin typeface="Arial" panose="020B0604020202090204" pitchFamily="34" charset="0"/>
          <a:ea typeface="宋体" pitchFamily="2" charset="-122"/>
        </a:defRPr>
      </a:lvl3pPr>
      <a:lvl4pPr algn="ctr" rtl="0" fontAlgn="base">
        <a:spcBef>
          <a:spcPct val="0"/>
        </a:spcBef>
        <a:spcAft>
          <a:spcPct val="0"/>
        </a:spcAft>
        <a:defRPr sz="4400">
          <a:solidFill>
            <a:schemeClr val="tx2"/>
          </a:solidFill>
          <a:latin typeface="Arial" panose="020B0604020202090204" pitchFamily="34" charset="0"/>
          <a:ea typeface="宋体" pitchFamily="2" charset="-122"/>
        </a:defRPr>
      </a:lvl4pPr>
      <a:lvl5pPr algn="ctr" rtl="0" fontAlgn="base">
        <a:spcBef>
          <a:spcPct val="0"/>
        </a:spcBef>
        <a:spcAft>
          <a:spcPct val="0"/>
        </a:spcAft>
        <a:defRPr sz="4400">
          <a:solidFill>
            <a:schemeClr val="tx2"/>
          </a:solidFill>
          <a:latin typeface="Arial" panose="020B0604020202090204" pitchFamily="34" charset="0"/>
          <a:ea typeface="宋体" pitchFamily="2" charset="-122"/>
        </a:defRPr>
      </a:lvl5pPr>
      <a:lvl6pPr marL="457200" algn="ctr" rtl="0" fontAlgn="base">
        <a:spcBef>
          <a:spcPct val="0"/>
        </a:spcBef>
        <a:spcAft>
          <a:spcPct val="0"/>
        </a:spcAft>
        <a:defRPr sz="4400">
          <a:solidFill>
            <a:schemeClr val="tx2"/>
          </a:solidFill>
          <a:latin typeface="Arial" panose="020B0604020202090204" pitchFamily="34" charset="0"/>
          <a:ea typeface="宋体" pitchFamily="2" charset="-122"/>
        </a:defRPr>
      </a:lvl6pPr>
      <a:lvl7pPr marL="914400" algn="ctr" rtl="0" fontAlgn="base">
        <a:spcBef>
          <a:spcPct val="0"/>
        </a:spcBef>
        <a:spcAft>
          <a:spcPct val="0"/>
        </a:spcAft>
        <a:defRPr sz="4400">
          <a:solidFill>
            <a:schemeClr val="tx2"/>
          </a:solidFill>
          <a:latin typeface="Arial" panose="020B0604020202090204" pitchFamily="34" charset="0"/>
          <a:ea typeface="宋体" pitchFamily="2" charset="-122"/>
        </a:defRPr>
      </a:lvl7pPr>
      <a:lvl8pPr marL="1371600" algn="ctr" rtl="0" fontAlgn="base">
        <a:spcBef>
          <a:spcPct val="0"/>
        </a:spcBef>
        <a:spcAft>
          <a:spcPct val="0"/>
        </a:spcAft>
        <a:defRPr sz="4400">
          <a:solidFill>
            <a:schemeClr val="tx2"/>
          </a:solidFill>
          <a:latin typeface="Arial" panose="020B0604020202090204" pitchFamily="34" charset="0"/>
          <a:ea typeface="宋体" pitchFamily="2" charset="-122"/>
        </a:defRPr>
      </a:lvl8pPr>
      <a:lvl9pPr marL="1828800" algn="ctr" rtl="0" fontAlgn="base">
        <a:spcBef>
          <a:spcPct val="0"/>
        </a:spcBef>
        <a:spcAft>
          <a:spcPct val="0"/>
        </a:spcAft>
        <a:defRPr sz="4400">
          <a:solidFill>
            <a:schemeClr val="tx2"/>
          </a:solidFill>
          <a:latin typeface="Arial" panose="020B0604020202090204" pitchFamily="34" charset="0"/>
          <a:ea typeface="宋体"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293316B-EDCD-8F40-969E-889BCC677BC8}" type="datetime1">
              <a:rPr lang="zh-CN" altLang="en-US" smtClean="0"/>
              <a:t>2025/11/27</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3.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22.xml"/><Relationship Id="rId1" Type="http://schemas.openxmlformats.org/officeDocument/2006/relationships/slideLayout" Target="../slideLayouts/slideLayout13.xml"/><Relationship Id="rId4" Type="http://schemas.openxmlformats.org/officeDocument/2006/relationships/image" Target="../media/image11.emf"/></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slide" Target="slide13.xml"/><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slide" Target="slide10.xml"/><Relationship Id="rId2" Type="http://schemas.openxmlformats.org/officeDocument/2006/relationships/notesSlide" Target="../notesSlides/notesSlide25.xml"/><Relationship Id="rId1" Type="http://schemas.openxmlformats.org/officeDocument/2006/relationships/slideLayout" Target="../slideLayouts/slideLayout13.xml"/><Relationship Id="rId5" Type="http://schemas.openxmlformats.org/officeDocument/2006/relationships/slide" Target="slide18.xml"/><Relationship Id="rId4" Type="http://schemas.openxmlformats.org/officeDocument/2006/relationships/slide" Target="slide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28.xml"/><Relationship Id="rId1" Type="http://schemas.openxmlformats.org/officeDocument/2006/relationships/slideLayout" Target="../slideLayouts/slideLayout13.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3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9.xml"/><Relationship Id="rId1" Type="http://schemas.openxmlformats.org/officeDocument/2006/relationships/slideLayout" Target="../slideLayouts/slideLayout13.xml"/><Relationship Id="rId4" Type="http://schemas.openxmlformats.org/officeDocument/2006/relationships/image" Target="../media/image17.png"/></Relationships>
</file>

<file path=ppt/slides/_rels/slide3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0.xml"/><Relationship Id="rId1" Type="http://schemas.openxmlformats.org/officeDocument/2006/relationships/slideLayout" Target="../slideLayouts/slideLayout13.xml"/><Relationship Id="rId4" Type="http://schemas.openxmlformats.org/officeDocument/2006/relationships/image" Target="../media/image18.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2139050" y="1761570"/>
            <a:ext cx="7366893" cy="523220"/>
          </a:xfrm>
          <a:prstGeom prst="rect">
            <a:avLst/>
          </a:prstGeom>
          <a:noFill/>
        </p:spPr>
        <p:txBody>
          <a:bodyPr wrap="square">
            <a:spAutoFit/>
          </a:bodyPr>
          <a:lstStyle/>
          <a:p>
            <a:pPr algn="ctr" defTabSz="457200" fontAlgn="auto">
              <a:spcBef>
                <a:spcPts val="0"/>
              </a:spcBef>
              <a:spcAft>
                <a:spcPts val="0"/>
              </a:spcAft>
              <a:defRPr/>
            </a:pPr>
            <a:r>
              <a:rPr kumimoji="0" lang="zh-CN" altLang="en-US" sz="2800" b="0" i="0" u="none" strike="noStrike" kern="1200" cap="none" spc="0" normalizeH="0" baseline="0" noProof="0" dirty="0">
                <a:ln>
                  <a:noFill/>
                </a:ln>
                <a:solidFill>
                  <a:prstClr val="black"/>
                </a:solidFill>
                <a:effectLst/>
                <a:uLnTx/>
                <a:uFillTx/>
                <a:latin typeface="Calibri"/>
                <a:ea typeface="等线" panose="02010600030101010101" pitchFamily="2" charset="-122"/>
                <a:cs typeface="+mn-cs"/>
              </a:rPr>
              <a:t>第十三讲  </a:t>
            </a:r>
            <a:r>
              <a:rPr lang="en-US" altLang="zh-CN" sz="2800" dirty="0">
                <a:latin typeface="Arial" panose="020B0604020202090204" pitchFamily="34" charset="0"/>
                <a:ea typeface="黑体" panose="02010609060101010101" pitchFamily="49" charset="-122"/>
                <a:cs typeface="Arial" panose="020B0604020202090204" pitchFamily="34" charset="0"/>
              </a:rPr>
              <a:t>《</a:t>
            </a:r>
            <a:r>
              <a:rPr lang="zh-CN" altLang="en-US" sz="2800" dirty="0">
                <a:latin typeface="Arial" panose="020B0604020202090204" pitchFamily="34" charset="0"/>
                <a:ea typeface="黑体" panose="02010609060101010101" pitchFamily="49" charset="-122"/>
                <a:cs typeface="Arial" panose="020B0604020202090204" pitchFamily="34" charset="0"/>
              </a:rPr>
              <a:t>栈与递归</a:t>
            </a:r>
            <a:r>
              <a:rPr lang="en-US" altLang="zh-CN" sz="2800" dirty="0">
                <a:latin typeface="Arial" panose="020B0604020202090204" pitchFamily="34" charset="0"/>
                <a:ea typeface="黑体" panose="02010609060101010101" pitchFamily="49" charset="-122"/>
                <a:cs typeface="Arial" panose="020B0604020202090204" pitchFamily="34" charset="0"/>
              </a:rPr>
              <a:t>》</a:t>
            </a:r>
            <a:endParaRPr kumimoji="1" lang="zh-CN" altLang="en-US" sz="2800" b="1" i="0" u="none" strike="noStrike" kern="1200" cap="none" spc="0" normalizeH="0" baseline="0" noProof="0" dirty="0">
              <a:ln>
                <a:noFill/>
              </a:ln>
              <a:solidFill>
                <a:prstClr val="black"/>
              </a:solidFill>
              <a:effectLst/>
              <a:uLnTx/>
              <a:uFillTx/>
              <a:latin typeface="Calibri"/>
              <a:ea typeface="等线" panose="02010600030101010101" pitchFamily="2" charset="-122"/>
              <a:cs typeface="+mn-cs"/>
            </a:endParaRPr>
          </a:p>
        </p:txBody>
      </p:sp>
      <p:sp>
        <p:nvSpPr>
          <p:cNvPr id="4" name="Rectangle 3"/>
          <p:cNvSpPr txBox="1">
            <a:spLocks noChangeArrowheads="1"/>
          </p:cNvSpPr>
          <p:nvPr/>
        </p:nvSpPr>
        <p:spPr bwMode="auto">
          <a:xfrm>
            <a:off x="1081199" y="2284790"/>
            <a:ext cx="10029602" cy="4284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0" indent="0" algn="ctr" rtl="0" eaLnBrk="0" fontAlgn="base" hangingPunct="0">
              <a:spcBef>
                <a:spcPct val="20000"/>
              </a:spcBef>
              <a:spcAft>
                <a:spcPct val="0"/>
              </a:spcAft>
              <a:buFontTx/>
              <a:buNone/>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1600">
                <a:solidFill>
                  <a:schemeClr val="tx1"/>
                </a:solidFill>
                <a:latin typeface="Arial" panose="020B0604020202090204" pitchFamily="34" charset="0"/>
                <a:ea typeface="+mn-ea"/>
              </a:defRPr>
            </a:lvl2pPr>
            <a:lvl3pPr marL="1143000" indent="-228600" algn="l" rtl="0" eaLnBrk="0" fontAlgn="base" hangingPunct="0">
              <a:spcBef>
                <a:spcPct val="20000"/>
              </a:spcBef>
              <a:spcAft>
                <a:spcPct val="0"/>
              </a:spcAft>
              <a:buChar char="•"/>
              <a:defRPr sz="1400">
                <a:solidFill>
                  <a:schemeClr val="tx1"/>
                </a:solidFill>
                <a:latin typeface="Times New Roman" panose="02020503050405090304" pitchFamily="18" charset="0"/>
                <a:ea typeface="+mn-ea"/>
              </a:defRPr>
            </a:lvl3pPr>
            <a:lvl4pPr marL="1600200" indent="-228600" algn="l" rtl="0" eaLnBrk="0" fontAlgn="base" hangingPunct="0">
              <a:spcBef>
                <a:spcPct val="20000"/>
              </a:spcBef>
              <a:spcAft>
                <a:spcPct val="0"/>
              </a:spcAft>
              <a:buChar char="–"/>
              <a:defRPr sz="1200">
                <a:solidFill>
                  <a:schemeClr val="tx1"/>
                </a:solidFill>
                <a:latin typeface="Arial" panose="020B0604020202090204" pitchFamily="34" charset="0"/>
                <a:ea typeface="+mn-ea"/>
              </a:defRPr>
            </a:lvl4pPr>
            <a:lvl5pPr marL="2057400" indent="-228600" algn="l" rtl="0" eaLnBrk="0" fontAlgn="base" hangingPunct="0">
              <a:spcBef>
                <a:spcPct val="20000"/>
              </a:spcBef>
              <a:spcAft>
                <a:spcPct val="0"/>
              </a:spcAft>
              <a:buChar char="»"/>
              <a:defRPr sz="1200">
                <a:solidFill>
                  <a:schemeClr val="tx1"/>
                </a:solidFill>
                <a:latin typeface="Arial" panose="020B0604020202090204" pitchFamily="34" charset="0"/>
                <a:ea typeface="+mn-ea"/>
              </a:defRPr>
            </a:lvl5pPr>
            <a:lvl6pPr marL="2514600" indent="-228600" algn="l" rtl="0" fontAlgn="base">
              <a:spcBef>
                <a:spcPct val="20000"/>
              </a:spcBef>
              <a:spcAft>
                <a:spcPct val="0"/>
              </a:spcAft>
              <a:buChar char="»"/>
              <a:defRPr sz="1200">
                <a:solidFill>
                  <a:schemeClr val="tx1"/>
                </a:solidFill>
                <a:latin typeface="Arial" panose="020B0604020202090204" pitchFamily="34" charset="0"/>
                <a:ea typeface="+mn-ea"/>
              </a:defRPr>
            </a:lvl6pPr>
            <a:lvl7pPr marL="2971800" indent="-228600" algn="l" rtl="0" fontAlgn="base">
              <a:spcBef>
                <a:spcPct val="20000"/>
              </a:spcBef>
              <a:spcAft>
                <a:spcPct val="0"/>
              </a:spcAft>
              <a:buChar char="»"/>
              <a:defRPr sz="1200">
                <a:solidFill>
                  <a:schemeClr val="tx1"/>
                </a:solidFill>
                <a:latin typeface="Arial" panose="020B0604020202090204" pitchFamily="34" charset="0"/>
                <a:ea typeface="+mn-ea"/>
              </a:defRPr>
            </a:lvl7pPr>
            <a:lvl8pPr marL="3429000" indent="-228600" algn="l" rtl="0" fontAlgn="base">
              <a:spcBef>
                <a:spcPct val="20000"/>
              </a:spcBef>
              <a:spcAft>
                <a:spcPct val="0"/>
              </a:spcAft>
              <a:buChar char="»"/>
              <a:defRPr sz="1200">
                <a:solidFill>
                  <a:schemeClr val="tx1"/>
                </a:solidFill>
                <a:latin typeface="Arial" panose="020B0604020202090204" pitchFamily="34" charset="0"/>
                <a:ea typeface="+mn-ea"/>
              </a:defRPr>
            </a:lvl8pPr>
            <a:lvl9pPr marL="3886200" indent="-228600" algn="l" rtl="0" fontAlgn="base">
              <a:spcBef>
                <a:spcPct val="20000"/>
              </a:spcBef>
              <a:spcAft>
                <a:spcPct val="0"/>
              </a:spcAft>
              <a:buChar char="»"/>
              <a:defRPr sz="1200">
                <a:solidFill>
                  <a:schemeClr val="tx1"/>
                </a:solidFill>
                <a:latin typeface="Arial" panose="020B0604020202090204" pitchFamily="34" charset="0"/>
                <a:ea typeface="+mn-ea"/>
              </a:defRPr>
            </a:lvl9pPr>
          </a:lstStyle>
          <a:p>
            <a:pPr marL="0" marR="0" lvl="0" indent="0" algn="ctr" defTabSz="914400" rtl="0" eaLnBrk="1" fontAlgn="base" latinLnBrk="0" hangingPunct="1">
              <a:lnSpc>
                <a:spcPct val="100000"/>
              </a:lnSpc>
              <a:spcBef>
                <a:spcPct val="20000"/>
              </a:spcBef>
              <a:spcAft>
                <a:spcPct val="0"/>
              </a:spcAft>
              <a:buClrTx/>
              <a:buSzTx/>
              <a:buFontTx/>
              <a:buNone/>
              <a:defRPr/>
            </a:pPr>
            <a:endParaRPr kumimoji="1" lang="en-US" altLang="zh-CN" sz="1600" b="1" i="0" u="none" strike="noStrike" kern="0" cap="none" spc="0" normalizeH="0" baseline="0" noProof="0" dirty="0">
              <a:ln>
                <a:noFill/>
              </a:ln>
              <a:solidFill>
                <a:srgbClr val="000000"/>
              </a:solidFill>
              <a:effectLst/>
              <a:uLnTx/>
              <a:uFillTx/>
              <a:latin typeface="Microsoft YaHei Light" panose="020B0503020204020204" pitchFamily="34" charset="-122"/>
              <a:ea typeface="Microsoft YaHei Light" panose="020B0503020204020204" pitchFamily="34" charset="-122"/>
              <a:cs typeface="+mn-cs"/>
            </a:endParaRPr>
          </a:p>
          <a:p>
            <a:pPr marL="0" marR="0" lvl="0" indent="0" algn="ctr" defTabSz="914400" rtl="0" eaLnBrk="1" fontAlgn="base" latinLnBrk="0" hangingPunct="1">
              <a:lnSpc>
                <a:spcPct val="100000"/>
              </a:lnSpc>
              <a:spcBef>
                <a:spcPct val="20000"/>
              </a:spcBef>
              <a:spcAft>
                <a:spcPct val="0"/>
              </a:spcAft>
              <a:buClrTx/>
              <a:buSzTx/>
              <a:buFontTx/>
              <a:buNone/>
              <a:defRPr/>
            </a:pPr>
            <a:endParaRPr kumimoji="1" lang="en-US" altLang="zh-CN" sz="1600" b="1" i="0" u="none" strike="noStrike" kern="0" cap="none" spc="0" normalizeH="0" baseline="0" noProof="0" dirty="0">
              <a:ln>
                <a:noFill/>
              </a:ln>
              <a:solidFill>
                <a:srgbClr val="000000"/>
              </a:solidFill>
              <a:effectLst/>
              <a:uLnTx/>
              <a:uFillTx/>
              <a:latin typeface="Microsoft YaHei Light" panose="020B0503020204020204" pitchFamily="34" charset="-122"/>
              <a:ea typeface="Microsoft YaHei Light" panose="020B0503020204020204" pitchFamily="34" charset="-122"/>
              <a:cs typeface="+mn-cs"/>
            </a:endParaRPr>
          </a:p>
          <a:p>
            <a:pPr marL="0" marR="0" lvl="0" indent="0" algn="ctr" defTabSz="914400" rtl="0" eaLnBrk="1" fontAlgn="base" latinLnBrk="0" hangingPunct="1">
              <a:lnSpc>
                <a:spcPct val="100000"/>
              </a:lnSpc>
              <a:spcBef>
                <a:spcPct val="20000"/>
              </a:spcBef>
              <a:spcAft>
                <a:spcPct val="0"/>
              </a:spcAft>
              <a:buClrTx/>
              <a:buSzTx/>
              <a:buFontTx/>
              <a:buNone/>
              <a:defRPr/>
            </a:pPr>
            <a:endParaRPr kumimoji="1" lang="en-US" altLang="zh-CN" sz="1600" b="1" i="0" u="none" strike="noStrike" kern="0" cap="none" spc="0" normalizeH="0" baseline="0" noProof="0" dirty="0">
              <a:ln>
                <a:noFill/>
              </a:ln>
              <a:solidFill>
                <a:srgbClr val="000000"/>
              </a:solidFill>
              <a:effectLst/>
              <a:uLnTx/>
              <a:uFillTx/>
              <a:latin typeface="Microsoft YaHei Light" panose="020B0503020204020204" pitchFamily="34" charset="-122"/>
              <a:ea typeface="Microsoft YaHei Light" panose="020B0503020204020204" pitchFamily="34" charset="-122"/>
              <a:cs typeface="+mn-cs"/>
            </a:endParaRPr>
          </a:p>
          <a:p>
            <a:pPr marL="0" marR="0" lvl="0" indent="0" algn="ctr" defTabSz="914400" rtl="0" eaLnBrk="1" fontAlgn="base" latinLnBrk="0" hangingPunct="1">
              <a:lnSpc>
                <a:spcPct val="100000"/>
              </a:lnSpc>
              <a:spcBef>
                <a:spcPct val="20000"/>
              </a:spcBef>
              <a:spcAft>
                <a:spcPct val="0"/>
              </a:spcAft>
              <a:buClrTx/>
              <a:buSzTx/>
              <a:buFontTx/>
              <a:buNone/>
              <a:defRPr/>
            </a:pPr>
            <a:endParaRPr kumimoji="1" lang="en-US" altLang="zh-CN" sz="1600" b="1" kern="0" dirty="0">
              <a:solidFill>
                <a:srgbClr val="000000"/>
              </a:solidFill>
              <a:latin typeface="Microsoft YaHei Light" panose="020B0503020204020204" pitchFamily="34" charset="-122"/>
              <a:ea typeface="Microsoft YaHei Light" panose="020B0503020204020204" pitchFamily="34" charset="-122"/>
            </a:endParaRPr>
          </a:p>
          <a:p>
            <a:pPr marL="0" marR="0" lvl="0" indent="0" algn="ctr" defTabSz="914400" rtl="0" eaLnBrk="1" fontAlgn="base" latinLnBrk="0" hangingPunct="1">
              <a:lnSpc>
                <a:spcPct val="100000"/>
              </a:lnSpc>
              <a:spcBef>
                <a:spcPct val="20000"/>
              </a:spcBef>
              <a:spcAft>
                <a:spcPct val="0"/>
              </a:spcAft>
              <a:buClrTx/>
              <a:buSzTx/>
              <a:buFontTx/>
              <a:buNone/>
              <a:defRPr/>
            </a:pPr>
            <a:endParaRPr kumimoji="1" lang="en-US" altLang="zh-CN" sz="1600" b="1" i="0" u="none" strike="noStrike" kern="0" cap="none" spc="0" normalizeH="0" baseline="0" noProof="0" dirty="0">
              <a:ln>
                <a:noFill/>
              </a:ln>
              <a:solidFill>
                <a:srgbClr val="000000"/>
              </a:solidFill>
              <a:effectLst/>
              <a:uLnTx/>
              <a:uFillTx/>
              <a:latin typeface="Microsoft YaHei Light" panose="020B0503020204020204" pitchFamily="34" charset="-122"/>
              <a:ea typeface="Microsoft YaHei Light" panose="020B0503020204020204" pitchFamily="34" charset="-122"/>
              <a:cs typeface="+mn-cs"/>
            </a:endParaRPr>
          </a:p>
          <a:p>
            <a:pPr marL="0" marR="0" lvl="0" indent="0" algn="ctr" defTabSz="914400" rtl="0" eaLnBrk="1" fontAlgn="base" latinLnBrk="0" hangingPunct="1">
              <a:lnSpc>
                <a:spcPct val="100000"/>
              </a:lnSpc>
              <a:spcBef>
                <a:spcPct val="20000"/>
              </a:spcBef>
              <a:spcAft>
                <a:spcPct val="0"/>
              </a:spcAft>
              <a:buClrTx/>
              <a:buSzTx/>
              <a:buFontTx/>
              <a:buNone/>
              <a:defRPr/>
            </a:pPr>
            <a:endParaRPr kumimoji="1" lang="en-US" altLang="zh-CN" sz="1600" b="1" i="0" u="none" strike="noStrike" kern="0" cap="none" spc="0" normalizeH="0" baseline="0" noProof="0" dirty="0">
              <a:ln>
                <a:noFill/>
              </a:ln>
              <a:solidFill>
                <a:srgbClr val="000000"/>
              </a:solidFill>
              <a:effectLst/>
              <a:uLnTx/>
              <a:uFillTx/>
              <a:latin typeface="Microsoft YaHei Light" panose="020B0503020204020204" pitchFamily="34" charset="-122"/>
              <a:ea typeface="Microsoft YaHei Light" panose="020B0503020204020204" pitchFamily="34" charset="-122"/>
              <a:cs typeface="+mn-cs"/>
            </a:endParaRPr>
          </a:p>
          <a:p>
            <a:pPr marL="0" marR="0" lvl="0" indent="0" algn="ctr" defTabSz="914400" rtl="0" eaLnBrk="1" fontAlgn="base" latinLnBrk="0" hangingPunct="1">
              <a:lnSpc>
                <a:spcPct val="100000"/>
              </a:lnSpc>
              <a:spcBef>
                <a:spcPct val="20000"/>
              </a:spcBef>
              <a:spcAft>
                <a:spcPct val="0"/>
              </a:spcAft>
              <a:buClrTx/>
              <a:buSzTx/>
              <a:buFontTx/>
              <a:buNone/>
              <a:defRPr/>
            </a:pPr>
            <a:r>
              <a:rPr kumimoji="1" lang="zh-CN" altLang="en-US" sz="1600" b="1" i="0" u="none" strike="noStrike" kern="0" cap="none" spc="0" normalizeH="0" baseline="0" noProof="0" dirty="0">
                <a:ln>
                  <a:noFill/>
                </a:ln>
                <a:solidFill>
                  <a:srgbClr val="000000"/>
                </a:solidFill>
                <a:effectLst/>
                <a:uLnTx/>
                <a:uFillTx/>
                <a:latin typeface="Microsoft YaHei Light" panose="020B0503020204020204" pitchFamily="34" charset="-122"/>
                <a:ea typeface="Microsoft YaHei Light" panose="020B0503020204020204" pitchFamily="34" charset="-122"/>
                <a:cs typeface="+mn-cs"/>
              </a:rPr>
              <a:t>哈尔滨工业大学（深圳）</a:t>
            </a:r>
            <a:endParaRPr kumimoji="1" lang="en-US" altLang="zh-CN" sz="1600" b="1" i="0" u="none" strike="noStrike" kern="0" cap="none" spc="0" normalizeH="0" baseline="0" noProof="0" dirty="0">
              <a:ln>
                <a:noFill/>
              </a:ln>
              <a:solidFill>
                <a:srgbClr val="000000"/>
              </a:solidFill>
              <a:effectLst/>
              <a:uLnTx/>
              <a:uFillTx/>
              <a:latin typeface="Microsoft YaHei Light" panose="020B0503020204020204" pitchFamily="34" charset="-122"/>
              <a:ea typeface="Microsoft YaHei Light" panose="020B0503020204020204" pitchFamily="34" charset="-122"/>
              <a:cs typeface="+mn-cs"/>
            </a:endParaRPr>
          </a:p>
          <a:p>
            <a:pPr marL="0" marR="0" lvl="0" indent="0" algn="ctr" defTabSz="914400" rtl="0" eaLnBrk="1" fontAlgn="base" latinLnBrk="0" hangingPunct="1">
              <a:lnSpc>
                <a:spcPct val="100000"/>
              </a:lnSpc>
              <a:spcBef>
                <a:spcPct val="20000"/>
              </a:spcBef>
              <a:spcAft>
                <a:spcPct val="0"/>
              </a:spcAft>
              <a:buClrTx/>
              <a:buSzTx/>
              <a:buFontTx/>
              <a:buNone/>
              <a:defRPr/>
            </a:pPr>
            <a:endParaRPr kumimoji="1" lang="en-US" altLang="zh-CN" sz="1600" b="1" i="0" u="none" strike="noStrike" kern="0" cap="none" spc="0" normalizeH="0" baseline="0" noProof="0" dirty="0">
              <a:ln>
                <a:noFill/>
              </a:ln>
              <a:solidFill>
                <a:srgbClr val="000000"/>
              </a:solidFill>
              <a:effectLst/>
              <a:uLnTx/>
              <a:uFillTx/>
              <a:latin typeface="Microsoft YaHei Light" panose="020B0503020204020204" pitchFamily="34" charset="-122"/>
              <a:ea typeface="Microsoft YaHei Light" panose="020B0503020204020204" pitchFamily="34" charset="-122"/>
              <a:cs typeface="+mn-cs"/>
            </a:endParaRPr>
          </a:p>
          <a:p>
            <a:pPr marL="0" marR="0" lvl="0" indent="0" algn="ctr" defTabSz="914400" rtl="0" eaLnBrk="1" fontAlgn="base" latinLnBrk="0" hangingPunct="1">
              <a:lnSpc>
                <a:spcPct val="100000"/>
              </a:lnSpc>
              <a:spcBef>
                <a:spcPct val="20000"/>
              </a:spcBef>
              <a:spcAft>
                <a:spcPct val="0"/>
              </a:spcAft>
              <a:buClrTx/>
              <a:buSzTx/>
              <a:buFontTx/>
              <a:buNone/>
              <a:defRPr/>
            </a:pPr>
            <a:r>
              <a:rPr kumimoji="1" lang="zh-CN" altLang="en-US" sz="1200" b="1" i="0" u="none" strike="noStrike" kern="0" cap="none" spc="0" normalizeH="0" baseline="0" noProof="0" dirty="0">
                <a:ln>
                  <a:noFill/>
                </a:ln>
                <a:solidFill>
                  <a:srgbClr val="000000"/>
                </a:solidFill>
                <a:effectLst/>
                <a:uLnTx/>
                <a:uFillTx/>
                <a:latin typeface="Microsoft YaHei Light" panose="020B0503020204020204" pitchFamily="34" charset="-122"/>
                <a:ea typeface="Microsoft YaHei Light" panose="020B0503020204020204" pitchFamily="34" charset="-122"/>
                <a:cs typeface="+mn-cs"/>
              </a:rPr>
              <a:t>本课程课件是在哈尔滨工业大学苏小红老师</a:t>
            </a:r>
            <a:r>
              <a:rPr kumimoji="1" lang="en-US" altLang="zh-CN" sz="1200" b="1" i="0" u="none" strike="noStrike" kern="0" cap="none" spc="0" normalizeH="0" baseline="0" noProof="0" dirty="0">
                <a:ln>
                  <a:noFill/>
                </a:ln>
                <a:solidFill>
                  <a:srgbClr val="000000"/>
                </a:solidFill>
                <a:effectLst/>
                <a:uLnTx/>
                <a:uFillTx/>
                <a:latin typeface="Microsoft YaHei Light" panose="020B0503020204020204" pitchFamily="34" charset="-122"/>
                <a:ea typeface="Microsoft YaHei Light" panose="020B0503020204020204" pitchFamily="34" charset="-122"/>
                <a:cs typeface="+mn-cs"/>
              </a:rPr>
              <a:t>《</a:t>
            </a:r>
            <a:r>
              <a:rPr kumimoji="1" lang="zh-CN" altLang="en-US" sz="1200" b="1" i="0" u="none" strike="noStrike" kern="0" cap="none" spc="0" normalizeH="0" baseline="0" noProof="0" dirty="0">
                <a:ln>
                  <a:noFill/>
                </a:ln>
                <a:solidFill>
                  <a:srgbClr val="000000"/>
                </a:solidFill>
                <a:effectLst/>
                <a:uLnTx/>
                <a:uFillTx/>
                <a:latin typeface="Microsoft YaHei Light" panose="020B0503020204020204" pitchFamily="34" charset="-122"/>
                <a:ea typeface="Microsoft YaHei Light" panose="020B0503020204020204" pitchFamily="34" charset="-122"/>
                <a:cs typeface="+mn-cs"/>
              </a:rPr>
              <a:t>高级语言程序设计</a:t>
            </a:r>
            <a:r>
              <a:rPr kumimoji="1" lang="en-US" altLang="zh-CN" sz="1200" b="1" i="0" u="none" strike="noStrike" kern="0" cap="none" spc="0" normalizeH="0" baseline="0" noProof="0" dirty="0">
                <a:ln>
                  <a:noFill/>
                </a:ln>
                <a:solidFill>
                  <a:srgbClr val="000000"/>
                </a:solidFill>
                <a:effectLst/>
                <a:uLnTx/>
                <a:uFillTx/>
                <a:latin typeface="Microsoft YaHei Light" panose="020B0503020204020204" pitchFamily="34" charset="-122"/>
                <a:ea typeface="Microsoft YaHei Light" panose="020B0503020204020204" pitchFamily="34" charset="-122"/>
                <a:cs typeface="+mn-cs"/>
              </a:rPr>
              <a:t>》</a:t>
            </a:r>
            <a:r>
              <a:rPr kumimoji="1" lang="zh-CN" altLang="en-US" sz="1200" b="1" i="0" u="none" strike="noStrike" kern="0" cap="none" spc="0" normalizeH="0" baseline="0" noProof="0" dirty="0">
                <a:ln>
                  <a:noFill/>
                </a:ln>
                <a:solidFill>
                  <a:srgbClr val="000000"/>
                </a:solidFill>
                <a:effectLst/>
                <a:uLnTx/>
                <a:uFillTx/>
                <a:latin typeface="Microsoft YaHei Light" panose="020B0503020204020204" pitchFamily="34" charset="-122"/>
                <a:ea typeface="Microsoft YaHei Light" panose="020B0503020204020204" pitchFamily="34" charset="-122"/>
                <a:cs typeface="+mn-cs"/>
              </a:rPr>
              <a:t>课件基础上，由哈工大（深圳）</a:t>
            </a:r>
            <a:r>
              <a:rPr kumimoji="1" lang="en-US" altLang="zh-CN" sz="1200" b="1" i="0" u="none" strike="noStrike" kern="0" cap="none" spc="0" normalizeH="0" baseline="0" noProof="0" dirty="0">
                <a:ln>
                  <a:noFill/>
                </a:ln>
                <a:solidFill>
                  <a:srgbClr val="000000"/>
                </a:solidFill>
                <a:effectLst/>
                <a:uLnTx/>
                <a:uFillTx/>
                <a:latin typeface="Microsoft YaHei Light" panose="020B0503020204020204" pitchFamily="34" charset="-122"/>
                <a:ea typeface="Microsoft YaHei Light" panose="020B0503020204020204" pitchFamily="34" charset="-122"/>
                <a:cs typeface="+mn-cs"/>
              </a:rPr>
              <a:t>《</a:t>
            </a:r>
            <a:r>
              <a:rPr kumimoji="1" lang="zh-CN" altLang="en-US" sz="1200" b="1" i="0" u="none" strike="noStrike" kern="0" cap="none" spc="0" normalizeH="0" baseline="0" noProof="0" dirty="0">
                <a:ln>
                  <a:noFill/>
                </a:ln>
                <a:solidFill>
                  <a:srgbClr val="000000"/>
                </a:solidFill>
                <a:effectLst/>
                <a:uLnTx/>
                <a:uFillTx/>
                <a:latin typeface="Microsoft YaHei Light" panose="020B0503020204020204" pitchFamily="34" charset="-122"/>
                <a:ea typeface="Microsoft YaHei Light" panose="020B0503020204020204" pitchFamily="34" charset="-122"/>
                <a:cs typeface="+mn-cs"/>
              </a:rPr>
              <a:t>程序设计思维与实践</a:t>
            </a:r>
            <a:r>
              <a:rPr kumimoji="1" lang="en-US" altLang="zh-CN" sz="1200" b="1" i="0" u="none" strike="noStrike" kern="0" cap="none" spc="0" normalizeH="0" baseline="0" noProof="0" dirty="0">
                <a:ln>
                  <a:noFill/>
                </a:ln>
                <a:solidFill>
                  <a:srgbClr val="000000"/>
                </a:solidFill>
                <a:effectLst/>
                <a:uLnTx/>
                <a:uFillTx/>
                <a:latin typeface="Microsoft YaHei Light" panose="020B0503020204020204" pitchFamily="34" charset="-122"/>
                <a:ea typeface="Microsoft YaHei Light" panose="020B0503020204020204" pitchFamily="34" charset="-122"/>
                <a:cs typeface="+mn-cs"/>
              </a:rPr>
              <a:t>》</a:t>
            </a:r>
            <a:r>
              <a:rPr kumimoji="1" lang="zh-CN" altLang="en-US" sz="1200" b="1" i="0" u="none" strike="noStrike" kern="0" cap="none" spc="0" normalizeH="0" baseline="0" noProof="0" dirty="0">
                <a:ln>
                  <a:noFill/>
                </a:ln>
                <a:solidFill>
                  <a:srgbClr val="000000"/>
                </a:solidFill>
                <a:effectLst/>
                <a:uLnTx/>
                <a:uFillTx/>
                <a:latin typeface="Microsoft YaHei Light" panose="020B0503020204020204" pitchFamily="34" charset="-122"/>
                <a:ea typeface="Microsoft YaHei Light" panose="020B0503020204020204" pitchFamily="34" charset="-122"/>
                <a:cs typeface="+mn-cs"/>
              </a:rPr>
              <a:t>课程组编写制作</a:t>
            </a:r>
            <a:endParaRPr kumimoji="1" lang="en-US" altLang="zh-CN" sz="1200" b="1" i="0" u="none" strike="noStrike" kern="0" cap="none" spc="0" normalizeH="0" baseline="0" noProof="0" dirty="0">
              <a:ln>
                <a:noFill/>
              </a:ln>
              <a:solidFill>
                <a:srgbClr val="000000"/>
              </a:solidFill>
              <a:effectLst/>
              <a:uLnTx/>
              <a:uFillTx/>
              <a:latin typeface="Microsoft YaHei Light" panose="020B0503020204020204" pitchFamily="34" charset="-122"/>
              <a:ea typeface="Microsoft YaHei Light" panose="020B0503020204020204" pitchFamily="34" charset="-122"/>
              <a:cs typeface="+mn-cs"/>
            </a:endParaRPr>
          </a:p>
        </p:txBody>
      </p:sp>
      <p:sp>
        <p:nvSpPr>
          <p:cNvPr id="5" name="矩形 4"/>
          <p:cNvSpPr/>
          <p:nvPr/>
        </p:nvSpPr>
        <p:spPr>
          <a:xfrm>
            <a:off x="0" y="-1254"/>
            <a:ext cx="12209816" cy="1154111"/>
          </a:xfrm>
          <a:prstGeom prst="rect">
            <a:avLst/>
          </a:prstGeom>
          <a:solidFill>
            <a:srgbClr val="993333"/>
          </a:solidFill>
          <a:ln>
            <a:noFill/>
          </a:ln>
        </p:spPr>
        <p:style>
          <a:lnRef idx="2">
            <a:schemeClr val="accent1">
              <a:shade val="50000"/>
            </a:schemeClr>
          </a:lnRef>
          <a:fillRef idx="1">
            <a:schemeClr val="accent1"/>
          </a:fillRef>
          <a:effectRef idx="0">
            <a:schemeClr val="accent1"/>
          </a:effectRef>
          <a:fontRef idx="minor">
            <a:schemeClr val="lt1"/>
          </a:fontRef>
        </p:style>
        <p:txBody>
          <a:bodyPr lIns="96431" tIns="48216" rIns="96431" bIns="48216"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000" b="1" i="0" u="none" strike="noStrike" kern="1200" cap="none" spc="0" normalizeH="0" baseline="0" noProof="0">
              <a:ln>
                <a:noFill/>
              </a:ln>
              <a:solidFill>
                <a:srgbClr val="FFFFFF"/>
              </a:solidFill>
              <a:effectLst/>
              <a:uLnTx/>
              <a:uFillTx/>
              <a:latin typeface="Arial" panose="020B0604020202090204"/>
              <a:ea typeface="宋体"/>
              <a:cs typeface="+mn-cs"/>
            </a:endParaRPr>
          </a:p>
        </p:txBody>
      </p:sp>
      <p:pic>
        <p:nvPicPr>
          <p:cNvPr id="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8165" y="181881"/>
            <a:ext cx="4635500" cy="850900"/>
          </a:xfrm>
          <a:prstGeom prst="rect">
            <a:avLst/>
          </a:prstGeom>
          <a:noFill/>
          <a:extLst>
            <a:ext uri="{909E8E84-426E-40DD-AFC4-6F175D3DCCD1}">
              <a14:hiddenFill xmlns:a14="http://schemas.microsoft.com/office/drawing/2010/main">
                <a:solidFill>
                  <a:srgbClr val="FFFFFF"/>
                </a:solidFill>
              </a14:hiddenFill>
            </a:ext>
          </a:extLst>
        </p:spPr>
      </p:pic>
      <p:sp>
        <p:nvSpPr>
          <p:cNvPr id="2" name="灯片编号占位符 1"/>
          <p:cNvSpPr>
            <a:spLocks noGrp="1"/>
          </p:cNvSpPr>
          <p:nvPr>
            <p:ph type="sldNum" sz="quarter" idx="12"/>
          </p:nvPr>
        </p:nvSpPr>
        <p:spPr>
          <a:xfrm>
            <a:off x="8610600" y="6356350"/>
            <a:ext cx="27432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base" latinLnBrk="0" hangingPunct="1">
              <a:lnSpc>
                <a:spcPct val="100000"/>
              </a:lnSpc>
              <a:spcBef>
                <a:spcPct val="0"/>
              </a:spcBef>
              <a:spcAft>
                <a:spcPct val="0"/>
              </a:spcAft>
              <a:buClrTx/>
              <a:buSzTx/>
              <a:buFontTx/>
              <a:buNone/>
              <a:defRPr/>
            </a:pPr>
            <a:fld id="{D57F1E4F-1CFF-5643-939E-217C01CDF565}" type="slidenum">
              <a:rPr kumimoji="1" lang="en-US" sz="1200" b="1" i="0" u="none" strike="noStrike" kern="1200" cap="none" spc="0" normalizeH="0" baseline="0" noProof="0" smtClean="0">
                <a:ln>
                  <a:noFill/>
                </a:ln>
                <a:solidFill>
                  <a:srgbClr val="000000">
                    <a:tint val="75000"/>
                  </a:srgbClr>
                </a:solidFill>
                <a:effectLst/>
                <a:uLnTx/>
                <a:uFillTx/>
                <a:latin typeface="Arial" panose="020B0604020202090204"/>
                <a:ea typeface="宋体"/>
                <a:cs typeface="+mn-cs"/>
              </a:rPr>
              <a:t>1</a:t>
            </a:fld>
            <a:endParaRPr kumimoji="1" lang="en-US" sz="1200" b="1" i="0" u="none" strike="noStrike" kern="1200" cap="none" spc="0" normalizeH="0" baseline="0" noProof="0" dirty="0">
              <a:ln>
                <a:noFill/>
              </a:ln>
              <a:solidFill>
                <a:srgbClr val="000000">
                  <a:tint val="75000"/>
                </a:srgbClr>
              </a:solidFill>
              <a:effectLst/>
              <a:uLnTx/>
              <a:uFillTx/>
              <a:latin typeface="Arial" panose="020B0604020202090204"/>
              <a:ea typeface="宋体"/>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1321300" y="1442361"/>
            <a:ext cx="1115084" cy="4320481"/>
            <a:chOff x="3199" y="517"/>
            <a:chExt cx="1006327" cy="2255840"/>
          </a:xfrm>
        </p:grpSpPr>
        <p:sp>
          <p:nvSpPr>
            <p:cNvPr id="27" name="圆角矩形 26"/>
            <p:cNvSpPr/>
            <p:nvPr/>
          </p:nvSpPr>
          <p:spPr>
            <a:xfrm>
              <a:off x="3199" y="517"/>
              <a:ext cx="1006327" cy="2255840"/>
            </a:xfrm>
            <a:prstGeom prst="roundRect">
              <a:avLst>
                <a:gd name="adj" fmla="val 10000"/>
              </a:avLst>
            </a:prstGeom>
            <a:solidFill>
              <a:schemeClr val="accent1">
                <a:lumMod val="50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28" name="圆角矩形 4"/>
            <p:cNvSpPr txBox="1"/>
            <p:nvPr/>
          </p:nvSpPr>
          <p:spPr>
            <a:xfrm>
              <a:off x="32673" y="29991"/>
              <a:ext cx="947379" cy="219689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72390" tIns="72390" rIns="72390" bIns="72390" numCol="1" spcCol="1270" anchor="t" anchorCtr="0">
              <a:noAutofit/>
            </a:bodyPr>
            <a:lstStyle/>
            <a:p>
              <a:pPr marL="0" marR="0" lvl="0" indent="0" algn="ctr" defTabSz="844550" rtl="0" eaLnBrk="1" fontAlgn="auto" latinLnBrk="0" hangingPunct="1">
                <a:lnSpc>
                  <a:spcPct val="90000"/>
                </a:lnSpc>
                <a:spcBef>
                  <a:spcPct val="0"/>
                </a:spcBef>
                <a:spcAft>
                  <a:spcPct val="35000"/>
                </a:spcAft>
                <a:buClrTx/>
                <a:buSzTx/>
                <a:buFontTx/>
                <a:buNone/>
                <a:defRPr/>
              </a:pPr>
              <a:r>
                <a:rPr kumimoji="0" lang="zh-CN" altLang="en-US" sz="1900" b="1" i="0" u="none" strike="noStrike" kern="1200" cap="none" spc="0" normalizeH="0" baseline="0" noProof="0" dirty="0">
                  <a:ln>
                    <a:noFill/>
                  </a:ln>
                  <a:solidFill>
                    <a:prstClr val="white"/>
                  </a:solidFill>
                  <a:effectLst/>
                  <a:uLnTx/>
                  <a:uFillTx/>
                  <a:latin typeface="Calibri"/>
                  <a:ea typeface="等线" panose="02010600030101010101" pitchFamily="2" charset="-122"/>
                  <a:cs typeface="+mn-cs"/>
                </a:rPr>
                <a:t>进入计算机的世界</a:t>
              </a:r>
            </a:p>
          </p:txBody>
        </p:sp>
      </p:grpSp>
      <p:grpSp>
        <p:nvGrpSpPr>
          <p:cNvPr id="6" name="组合 5"/>
          <p:cNvGrpSpPr/>
          <p:nvPr/>
        </p:nvGrpSpPr>
        <p:grpSpPr>
          <a:xfrm>
            <a:off x="2506687" y="1442361"/>
            <a:ext cx="2304840" cy="4343523"/>
            <a:chOff x="1079830" y="517"/>
            <a:chExt cx="2182373" cy="1202928"/>
          </a:xfrm>
        </p:grpSpPr>
        <p:sp>
          <p:nvSpPr>
            <p:cNvPr id="25" name="圆角矩形 24"/>
            <p:cNvSpPr/>
            <p:nvPr/>
          </p:nvSpPr>
          <p:spPr>
            <a:xfrm>
              <a:off x="1079830" y="517"/>
              <a:ext cx="2182373" cy="1202928"/>
            </a:xfrm>
            <a:prstGeom prst="roundRect">
              <a:avLst>
                <a:gd name="adj" fmla="val 10000"/>
              </a:avLst>
            </a:prstGeom>
            <a:solidFill>
              <a:schemeClr val="accent2">
                <a:lumMod val="7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nchor="t" anchorCtr="0"/>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26" name="圆角矩形 6"/>
            <p:cNvSpPr txBox="1"/>
            <p:nvPr/>
          </p:nvSpPr>
          <p:spPr>
            <a:xfrm>
              <a:off x="1115063" y="35750"/>
              <a:ext cx="2111907" cy="113246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72390" tIns="72390" rIns="72390" bIns="72390" numCol="1" spcCol="1270" anchor="t" anchorCtr="0">
              <a:noAutofit/>
            </a:bodyPr>
            <a:lstStyle/>
            <a:p>
              <a:pPr marL="0" marR="0" lvl="0" indent="0" algn="ctr" defTabSz="844550" rtl="0" eaLnBrk="1" fontAlgn="auto" latinLnBrk="0" hangingPunct="1">
                <a:lnSpc>
                  <a:spcPct val="90000"/>
                </a:lnSpc>
                <a:spcBef>
                  <a:spcPct val="0"/>
                </a:spcBef>
                <a:spcAft>
                  <a:spcPct val="35000"/>
                </a:spcAft>
                <a:buClrTx/>
                <a:buSzTx/>
                <a:buFontTx/>
                <a:buNone/>
                <a:defRPr/>
              </a:pPr>
              <a:r>
                <a:rPr kumimoji="0" lang="zh-CN" altLang="en-US" sz="1900" b="1" i="0" u="none" strike="noStrike" kern="1200" cap="none" spc="0" normalizeH="0" baseline="0" noProof="0" dirty="0">
                  <a:ln>
                    <a:noFill/>
                  </a:ln>
                  <a:solidFill>
                    <a:prstClr val="white"/>
                  </a:solidFill>
                  <a:effectLst/>
                  <a:uLnTx/>
                  <a:uFillTx/>
                  <a:latin typeface="Calibri"/>
                  <a:ea typeface="等线" panose="02010600030101010101" pitchFamily="2" charset="-122"/>
                  <a:cs typeface="+mn-cs"/>
                </a:rPr>
                <a:t>程序设计基础</a:t>
              </a:r>
              <a:endParaRPr kumimoji="0" lang="zh-CN" altLang="en-US" sz="1900" b="0" i="0" u="none" strike="noStrike" kern="1200" cap="none" spc="0" normalizeH="0" baseline="0" noProof="0" dirty="0">
                <a:ln>
                  <a:noFill/>
                </a:ln>
                <a:solidFill>
                  <a:prstClr val="white"/>
                </a:solidFill>
                <a:effectLst/>
                <a:uLnTx/>
                <a:uFillTx/>
                <a:latin typeface="Calibri"/>
                <a:ea typeface="等线" panose="02010600030101010101" pitchFamily="2" charset="-122"/>
                <a:cs typeface="+mn-cs"/>
              </a:endParaRPr>
            </a:p>
          </p:txBody>
        </p:sp>
      </p:grpSp>
      <p:grpSp>
        <p:nvGrpSpPr>
          <p:cNvPr id="7" name="组合 6"/>
          <p:cNvGrpSpPr/>
          <p:nvPr/>
        </p:nvGrpSpPr>
        <p:grpSpPr>
          <a:xfrm>
            <a:off x="2621580" y="1995386"/>
            <a:ext cx="2084095" cy="1895248"/>
            <a:chOff x="1080896" y="1443452"/>
            <a:chExt cx="1290569" cy="784456"/>
          </a:xfrm>
        </p:grpSpPr>
        <p:sp>
          <p:nvSpPr>
            <p:cNvPr id="23" name="圆角矩形 22"/>
            <p:cNvSpPr/>
            <p:nvPr/>
          </p:nvSpPr>
          <p:spPr>
            <a:xfrm>
              <a:off x="1080896" y="1443452"/>
              <a:ext cx="1290569" cy="784456"/>
            </a:xfrm>
            <a:prstGeom prst="roundRect">
              <a:avLst>
                <a:gd name="adj" fmla="val 10000"/>
              </a:avLst>
            </a:prstGeom>
            <a:solidFill>
              <a:schemeClr val="accent2">
                <a:lumMod val="7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24" name="圆角矩形 8"/>
            <p:cNvSpPr txBox="1"/>
            <p:nvPr/>
          </p:nvSpPr>
          <p:spPr>
            <a:xfrm>
              <a:off x="1088607" y="1466428"/>
              <a:ext cx="1244617" cy="73850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4770" tIns="64770" rIns="64770" bIns="64770" numCol="1" spcCol="1270" anchor="t" anchorCtr="0">
              <a:noAutofit/>
            </a:bodyPr>
            <a:lstStyle/>
            <a:p>
              <a:pPr marL="0" marR="0" lvl="0" indent="0" algn="ctr" defTabSz="755650" rtl="0" eaLnBrk="1" fontAlgn="auto" latinLnBrk="0" hangingPunct="1">
                <a:lnSpc>
                  <a:spcPct val="90000"/>
                </a:lnSpc>
                <a:spcBef>
                  <a:spcPct val="0"/>
                </a:spcBef>
                <a:spcAft>
                  <a:spcPct val="35000"/>
                </a:spcAft>
                <a:buClrTx/>
                <a:buSzTx/>
                <a:buFontTx/>
                <a:buNone/>
                <a:defRPr/>
              </a:pPr>
              <a:r>
                <a:rPr kumimoji="0" lang="en-US" sz="1700" b="1" i="0" u="none" strike="noStrike" kern="1200" cap="none" spc="0" normalizeH="0" baseline="0" noProof="0" dirty="0">
                  <a:ln>
                    <a:noFill/>
                  </a:ln>
                  <a:solidFill>
                    <a:srgbClr val="70AD47">
                      <a:lumMod val="40000"/>
                      <a:lumOff val="60000"/>
                    </a:srgbClr>
                  </a:solidFill>
                  <a:effectLst/>
                  <a:uLnTx/>
                  <a:uFillTx/>
                  <a:latin typeface="Calibri"/>
                  <a:ea typeface="+mn-ea"/>
                  <a:cs typeface="+mn-cs"/>
                </a:rPr>
                <a:t>C</a:t>
              </a:r>
              <a:r>
                <a:rPr kumimoji="0" lang="zh-CN" altLang="en-US" sz="1700" b="1" i="0" u="none" strike="noStrike" kern="1200" cap="none" spc="0" normalizeH="0" baseline="0" noProof="0" dirty="0">
                  <a:ln>
                    <a:noFill/>
                  </a:ln>
                  <a:solidFill>
                    <a:srgbClr val="70AD47">
                      <a:lumMod val="40000"/>
                      <a:lumOff val="60000"/>
                    </a:srgbClr>
                  </a:solidFill>
                  <a:effectLst/>
                  <a:uLnTx/>
                  <a:uFillTx/>
                  <a:latin typeface="Calibri"/>
                  <a:ea typeface="等线" panose="02010600030101010101" pitchFamily="2" charset="-122"/>
                  <a:cs typeface="+mn-cs"/>
                </a:rPr>
                <a:t>语言语法</a:t>
              </a:r>
              <a:endParaRPr kumimoji="0" lang="zh-CN" altLang="en-US" sz="1700" b="0" i="0" u="none" strike="noStrike" kern="1200" cap="none" spc="0" normalizeH="0" baseline="0" noProof="0" dirty="0">
                <a:ln>
                  <a:noFill/>
                </a:ln>
                <a:solidFill>
                  <a:srgbClr val="70AD47">
                    <a:lumMod val="40000"/>
                    <a:lumOff val="60000"/>
                  </a:srgbClr>
                </a:solidFill>
                <a:effectLst/>
                <a:uLnTx/>
                <a:uFillTx/>
                <a:latin typeface="Calibri"/>
                <a:ea typeface="等线" panose="02010600030101010101" pitchFamily="2" charset="-122"/>
                <a:cs typeface="+mn-cs"/>
              </a:endParaRPr>
            </a:p>
          </p:txBody>
        </p:sp>
      </p:grpSp>
      <p:grpSp>
        <p:nvGrpSpPr>
          <p:cNvPr id="8" name="组合 7"/>
          <p:cNvGrpSpPr/>
          <p:nvPr/>
        </p:nvGrpSpPr>
        <p:grpSpPr>
          <a:xfrm>
            <a:off x="2621580" y="4037649"/>
            <a:ext cx="2084094" cy="1621016"/>
            <a:chOff x="2406617" y="1443452"/>
            <a:chExt cx="854521" cy="787343"/>
          </a:xfrm>
        </p:grpSpPr>
        <p:sp>
          <p:nvSpPr>
            <p:cNvPr id="21" name="圆角矩形 20"/>
            <p:cNvSpPr/>
            <p:nvPr/>
          </p:nvSpPr>
          <p:spPr>
            <a:xfrm>
              <a:off x="2406617" y="1443452"/>
              <a:ext cx="854521" cy="787343"/>
            </a:xfrm>
            <a:prstGeom prst="roundRect">
              <a:avLst>
                <a:gd name="adj" fmla="val 10000"/>
              </a:avLst>
            </a:prstGeom>
            <a:solidFill>
              <a:schemeClr val="accent2">
                <a:lumMod val="7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nchor="t" anchorCtr="0"/>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22" name="圆角矩形 10"/>
            <p:cNvSpPr txBox="1"/>
            <p:nvPr/>
          </p:nvSpPr>
          <p:spPr>
            <a:xfrm>
              <a:off x="2429677" y="1466512"/>
              <a:ext cx="808401" cy="74122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4770" tIns="64770" rIns="64770" bIns="64770" numCol="1" spcCol="1270" anchor="t" anchorCtr="0">
              <a:noAutofit/>
            </a:bodyPr>
            <a:lstStyle/>
            <a:p>
              <a:pPr marL="0" marR="0" lvl="0" indent="0" algn="ctr" defTabSz="755650" rtl="0" eaLnBrk="1" fontAlgn="auto" latinLnBrk="0" hangingPunct="1">
                <a:lnSpc>
                  <a:spcPct val="90000"/>
                </a:lnSpc>
                <a:spcBef>
                  <a:spcPct val="0"/>
                </a:spcBef>
                <a:spcAft>
                  <a:spcPct val="35000"/>
                </a:spcAft>
                <a:buClrTx/>
                <a:buSzTx/>
                <a:buFontTx/>
                <a:buNone/>
                <a:defRPr/>
              </a:pPr>
              <a:r>
                <a:rPr kumimoji="0" lang="zh-CN" altLang="en-US" sz="1700" b="1" i="0" u="none" strike="noStrike" kern="1200" cap="none" spc="0" normalizeH="0" baseline="0" noProof="0" dirty="0">
                  <a:ln>
                    <a:noFill/>
                  </a:ln>
                  <a:solidFill>
                    <a:srgbClr val="70AD47">
                      <a:lumMod val="40000"/>
                      <a:lumOff val="60000"/>
                    </a:srgbClr>
                  </a:solidFill>
                  <a:effectLst/>
                  <a:uLnTx/>
                  <a:uFillTx/>
                  <a:latin typeface="Calibri"/>
                  <a:ea typeface="等线" panose="02010600030101010101" pitchFamily="2" charset="-122"/>
                  <a:cs typeface="+mn-cs"/>
                </a:rPr>
                <a:t>模块化编程</a:t>
              </a:r>
              <a:endParaRPr kumimoji="0" lang="zh-CN" altLang="en-US" sz="1700" b="0" i="0" u="none" strike="noStrike" kern="1200" cap="none" spc="0" normalizeH="0" baseline="0" noProof="0" dirty="0">
                <a:ln>
                  <a:noFill/>
                </a:ln>
                <a:solidFill>
                  <a:srgbClr val="70AD47">
                    <a:lumMod val="40000"/>
                    <a:lumOff val="60000"/>
                  </a:srgbClr>
                </a:solidFill>
                <a:effectLst/>
                <a:uLnTx/>
                <a:uFillTx/>
                <a:latin typeface="Calibri"/>
                <a:ea typeface="等线" panose="02010600030101010101" pitchFamily="2" charset="-122"/>
                <a:cs typeface="+mn-cs"/>
              </a:endParaRPr>
            </a:p>
          </p:txBody>
        </p:sp>
      </p:grpSp>
      <p:grpSp>
        <p:nvGrpSpPr>
          <p:cNvPr id="9" name="组合 8"/>
          <p:cNvGrpSpPr/>
          <p:nvPr/>
        </p:nvGrpSpPr>
        <p:grpSpPr>
          <a:xfrm>
            <a:off x="4932906" y="1454631"/>
            <a:ext cx="2075313" cy="4331253"/>
            <a:chOff x="3332507" y="517"/>
            <a:chExt cx="1780981" cy="2255547"/>
          </a:xfrm>
        </p:grpSpPr>
        <p:sp>
          <p:nvSpPr>
            <p:cNvPr id="19" name="圆角矩形 18"/>
            <p:cNvSpPr/>
            <p:nvPr/>
          </p:nvSpPr>
          <p:spPr>
            <a:xfrm>
              <a:off x="3332507" y="517"/>
              <a:ext cx="1780981" cy="2255547"/>
            </a:xfrm>
            <a:prstGeom prst="roundRect">
              <a:avLst>
                <a:gd name="adj" fmla="val 10000"/>
              </a:avLst>
            </a:prstGeom>
            <a:solidFill>
              <a:schemeClr val="accent2">
                <a:lumMod val="50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nchor="t" anchorCtr="0"/>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20" name="圆角矩形 12"/>
            <p:cNvSpPr txBox="1"/>
            <p:nvPr/>
          </p:nvSpPr>
          <p:spPr>
            <a:xfrm>
              <a:off x="3384670" y="52680"/>
              <a:ext cx="1676655" cy="215122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72390" tIns="72390" rIns="72390" bIns="72390" numCol="1" spcCol="1270" anchor="t" anchorCtr="0">
              <a:noAutofit/>
            </a:bodyPr>
            <a:lstStyle/>
            <a:p>
              <a:pPr marL="0" marR="0" lvl="0" indent="0" algn="ctr" defTabSz="844550" rtl="0" eaLnBrk="1" fontAlgn="auto" latinLnBrk="0" hangingPunct="1">
                <a:lnSpc>
                  <a:spcPct val="90000"/>
                </a:lnSpc>
                <a:spcBef>
                  <a:spcPct val="0"/>
                </a:spcBef>
                <a:spcAft>
                  <a:spcPct val="35000"/>
                </a:spcAft>
                <a:buClrTx/>
                <a:buSzTx/>
                <a:buFontTx/>
                <a:buNone/>
                <a:defRPr/>
              </a:pPr>
              <a:r>
                <a:rPr kumimoji="0" lang="zh-CN" altLang="en-US" sz="1900" b="1" i="0" u="none" strike="noStrike" kern="1200" cap="none" spc="0" normalizeH="0" baseline="0" noProof="0" dirty="0">
                  <a:ln>
                    <a:noFill/>
                  </a:ln>
                  <a:solidFill>
                    <a:prstClr val="white"/>
                  </a:solidFill>
                  <a:effectLst/>
                  <a:uLnTx/>
                  <a:uFillTx/>
                  <a:latin typeface="Calibri"/>
                  <a:ea typeface="等线" panose="02010600030101010101" pitchFamily="2" charset="-122"/>
                  <a:cs typeface="+mn-cs"/>
                </a:rPr>
                <a:t>数据操作基础</a:t>
              </a:r>
              <a:endParaRPr kumimoji="0" lang="zh-CN" altLang="en-US" sz="1900" b="0" i="0" u="none" strike="noStrike" kern="1200" cap="none" spc="0" normalizeH="0" baseline="0" noProof="0" dirty="0">
                <a:ln>
                  <a:noFill/>
                </a:ln>
                <a:solidFill>
                  <a:prstClr val="white"/>
                </a:solidFill>
                <a:effectLst/>
                <a:uLnTx/>
                <a:uFillTx/>
                <a:latin typeface="Calibri"/>
                <a:ea typeface="等线" panose="02010600030101010101" pitchFamily="2" charset="-122"/>
                <a:cs typeface="+mn-cs"/>
              </a:endParaRPr>
            </a:p>
          </p:txBody>
        </p:sp>
      </p:grpSp>
      <p:grpSp>
        <p:nvGrpSpPr>
          <p:cNvPr id="10" name="组合 9"/>
          <p:cNvGrpSpPr/>
          <p:nvPr/>
        </p:nvGrpSpPr>
        <p:grpSpPr>
          <a:xfrm>
            <a:off x="7221938" y="1454631"/>
            <a:ext cx="594677" cy="4331253"/>
            <a:chOff x="5183793" y="517"/>
            <a:chExt cx="594677" cy="2255547"/>
          </a:xfrm>
        </p:grpSpPr>
        <p:sp>
          <p:nvSpPr>
            <p:cNvPr id="17" name="圆角矩形 16"/>
            <p:cNvSpPr/>
            <p:nvPr/>
          </p:nvSpPr>
          <p:spPr>
            <a:xfrm>
              <a:off x="5183793" y="517"/>
              <a:ext cx="594677" cy="2255547"/>
            </a:xfrm>
            <a:prstGeom prst="roundRect">
              <a:avLst>
                <a:gd name="adj" fmla="val 10000"/>
              </a:avLst>
            </a:prstGeom>
            <a:solidFill>
              <a:schemeClr val="accent2">
                <a:lumMod val="7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nchor="t" anchorCtr="0"/>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18" name="圆角矩形 14"/>
            <p:cNvSpPr txBox="1"/>
            <p:nvPr/>
          </p:nvSpPr>
          <p:spPr>
            <a:xfrm>
              <a:off x="5201210" y="17934"/>
              <a:ext cx="559843" cy="222071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72390" tIns="72390" rIns="72390" bIns="72390" numCol="1" spcCol="1270" anchor="t" anchorCtr="0">
              <a:noAutofit/>
            </a:bodyPr>
            <a:lstStyle/>
            <a:p>
              <a:pPr marL="0" marR="0" lvl="0" indent="0" algn="ctr" defTabSz="844550" rtl="0" eaLnBrk="1" fontAlgn="auto" latinLnBrk="0" hangingPunct="1">
                <a:lnSpc>
                  <a:spcPct val="90000"/>
                </a:lnSpc>
                <a:spcBef>
                  <a:spcPct val="0"/>
                </a:spcBef>
                <a:spcAft>
                  <a:spcPct val="35000"/>
                </a:spcAft>
                <a:buClrTx/>
                <a:buSzTx/>
                <a:buFontTx/>
                <a:buNone/>
                <a:defRPr/>
              </a:pPr>
              <a:r>
                <a:rPr kumimoji="0" lang="zh-CN" altLang="en-US" sz="1900" b="1" i="0" u="none" strike="noStrike" kern="1200" cap="none" spc="0" normalizeH="0" baseline="0" noProof="0" dirty="0">
                  <a:ln>
                    <a:noFill/>
                  </a:ln>
                  <a:solidFill>
                    <a:prstClr val="white"/>
                  </a:solidFill>
                  <a:effectLst/>
                  <a:uLnTx/>
                  <a:uFillTx/>
                  <a:latin typeface="Calibri"/>
                  <a:ea typeface="等线" panose="02010600030101010101" pitchFamily="2" charset="-122"/>
                  <a:cs typeface="+mn-cs"/>
                </a:rPr>
                <a:t>程序设计进阶</a:t>
              </a:r>
              <a:endParaRPr kumimoji="0" lang="zh-CN" altLang="en-US" sz="1900" b="0" i="0" u="none" strike="noStrike" kern="1200" cap="none" spc="0" normalizeH="0" baseline="0" noProof="0" dirty="0">
                <a:ln>
                  <a:noFill/>
                </a:ln>
                <a:solidFill>
                  <a:prstClr val="white"/>
                </a:solidFill>
                <a:effectLst/>
                <a:uLnTx/>
                <a:uFillTx/>
                <a:latin typeface="Calibri"/>
                <a:ea typeface="等线" panose="02010600030101010101" pitchFamily="2" charset="-122"/>
                <a:cs typeface="+mn-cs"/>
              </a:endParaRPr>
            </a:p>
          </p:txBody>
        </p:sp>
      </p:grpSp>
      <p:grpSp>
        <p:nvGrpSpPr>
          <p:cNvPr id="11" name="组合 10"/>
          <p:cNvGrpSpPr/>
          <p:nvPr/>
        </p:nvGrpSpPr>
        <p:grpSpPr>
          <a:xfrm>
            <a:off x="8030335" y="1442362"/>
            <a:ext cx="2355339" cy="4343522"/>
            <a:chOff x="5848774" y="517"/>
            <a:chExt cx="2689048" cy="2255547"/>
          </a:xfrm>
        </p:grpSpPr>
        <p:sp>
          <p:nvSpPr>
            <p:cNvPr id="15" name="圆角矩形 14"/>
            <p:cNvSpPr/>
            <p:nvPr/>
          </p:nvSpPr>
          <p:spPr>
            <a:xfrm>
              <a:off x="5848774" y="517"/>
              <a:ext cx="2689048" cy="2255547"/>
            </a:xfrm>
            <a:prstGeom prst="roundRect">
              <a:avLst>
                <a:gd name="adj" fmla="val 10000"/>
              </a:avLst>
            </a:prstGeom>
            <a:solidFill>
              <a:schemeClr val="accent2">
                <a:lumMod val="50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nchor="t" anchorCtr="0"/>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16" name="圆角矩形 16"/>
            <p:cNvSpPr txBox="1"/>
            <p:nvPr/>
          </p:nvSpPr>
          <p:spPr>
            <a:xfrm>
              <a:off x="5914837" y="66580"/>
              <a:ext cx="2556922" cy="212342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72390" tIns="72390" rIns="72390" bIns="72390" numCol="1" spcCol="1270" anchor="t" anchorCtr="0">
              <a:noAutofit/>
            </a:bodyPr>
            <a:lstStyle/>
            <a:p>
              <a:pPr marL="0" marR="0" lvl="0" indent="0" algn="ctr" defTabSz="844550" rtl="0" eaLnBrk="1" fontAlgn="auto" latinLnBrk="0" hangingPunct="1">
                <a:lnSpc>
                  <a:spcPct val="90000"/>
                </a:lnSpc>
                <a:spcBef>
                  <a:spcPct val="0"/>
                </a:spcBef>
                <a:spcAft>
                  <a:spcPct val="35000"/>
                </a:spcAft>
                <a:buClrTx/>
                <a:buSzTx/>
                <a:buFontTx/>
                <a:buNone/>
                <a:defRPr/>
              </a:pPr>
              <a:r>
                <a:rPr kumimoji="0" lang="zh-CN" altLang="en-US" sz="1900" b="1" i="0" u="none" strike="noStrike" kern="1200" cap="none" spc="0" normalizeH="0" baseline="0" noProof="0" dirty="0">
                  <a:ln>
                    <a:noFill/>
                  </a:ln>
                  <a:solidFill>
                    <a:prstClr val="white"/>
                  </a:solidFill>
                  <a:effectLst/>
                  <a:uLnTx/>
                  <a:uFillTx/>
                  <a:latin typeface="Calibri"/>
                  <a:ea typeface="等线" panose="02010600030101010101" pitchFamily="2" charset="-122"/>
                  <a:cs typeface="+mn-cs"/>
                </a:rPr>
                <a:t>数据操作进阶</a:t>
              </a:r>
            </a:p>
          </p:txBody>
        </p:sp>
      </p:grpSp>
      <p:grpSp>
        <p:nvGrpSpPr>
          <p:cNvPr id="12" name="组合 11"/>
          <p:cNvGrpSpPr/>
          <p:nvPr/>
        </p:nvGrpSpPr>
        <p:grpSpPr>
          <a:xfrm>
            <a:off x="10582493" y="1442362"/>
            <a:ext cx="626075" cy="4343522"/>
            <a:chOff x="8608126" y="517"/>
            <a:chExt cx="418881" cy="2255547"/>
          </a:xfrm>
        </p:grpSpPr>
        <p:sp>
          <p:nvSpPr>
            <p:cNvPr id="13" name="圆角矩形 12"/>
            <p:cNvSpPr/>
            <p:nvPr/>
          </p:nvSpPr>
          <p:spPr>
            <a:xfrm>
              <a:off x="8608126" y="517"/>
              <a:ext cx="418881" cy="2255547"/>
            </a:xfrm>
            <a:prstGeom prst="roundRect">
              <a:avLst>
                <a:gd name="adj" fmla="val 10000"/>
              </a:avLst>
            </a:prstGeom>
            <a:solidFill>
              <a:schemeClr val="accent5">
                <a:lumMod val="50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nchor="t" anchorCtr="0"/>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14" name="圆角矩形 18"/>
            <p:cNvSpPr txBox="1"/>
            <p:nvPr/>
          </p:nvSpPr>
          <p:spPr>
            <a:xfrm>
              <a:off x="8620395" y="12786"/>
              <a:ext cx="394343" cy="223100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72390" tIns="72390" rIns="72390" bIns="72390" numCol="1" spcCol="1270" anchor="t" anchorCtr="0">
              <a:noAutofit/>
            </a:bodyPr>
            <a:lstStyle/>
            <a:p>
              <a:pPr marL="0" marR="0" lvl="0" indent="0" algn="ctr" defTabSz="844550" rtl="0" eaLnBrk="1" fontAlgn="auto" latinLnBrk="0" hangingPunct="1">
                <a:lnSpc>
                  <a:spcPct val="90000"/>
                </a:lnSpc>
                <a:spcBef>
                  <a:spcPct val="0"/>
                </a:spcBef>
                <a:spcAft>
                  <a:spcPct val="35000"/>
                </a:spcAft>
                <a:buClrTx/>
                <a:buSzTx/>
                <a:buFontTx/>
                <a:buNone/>
                <a:defRPr/>
              </a:pPr>
              <a:endParaRPr kumimoji="0" lang="en-US" altLang="zh-CN" sz="1900" b="1" i="0" u="none" strike="noStrike" kern="1200" cap="none" spc="0" normalizeH="0" baseline="0" noProof="0" dirty="0">
                <a:ln>
                  <a:noFill/>
                </a:ln>
                <a:solidFill>
                  <a:prstClr val="white"/>
                </a:solidFill>
                <a:effectLst/>
                <a:uLnTx/>
                <a:uFillTx/>
                <a:latin typeface="Calibri"/>
                <a:ea typeface="等线" panose="02010600030101010101" pitchFamily="2" charset="-122"/>
                <a:cs typeface="+mn-cs"/>
              </a:endParaRPr>
            </a:p>
            <a:p>
              <a:pPr marL="0" marR="0" lvl="0" indent="0" algn="ctr" defTabSz="844550" rtl="0" eaLnBrk="1" fontAlgn="auto" latinLnBrk="0" hangingPunct="1">
                <a:lnSpc>
                  <a:spcPct val="90000"/>
                </a:lnSpc>
                <a:spcBef>
                  <a:spcPct val="0"/>
                </a:spcBef>
                <a:spcAft>
                  <a:spcPct val="35000"/>
                </a:spcAft>
                <a:buClrTx/>
                <a:buSzTx/>
                <a:buFontTx/>
                <a:buNone/>
                <a:defRPr/>
              </a:pPr>
              <a:r>
                <a:rPr kumimoji="0" lang="zh-CN" altLang="en-US" sz="1900" b="1" i="0" u="none" strike="noStrike" kern="1200" cap="none" spc="0" normalizeH="0" baseline="0" noProof="0" dirty="0">
                  <a:ln>
                    <a:noFill/>
                  </a:ln>
                  <a:solidFill>
                    <a:prstClr val="white"/>
                  </a:solidFill>
                  <a:effectLst/>
                  <a:uLnTx/>
                  <a:uFillTx/>
                  <a:latin typeface="Calibri"/>
                  <a:ea typeface="等线" panose="02010600030101010101" pitchFamily="2" charset="-122"/>
                  <a:cs typeface="+mn-cs"/>
                </a:rPr>
                <a:t>数据存储</a:t>
              </a:r>
            </a:p>
          </p:txBody>
        </p:sp>
      </p:grpSp>
      <p:grpSp>
        <p:nvGrpSpPr>
          <p:cNvPr id="29" name="组合 28"/>
          <p:cNvGrpSpPr/>
          <p:nvPr/>
        </p:nvGrpSpPr>
        <p:grpSpPr>
          <a:xfrm>
            <a:off x="1393307" y="2610057"/>
            <a:ext cx="418881" cy="2255547"/>
            <a:chOff x="69905" y="2496364"/>
            <a:chExt cx="418881" cy="2255547"/>
          </a:xfrm>
        </p:grpSpPr>
        <p:sp>
          <p:nvSpPr>
            <p:cNvPr id="33" name="圆角矩形 32"/>
            <p:cNvSpPr/>
            <p:nvPr/>
          </p:nvSpPr>
          <p:spPr>
            <a:xfrm>
              <a:off x="69905" y="2496364"/>
              <a:ext cx="418881" cy="2255547"/>
            </a:xfrm>
            <a:prstGeom prst="roundRect">
              <a:avLst>
                <a:gd name="adj" fmla="val 10000"/>
              </a:avLst>
            </a:prstGeom>
            <a:solidFill>
              <a:schemeClr val="accent1">
                <a:lumMod val="50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34" name="圆角矩形 4"/>
            <p:cNvSpPr txBox="1"/>
            <p:nvPr/>
          </p:nvSpPr>
          <p:spPr>
            <a:xfrm>
              <a:off x="82174" y="2508633"/>
              <a:ext cx="394343" cy="223100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4770" tIns="64770" rIns="64770" bIns="64770" numCol="1" spcCol="1270" anchor="ctr" anchorCtr="0">
              <a:noAutofit/>
            </a:bodyPr>
            <a:lstStyle/>
            <a:p>
              <a:pPr marL="0" marR="0" lvl="0" indent="0" algn="ctr" defTabSz="755650" rtl="0" eaLnBrk="1" fontAlgn="auto" latinLnBrk="0" hangingPunct="1">
                <a:lnSpc>
                  <a:spcPct val="90000"/>
                </a:lnSpc>
                <a:spcBef>
                  <a:spcPct val="0"/>
                </a:spcBef>
                <a:spcAft>
                  <a:spcPct val="35000"/>
                </a:spcAft>
                <a:buClrTx/>
                <a:buSzTx/>
                <a:buFontTx/>
                <a:buNone/>
                <a:defRPr/>
              </a:pPr>
              <a:r>
                <a:rPr kumimoji="0" lang="zh-CN" altLang="en-US" sz="1700" b="0" i="0" u="none" strike="noStrike" kern="1200" cap="none" spc="0" normalizeH="0" baseline="0" noProof="0" dirty="0">
                  <a:ln>
                    <a:noFill/>
                  </a:ln>
                  <a:solidFill>
                    <a:prstClr val="white"/>
                  </a:solidFill>
                  <a:effectLst/>
                  <a:uLnTx/>
                  <a:uFillTx/>
                  <a:latin typeface="Calibri"/>
                  <a:ea typeface="等线" panose="02010600030101010101" pitchFamily="2" charset="-122"/>
                  <a:cs typeface="+mn-cs"/>
                </a:rPr>
                <a:t>计算与编码</a:t>
              </a:r>
              <a:endParaRPr kumimoji="0" lang="en-US" altLang="zh-CN" sz="1700" b="0" i="0" u="none" strike="noStrike" kern="1200" cap="none" spc="0" normalizeH="0" baseline="0" noProof="0" dirty="0">
                <a:ln>
                  <a:noFill/>
                </a:ln>
                <a:solidFill>
                  <a:prstClr val="white"/>
                </a:solidFill>
                <a:effectLst/>
                <a:uLnTx/>
                <a:uFillTx/>
                <a:latin typeface="Calibri"/>
                <a:ea typeface="等线" panose="02010600030101010101" pitchFamily="2" charset="-122"/>
                <a:cs typeface="+mn-cs"/>
              </a:endParaRPr>
            </a:p>
            <a:p>
              <a:pPr marL="0" marR="0" lvl="0" indent="0" algn="ctr" defTabSz="755650" rtl="0" eaLnBrk="1" fontAlgn="auto" latinLnBrk="0" hangingPunct="1">
                <a:lnSpc>
                  <a:spcPct val="90000"/>
                </a:lnSpc>
                <a:spcBef>
                  <a:spcPct val="0"/>
                </a:spcBef>
                <a:spcAft>
                  <a:spcPct val="35000"/>
                </a:spcAft>
                <a:buClrTx/>
                <a:buSzTx/>
                <a:buFontTx/>
                <a:buNone/>
                <a:defRPr/>
              </a:pPr>
              <a:endParaRPr kumimoji="0" lang="zh-CN" altLang="en-US" sz="1700" b="0" i="0" u="none" strike="noStrike" kern="1200" cap="none" spc="0" normalizeH="0" baseline="0" noProof="0" dirty="0">
                <a:ln>
                  <a:noFill/>
                </a:ln>
                <a:solidFill>
                  <a:prstClr val="white"/>
                </a:solidFill>
                <a:effectLst/>
                <a:uLnTx/>
                <a:uFillTx/>
                <a:latin typeface="Calibri"/>
                <a:ea typeface="等线" panose="02010600030101010101" pitchFamily="2" charset="-122"/>
                <a:cs typeface="+mn-cs"/>
              </a:endParaRPr>
            </a:p>
          </p:txBody>
        </p:sp>
      </p:grpSp>
      <p:grpSp>
        <p:nvGrpSpPr>
          <p:cNvPr id="30" name="组合 29"/>
          <p:cNvGrpSpPr/>
          <p:nvPr/>
        </p:nvGrpSpPr>
        <p:grpSpPr>
          <a:xfrm>
            <a:off x="1924090" y="2610056"/>
            <a:ext cx="418881" cy="2255547"/>
            <a:chOff x="523939" y="2496364"/>
            <a:chExt cx="418881" cy="2255547"/>
          </a:xfrm>
        </p:grpSpPr>
        <p:sp>
          <p:nvSpPr>
            <p:cNvPr id="31" name="圆角矩形 30"/>
            <p:cNvSpPr/>
            <p:nvPr/>
          </p:nvSpPr>
          <p:spPr>
            <a:xfrm>
              <a:off x="523939" y="2496364"/>
              <a:ext cx="418881" cy="2255547"/>
            </a:xfrm>
            <a:prstGeom prst="roundRect">
              <a:avLst>
                <a:gd name="adj" fmla="val 10000"/>
              </a:avLst>
            </a:prstGeom>
            <a:solidFill>
              <a:schemeClr val="accent1">
                <a:lumMod val="50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32" name="圆角矩形 6"/>
            <p:cNvSpPr txBox="1"/>
            <p:nvPr/>
          </p:nvSpPr>
          <p:spPr>
            <a:xfrm>
              <a:off x="536208" y="2508633"/>
              <a:ext cx="394343" cy="223100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4770" tIns="64770" rIns="64770" bIns="64770" numCol="1" spcCol="1270" anchor="ctr" anchorCtr="0">
              <a:noAutofit/>
            </a:bodyPr>
            <a:lstStyle/>
            <a:p>
              <a:pPr marL="0" marR="0" lvl="0" indent="0" algn="ctr" defTabSz="755650" rtl="0" eaLnBrk="1" fontAlgn="auto" latinLnBrk="0" hangingPunct="1">
                <a:lnSpc>
                  <a:spcPct val="90000"/>
                </a:lnSpc>
                <a:spcBef>
                  <a:spcPct val="0"/>
                </a:spcBef>
                <a:spcAft>
                  <a:spcPct val="35000"/>
                </a:spcAft>
                <a:buClrTx/>
                <a:buSzTx/>
                <a:buFontTx/>
                <a:buNone/>
                <a:defRPr/>
              </a:pPr>
              <a:r>
                <a:rPr kumimoji="0" lang="zh-CN" altLang="en-US" sz="1700" b="0" i="0" u="none" strike="noStrike" kern="1200" cap="none" spc="0" normalizeH="0" baseline="0" noProof="0" dirty="0">
                  <a:ln>
                    <a:noFill/>
                  </a:ln>
                  <a:solidFill>
                    <a:prstClr val="white"/>
                  </a:solidFill>
                  <a:effectLst/>
                  <a:uLnTx/>
                  <a:uFillTx/>
                  <a:latin typeface="Calibri"/>
                  <a:ea typeface="等线" panose="02010600030101010101" pitchFamily="2" charset="-122"/>
                  <a:cs typeface="+mn-cs"/>
                </a:rPr>
                <a:t>程序设计概述</a:t>
              </a:r>
            </a:p>
            <a:p>
              <a:pPr marL="0" marR="0" lvl="0" indent="0" algn="ctr" defTabSz="755650" rtl="0" eaLnBrk="1" fontAlgn="auto" latinLnBrk="0" hangingPunct="1">
                <a:lnSpc>
                  <a:spcPct val="90000"/>
                </a:lnSpc>
                <a:spcBef>
                  <a:spcPct val="0"/>
                </a:spcBef>
                <a:spcAft>
                  <a:spcPct val="35000"/>
                </a:spcAft>
                <a:buClrTx/>
                <a:buSzTx/>
                <a:buFontTx/>
                <a:buNone/>
                <a:defRPr/>
              </a:pPr>
              <a:endParaRPr kumimoji="0" lang="zh-CN" altLang="en-US" sz="1700" b="0" i="0" u="none" strike="noStrike" kern="1200" cap="none" spc="0" normalizeH="0" baseline="0" noProof="0" dirty="0">
                <a:ln>
                  <a:noFill/>
                </a:ln>
                <a:solidFill>
                  <a:prstClr val="white"/>
                </a:solidFill>
                <a:effectLst/>
                <a:uLnTx/>
                <a:uFillTx/>
                <a:latin typeface="Calibri"/>
                <a:ea typeface="等线" panose="02010600030101010101" pitchFamily="2" charset="-122"/>
                <a:cs typeface="+mn-cs"/>
              </a:endParaRPr>
            </a:p>
          </p:txBody>
        </p:sp>
      </p:grpSp>
      <p:grpSp>
        <p:nvGrpSpPr>
          <p:cNvPr id="35" name="组合 34"/>
          <p:cNvGrpSpPr/>
          <p:nvPr/>
        </p:nvGrpSpPr>
        <p:grpSpPr>
          <a:xfrm>
            <a:off x="2877148" y="2406301"/>
            <a:ext cx="1577244" cy="316141"/>
            <a:chOff x="1080896" y="2467914"/>
            <a:chExt cx="418472" cy="2255547"/>
          </a:xfrm>
        </p:grpSpPr>
        <p:sp>
          <p:nvSpPr>
            <p:cNvPr id="42" name="圆角矩形 41"/>
            <p:cNvSpPr/>
            <p:nvPr/>
          </p:nvSpPr>
          <p:spPr>
            <a:xfrm>
              <a:off x="1080896" y="2467914"/>
              <a:ext cx="418472" cy="2255547"/>
            </a:xfrm>
            <a:prstGeom prst="roundRect">
              <a:avLst>
                <a:gd name="adj" fmla="val 10000"/>
              </a:avLst>
            </a:prstGeom>
            <a:solidFill>
              <a:schemeClr val="accent2">
                <a:lumMod val="7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43" name="圆角矩形 4"/>
            <p:cNvSpPr txBox="1"/>
            <p:nvPr/>
          </p:nvSpPr>
          <p:spPr>
            <a:xfrm>
              <a:off x="1093153" y="2480172"/>
              <a:ext cx="393958" cy="223103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4770" tIns="64770" rIns="64770" bIns="64770" numCol="1" spcCol="1270" anchor="ctr" anchorCtr="0">
              <a:noAutofit/>
            </a:bodyPr>
            <a:lstStyle/>
            <a:p>
              <a:pPr marL="0" marR="0" lvl="0" indent="0" algn="ctr" defTabSz="755650" rtl="0" eaLnBrk="1" fontAlgn="auto" latinLnBrk="0" hangingPunct="1">
                <a:lnSpc>
                  <a:spcPct val="90000"/>
                </a:lnSpc>
                <a:spcBef>
                  <a:spcPct val="0"/>
                </a:spcBef>
                <a:spcAft>
                  <a:spcPct val="35000"/>
                </a:spcAft>
                <a:buClrTx/>
                <a:buSzTx/>
                <a:buFontTx/>
                <a:buNone/>
                <a:defRPr/>
              </a:pPr>
              <a:r>
                <a:rPr kumimoji="0" lang="zh-CN" altLang="en-US" sz="1700" b="0" i="0" u="none" strike="noStrike" kern="1200" cap="none" spc="0" normalizeH="0" baseline="0" noProof="0" dirty="0">
                  <a:ln>
                    <a:noFill/>
                  </a:ln>
                  <a:solidFill>
                    <a:prstClr val="white"/>
                  </a:solidFill>
                  <a:effectLst/>
                  <a:uLnTx/>
                  <a:uFillTx/>
                  <a:latin typeface="Calibri"/>
                  <a:ea typeface="等线" panose="02010600030101010101" pitchFamily="2" charset="-122"/>
                  <a:cs typeface="+mn-cs"/>
                </a:rPr>
                <a:t>数据类型</a:t>
              </a:r>
            </a:p>
          </p:txBody>
        </p:sp>
      </p:grpSp>
      <p:grpSp>
        <p:nvGrpSpPr>
          <p:cNvPr id="36" name="组合 35"/>
          <p:cNvGrpSpPr/>
          <p:nvPr/>
        </p:nvGrpSpPr>
        <p:grpSpPr>
          <a:xfrm>
            <a:off x="2853885" y="2810515"/>
            <a:ext cx="1600507" cy="337388"/>
            <a:chOff x="1516944" y="2467914"/>
            <a:chExt cx="418472" cy="2255547"/>
          </a:xfrm>
        </p:grpSpPr>
        <p:sp>
          <p:nvSpPr>
            <p:cNvPr id="40" name="圆角矩形 39"/>
            <p:cNvSpPr/>
            <p:nvPr/>
          </p:nvSpPr>
          <p:spPr>
            <a:xfrm>
              <a:off x="1516944" y="2467914"/>
              <a:ext cx="418472" cy="2255547"/>
            </a:xfrm>
            <a:prstGeom prst="roundRect">
              <a:avLst>
                <a:gd name="adj" fmla="val 10000"/>
              </a:avLst>
            </a:prstGeom>
            <a:solidFill>
              <a:schemeClr val="accent2">
                <a:lumMod val="7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41" name="圆角矩形 6"/>
            <p:cNvSpPr txBox="1"/>
            <p:nvPr/>
          </p:nvSpPr>
          <p:spPr>
            <a:xfrm>
              <a:off x="1529201" y="2480171"/>
              <a:ext cx="393958" cy="223103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4770" tIns="64770" rIns="64770" bIns="64770" numCol="1" spcCol="1270" anchor="ctr" anchorCtr="0">
              <a:noAutofit/>
            </a:bodyPr>
            <a:lstStyle/>
            <a:p>
              <a:pPr marL="0" marR="0" lvl="0" indent="0" algn="ctr" defTabSz="755650" rtl="0" eaLnBrk="1" fontAlgn="auto" latinLnBrk="0" hangingPunct="1">
                <a:lnSpc>
                  <a:spcPct val="90000"/>
                </a:lnSpc>
                <a:spcBef>
                  <a:spcPct val="0"/>
                </a:spcBef>
                <a:spcAft>
                  <a:spcPct val="35000"/>
                </a:spcAft>
                <a:buClrTx/>
                <a:buSzTx/>
                <a:buFontTx/>
                <a:buNone/>
                <a:defRPr/>
              </a:pPr>
              <a:r>
                <a:rPr kumimoji="0" lang="zh-CN" altLang="en-US" sz="1700" b="0" i="0" u="none" strike="noStrike" kern="1200" cap="none" spc="0" normalizeH="0" baseline="0" noProof="0" dirty="0">
                  <a:ln>
                    <a:noFill/>
                  </a:ln>
                  <a:solidFill>
                    <a:prstClr val="white"/>
                  </a:solidFill>
                  <a:effectLst/>
                  <a:uLnTx/>
                  <a:uFillTx/>
                  <a:latin typeface="Calibri"/>
                  <a:ea typeface="等线" panose="02010600030101010101" pitchFamily="2" charset="-122"/>
                  <a:cs typeface="+mn-cs"/>
                </a:rPr>
                <a:t>表  达  式</a:t>
              </a:r>
            </a:p>
          </p:txBody>
        </p:sp>
      </p:grpSp>
      <p:grpSp>
        <p:nvGrpSpPr>
          <p:cNvPr id="37" name="组合 36"/>
          <p:cNvGrpSpPr/>
          <p:nvPr/>
        </p:nvGrpSpPr>
        <p:grpSpPr>
          <a:xfrm>
            <a:off x="2853885" y="3288478"/>
            <a:ext cx="1600507" cy="357268"/>
            <a:chOff x="1952993" y="2467914"/>
            <a:chExt cx="418472" cy="2255547"/>
          </a:xfrm>
        </p:grpSpPr>
        <p:sp>
          <p:nvSpPr>
            <p:cNvPr id="38" name="圆角矩形 37"/>
            <p:cNvSpPr/>
            <p:nvPr/>
          </p:nvSpPr>
          <p:spPr>
            <a:xfrm>
              <a:off x="1952993" y="2467914"/>
              <a:ext cx="418472" cy="2255547"/>
            </a:xfrm>
            <a:prstGeom prst="roundRect">
              <a:avLst>
                <a:gd name="adj" fmla="val 10000"/>
              </a:avLst>
            </a:prstGeom>
            <a:solidFill>
              <a:schemeClr val="accent2">
                <a:lumMod val="7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39" name="圆角矩形 8"/>
            <p:cNvSpPr txBox="1"/>
            <p:nvPr/>
          </p:nvSpPr>
          <p:spPr>
            <a:xfrm>
              <a:off x="1965250" y="2480171"/>
              <a:ext cx="393958" cy="223103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4770" tIns="64770" rIns="64770" bIns="64770" numCol="1" spcCol="1270" anchor="ctr" anchorCtr="0">
              <a:noAutofit/>
            </a:bodyPr>
            <a:lstStyle/>
            <a:p>
              <a:pPr marL="0" marR="0" lvl="0" indent="0" algn="ctr" defTabSz="755650" rtl="0" eaLnBrk="1" fontAlgn="auto" latinLnBrk="0" hangingPunct="1">
                <a:lnSpc>
                  <a:spcPct val="90000"/>
                </a:lnSpc>
                <a:spcBef>
                  <a:spcPct val="0"/>
                </a:spcBef>
                <a:spcAft>
                  <a:spcPct val="35000"/>
                </a:spcAft>
                <a:buClrTx/>
                <a:buSzTx/>
                <a:buFontTx/>
                <a:buNone/>
                <a:defRPr/>
              </a:pPr>
              <a:r>
                <a:rPr kumimoji="0" lang="zh-CN" altLang="en-US" sz="1700" b="0" i="0" u="none" strike="noStrike" kern="1200" cap="none" spc="0" normalizeH="0" baseline="0" noProof="0" dirty="0">
                  <a:ln>
                    <a:noFill/>
                  </a:ln>
                  <a:solidFill>
                    <a:prstClr val="white"/>
                  </a:solidFill>
                  <a:effectLst/>
                  <a:uLnTx/>
                  <a:uFillTx/>
                  <a:latin typeface="Calibri"/>
                  <a:ea typeface="等线" panose="02010600030101010101" pitchFamily="2" charset="-122"/>
                  <a:cs typeface="+mn-cs"/>
                </a:rPr>
                <a:t>程序控制流程</a:t>
              </a:r>
            </a:p>
          </p:txBody>
        </p:sp>
      </p:grpSp>
      <p:grpSp>
        <p:nvGrpSpPr>
          <p:cNvPr id="44" name="组合 43"/>
          <p:cNvGrpSpPr/>
          <p:nvPr/>
        </p:nvGrpSpPr>
        <p:grpSpPr>
          <a:xfrm>
            <a:off x="2853885" y="4482397"/>
            <a:ext cx="1600508" cy="370938"/>
            <a:chOff x="2406617" y="2470801"/>
            <a:chExt cx="418472" cy="2255547"/>
          </a:xfrm>
        </p:grpSpPr>
        <p:sp>
          <p:nvSpPr>
            <p:cNvPr id="48" name="圆角矩形 47"/>
            <p:cNvSpPr/>
            <p:nvPr/>
          </p:nvSpPr>
          <p:spPr>
            <a:xfrm>
              <a:off x="2406617" y="2470801"/>
              <a:ext cx="418472" cy="2255547"/>
            </a:xfrm>
            <a:prstGeom prst="roundRect">
              <a:avLst>
                <a:gd name="adj" fmla="val 10000"/>
              </a:avLst>
            </a:prstGeom>
            <a:solidFill>
              <a:schemeClr val="accent2">
                <a:lumMod val="7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49" name="圆角矩形 4"/>
            <p:cNvSpPr txBox="1"/>
            <p:nvPr/>
          </p:nvSpPr>
          <p:spPr>
            <a:xfrm>
              <a:off x="2418874" y="2483058"/>
              <a:ext cx="393958" cy="223103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4770" tIns="64770" rIns="64770" bIns="64770" numCol="1" spcCol="1270" anchor="ctr" anchorCtr="0">
              <a:noAutofit/>
            </a:bodyPr>
            <a:lstStyle/>
            <a:p>
              <a:pPr marL="0" marR="0" lvl="0" indent="0" algn="ctr" defTabSz="755650" rtl="0" eaLnBrk="1" fontAlgn="auto" latinLnBrk="0" hangingPunct="1">
                <a:lnSpc>
                  <a:spcPct val="90000"/>
                </a:lnSpc>
                <a:spcBef>
                  <a:spcPct val="0"/>
                </a:spcBef>
                <a:spcAft>
                  <a:spcPct val="35000"/>
                </a:spcAft>
                <a:buClrTx/>
                <a:buSzTx/>
                <a:buFontTx/>
                <a:buNone/>
                <a:defRPr/>
              </a:pPr>
              <a:r>
                <a:rPr kumimoji="0" lang="zh-CN" altLang="en-US" sz="1700" b="0" i="0" u="none" strike="noStrike" kern="1200" cap="none" spc="0" normalizeH="0" baseline="0" noProof="0" dirty="0">
                  <a:ln>
                    <a:noFill/>
                  </a:ln>
                  <a:solidFill>
                    <a:prstClr val="white"/>
                  </a:solidFill>
                  <a:effectLst/>
                  <a:uLnTx/>
                  <a:uFillTx/>
                  <a:latin typeface="Calibri"/>
                  <a:ea typeface="等线" panose="02010600030101010101" pitchFamily="2" charset="-122"/>
                  <a:cs typeface="+mn-cs"/>
                </a:rPr>
                <a:t>分治与函数</a:t>
              </a:r>
            </a:p>
          </p:txBody>
        </p:sp>
      </p:grpSp>
      <p:grpSp>
        <p:nvGrpSpPr>
          <p:cNvPr id="45" name="组合 44"/>
          <p:cNvGrpSpPr/>
          <p:nvPr/>
        </p:nvGrpSpPr>
        <p:grpSpPr>
          <a:xfrm>
            <a:off x="2853885" y="5000261"/>
            <a:ext cx="1600507" cy="370938"/>
            <a:chOff x="2842666" y="2470801"/>
            <a:chExt cx="418472" cy="2255547"/>
          </a:xfrm>
        </p:grpSpPr>
        <p:sp>
          <p:nvSpPr>
            <p:cNvPr id="46" name="圆角矩形 45"/>
            <p:cNvSpPr/>
            <p:nvPr/>
          </p:nvSpPr>
          <p:spPr>
            <a:xfrm>
              <a:off x="2842666" y="2470801"/>
              <a:ext cx="418472" cy="2255547"/>
            </a:xfrm>
            <a:prstGeom prst="roundRect">
              <a:avLst>
                <a:gd name="adj" fmla="val 10000"/>
              </a:avLst>
            </a:prstGeom>
            <a:solidFill>
              <a:schemeClr val="accent2">
                <a:lumMod val="7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47" name="圆角矩形 6"/>
            <p:cNvSpPr txBox="1"/>
            <p:nvPr/>
          </p:nvSpPr>
          <p:spPr>
            <a:xfrm>
              <a:off x="2854923" y="2483058"/>
              <a:ext cx="393958" cy="223103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4770" tIns="64770" rIns="64770" bIns="64770" numCol="1" spcCol="1270" anchor="ctr" anchorCtr="0">
              <a:noAutofit/>
            </a:bodyPr>
            <a:lstStyle/>
            <a:p>
              <a:pPr marL="0" marR="0" lvl="0" indent="0" algn="ctr" defTabSz="755650" rtl="0" eaLnBrk="1" fontAlgn="auto" latinLnBrk="0" hangingPunct="1">
                <a:lnSpc>
                  <a:spcPct val="90000"/>
                </a:lnSpc>
                <a:spcBef>
                  <a:spcPct val="0"/>
                </a:spcBef>
                <a:spcAft>
                  <a:spcPct val="35000"/>
                </a:spcAft>
                <a:buClrTx/>
                <a:buSzTx/>
                <a:buFontTx/>
                <a:buNone/>
                <a:defRPr/>
              </a:pPr>
              <a:r>
                <a:rPr kumimoji="0" lang="zh-CN" altLang="en-US" sz="1700" b="0" i="0" u="none" strike="noStrike" kern="1200" cap="none" spc="0" normalizeH="0" baseline="0" noProof="0" dirty="0">
                  <a:ln>
                    <a:noFill/>
                  </a:ln>
                  <a:solidFill>
                    <a:prstClr val="white"/>
                  </a:solidFill>
                  <a:effectLst/>
                  <a:uLnTx/>
                  <a:uFillTx/>
                  <a:latin typeface="Calibri"/>
                  <a:ea typeface="等线" panose="02010600030101010101" pitchFamily="2" charset="-122"/>
                  <a:cs typeface="+mn-cs"/>
                </a:rPr>
                <a:t>递归函数</a:t>
              </a:r>
            </a:p>
          </p:txBody>
        </p:sp>
      </p:grpSp>
      <p:grpSp>
        <p:nvGrpSpPr>
          <p:cNvPr id="50" name="组合 49"/>
          <p:cNvGrpSpPr/>
          <p:nvPr/>
        </p:nvGrpSpPr>
        <p:grpSpPr>
          <a:xfrm>
            <a:off x="5137723" y="2123444"/>
            <a:ext cx="418881" cy="2255547"/>
            <a:chOff x="3332507" y="2496070"/>
            <a:chExt cx="418881" cy="2255547"/>
          </a:xfrm>
        </p:grpSpPr>
        <p:sp>
          <p:nvSpPr>
            <p:cNvPr id="60" name="圆角矩形 59"/>
            <p:cNvSpPr/>
            <p:nvPr/>
          </p:nvSpPr>
          <p:spPr>
            <a:xfrm>
              <a:off x="3332507" y="2496070"/>
              <a:ext cx="418881" cy="2255547"/>
            </a:xfrm>
            <a:prstGeom prst="roundRect">
              <a:avLst>
                <a:gd name="adj" fmla="val 10000"/>
              </a:avLst>
            </a:prstGeom>
            <a:solidFill>
              <a:schemeClr val="accent2">
                <a:lumMod val="50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61" name="圆角矩形 4"/>
            <p:cNvSpPr txBox="1"/>
            <p:nvPr/>
          </p:nvSpPr>
          <p:spPr>
            <a:xfrm>
              <a:off x="3344776" y="2508339"/>
              <a:ext cx="394343" cy="223100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4770" tIns="64770" rIns="64770" bIns="64770" numCol="1" spcCol="1270" anchor="ctr" anchorCtr="0">
              <a:noAutofit/>
            </a:bodyPr>
            <a:lstStyle/>
            <a:p>
              <a:pPr marL="0" marR="0" lvl="0" indent="0" algn="ctr" defTabSz="755650" rtl="0" eaLnBrk="1" fontAlgn="auto" latinLnBrk="0" hangingPunct="1">
                <a:lnSpc>
                  <a:spcPct val="90000"/>
                </a:lnSpc>
                <a:spcBef>
                  <a:spcPct val="0"/>
                </a:spcBef>
                <a:spcAft>
                  <a:spcPct val="35000"/>
                </a:spcAft>
                <a:buClrTx/>
                <a:buSzTx/>
                <a:buFontTx/>
                <a:buNone/>
                <a:defRPr/>
              </a:pPr>
              <a:r>
                <a:rPr kumimoji="0" lang="zh-CN" altLang="en-US" sz="1700" b="0" i="0" u="none" strike="noStrike" kern="1200" cap="none" spc="0" normalizeH="0" baseline="0" noProof="0" dirty="0">
                  <a:ln>
                    <a:noFill/>
                  </a:ln>
                  <a:solidFill>
                    <a:prstClr val="white"/>
                  </a:solidFill>
                  <a:effectLst/>
                  <a:uLnTx/>
                  <a:uFillTx/>
                  <a:latin typeface="Calibri"/>
                  <a:ea typeface="等线" panose="02010600030101010101" pitchFamily="2" charset="-122"/>
                  <a:cs typeface="+mn-cs"/>
                </a:rPr>
                <a:t>数        </a:t>
              </a:r>
              <a:r>
                <a:rPr kumimoji="0" lang="en-US" altLang="zh-CN" sz="1700" b="0" i="0" u="none" strike="noStrike" kern="1200" cap="none" spc="0" normalizeH="0" baseline="0" noProof="0" dirty="0">
                  <a:ln>
                    <a:noFill/>
                  </a:ln>
                  <a:solidFill>
                    <a:prstClr val="white"/>
                  </a:solidFill>
                  <a:effectLst/>
                  <a:uLnTx/>
                  <a:uFillTx/>
                  <a:latin typeface="Calibri"/>
                  <a:ea typeface="等线" panose="02010600030101010101" pitchFamily="2" charset="-122"/>
                  <a:cs typeface="+mn-cs"/>
                </a:rPr>
                <a:t>	</a:t>
              </a:r>
              <a:r>
                <a:rPr kumimoji="0" lang="zh-CN" altLang="en-US" sz="1700" b="0" i="0" u="none" strike="noStrike" kern="1200" cap="none" spc="0" normalizeH="0" baseline="0" noProof="0" dirty="0">
                  <a:ln>
                    <a:noFill/>
                  </a:ln>
                  <a:solidFill>
                    <a:prstClr val="white"/>
                  </a:solidFill>
                  <a:effectLst/>
                  <a:uLnTx/>
                  <a:uFillTx/>
                  <a:latin typeface="Calibri"/>
                  <a:ea typeface="等线" panose="02010600030101010101" pitchFamily="2" charset="-122"/>
                  <a:cs typeface="+mn-cs"/>
                </a:rPr>
                <a:t>组</a:t>
              </a:r>
            </a:p>
          </p:txBody>
        </p:sp>
      </p:grpSp>
      <p:grpSp>
        <p:nvGrpSpPr>
          <p:cNvPr id="51" name="组合 50"/>
          <p:cNvGrpSpPr/>
          <p:nvPr/>
        </p:nvGrpSpPr>
        <p:grpSpPr>
          <a:xfrm>
            <a:off x="5761121" y="2123443"/>
            <a:ext cx="418881" cy="2255547"/>
            <a:chOff x="3786541" y="2496070"/>
            <a:chExt cx="418881" cy="2255547"/>
          </a:xfrm>
        </p:grpSpPr>
        <p:sp>
          <p:nvSpPr>
            <p:cNvPr id="58" name="圆角矩形 57"/>
            <p:cNvSpPr/>
            <p:nvPr/>
          </p:nvSpPr>
          <p:spPr>
            <a:xfrm>
              <a:off x="3786541" y="2496070"/>
              <a:ext cx="418881" cy="2255547"/>
            </a:xfrm>
            <a:prstGeom prst="roundRect">
              <a:avLst>
                <a:gd name="adj" fmla="val 10000"/>
              </a:avLst>
            </a:prstGeom>
            <a:solidFill>
              <a:schemeClr val="accent2">
                <a:lumMod val="50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59" name="圆角矩形 6"/>
            <p:cNvSpPr txBox="1"/>
            <p:nvPr/>
          </p:nvSpPr>
          <p:spPr>
            <a:xfrm>
              <a:off x="3798810" y="2508339"/>
              <a:ext cx="394343" cy="223100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4770" tIns="64770" rIns="64770" bIns="64770" numCol="1" spcCol="1270" anchor="ctr" anchorCtr="0">
              <a:noAutofit/>
            </a:bodyPr>
            <a:lstStyle/>
            <a:p>
              <a:pPr marL="0" marR="0" lvl="0" indent="0" algn="ctr" defTabSz="755650" rtl="0" eaLnBrk="1" fontAlgn="auto" latinLnBrk="0" hangingPunct="1">
                <a:lnSpc>
                  <a:spcPct val="90000"/>
                </a:lnSpc>
                <a:spcBef>
                  <a:spcPct val="0"/>
                </a:spcBef>
                <a:spcAft>
                  <a:spcPct val="35000"/>
                </a:spcAft>
                <a:buClrTx/>
                <a:buSzTx/>
                <a:buFontTx/>
                <a:buNone/>
                <a:defRPr/>
              </a:pPr>
              <a:r>
                <a:rPr kumimoji="0" lang="zh-CN" altLang="en-US" sz="1700" b="0" i="0" u="none" strike="noStrike" kern="1200" cap="none" spc="0" normalizeH="0" baseline="0" noProof="0" dirty="0">
                  <a:ln>
                    <a:noFill/>
                  </a:ln>
                  <a:solidFill>
                    <a:prstClr val="white"/>
                  </a:solidFill>
                  <a:effectLst/>
                  <a:uLnTx/>
                  <a:uFillTx/>
                  <a:latin typeface="Calibri"/>
                  <a:ea typeface="等线" panose="02010600030101010101" pitchFamily="2" charset="-122"/>
                  <a:cs typeface="+mn-cs"/>
                </a:rPr>
                <a:t>字符串</a:t>
              </a:r>
            </a:p>
          </p:txBody>
        </p:sp>
      </p:grpSp>
      <p:grpSp>
        <p:nvGrpSpPr>
          <p:cNvPr id="52" name="组合 51"/>
          <p:cNvGrpSpPr/>
          <p:nvPr/>
        </p:nvGrpSpPr>
        <p:grpSpPr>
          <a:xfrm>
            <a:off x="6375026" y="2134821"/>
            <a:ext cx="418881" cy="2259870"/>
            <a:chOff x="4240574" y="2496070"/>
            <a:chExt cx="418881" cy="2259870"/>
          </a:xfrm>
        </p:grpSpPr>
        <p:sp>
          <p:nvSpPr>
            <p:cNvPr id="56" name="圆角矩形 55"/>
            <p:cNvSpPr/>
            <p:nvPr/>
          </p:nvSpPr>
          <p:spPr>
            <a:xfrm>
              <a:off x="4240574" y="2496070"/>
              <a:ext cx="418881" cy="2255547"/>
            </a:xfrm>
            <a:prstGeom prst="roundRect">
              <a:avLst>
                <a:gd name="adj" fmla="val 10000"/>
              </a:avLst>
            </a:prstGeom>
            <a:solidFill>
              <a:schemeClr val="accent2">
                <a:lumMod val="50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57" name="圆角矩形 8"/>
            <p:cNvSpPr txBox="1"/>
            <p:nvPr/>
          </p:nvSpPr>
          <p:spPr>
            <a:xfrm>
              <a:off x="4252843" y="2524931"/>
              <a:ext cx="394343" cy="223100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4770" tIns="64770" rIns="64770" bIns="64770" numCol="1" spcCol="1270" anchor="ctr" anchorCtr="0">
              <a:noAutofit/>
            </a:bodyPr>
            <a:lstStyle/>
            <a:p>
              <a:pPr marL="0" marR="0" lvl="0" indent="0" algn="ctr" defTabSz="755650" rtl="0" eaLnBrk="1" fontAlgn="auto" latinLnBrk="0" hangingPunct="1">
                <a:lnSpc>
                  <a:spcPct val="90000"/>
                </a:lnSpc>
                <a:spcBef>
                  <a:spcPct val="0"/>
                </a:spcBef>
                <a:spcAft>
                  <a:spcPct val="35000"/>
                </a:spcAft>
                <a:buClrTx/>
                <a:buSzTx/>
                <a:buFontTx/>
                <a:buNone/>
                <a:defRPr/>
              </a:pPr>
              <a:r>
                <a:rPr kumimoji="0" lang="zh-CN" altLang="en-US" sz="1700" b="0" i="0" u="none" strike="noStrike" kern="1200" cap="none" spc="0" normalizeH="0" baseline="0" noProof="0" dirty="0">
                  <a:ln>
                    <a:noFill/>
                  </a:ln>
                  <a:solidFill>
                    <a:prstClr val="white"/>
                  </a:solidFill>
                  <a:effectLst/>
                  <a:uLnTx/>
                  <a:uFillTx/>
                  <a:latin typeface="Calibri"/>
                  <a:ea typeface="等线" panose="02010600030101010101" pitchFamily="2" charset="-122"/>
                  <a:cs typeface="+mn-cs"/>
                </a:rPr>
                <a:t>结构体</a:t>
              </a:r>
            </a:p>
          </p:txBody>
        </p:sp>
      </p:grpSp>
      <p:grpSp>
        <p:nvGrpSpPr>
          <p:cNvPr id="53" name="组合 52"/>
          <p:cNvGrpSpPr/>
          <p:nvPr/>
        </p:nvGrpSpPr>
        <p:grpSpPr>
          <a:xfrm>
            <a:off x="5065715" y="4754731"/>
            <a:ext cx="1772515" cy="518090"/>
            <a:chOff x="4694608" y="2496070"/>
            <a:chExt cx="418881" cy="2255547"/>
          </a:xfrm>
        </p:grpSpPr>
        <p:sp>
          <p:nvSpPr>
            <p:cNvPr id="54" name="圆角矩形 53"/>
            <p:cNvSpPr/>
            <p:nvPr/>
          </p:nvSpPr>
          <p:spPr>
            <a:xfrm>
              <a:off x="4694608" y="2496070"/>
              <a:ext cx="418881" cy="2255547"/>
            </a:xfrm>
            <a:prstGeom prst="roundRect">
              <a:avLst>
                <a:gd name="adj" fmla="val 10000"/>
              </a:avLst>
            </a:prstGeom>
            <a:solidFill>
              <a:schemeClr val="accent2">
                <a:lumMod val="50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55" name="圆角矩形 10"/>
            <p:cNvSpPr txBox="1"/>
            <p:nvPr/>
          </p:nvSpPr>
          <p:spPr>
            <a:xfrm>
              <a:off x="4706877" y="2508339"/>
              <a:ext cx="394343" cy="223100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4770" tIns="64770" rIns="64770" bIns="64770" numCol="1" spcCol="1270" anchor="ctr" anchorCtr="0">
              <a:noAutofit/>
            </a:bodyPr>
            <a:lstStyle/>
            <a:p>
              <a:pPr marL="0" marR="0" lvl="0" indent="0" algn="ctr" defTabSz="755650" rtl="0" eaLnBrk="1" fontAlgn="auto" latinLnBrk="0" hangingPunct="1">
                <a:lnSpc>
                  <a:spcPct val="90000"/>
                </a:lnSpc>
                <a:spcBef>
                  <a:spcPct val="0"/>
                </a:spcBef>
                <a:spcAft>
                  <a:spcPct val="35000"/>
                </a:spcAft>
                <a:buClrTx/>
                <a:buSzTx/>
                <a:buFontTx/>
                <a:buNone/>
                <a:defRPr/>
              </a:pPr>
              <a:r>
                <a:rPr kumimoji="0" lang="zh-CN" altLang="en-US" sz="1700" b="0" i="0" u="none" strike="noStrike" kern="1200" cap="none" spc="0" normalizeH="0" baseline="0" noProof="0" dirty="0">
                  <a:ln>
                    <a:noFill/>
                  </a:ln>
                  <a:solidFill>
                    <a:prstClr val="white"/>
                  </a:solidFill>
                  <a:effectLst/>
                  <a:uLnTx/>
                  <a:uFillTx/>
                  <a:latin typeface="Calibri"/>
                  <a:ea typeface="等线" panose="02010600030101010101" pitchFamily="2" charset="-122"/>
                  <a:cs typeface="+mn-cs"/>
                </a:rPr>
                <a:t>数据遍历与搜索</a:t>
              </a:r>
            </a:p>
          </p:txBody>
        </p:sp>
      </p:grpSp>
      <p:grpSp>
        <p:nvGrpSpPr>
          <p:cNvPr id="62" name="组合 61"/>
          <p:cNvGrpSpPr/>
          <p:nvPr/>
        </p:nvGrpSpPr>
        <p:grpSpPr>
          <a:xfrm>
            <a:off x="7297963" y="3355641"/>
            <a:ext cx="409232" cy="2255547"/>
            <a:chOff x="5202935" y="2496070"/>
            <a:chExt cx="556392" cy="2255547"/>
          </a:xfrm>
        </p:grpSpPr>
        <p:sp>
          <p:nvSpPr>
            <p:cNvPr id="63" name="圆角矩形 62"/>
            <p:cNvSpPr/>
            <p:nvPr/>
          </p:nvSpPr>
          <p:spPr>
            <a:xfrm>
              <a:off x="5202935" y="2496070"/>
              <a:ext cx="556392" cy="2255547"/>
            </a:xfrm>
            <a:prstGeom prst="roundRect">
              <a:avLst>
                <a:gd name="adj" fmla="val 10000"/>
              </a:avLst>
            </a:prstGeom>
            <a:solidFill>
              <a:schemeClr val="accent2">
                <a:lumMod val="7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64" name="圆角矩形 4"/>
            <p:cNvSpPr txBox="1"/>
            <p:nvPr/>
          </p:nvSpPr>
          <p:spPr>
            <a:xfrm>
              <a:off x="5219231" y="2512366"/>
              <a:ext cx="523800" cy="222295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4770" tIns="64770" rIns="64770" bIns="64770" numCol="1" spcCol="1270" anchor="ctr" anchorCtr="0">
              <a:noAutofit/>
            </a:bodyPr>
            <a:lstStyle/>
            <a:p>
              <a:pPr marL="0" marR="0" lvl="0" indent="0" algn="ctr" defTabSz="755650" rtl="0" eaLnBrk="1" fontAlgn="auto" latinLnBrk="0" hangingPunct="1">
                <a:lnSpc>
                  <a:spcPct val="90000"/>
                </a:lnSpc>
                <a:spcBef>
                  <a:spcPct val="0"/>
                </a:spcBef>
                <a:spcAft>
                  <a:spcPct val="35000"/>
                </a:spcAft>
                <a:buClrTx/>
                <a:buSzTx/>
                <a:buFontTx/>
                <a:buNone/>
                <a:defRPr/>
              </a:pPr>
              <a:r>
                <a:rPr kumimoji="0" lang="zh-CN" altLang="en-US" sz="1700" b="0" i="0" u="none" strike="noStrike" kern="1200" cap="none" spc="0" normalizeH="0" baseline="0" noProof="0" dirty="0">
                  <a:ln>
                    <a:noFill/>
                  </a:ln>
                  <a:solidFill>
                    <a:prstClr val="white"/>
                  </a:solidFill>
                  <a:effectLst/>
                  <a:uLnTx/>
                  <a:uFillTx/>
                  <a:latin typeface="Calibri"/>
                  <a:ea typeface="等线" panose="02010600030101010101" pitchFamily="2" charset="-122"/>
                  <a:cs typeface="+mn-cs"/>
                </a:rPr>
                <a:t>栈与递归</a:t>
              </a:r>
            </a:p>
          </p:txBody>
        </p:sp>
      </p:grpSp>
      <p:grpSp>
        <p:nvGrpSpPr>
          <p:cNvPr id="65" name="组合 64"/>
          <p:cNvGrpSpPr/>
          <p:nvPr/>
        </p:nvGrpSpPr>
        <p:grpSpPr>
          <a:xfrm>
            <a:off x="8298710" y="2122604"/>
            <a:ext cx="1804409" cy="439243"/>
            <a:chOff x="5848774" y="2496070"/>
            <a:chExt cx="418881" cy="2255547"/>
          </a:xfrm>
        </p:grpSpPr>
        <p:sp>
          <p:nvSpPr>
            <p:cNvPr id="81" name="圆角矩形 80"/>
            <p:cNvSpPr/>
            <p:nvPr/>
          </p:nvSpPr>
          <p:spPr>
            <a:xfrm>
              <a:off x="5848774" y="2496070"/>
              <a:ext cx="418881" cy="2255547"/>
            </a:xfrm>
            <a:prstGeom prst="roundRect">
              <a:avLst>
                <a:gd name="adj" fmla="val 10000"/>
              </a:avLst>
            </a:prstGeom>
            <a:solidFill>
              <a:schemeClr val="accent2">
                <a:lumMod val="50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82" name="圆角矩形 4"/>
            <p:cNvSpPr txBox="1"/>
            <p:nvPr/>
          </p:nvSpPr>
          <p:spPr>
            <a:xfrm>
              <a:off x="5861043" y="2508339"/>
              <a:ext cx="394343" cy="223100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4770" tIns="64770" rIns="64770" bIns="64770" numCol="1" spcCol="1270" anchor="ctr" anchorCtr="0">
              <a:noAutofit/>
            </a:bodyPr>
            <a:lstStyle/>
            <a:p>
              <a:pPr marL="0" marR="0" lvl="0" indent="0" algn="ctr" defTabSz="755650" rtl="0" eaLnBrk="1" fontAlgn="auto" latinLnBrk="0" hangingPunct="1">
                <a:lnSpc>
                  <a:spcPct val="90000"/>
                </a:lnSpc>
                <a:spcBef>
                  <a:spcPct val="0"/>
                </a:spcBef>
                <a:spcAft>
                  <a:spcPct val="35000"/>
                </a:spcAft>
                <a:buClrTx/>
                <a:buSzTx/>
                <a:buFontTx/>
                <a:buNone/>
                <a:defRPr/>
              </a:pPr>
              <a:r>
                <a:rPr kumimoji="0" lang="zh-CN" altLang="en-US" sz="1700" b="0" i="0" u="none" strike="noStrike" kern="1200" cap="none" spc="0" normalizeH="0" baseline="0" noProof="0" dirty="0">
                  <a:ln>
                    <a:noFill/>
                  </a:ln>
                  <a:solidFill>
                    <a:prstClr val="white"/>
                  </a:solidFill>
                  <a:effectLst/>
                  <a:uLnTx/>
                  <a:uFillTx/>
                  <a:latin typeface="Calibri"/>
                  <a:ea typeface="等线" panose="02010600030101010101" pitchFamily="2" charset="-122"/>
                  <a:cs typeface="+mn-cs"/>
                </a:rPr>
                <a:t>排序算法</a:t>
              </a:r>
            </a:p>
          </p:txBody>
        </p:sp>
      </p:grpSp>
      <p:grpSp>
        <p:nvGrpSpPr>
          <p:cNvPr id="66" name="组合 65"/>
          <p:cNvGrpSpPr/>
          <p:nvPr/>
        </p:nvGrpSpPr>
        <p:grpSpPr>
          <a:xfrm>
            <a:off x="8291216" y="2868133"/>
            <a:ext cx="1811903" cy="439243"/>
            <a:chOff x="6302807" y="2496070"/>
            <a:chExt cx="418881" cy="2255547"/>
          </a:xfrm>
        </p:grpSpPr>
        <p:sp>
          <p:nvSpPr>
            <p:cNvPr id="79" name="圆角矩形 78"/>
            <p:cNvSpPr/>
            <p:nvPr/>
          </p:nvSpPr>
          <p:spPr>
            <a:xfrm>
              <a:off x="6302807" y="2496070"/>
              <a:ext cx="418881" cy="2255547"/>
            </a:xfrm>
            <a:prstGeom prst="roundRect">
              <a:avLst>
                <a:gd name="adj" fmla="val 10000"/>
              </a:avLst>
            </a:prstGeom>
            <a:solidFill>
              <a:schemeClr val="accent2">
                <a:lumMod val="50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80" name="圆角矩形 6"/>
            <p:cNvSpPr txBox="1"/>
            <p:nvPr/>
          </p:nvSpPr>
          <p:spPr>
            <a:xfrm>
              <a:off x="6315076" y="2508339"/>
              <a:ext cx="394343" cy="223100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4770" tIns="64770" rIns="64770" bIns="64770" numCol="1" spcCol="1270" anchor="ctr" anchorCtr="0">
              <a:noAutofit/>
            </a:bodyPr>
            <a:lstStyle/>
            <a:p>
              <a:pPr marL="0" marR="0" lvl="0" indent="0" algn="ctr" defTabSz="755650" rtl="0" eaLnBrk="1" fontAlgn="auto" latinLnBrk="0" hangingPunct="1">
                <a:lnSpc>
                  <a:spcPct val="90000"/>
                </a:lnSpc>
                <a:spcBef>
                  <a:spcPct val="0"/>
                </a:spcBef>
                <a:spcAft>
                  <a:spcPct val="35000"/>
                </a:spcAft>
                <a:buClrTx/>
                <a:buSzTx/>
                <a:buFontTx/>
                <a:buNone/>
                <a:defRPr/>
              </a:pPr>
              <a:r>
                <a:rPr kumimoji="0" lang="zh-CN" altLang="en-US" sz="1700" b="0" i="0" u="none" strike="noStrike" kern="1200" cap="none" spc="0" normalizeH="0" baseline="0" noProof="0" dirty="0">
                  <a:ln>
                    <a:noFill/>
                  </a:ln>
                  <a:solidFill>
                    <a:prstClr val="white"/>
                  </a:solidFill>
                  <a:effectLst/>
                  <a:uLnTx/>
                  <a:uFillTx/>
                  <a:latin typeface="Calibri"/>
                  <a:ea typeface="等线" panose="02010600030101010101" pitchFamily="2" charset="-122"/>
                  <a:cs typeface="+mn-cs"/>
                </a:rPr>
                <a:t>指             针</a:t>
              </a:r>
            </a:p>
          </p:txBody>
        </p:sp>
      </p:grpSp>
      <p:grpSp>
        <p:nvGrpSpPr>
          <p:cNvPr id="67" name="组合 66"/>
          <p:cNvGrpSpPr/>
          <p:nvPr/>
        </p:nvGrpSpPr>
        <p:grpSpPr>
          <a:xfrm>
            <a:off x="8285019" y="3379384"/>
            <a:ext cx="1811903" cy="439243"/>
            <a:chOff x="6756841" y="2496070"/>
            <a:chExt cx="418881" cy="2255547"/>
          </a:xfrm>
        </p:grpSpPr>
        <p:sp>
          <p:nvSpPr>
            <p:cNvPr id="77" name="圆角矩形 76"/>
            <p:cNvSpPr/>
            <p:nvPr/>
          </p:nvSpPr>
          <p:spPr>
            <a:xfrm>
              <a:off x="6756841" y="2496070"/>
              <a:ext cx="418881" cy="2255547"/>
            </a:xfrm>
            <a:prstGeom prst="roundRect">
              <a:avLst>
                <a:gd name="adj" fmla="val 10000"/>
              </a:avLst>
            </a:prstGeom>
            <a:solidFill>
              <a:schemeClr val="accent2">
                <a:lumMod val="50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78" name="圆角矩形 8"/>
            <p:cNvSpPr txBox="1"/>
            <p:nvPr/>
          </p:nvSpPr>
          <p:spPr>
            <a:xfrm>
              <a:off x="6769110" y="2508339"/>
              <a:ext cx="394343" cy="223100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4770" tIns="64770" rIns="64770" bIns="64770" numCol="1" spcCol="1270" anchor="ctr" anchorCtr="0">
              <a:noAutofit/>
            </a:bodyPr>
            <a:lstStyle/>
            <a:p>
              <a:pPr marL="0" marR="0" lvl="0" indent="0" algn="ctr" defTabSz="755650" rtl="0" eaLnBrk="1" fontAlgn="auto" latinLnBrk="0" hangingPunct="1">
                <a:lnSpc>
                  <a:spcPct val="90000"/>
                </a:lnSpc>
                <a:spcBef>
                  <a:spcPct val="0"/>
                </a:spcBef>
                <a:spcAft>
                  <a:spcPct val="35000"/>
                </a:spcAft>
                <a:buClrTx/>
                <a:buSzTx/>
                <a:buFontTx/>
                <a:buNone/>
                <a:defRPr/>
              </a:pPr>
              <a:r>
                <a:rPr kumimoji="0" lang="zh-CN" altLang="en-US" sz="1700" b="0" i="0" u="none" strike="noStrike" kern="1200" cap="none" spc="0" normalizeH="0" baseline="0" noProof="0" dirty="0">
                  <a:ln>
                    <a:noFill/>
                  </a:ln>
                  <a:solidFill>
                    <a:prstClr val="white"/>
                  </a:solidFill>
                  <a:effectLst/>
                  <a:uLnTx/>
                  <a:uFillTx/>
                  <a:latin typeface="Calibri"/>
                  <a:ea typeface="等线" panose="02010600030101010101" pitchFamily="2" charset="-122"/>
                  <a:cs typeface="+mn-cs"/>
                </a:rPr>
                <a:t>指针与函数</a:t>
              </a:r>
            </a:p>
          </p:txBody>
        </p:sp>
      </p:grpSp>
      <p:grpSp>
        <p:nvGrpSpPr>
          <p:cNvPr id="68" name="组合 67"/>
          <p:cNvGrpSpPr/>
          <p:nvPr/>
        </p:nvGrpSpPr>
        <p:grpSpPr>
          <a:xfrm>
            <a:off x="8285018" y="3883440"/>
            <a:ext cx="1830369" cy="439243"/>
            <a:chOff x="7210874" y="2496070"/>
            <a:chExt cx="418881" cy="2255547"/>
          </a:xfrm>
        </p:grpSpPr>
        <p:sp>
          <p:nvSpPr>
            <p:cNvPr id="75" name="圆角矩形 74"/>
            <p:cNvSpPr/>
            <p:nvPr/>
          </p:nvSpPr>
          <p:spPr>
            <a:xfrm>
              <a:off x="7210874" y="2496070"/>
              <a:ext cx="418881" cy="2255547"/>
            </a:xfrm>
            <a:prstGeom prst="roundRect">
              <a:avLst>
                <a:gd name="adj" fmla="val 10000"/>
              </a:avLst>
            </a:prstGeom>
            <a:solidFill>
              <a:schemeClr val="accent2">
                <a:lumMod val="50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76" name="圆角矩形 10"/>
            <p:cNvSpPr txBox="1"/>
            <p:nvPr/>
          </p:nvSpPr>
          <p:spPr>
            <a:xfrm>
              <a:off x="7223143" y="2508339"/>
              <a:ext cx="394343" cy="223100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4770" tIns="64770" rIns="64770" bIns="64770" numCol="1" spcCol="1270" anchor="ctr" anchorCtr="0">
              <a:noAutofit/>
            </a:bodyPr>
            <a:lstStyle/>
            <a:p>
              <a:pPr marL="0" marR="0" lvl="0" indent="0" algn="ctr" defTabSz="755650" rtl="0" eaLnBrk="1" fontAlgn="auto" latinLnBrk="0" hangingPunct="1">
                <a:lnSpc>
                  <a:spcPct val="90000"/>
                </a:lnSpc>
                <a:spcBef>
                  <a:spcPct val="0"/>
                </a:spcBef>
                <a:spcAft>
                  <a:spcPct val="35000"/>
                </a:spcAft>
                <a:buClrTx/>
                <a:buSzTx/>
                <a:buFontTx/>
                <a:buNone/>
                <a:defRPr/>
              </a:pPr>
              <a:r>
                <a:rPr kumimoji="0" lang="zh-CN" altLang="en-US" sz="1700" b="0" i="0" u="none" strike="noStrike" kern="1200" cap="none" spc="0" normalizeH="0" baseline="0" noProof="0" dirty="0">
                  <a:ln>
                    <a:noFill/>
                  </a:ln>
                  <a:solidFill>
                    <a:prstClr val="white"/>
                  </a:solidFill>
                  <a:effectLst/>
                  <a:uLnTx/>
                  <a:uFillTx/>
                  <a:latin typeface="Calibri"/>
                  <a:ea typeface="等线" panose="02010600030101010101" pitchFamily="2" charset="-122"/>
                  <a:cs typeface="+mn-cs"/>
                </a:rPr>
                <a:t>动态内存分配</a:t>
              </a:r>
            </a:p>
          </p:txBody>
        </p:sp>
      </p:grpSp>
      <p:grpSp>
        <p:nvGrpSpPr>
          <p:cNvPr id="69" name="组合 68"/>
          <p:cNvGrpSpPr/>
          <p:nvPr/>
        </p:nvGrpSpPr>
        <p:grpSpPr>
          <a:xfrm>
            <a:off x="8285018" y="4675528"/>
            <a:ext cx="1830368" cy="439243"/>
            <a:chOff x="7664907" y="2496070"/>
            <a:chExt cx="418881" cy="2255547"/>
          </a:xfrm>
        </p:grpSpPr>
        <p:sp>
          <p:nvSpPr>
            <p:cNvPr id="73" name="圆角矩形 72"/>
            <p:cNvSpPr/>
            <p:nvPr/>
          </p:nvSpPr>
          <p:spPr>
            <a:xfrm>
              <a:off x="7664907" y="2496070"/>
              <a:ext cx="418881" cy="2255547"/>
            </a:xfrm>
            <a:prstGeom prst="roundRect">
              <a:avLst>
                <a:gd name="adj" fmla="val 10000"/>
              </a:avLst>
            </a:prstGeom>
            <a:solidFill>
              <a:schemeClr val="accent2">
                <a:lumMod val="50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74" name="圆角矩形 12"/>
            <p:cNvSpPr txBox="1"/>
            <p:nvPr/>
          </p:nvSpPr>
          <p:spPr>
            <a:xfrm>
              <a:off x="7669726" y="2508338"/>
              <a:ext cx="394343" cy="22310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4770" tIns="64770" rIns="64770" bIns="64770" numCol="1" spcCol="1270" anchor="ctr" anchorCtr="0">
              <a:noAutofit/>
            </a:bodyPr>
            <a:lstStyle/>
            <a:p>
              <a:pPr marL="0" marR="0" lvl="0" indent="0" algn="ctr" defTabSz="755650" rtl="0" eaLnBrk="1" fontAlgn="auto" latinLnBrk="0" hangingPunct="1">
                <a:lnSpc>
                  <a:spcPct val="90000"/>
                </a:lnSpc>
                <a:spcBef>
                  <a:spcPct val="0"/>
                </a:spcBef>
                <a:spcAft>
                  <a:spcPct val="35000"/>
                </a:spcAft>
                <a:buClrTx/>
                <a:buSzTx/>
                <a:buFontTx/>
                <a:buNone/>
                <a:defRPr/>
              </a:pPr>
              <a:r>
                <a:rPr kumimoji="0" lang="zh-CN" altLang="en-US" sz="1700" b="0" i="0" u="none" strike="noStrike" kern="1200" cap="none" spc="0" normalizeH="0" baseline="0" noProof="0" dirty="0">
                  <a:ln>
                    <a:noFill/>
                  </a:ln>
                  <a:solidFill>
                    <a:prstClr val="white"/>
                  </a:solidFill>
                  <a:effectLst/>
                  <a:uLnTx/>
                  <a:uFillTx/>
                  <a:latin typeface="Calibri"/>
                  <a:ea typeface="等线" panose="02010600030101010101" pitchFamily="2" charset="-122"/>
                  <a:cs typeface="+mn-cs"/>
                </a:rPr>
                <a:t>链            表</a:t>
              </a:r>
            </a:p>
          </p:txBody>
        </p:sp>
      </p:grpSp>
      <p:grpSp>
        <p:nvGrpSpPr>
          <p:cNvPr id="70" name="组合 69"/>
          <p:cNvGrpSpPr/>
          <p:nvPr/>
        </p:nvGrpSpPr>
        <p:grpSpPr>
          <a:xfrm>
            <a:off x="8294114" y="5186779"/>
            <a:ext cx="1802807" cy="439243"/>
            <a:chOff x="8118941" y="2496070"/>
            <a:chExt cx="418881" cy="2255547"/>
          </a:xfrm>
        </p:grpSpPr>
        <p:sp>
          <p:nvSpPr>
            <p:cNvPr id="71" name="圆角矩形 70"/>
            <p:cNvSpPr/>
            <p:nvPr/>
          </p:nvSpPr>
          <p:spPr>
            <a:xfrm>
              <a:off x="8118941" y="2496070"/>
              <a:ext cx="418881" cy="2255547"/>
            </a:xfrm>
            <a:prstGeom prst="roundRect">
              <a:avLst>
                <a:gd name="adj" fmla="val 10000"/>
              </a:avLst>
            </a:prstGeom>
            <a:solidFill>
              <a:schemeClr val="accent2">
                <a:lumMod val="50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72" name="圆角矩形 14"/>
            <p:cNvSpPr txBox="1"/>
            <p:nvPr/>
          </p:nvSpPr>
          <p:spPr>
            <a:xfrm>
              <a:off x="8131210" y="2508339"/>
              <a:ext cx="394343" cy="223100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4770" tIns="64770" rIns="64770" bIns="64770" numCol="1" spcCol="1270" anchor="ctr" anchorCtr="0">
              <a:noAutofit/>
            </a:bodyPr>
            <a:lstStyle/>
            <a:p>
              <a:pPr marL="0" marR="0" lvl="0" indent="0" algn="ctr" defTabSz="755650" rtl="0" eaLnBrk="1" fontAlgn="auto" latinLnBrk="0" hangingPunct="1">
                <a:lnSpc>
                  <a:spcPct val="90000"/>
                </a:lnSpc>
                <a:spcBef>
                  <a:spcPct val="0"/>
                </a:spcBef>
                <a:spcAft>
                  <a:spcPct val="35000"/>
                </a:spcAft>
                <a:buClrTx/>
                <a:buSzTx/>
                <a:buFontTx/>
                <a:buNone/>
                <a:defRPr/>
              </a:pPr>
              <a:r>
                <a:rPr kumimoji="0" lang="zh-CN" altLang="en-US" sz="1700" b="0" i="0" u="none" strike="noStrike" kern="1200" cap="none" spc="0" normalizeH="0" baseline="0" noProof="0" dirty="0">
                  <a:ln>
                    <a:noFill/>
                  </a:ln>
                  <a:solidFill>
                    <a:prstClr val="white"/>
                  </a:solidFill>
                  <a:effectLst/>
                  <a:uLnTx/>
                  <a:uFillTx/>
                  <a:latin typeface="Calibri"/>
                  <a:ea typeface="等线" panose="02010600030101010101" pitchFamily="2" charset="-122"/>
                  <a:cs typeface="+mn-cs"/>
                </a:rPr>
                <a:t>树与图简介</a:t>
              </a:r>
            </a:p>
          </p:txBody>
        </p:sp>
      </p:grpSp>
      <p:cxnSp>
        <p:nvCxnSpPr>
          <p:cNvPr id="84" name="直线连接符 83"/>
          <p:cNvCxnSpPr/>
          <p:nvPr/>
        </p:nvCxnSpPr>
        <p:spPr>
          <a:xfrm>
            <a:off x="8030335" y="2720724"/>
            <a:ext cx="2291964" cy="0"/>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85" name="直线连接符 84"/>
          <p:cNvCxnSpPr/>
          <p:nvPr/>
        </p:nvCxnSpPr>
        <p:spPr>
          <a:xfrm flipV="1">
            <a:off x="8088200" y="4466699"/>
            <a:ext cx="2234099" cy="15698"/>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grpSp>
        <p:nvGrpSpPr>
          <p:cNvPr id="88" name="组合 87"/>
          <p:cNvGrpSpPr/>
          <p:nvPr/>
        </p:nvGrpSpPr>
        <p:grpSpPr>
          <a:xfrm>
            <a:off x="10686089" y="3357380"/>
            <a:ext cx="418881" cy="2255547"/>
            <a:chOff x="8608126" y="2496070"/>
            <a:chExt cx="418881" cy="2255547"/>
          </a:xfrm>
        </p:grpSpPr>
        <p:sp>
          <p:nvSpPr>
            <p:cNvPr id="89" name="圆角矩形 88"/>
            <p:cNvSpPr/>
            <p:nvPr/>
          </p:nvSpPr>
          <p:spPr>
            <a:xfrm>
              <a:off x="8608126" y="2496070"/>
              <a:ext cx="418881" cy="2255547"/>
            </a:xfrm>
            <a:prstGeom prst="roundRect">
              <a:avLst>
                <a:gd name="adj" fmla="val 10000"/>
              </a:avLst>
            </a:prstGeom>
            <a:solidFill>
              <a:schemeClr val="accent5">
                <a:lumMod val="50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90" name="圆角矩形 4"/>
            <p:cNvSpPr txBox="1"/>
            <p:nvPr/>
          </p:nvSpPr>
          <p:spPr>
            <a:xfrm>
              <a:off x="8620395" y="2508339"/>
              <a:ext cx="394343" cy="223100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4770" tIns="64770" rIns="64770" bIns="64770" numCol="1" spcCol="1270" anchor="ctr" anchorCtr="0">
              <a:noAutofit/>
            </a:bodyPr>
            <a:lstStyle/>
            <a:p>
              <a:pPr marL="0" marR="0" lvl="0" indent="0" algn="ctr" defTabSz="755650" rtl="0" eaLnBrk="1" fontAlgn="auto" latinLnBrk="0" hangingPunct="1">
                <a:lnSpc>
                  <a:spcPct val="90000"/>
                </a:lnSpc>
                <a:spcBef>
                  <a:spcPct val="0"/>
                </a:spcBef>
                <a:spcAft>
                  <a:spcPct val="35000"/>
                </a:spcAft>
                <a:buClrTx/>
                <a:buSzTx/>
                <a:buFontTx/>
                <a:buNone/>
                <a:defRPr/>
              </a:pPr>
              <a:r>
                <a:rPr kumimoji="0" lang="zh-CN" altLang="en-US" sz="1700" b="0" i="0" u="none" strike="noStrike" kern="1200" cap="none" spc="0" normalizeH="0" baseline="0" noProof="0" dirty="0">
                  <a:ln>
                    <a:noFill/>
                  </a:ln>
                  <a:solidFill>
                    <a:prstClr val="white"/>
                  </a:solidFill>
                  <a:effectLst/>
                  <a:uLnTx/>
                  <a:uFillTx/>
                  <a:latin typeface="Calibri"/>
                  <a:ea typeface="等线" panose="02010600030101010101" pitchFamily="2" charset="-122"/>
                  <a:cs typeface="+mn-cs"/>
                </a:rPr>
                <a:t>文件</a:t>
              </a:r>
            </a:p>
          </p:txBody>
        </p:sp>
      </p:grpSp>
      <p:sp>
        <p:nvSpPr>
          <p:cNvPr id="91" name="右箭头 90"/>
          <p:cNvSpPr/>
          <p:nvPr/>
        </p:nvSpPr>
        <p:spPr>
          <a:xfrm>
            <a:off x="1319341" y="6023028"/>
            <a:ext cx="9870889" cy="13517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92" name="文本框 91"/>
          <p:cNvSpPr txBox="1"/>
          <p:nvPr/>
        </p:nvSpPr>
        <p:spPr>
          <a:xfrm>
            <a:off x="3345394" y="6084004"/>
            <a:ext cx="7065258" cy="36933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latin typeface="Calibri"/>
                <a:ea typeface="等线" panose="02010600030101010101" pitchFamily="2" charset="-122"/>
                <a:cs typeface="+mn-cs"/>
              </a:rPr>
              <a:t>程序设计思想与数据操作方法融会贯通，内容由浅入深         </a:t>
            </a:r>
          </a:p>
        </p:txBody>
      </p:sp>
      <p:sp>
        <p:nvSpPr>
          <p:cNvPr id="93" name="Rectangle 2"/>
          <p:cNvSpPr>
            <a:spLocks noGrp="1" noChangeArrowheads="1"/>
          </p:cNvSpPr>
          <p:nvPr>
            <p:ph type="title"/>
          </p:nvPr>
        </p:nvSpPr>
        <p:spPr>
          <a:xfrm>
            <a:off x="1746312" y="269875"/>
            <a:ext cx="8915400" cy="1143000"/>
          </a:xfrm>
        </p:spPr>
        <p:txBody>
          <a:bodyPr>
            <a:normAutofit fontScale="90000"/>
          </a:bodyPr>
          <a:lstStyle/>
          <a:p>
            <a:pPr eaLnBrk="1" hangingPunct="1"/>
            <a:r>
              <a:rPr lang="en-US" altLang="zh-CN" dirty="0"/>
              <a:t>《</a:t>
            </a:r>
            <a:r>
              <a:rPr lang="zh-CN" altLang="en-US" dirty="0"/>
              <a:t>程序设计思维与实践</a:t>
            </a:r>
            <a:r>
              <a:rPr lang="en-US" altLang="zh-CN" dirty="0"/>
              <a:t>》</a:t>
            </a:r>
            <a:r>
              <a:rPr lang="zh-CN" altLang="en-US" dirty="0"/>
              <a:t>课程内容结构</a:t>
            </a:r>
          </a:p>
        </p:txBody>
      </p:sp>
      <p:sp>
        <p:nvSpPr>
          <p:cNvPr id="2" name="矩形 1"/>
          <p:cNvSpPr/>
          <p:nvPr/>
        </p:nvSpPr>
        <p:spPr>
          <a:xfrm>
            <a:off x="7233844" y="3274507"/>
            <a:ext cx="548756" cy="2415779"/>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学习内容</a:t>
            </a:r>
          </a:p>
        </p:txBody>
      </p:sp>
      <p:sp>
        <p:nvSpPr>
          <p:cNvPr id="3" name="内容占位符 2"/>
          <p:cNvSpPr>
            <a:spLocks noGrp="1"/>
          </p:cNvSpPr>
          <p:nvPr>
            <p:ph idx="1"/>
          </p:nvPr>
        </p:nvSpPr>
        <p:spPr/>
        <p:txBody>
          <a:bodyPr/>
          <a:lstStyle/>
          <a:p>
            <a:r>
              <a:rPr lang="zh-CN" altLang="en-US" dirty="0"/>
              <a:t>数据结构的基本概念</a:t>
            </a:r>
            <a:endParaRPr lang="en-US" altLang="zh-CN" dirty="0"/>
          </a:p>
          <a:p>
            <a:pPr lvl="1"/>
            <a:r>
              <a:rPr lang="zh-CN" altLang="en-US" dirty="0"/>
              <a:t>逻辑结构、存储结构、数据的运算</a:t>
            </a:r>
            <a:endParaRPr lang="en-US" altLang="zh-CN" dirty="0"/>
          </a:p>
          <a:p>
            <a:r>
              <a:rPr lang="zh-CN" altLang="en-US" dirty="0"/>
              <a:t>线性表的基本概念</a:t>
            </a:r>
            <a:endParaRPr lang="en-US" altLang="zh-CN" dirty="0"/>
          </a:p>
          <a:p>
            <a:r>
              <a:rPr lang="zh-CN" altLang="en-US" dirty="0"/>
              <a:t>栈的基本概念和基本操作</a:t>
            </a:r>
            <a:endParaRPr lang="en-US" altLang="zh-CN" dirty="0"/>
          </a:p>
          <a:p>
            <a:r>
              <a:rPr lang="zh-CN" altLang="en-US" dirty="0"/>
              <a:t>栈的应用举例</a:t>
            </a:r>
            <a:endParaRPr lang="en-US" altLang="zh-CN" dirty="0"/>
          </a:p>
          <a:p>
            <a:r>
              <a:rPr lang="zh-CN" altLang="en-US" dirty="0"/>
              <a:t>栈与递归</a:t>
            </a:r>
            <a:endParaRPr lang="en-US" altLang="zh-CN" dirty="0"/>
          </a:p>
          <a:p>
            <a:endParaRPr lang="zh-CN" altLang="en-US" dirty="0"/>
          </a:p>
        </p:txBody>
      </p:sp>
      <p:sp>
        <p:nvSpPr>
          <p:cNvPr id="4" name="日期占位符 3"/>
          <p:cNvSpPr>
            <a:spLocks noGrp="1"/>
          </p:cNvSpPr>
          <p:nvPr>
            <p:ph type="dt" sz="half" idx="10"/>
          </p:nvPr>
        </p:nvSpPr>
        <p:spPr/>
        <p:txBody>
          <a:bodyPr/>
          <a:lstStyle/>
          <a:p>
            <a:fld id="{307AC62F-9403-4FB5-967C-24C6B6B71A8A}" type="datetime1">
              <a:rPr lang="zh-CN" altLang="en-US" smtClean="0"/>
              <a:t>2025/11/27</a:t>
            </a:fld>
            <a:endParaRPr lang="zh-CN" altLang="en-US"/>
          </a:p>
        </p:txBody>
      </p:sp>
      <p:sp>
        <p:nvSpPr>
          <p:cNvPr id="5" name="灯片编号占位符 4"/>
          <p:cNvSpPr>
            <a:spLocks noGrp="1"/>
          </p:cNvSpPr>
          <p:nvPr>
            <p:ph type="sldNum" sz="quarter" idx="12"/>
          </p:nvPr>
        </p:nvSpPr>
        <p:spPr/>
        <p:txBody>
          <a:bodyPr/>
          <a:lstStyle/>
          <a:p>
            <a:fld id="{0063EC4C-CFD8-4F45-A0A2-30028C1F73DB}" type="slidenum">
              <a:rPr lang="zh-CN" altLang="en-US" smtClean="0"/>
              <a:t>3</a:t>
            </a:fld>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panose="020B0604020202090204" pitchFamily="34" charset="0"/>
                <a:ea typeface="宋体" pitchFamily="2" charset="-122"/>
                <a:cs typeface="+mn-cs"/>
              </a:rPr>
              <a:t>13.1   </a:t>
            </a:r>
            <a:r>
              <a:rPr kumimoji="1" lang="zh-CN" altLang="en-US" sz="3200" b="1" dirty="0">
                <a:latin typeface="Arial" panose="020B0604020202090204" pitchFamily="34" charset="0"/>
                <a:ea typeface="宋体" pitchFamily="2" charset="-122"/>
                <a:cs typeface="+mn-cs"/>
              </a:rPr>
              <a:t>基本概念和术语</a:t>
            </a:r>
          </a:p>
        </p:txBody>
      </p:sp>
      <p:sp>
        <p:nvSpPr>
          <p:cNvPr id="3" name="内容占位符 2"/>
          <p:cNvSpPr>
            <a:spLocks noGrp="1"/>
          </p:cNvSpPr>
          <p:nvPr>
            <p:ph idx="1"/>
          </p:nvPr>
        </p:nvSpPr>
        <p:spPr>
          <a:xfrm>
            <a:off x="1981200" y="1295400"/>
            <a:ext cx="8229600" cy="5105400"/>
          </a:xfrm>
        </p:spPr>
        <p:txBody>
          <a:bodyPr>
            <a:normAutofit fontScale="77500" lnSpcReduction="20000"/>
          </a:bodyPr>
          <a:lstStyle/>
          <a:p>
            <a:pPr>
              <a:lnSpc>
                <a:spcPts val="3000"/>
              </a:lnSpc>
            </a:pPr>
            <a:r>
              <a:rPr lang="zh-CN" altLang="en-US" sz="2400" b="1" dirty="0">
                <a:solidFill>
                  <a:srgbClr val="FF0000"/>
                </a:solidFill>
              </a:rPr>
              <a:t>数据</a:t>
            </a:r>
            <a:r>
              <a:rPr lang="zh-CN" altLang="en-US" sz="2400" b="1" dirty="0"/>
              <a:t>：一切能输入到计算机中并能被计算机程序识别和 处理的符号集合。 </a:t>
            </a:r>
            <a:endParaRPr lang="en-US" altLang="zh-CN" sz="2400" b="1" dirty="0"/>
          </a:p>
          <a:p>
            <a:pPr lvl="1">
              <a:lnSpc>
                <a:spcPts val="3000"/>
              </a:lnSpc>
            </a:pPr>
            <a:r>
              <a:rPr lang="zh-CN" altLang="en-US" sz="2000" b="1" dirty="0"/>
              <a:t>数值数据：整数、实数等</a:t>
            </a:r>
            <a:endParaRPr lang="en-US" altLang="zh-CN" sz="2000" b="1" dirty="0"/>
          </a:p>
          <a:p>
            <a:pPr lvl="1">
              <a:lnSpc>
                <a:spcPts val="3000"/>
              </a:lnSpc>
            </a:pPr>
            <a:r>
              <a:rPr lang="zh-CN" altLang="en-US" sz="2000" b="1" dirty="0"/>
              <a:t>非数值数据：图形、图象、声音、文字等 </a:t>
            </a:r>
            <a:endParaRPr lang="en-US" altLang="zh-CN" sz="2000" b="1" dirty="0"/>
          </a:p>
          <a:p>
            <a:pPr>
              <a:lnSpc>
                <a:spcPts val="3000"/>
              </a:lnSpc>
            </a:pPr>
            <a:endParaRPr lang="en-US" altLang="zh-CN" sz="2400" b="1" dirty="0">
              <a:solidFill>
                <a:srgbClr val="FF0000"/>
              </a:solidFill>
            </a:endParaRPr>
          </a:p>
          <a:p>
            <a:pPr>
              <a:lnSpc>
                <a:spcPts val="3000"/>
              </a:lnSpc>
            </a:pPr>
            <a:endParaRPr lang="en-US" altLang="zh-CN" sz="2400" b="1" dirty="0">
              <a:solidFill>
                <a:srgbClr val="FF0000"/>
              </a:solidFill>
            </a:endParaRPr>
          </a:p>
          <a:p>
            <a:pPr>
              <a:lnSpc>
                <a:spcPts val="3000"/>
              </a:lnSpc>
            </a:pPr>
            <a:endParaRPr lang="en-US" altLang="zh-CN" sz="2400" b="1" dirty="0">
              <a:solidFill>
                <a:srgbClr val="FF0000"/>
              </a:solidFill>
            </a:endParaRPr>
          </a:p>
          <a:p>
            <a:pPr>
              <a:lnSpc>
                <a:spcPts val="3000"/>
              </a:lnSpc>
            </a:pPr>
            <a:endParaRPr lang="en-US" altLang="zh-CN" sz="2400" b="1" dirty="0">
              <a:solidFill>
                <a:srgbClr val="FF0000"/>
              </a:solidFill>
            </a:endParaRPr>
          </a:p>
          <a:p>
            <a:pPr>
              <a:lnSpc>
                <a:spcPts val="3000"/>
              </a:lnSpc>
            </a:pPr>
            <a:r>
              <a:rPr lang="zh-CN" altLang="en-US" sz="2400" b="1" dirty="0">
                <a:solidFill>
                  <a:srgbClr val="FF0000"/>
                </a:solidFill>
              </a:rPr>
              <a:t>数据元素</a:t>
            </a:r>
            <a:r>
              <a:rPr lang="zh-CN" altLang="en-US" sz="2400" b="1" dirty="0"/>
              <a:t>：数据的</a:t>
            </a:r>
            <a:r>
              <a:rPr lang="zh-CN" altLang="en-US" sz="2400" b="1" dirty="0">
                <a:solidFill>
                  <a:schemeClr val="accent6">
                    <a:lumMod val="75000"/>
                  </a:schemeClr>
                </a:solidFill>
              </a:rPr>
              <a:t>基本</a:t>
            </a:r>
            <a:r>
              <a:rPr lang="zh-CN" altLang="en-US" sz="2400" b="1" dirty="0"/>
              <a:t>单位，在计算机程序中通常作为 一个整体进行考虑和处理。 </a:t>
            </a:r>
            <a:endParaRPr lang="en-US" altLang="zh-CN" sz="2400" b="1" dirty="0"/>
          </a:p>
          <a:p>
            <a:pPr>
              <a:lnSpc>
                <a:spcPts val="3000"/>
              </a:lnSpc>
            </a:pPr>
            <a:r>
              <a:rPr lang="zh-CN" altLang="en-US" sz="2400" b="1" dirty="0">
                <a:solidFill>
                  <a:srgbClr val="FF0000"/>
                </a:solidFill>
              </a:rPr>
              <a:t>数据项</a:t>
            </a:r>
            <a:r>
              <a:rPr lang="zh-CN" altLang="en-US" sz="2400" b="1" dirty="0"/>
              <a:t>：构成数据元素的不可分割的最小单位。</a:t>
            </a:r>
            <a:endParaRPr lang="en-US" altLang="zh-CN" sz="2400" b="1" dirty="0"/>
          </a:p>
        </p:txBody>
      </p:sp>
      <p:sp>
        <p:nvSpPr>
          <p:cNvPr id="4" name="日期占位符 3"/>
          <p:cNvSpPr>
            <a:spLocks noGrp="1"/>
          </p:cNvSpPr>
          <p:nvPr>
            <p:ph type="dt" sz="half" idx="10"/>
          </p:nvPr>
        </p:nvSpPr>
        <p:spPr/>
        <p:txBody>
          <a:bodyPr/>
          <a:lstStyle/>
          <a:p>
            <a:fld id="{1748DC41-B612-4894-B61F-CAE9B6C70164}" type="datetime1">
              <a:rPr lang="zh-CN" altLang="en-US" b="1" smtClean="0">
                <a:solidFill>
                  <a:srgbClr val="F79646">
                    <a:lumMod val="75000"/>
                  </a:srgbClr>
                </a:solidFill>
              </a:rPr>
              <a:t>2025/11/27</a:t>
            </a:fld>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t>4</a:t>
            </a:fld>
            <a:endParaRPr lang="zh-CN" altLang="en-US" b="1" dirty="0">
              <a:solidFill>
                <a:srgbClr val="F79646">
                  <a:lumMod val="75000"/>
                </a:srgbClr>
              </a:solidFill>
            </a:endParaRPr>
          </a:p>
        </p:txBody>
      </p:sp>
      <p:cxnSp>
        <p:nvCxnSpPr>
          <p:cNvPr id="12" name="直接连接符 11"/>
          <p:cNvCxnSpPr/>
          <p:nvPr/>
        </p:nvCxnSpPr>
        <p:spPr>
          <a:xfrm>
            <a:off x="1981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10242"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667000" y="3290918"/>
            <a:ext cx="3992149" cy="11921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panose="020B0604020202090204" pitchFamily="34" charset="0"/>
                <a:ea typeface="宋体" pitchFamily="2" charset="-122"/>
                <a:cs typeface="+mn-cs"/>
              </a:rPr>
              <a:t>13.1   </a:t>
            </a:r>
            <a:r>
              <a:rPr kumimoji="1" lang="zh-CN" altLang="en-US" sz="3200" b="1" dirty="0">
                <a:latin typeface="Arial" panose="020B0604020202090204" pitchFamily="34" charset="0"/>
                <a:ea typeface="宋体" pitchFamily="2" charset="-122"/>
                <a:cs typeface="+mn-cs"/>
              </a:rPr>
              <a:t>基本概念和术语</a:t>
            </a:r>
          </a:p>
        </p:txBody>
      </p:sp>
      <p:sp>
        <p:nvSpPr>
          <p:cNvPr id="3" name="内容占位符 2"/>
          <p:cNvSpPr>
            <a:spLocks noGrp="1"/>
          </p:cNvSpPr>
          <p:nvPr>
            <p:ph idx="1"/>
          </p:nvPr>
        </p:nvSpPr>
        <p:spPr>
          <a:xfrm>
            <a:off x="1981200" y="1295400"/>
            <a:ext cx="8229600" cy="5105400"/>
          </a:xfrm>
        </p:spPr>
        <p:txBody>
          <a:bodyPr>
            <a:normAutofit/>
          </a:bodyPr>
          <a:lstStyle/>
          <a:p>
            <a:pPr>
              <a:lnSpc>
                <a:spcPts val="3000"/>
              </a:lnSpc>
            </a:pPr>
            <a:r>
              <a:rPr lang="zh-CN" altLang="en-US" sz="2400" b="1" dirty="0">
                <a:solidFill>
                  <a:srgbClr val="FF0000"/>
                </a:solidFill>
              </a:rPr>
              <a:t>数据对象</a:t>
            </a:r>
            <a:r>
              <a:rPr lang="zh-CN" altLang="en-US" sz="2400" b="1" dirty="0"/>
              <a:t>：具有</a:t>
            </a:r>
            <a:r>
              <a:rPr lang="zh-CN" altLang="en-US" sz="2400" b="1" dirty="0">
                <a:solidFill>
                  <a:srgbClr val="FF0000"/>
                </a:solidFill>
              </a:rPr>
              <a:t>相同性质</a:t>
            </a:r>
            <a:r>
              <a:rPr lang="zh-CN" altLang="en-US" sz="2400" b="1" dirty="0"/>
              <a:t>的数据元素的</a:t>
            </a:r>
            <a:r>
              <a:rPr lang="zh-CN" altLang="en-US" sz="2400" b="1" dirty="0">
                <a:solidFill>
                  <a:srgbClr val="FF0000"/>
                </a:solidFill>
              </a:rPr>
              <a:t>集合</a:t>
            </a:r>
            <a:r>
              <a:rPr lang="zh-CN" altLang="en-US" sz="2400" b="1" dirty="0"/>
              <a:t>。</a:t>
            </a:r>
            <a:endParaRPr lang="en-US" altLang="zh-CN" sz="2400" b="1" dirty="0"/>
          </a:p>
        </p:txBody>
      </p:sp>
      <p:sp>
        <p:nvSpPr>
          <p:cNvPr id="4" name="日期占位符 3"/>
          <p:cNvSpPr>
            <a:spLocks noGrp="1"/>
          </p:cNvSpPr>
          <p:nvPr>
            <p:ph type="dt" sz="half" idx="10"/>
          </p:nvPr>
        </p:nvSpPr>
        <p:spPr/>
        <p:txBody>
          <a:bodyPr/>
          <a:lstStyle/>
          <a:p>
            <a:fld id="{1748DC41-B612-4894-B61F-CAE9B6C70164}" type="datetime1">
              <a:rPr lang="zh-CN" altLang="en-US" b="1" smtClean="0">
                <a:solidFill>
                  <a:srgbClr val="F79646">
                    <a:lumMod val="75000"/>
                  </a:srgbClr>
                </a:solidFill>
              </a:rPr>
              <a:t>2025/11/27</a:t>
            </a:fld>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t>5</a:t>
            </a:fld>
            <a:endParaRPr lang="zh-CN" altLang="en-US" b="1" dirty="0">
              <a:solidFill>
                <a:srgbClr val="F79646">
                  <a:lumMod val="75000"/>
                </a:srgbClr>
              </a:solidFill>
            </a:endParaRPr>
          </a:p>
        </p:txBody>
      </p:sp>
      <p:cxnSp>
        <p:nvCxnSpPr>
          <p:cNvPr id="12" name="直接连接符 11"/>
          <p:cNvCxnSpPr/>
          <p:nvPr/>
        </p:nvCxnSpPr>
        <p:spPr>
          <a:xfrm>
            <a:off x="1981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
          <p:cNvSpPr txBox="1"/>
          <p:nvPr/>
        </p:nvSpPr>
        <p:spPr>
          <a:xfrm>
            <a:off x="2367029" y="1967453"/>
            <a:ext cx="290546" cy="238527"/>
          </a:xfrm>
          <a:prstGeom prst="rect">
            <a:avLst/>
          </a:prstGeom>
          <a:noFill/>
        </p:spPr>
        <p:txBody>
          <a:bodyPr wrap="square" lIns="0" tIns="0" rIns="0">
            <a:spAutoFit/>
          </a:bodyPr>
          <a:lstStyle/>
          <a:p>
            <a:pPr>
              <a:lnSpc>
                <a:spcPts val="1500"/>
              </a:lnSpc>
              <a:defRPr/>
            </a:pPr>
            <a:r>
              <a:rPr lang="en-US" altLang="zh-CN" sz="1400" dirty="0">
                <a:solidFill>
                  <a:srgbClr val="333399"/>
                </a:solidFill>
                <a:latin typeface="Wingdings" panose="05000000000000000000" pitchFamily="18" charset="0"/>
                <a:ea typeface="宋体" pitchFamily="2" charset="-122"/>
                <a:cs typeface="Wingdings" panose="05000000000000000000" pitchFamily="18" charset="0"/>
              </a:rPr>
              <a:t></a:t>
            </a:r>
          </a:p>
        </p:txBody>
      </p:sp>
      <p:sp>
        <p:nvSpPr>
          <p:cNvPr id="14" name="TextBox 1"/>
          <p:cNvSpPr txBox="1"/>
          <p:nvPr/>
        </p:nvSpPr>
        <p:spPr>
          <a:xfrm>
            <a:off x="2641600" y="1858450"/>
            <a:ext cx="6807200" cy="420693"/>
          </a:xfrm>
          <a:prstGeom prst="rect">
            <a:avLst/>
          </a:prstGeom>
          <a:noFill/>
        </p:spPr>
        <p:txBody>
          <a:bodyPr wrap="square" lIns="0" tIns="0" rIns="0">
            <a:spAutoFit/>
          </a:bodyPr>
          <a:lstStyle/>
          <a:p>
            <a:pPr>
              <a:lnSpc>
                <a:spcPts val="3200"/>
              </a:lnSpc>
              <a:defRPr/>
            </a:pPr>
            <a:r>
              <a:rPr lang="zh-CN" altLang="en-US" sz="2400" b="1" dirty="0">
                <a:ea typeface="宋体" pitchFamily="2" charset="-122"/>
                <a:cs typeface="Times New Roman" panose="02020503050405090304" pitchFamily="18" charset="0"/>
              </a:rPr>
              <a:t>是</a:t>
            </a:r>
            <a:r>
              <a:rPr lang="en-US" altLang="zh-CN" sz="2400" b="1" dirty="0" err="1">
                <a:ea typeface="宋体" pitchFamily="2" charset="-122"/>
                <a:cs typeface="Times New Roman" panose="02020503050405090304" pitchFamily="18" charset="0"/>
              </a:rPr>
              <a:t>数据的子集</a:t>
            </a:r>
            <a:endParaRPr lang="en-US" altLang="zh-CN" sz="2000" b="1" dirty="0">
              <a:ea typeface="宋体" pitchFamily="2" charset="-122"/>
              <a:cs typeface="Times New Roman" panose="02020503050405090304" pitchFamily="18" charset="0"/>
            </a:endParaRPr>
          </a:p>
        </p:txBody>
      </p:sp>
      <p:sp>
        <p:nvSpPr>
          <p:cNvPr id="15" name="TextBox 1"/>
          <p:cNvSpPr txBox="1"/>
          <p:nvPr/>
        </p:nvSpPr>
        <p:spPr>
          <a:xfrm>
            <a:off x="5131793" y="2297173"/>
            <a:ext cx="2316340" cy="546303"/>
          </a:xfrm>
          <a:prstGeom prst="rect">
            <a:avLst/>
          </a:prstGeom>
          <a:noFill/>
        </p:spPr>
        <p:txBody>
          <a:bodyPr wrap="none" lIns="0" tIns="0" rIns="0">
            <a:spAutoFit/>
          </a:bodyPr>
          <a:lstStyle/>
          <a:p>
            <a:pPr>
              <a:lnSpc>
                <a:spcPts val="3900"/>
              </a:lnSpc>
              <a:defRPr/>
            </a:pPr>
            <a:r>
              <a:rPr lang="en-US" altLang="zh-CN" sz="2400" b="1" i="1" dirty="0">
                <a:solidFill>
                  <a:srgbClr val="0033CC"/>
                </a:solidFill>
                <a:ea typeface="宋体" pitchFamily="2" charset="-122"/>
                <a:cs typeface="Times New Roman" panose="02020503050405090304" pitchFamily="18" charset="0"/>
              </a:rPr>
              <a:t>N</a:t>
            </a:r>
            <a:r>
              <a:rPr lang="en-US" altLang="zh-CN" sz="2400" b="1" dirty="0">
                <a:solidFill>
                  <a:srgbClr val="0033CC"/>
                </a:solidFill>
                <a:ea typeface="宋体" pitchFamily="2" charset="-122"/>
                <a:cs typeface="Times New Roman" panose="02020503050405090304" pitchFamily="18" charset="0"/>
              </a:rPr>
              <a:t>={0,</a:t>
            </a:r>
            <a:r>
              <a:rPr lang="en-US" altLang="zh-CN" sz="2400" dirty="0">
                <a:solidFill>
                  <a:srgbClr val="0033CC"/>
                </a:solidFill>
                <a:ea typeface="宋体" pitchFamily="2" charset="-122"/>
                <a:cs typeface="Times New Roman" panose="02020503050405090304" pitchFamily="18" charset="0"/>
              </a:rPr>
              <a:t> </a:t>
            </a:r>
            <a:r>
              <a:rPr lang="en-US" altLang="zh-CN" sz="2400" dirty="0">
                <a:solidFill>
                  <a:srgbClr val="0033CC"/>
                </a:solidFill>
                <a:latin typeface="Symbol" pitchFamily="18" charset="0"/>
                <a:ea typeface="宋体" pitchFamily="2" charset="-122"/>
                <a:cs typeface="Symbol" pitchFamily="18" charset="0"/>
              </a:rPr>
              <a:t>±</a:t>
            </a:r>
            <a:r>
              <a:rPr lang="en-US" altLang="zh-CN" sz="2400" b="1" dirty="0">
                <a:solidFill>
                  <a:srgbClr val="0033CC"/>
                </a:solidFill>
                <a:ea typeface="宋体" pitchFamily="2" charset="-122"/>
                <a:cs typeface="Times New Roman" panose="02020503050405090304" pitchFamily="18" charset="0"/>
              </a:rPr>
              <a:t>1,</a:t>
            </a:r>
            <a:r>
              <a:rPr lang="en-US" altLang="zh-CN" sz="2400" dirty="0">
                <a:solidFill>
                  <a:srgbClr val="0033CC"/>
                </a:solidFill>
                <a:ea typeface="宋体" pitchFamily="2" charset="-122"/>
                <a:cs typeface="Times New Roman" panose="02020503050405090304" pitchFamily="18" charset="0"/>
              </a:rPr>
              <a:t> </a:t>
            </a:r>
            <a:r>
              <a:rPr lang="en-US" altLang="zh-CN" sz="2400" dirty="0">
                <a:solidFill>
                  <a:srgbClr val="0033CC"/>
                </a:solidFill>
                <a:latin typeface="Symbol" pitchFamily="18" charset="0"/>
                <a:ea typeface="宋体" pitchFamily="2" charset="-122"/>
                <a:cs typeface="Symbol" pitchFamily="18" charset="0"/>
              </a:rPr>
              <a:t>±</a:t>
            </a:r>
            <a:r>
              <a:rPr lang="en-US" altLang="zh-CN" sz="2400" b="1" dirty="0">
                <a:solidFill>
                  <a:srgbClr val="0033CC"/>
                </a:solidFill>
                <a:ea typeface="宋体" pitchFamily="2" charset="-122"/>
                <a:cs typeface="Times New Roman" panose="02020503050405090304" pitchFamily="18" charset="0"/>
              </a:rPr>
              <a:t>2,</a:t>
            </a:r>
            <a:r>
              <a:rPr lang="en-US" altLang="zh-CN" sz="2400" dirty="0">
                <a:solidFill>
                  <a:srgbClr val="0033CC"/>
                </a:solidFill>
                <a:ea typeface="宋体" pitchFamily="2" charset="-122"/>
                <a:cs typeface="Times New Roman" panose="02020503050405090304" pitchFamily="18" charset="0"/>
              </a:rPr>
              <a:t> </a:t>
            </a:r>
            <a:r>
              <a:rPr lang="en-US" altLang="zh-CN" sz="2400" b="1" dirty="0">
                <a:solidFill>
                  <a:srgbClr val="0033CC"/>
                </a:solidFill>
                <a:ea typeface="宋体" pitchFamily="2" charset="-122"/>
                <a:cs typeface="Times New Roman" panose="02020503050405090304" pitchFamily="18" charset="0"/>
              </a:rPr>
              <a:t>…}</a:t>
            </a:r>
          </a:p>
        </p:txBody>
      </p:sp>
      <p:sp>
        <p:nvSpPr>
          <p:cNvPr id="16" name="TextBox 1"/>
          <p:cNvSpPr txBox="1"/>
          <p:nvPr/>
        </p:nvSpPr>
        <p:spPr>
          <a:xfrm>
            <a:off x="3048000" y="2377730"/>
            <a:ext cx="2055050" cy="1046440"/>
          </a:xfrm>
          <a:prstGeom prst="rect">
            <a:avLst/>
          </a:prstGeom>
          <a:noFill/>
        </p:spPr>
        <p:txBody>
          <a:bodyPr wrap="none" lIns="0" tIns="0" rIns="0">
            <a:spAutoFit/>
          </a:bodyPr>
          <a:lstStyle/>
          <a:p>
            <a:pPr>
              <a:lnSpc>
                <a:spcPts val="3200"/>
              </a:lnSpc>
              <a:defRPr/>
            </a:pPr>
            <a:r>
              <a:rPr lang="en-US" altLang="zh-CN" sz="1100" dirty="0">
                <a:solidFill>
                  <a:srgbClr val="0033CC"/>
                </a:solidFill>
                <a:latin typeface="Wingdings" panose="05000000000000000000" pitchFamily="18" charset="0"/>
                <a:ea typeface="宋体" pitchFamily="2" charset="-122"/>
                <a:cs typeface="Wingdings" panose="05000000000000000000" pitchFamily="18" charset="0"/>
              </a:rPr>
              <a:t></a:t>
            </a:r>
            <a:r>
              <a:rPr lang="en-US" altLang="zh-CN" sz="2400" dirty="0">
                <a:solidFill>
                  <a:srgbClr val="0033CC"/>
                </a:solidFill>
                <a:ea typeface="宋体" pitchFamily="2" charset="-122"/>
                <a:cs typeface="Times New Roman" panose="02020503050405090304" pitchFamily="18" charset="0"/>
              </a:rPr>
              <a:t> 整数数据对象</a:t>
            </a:r>
          </a:p>
          <a:p>
            <a:pPr>
              <a:lnSpc>
                <a:spcPts val="1000"/>
              </a:lnSpc>
              <a:defRPr/>
            </a:pPr>
            <a:endParaRPr lang="en-US" altLang="zh-CN" sz="1200" dirty="0">
              <a:solidFill>
                <a:srgbClr val="0033CC"/>
              </a:solidFill>
              <a:latin typeface="Arial" panose="020B0604020202090204" pitchFamily="34" charset="0"/>
              <a:ea typeface="宋体" pitchFamily="2" charset="-122"/>
            </a:endParaRPr>
          </a:p>
          <a:p>
            <a:pPr>
              <a:lnSpc>
                <a:spcPts val="3600"/>
              </a:lnSpc>
              <a:defRPr/>
            </a:pPr>
            <a:r>
              <a:rPr lang="en-US" altLang="zh-CN" sz="1100" dirty="0">
                <a:solidFill>
                  <a:srgbClr val="0033CC"/>
                </a:solidFill>
                <a:latin typeface="Wingdings" panose="05000000000000000000" pitchFamily="18" charset="0"/>
                <a:ea typeface="宋体" pitchFamily="2" charset="-122"/>
                <a:cs typeface="Wingdings" panose="05000000000000000000" pitchFamily="18" charset="0"/>
              </a:rPr>
              <a:t></a:t>
            </a:r>
            <a:r>
              <a:rPr lang="en-US" altLang="zh-CN" sz="2400" dirty="0">
                <a:solidFill>
                  <a:srgbClr val="0033CC"/>
                </a:solidFill>
                <a:ea typeface="宋体" pitchFamily="2" charset="-122"/>
                <a:cs typeface="Times New Roman" panose="02020503050405090304" pitchFamily="18" charset="0"/>
              </a:rPr>
              <a:t> 学生数据对象</a:t>
            </a:r>
          </a:p>
        </p:txBody>
      </p:sp>
      <p:sp>
        <p:nvSpPr>
          <p:cNvPr id="18" name="TextBox 1"/>
          <p:cNvSpPr txBox="1"/>
          <p:nvPr/>
        </p:nvSpPr>
        <p:spPr>
          <a:xfrm>
            <a:off x="2641600" y="3720367"/>
            <a:ext cx="7416800" cy="2764859"/>
          </a:xfrm>
          <a:prstGeom prst="rect">
            <a:avLst/>
          </a:prstGeom>
          <a:noFill/>
        </p:spPr>
        <p:txBody>
          <a:bodyPr wrap="square" lIns="0" tIns="0" rIns="0">
            <a:spAutoFit/>
          </a:bodyPr>
          <a:lstStyle/>
          <a:p>
            <a:pPr>
              <a:lnSpc>
                <a:spcPts val="3200"/>
              </a:lnSpc>
              <a:defRPr/>
            </a:pPr>
            <a:r>
              <a:rPr lang="en-US" altLang="zh-CN" sz="2400" b="1" dirty="0" err="1">
                <a:solidFill>
                  <a:srgbClr val="000000"/>
                </a:solidFill>
                <a:ea typeface="宋体" pitchFamily="2" charset="-122"/>
                <a:cs typeface="Times New Roman" panose="02020503050405090304" pitchFamily="18" charset="0"/>
              </a:rPr>
              <a:t>数据对象中所有成员之间存在某种关系</a:t>
            </a:r>
            <a:r>
              <a:rPr lang="zh-CN" altLang="en-US" sz="2400" b="1" dirty="0">
                <a:solidFill>
                  <a:srgbClr val="000000"/>
                </a:solidFill>
                <a:ea typeface="宋体" pitchFamily="2" charset="-122"/>
                <a:cs typeface="Times New Roman" panose="02020503050405090304" pitchFamily="18" charset="0"/>
              </a:rPr>
              <a:t>。</a:t>
            </a:r>
            <a:endParaRPr lang="en-US" altLang="zh-CN" sz="2400" b="1" dirty="0">
              <a:solidFill>
                <a:srgbClr val="000000"/>
              </a:solidFill>
              <a:ea typeface="宋体" pitchFamily="2" charset="-122"/>
              <a:cs typeface="Times New Roman" panose="02020503050405090304" pitchFamily="18" charset="0"/>
            </a:endParaRPr>
          </a:p>
          <a:p>
            <a:pPr>
              <a:lnSpc>
                <a:spcPts val="3200"/>
              </a:lnSpc>
              <a:defRPr/>
            </a:pPr>
            <a:r>
              <a:rPr lang="en-US" altLang="zh-CN" sz="2400" b="1" dirty="0">
                <a:solidFill>
                  <a:srgbClr val="000000"/>
                </a:solidFill>
                <a:ea typeface="宋体" pitchFamily="2" charset="-122"/>
                <a:cs typeface="Times New Roman" panose="02020503050405090304" pitchFamily="18" charset="0"/>
              </a:rPr>
              <a:t>    </a:t>
            </a:r>
            <a:r>
              <a:rPr lang="en-US" altLang="zh-CN" sz="2000" b="1" dirty="0" err="1">
                <a:solidFill>
                  <a:srgbClr val="000000"/>
                </a:solidFill>
                <a:ea typeface="宋体" pitchFamily="2" charset="-122"/>
                <a:cs typeface="Times New Roman" panose="02020503050405090304" pitchFamily="18" charset="0"/>
              </a:rPr>
              <a:t>如学生按学号的排序；按性别的分类等</a:t>
            </a:r>
            <a:r>
              <a:rPr lang="en-US" altLang="zh-CN" sz="2000" b="1" dirty="0">
                <a:solidFill>
                  <a:srgbClr val="000000"/>
                </a:solidFill>
                <a:ea typeface="宋体" pitchFamily="2" charset="-122"/>
                <a:cs typeface="Times New Roman" panose="02020503050405090304" pitchFamily="18" charset="0"/>
              </a:rPr>
              <a:t>。</a:t>
            </a:r>
          </a:p>
          <a:p>
            <a:pPr>
              <a:lnSpc>
                <a:spcPts val="3200"/>
              </a:lnSpc>
              <a:defRPr/>
            </a:pPr>
            <a:endParaRPr lang="en-US" altLang="zh-CN" sz="2400" b="1" dirty="0">
              <a:solidFill>
                <a:srgbClr val="000000"/>
              </a:solidFill>
              <a:ea typeface="宋体" pitchFamily="2" charset="-122"/>
              <a:cs typeface="Times New Roman" panose="02020503050405090304" pitchFamily="18" charset="0"/>
            </a:endParaRPr>
          </a:p>
          <a:p>
            <a:pPr>
              <a:lnSpc>
                <a:spcPts val="3700"/>
              </a:lnSpc>
              <a:defRPr/>
            </a:pPr>
            <a:r>
              <a:rPr lang="en-US" altLang="zh-CN" sz="2400" b="1" dirty="0" err="1">
                <a:solidFill>
                  <a:srgbClr val="0033CC"/>
                </a:solidFill>
                <a:ea typeface="宋体" pitchFamily="2" charset="-122"/>
                <a:cs typeface="Times New Roman" panose="02020503050405090304" pitchFamily="18" charset="0"/>
              </a:rPr>
              <a:t>数据</a:t>
            </a:r>
            <a:r>
              <a:rPr lang="zh-CN" altLang="en-US" sz="2400" b="1" dirty="0">
                <a:solidFill>
                  <a:srgbClr val="0033CC"/>
                </a:solidFill>
                <a:ea typeface="宋体" pitchFamily="2" charset="-122"/>
                <a:cs typeface="Times New Roman" panose="02020503050405090304" pitchFamily="18" charset="0"/>
              </a:rPr>
              <a:t>对象中所有</a:t>
            </a:r>
            <a:r>
              <a:rPr lang="en-US" altLang="zh-CN" sz="2400" b="1" dirty="0" err="1">
                <a:solidFill>
                  <a:srgbClr val="0033CC"/>
                </a:solidFill>
                <a:ea typeface="宋体" pitchFamily="2" charset="-122"/>
                <a:cs typeface="Times New Roman" panose="02020503050405090304" pitchFamily="18" charset="0"/>
              </a:rPr>
              <a:t>成员及其之间关系，</a:t>
            </a:r>
            <a:r>
              <a:rPr lang="en-US" altLang="zh-CN" sz="2400" b="1" dirty="0" err="1">
                <a:solidFill>
                  <a:srgbClr val="000000"/>
                </a:solidFill>
                <a:ea typeface="宋体" pitchFamily="2" charset="-122"/>
                <a:cs typeface="Times New Roman" panose="02020503050405090304" pitchFamily="18" charset="0"/>
              </a:rPr>
              <a:t>是数据结构研究的主要内容</a:t>
            </a:r>
            <a:r>
              <a:rPr lang="en-US" altLang="zh-CN" sz="2400" b="1" dirty="0">
                <a:solidFill>
                  <a:srgbClr val="000000"/>
                </a:solidFill>
                <a:ea typeface="宋体" pitchFamily="2" charset="-122"/>
                <a:cs typeface="Times New Roman" panose="02020503050405090304" pitchFamily="18" charset="0"/>
              </a:rPr>
              <a:t>。</a:t>
            </a:r>
          </a:p>
          <a:p>
            <a:pPr>
              <a:lnSpc>
                <a:spcPts val="3200"/>
              </a:lnSpc>
              <a:defRPr/>
            </a:pPr>
            <a:endParaRPr lang="en-US" altLang="zh-CN" sz="2000" b="1" dirty="0">
              <a:solidFill>
                <a:srgbClr val="000000"/>
              </a:solidFill>
              <a:ea typeface="宋体" pitchFamily="2" charset="-122"/>
              <a:cs typeface="Times New Roman" panose="02020503050405090304" pitchFamily="18" charset="0"/>
            </a:endParaRPr>
          </a:p>
          <a:p>
            <a:pPr>
              <a:lnSpc>
                <a:spcPts val="1000"/>
              </a:lnSpc>
              <a:defRPr/>
            </a:pPr>
            <a:endParaRPr lang="en-US" altLang="zh-CN" sz="1200" b="1" dirty="0">
              <a:latin typeface="Arial" panose="020B0604020202090204" pitchFamily="34" charset="0"/>
              <a:ea typeface="宋体" pitchFamily="2" charset="-122"/>
            </a:endParaRPr>
          </a:p>
        </p:txBody>
      </p:sp>
      <p:sp>
        <p:nvSpPr>
          <p:cNvPr id="19" name="TextBox 1"/>
          <p:cNvSpPr txBox="1"/>
          <p:nvPr/>
        </p:nvSpPr>
        <p:spPr>
          <a:xfrm>
            <a:off x="2435358" y="3762753"/>
            <a:ext cx="153888" cy="1649169"/>
          </a:xfrm>
          <a:prstGeom prst="rect">
            <a:avLst/>
          </a:prstGeom>
          <a:noFill/>
        </p:spPr>
        <p:txBody>
          <a:bodyPr wrap="none" lIns="0" tIns="0" rIns="0">
            <a:spAutoFit/>
          </a:bodyPr>
          <a:lstStyle/>
          <a:p>
            <a:pPr>
              <a:lnSpc>
                <a:spcPts val="2100"/>
              </a:lnSpc>
              <a:defRPr/>
            </a:pPr>
            <a:r>
              <a:rPr lang="en-US" altLang="zh-CN" sz="1600" dirty="0">
                <a:solidFill>
                  <a:srgbClr val="3333CC"/>
                </a:solidFill>
                <a:latin typeface="Wingdings" panose="05000000000000000000" pitchFamily="18" charset="0"/>
                <a:ea typeface="宋体" pitchFamily="2" charset="-122"/>
                <a:cs typeface="Wingdings" panose="05000000000000000000" pitchFamily="18" charset="0"/>
              </a:rPr>
              <a:t></a:t>
            </a:r>
          </a:p>
          <a:p>
            <a:pPr>
              <a:lnSpc>
                <a:spcPts val="1000"/>
              </a:lnSpc>
              <a:defRPr/>
            </a:pPr>
            <a:endParaRPr lang="en-US" altLang="zh-CN" sz="1400" dirty="0">
              <a:latin typeface="Arial" panose="020B0604020202090204" pitchFamily="34" charset="0"/>
              <a:ea typeface="宋体" pitchFamily="2" charset="-122"/>
            </a:endParaRPr>
          </a:p>
          <a:p>
            <a:pPr>
              <a:lnSpc>
                <a:spcPts val="1000"/>
              </a:lnSpc>
              <a:defRPr/>
            </a:pPr>
            <a:endParaRPr lang="en-US" altLang="zh-CN" sz="1400" dirty="0">
              <a:latin typeface="Arial" panose="020B0604020202090204" pitchFamily="34" charset="0"/>
              <a:ea typeface="宋体" pitchFamily="2" charset="-122"/>
            </a:endParaRPr>
          </a:p>
          <a:p>
            <a:pPr>
              <a:lnSpc>
                <a:spcPts val="1000"/>
              </a:lnSpc>
              <a:defRPr/>
            </a:pPr>
            <a:endParaRPr lang="en-US" altLang="zh-CN" sz="1400" dirty="0">
              <a:latin typeface="Arial" panose="020B0604020202090204" pitchFamily="34" charset="0"/>
              <a:ea typeface="宋体" pitchFamily="2" charset="-122"/>
            </a:endParaRPr>
          </a:p>
          <a:p>
            <a:pPr>
              <a:lnSpc>
                <a:spcPts val="1000"/>
              </a:lnSpc>
              <a:defRPr/>
            </a:pPr>
            <a:endParaRPr lang="en-US" altLang="zh-CN" sz="1400" dirty="0">
              <a:latin typeface="Arial" panose="020B0604020202090204" pitchFamily="34" charset="0"/>
              <a:ea typeface="宋体" pitchFamily="2" charset="-122"/>
            </a:endParaRPr>
          </a:p>
          <a:p>
            <a:pPr>
              <a:lnSpc>
                <a:spcPts val="1000"/>
              </a:lnSpc>
              <a:defRPr/>
            </a:pPr>
            <a:endParaRPr lang="en-US" altLang="zh-CN" sz="1400" dirty="0">
              <a:latin typeface="Arial" panose="020B0604020202090204" pitchFamily="34" charset="0"/>
              <a:ea typeface="宋体" pitchFamily="2" charset="-122"/>
            </a:endParaRPr>
          </a:p>
          <a:p>
            <a:pPr>
              <a:lnSpc>
                <a:spcPts val="1000"/>
              </a:lnSpc>
              <a:defRPr/>
            </a:pPr>
            <a:endParaRPr lang="en-US" altLang="zh-CN" sz="1400" dirty="0">
              <a:latin typeface="Arial" panose="020B0604020202090204" pitchFamily="34" charset="0"/>
              <a:ea typeface="宋体" pitchFamily="2" charset="-122"/>
            </a:endParaRPr>
          </a:p>
          <a:p>
            <a:pPr>
              <a:lnSpc>
                <a:spcPts val="1000"/>
              </a:lnSpc>
              <a:defRPr/>
            </a:pPr>
            <a:endParaRPr lang="en-US" altLang="zh-CN" sz="1400" dirty="0">
              <a:latin typeface="Arial" panose="020B0604020202090204" pitchFamily="34" charset="0"/>
              <a:ea typeface="宋体" pitchFamily="2" charset="-122"/>
            </a:endParaRPr>
          </a:p>
          <a:p>
            <a:pPr>
              <a:lnSpc>
                <a:spcPts val="1000"/>
              </a:lnSpc>
              <a:defRPr/>
            </a:pPr>
            <a:endParaRPr lang="en-US" altLang="zh-CN" sz="1400" dirty="0">
              <a:latin typeface="Arial" panose="020B0604020202090204" pitchFamily="34" charset="0"/>
              <a:ea typeface="宋体" pitchFamily="2" charset="-122"/>
            </a:endParaRPr>
          </a:p>
          <a:p>
            <a:pPr>
              <a:lnSpc>
                <a:spcPts val="2400"/>
              </a:lnSpc>
              <a:defRPr/>
            </a:pPr>
            <a:r>
              <a:rPr lang="en-US" altLang="zh-CN" sz="1600" dirty="0">
                <a:solidFill>
                  <a:srgbClr val="3333CC"/>
                </a:solidFill>
                <a:latin typeface="Wingdings" panose="05000000000000000000" pitchFamily="18" charset="0"/>
                <a:ea typeface="宋体" pitchFamily="2" charset="-122"/>
                <a:cs typeface="Wingdings" panose="05000000000000000000" pitchFamily="18" charset="0"/>
              </a:rPr>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panose="020B0604020202090204" pitchFamily="34" charset="0"/>
                <a:ea typeface="宋体" pitchFamily="2" charset="-122"/>
                <a:cs typeface="+mn-cs"/>
              </a:rPr>
              <a:t>13.1   </a:t>
            </a:r>
            <a:r>
              <a:rPr kumimoji="1" lang="zh-CN" altLang="en-US" sz="3200" b="1" dirty="0">
                <a:latin typeface="Arial" panose="020B0604020202090204" pitchFamily="34" charset="0"/>
                <a:ea typeface="宋体" pitchFamily="2" charset="-122"/>
                <a:cs typeface="+mn-cs"/>
              </a:rPr>
              <a:t>基本概念和术语</a:t>
            </a:r>
          </a:p>
        </p:txBody>
      </p:sp>
      <p:sp>
        <p:nvSpPr>
          <p:cNvPr id="3" name="内容占位符 2"/>
          <p:cNvSpPr>
            <a:spLocks noGrp="1"/>
          </p:cNvSpPr>
          <p:nvPr>
            <p:ph idx="1"/>
          </p:nvPr>
        </p:nvSpPr>
        <p:spPr>
          <a:xfrm>
            <a:off x="1562100" y="1342762"/>
            <a:ext cx="9067800" cy="5105400"/>
          </a:xfrm>
        </p:spPr>
        <p:txBody>
          <a:bodyPr>
            <a:normAutofit/>
          </a:bodyPr>
          <a:lstStyle/>
          <a:p>
            <a:pPr>
              <a:lnSpc>
                <a:spcPct val="150000"/>
              </a:lnSpc>
            </a:pPr>
            <a:r>
              <a:rPr lang="zh-CN" altLang="en-US" b="1" dirty="0">
                <a:solidFill>
                  <a:srgbClr val="FF0000"/>
                </a:solidFill>
              </a:rPr>
              <a:t>数据结构</a:t>
            </a:r>
            <a:r>
              <a:rPr lang="zh-CN" altLang="en-US" b="1" dirty="0"/>
              <a:t> </a:t>
            </a:r>
            <a:r>
              <a:rPr lang="zh-CN" altLang="en-US" sz="2800" b="1" dirty="0"/>
              <a:t>是相互之间存在一种或多种特定关系的数据元素的集合</a:t>
            </a:r>
            <a:endParaRPr lang="en-US" altLang="zh-CN" sz="2800" b="1" dirty="0"/>
          </a:p>
          <a:p>
            <a:pPr lvl="1">
              <a:lnSpc>
                <a:spcPct val="150000"/>
              </a:lnSpc>
            </a:pPr>
            <a:r>
              <a:rPr lang="zh-CN" altLang="en-US" sz="2600" b="1" dirty="0"/>
              <a:t>数据元素之间的相互关系，这种关系是</a:t>
            </a:r>
            <a:r>
              <a:rPr lang="zh-CN" altLang="en-US" sz="2600" b="1" dirty="0">
                <a:solidFill>
                  <a:srgbClr val="FF0000"/>
                </a:solidFill>
              </a:rPr>
              <a:t>抽象的</a:t>
            </a:r>
            <a:r>
              <a:rPr lang="zh-CN" altLang="en-US" sz="2600" b="1" dirty="0"/>
              <a:t>，即并不涉及数据元素的具体内容。</a:t>
            </a:r>
            <a:endParaRPr lang="en-US" altLang="zh-CN" sz="2600" b="1" dirty="0"/>
          </a:p>
          <a:p>
            <a:pPr lvl="1">
              <a:lnSpc>
                <a:spcPct val="150000"/>
              </a:lnSpc>
              <a:tabLst>
                <a:tab pos="444500" algn="l"/>
                <a:tab pos="800100" algn="l"/>
              </a:tabLst>
              <a:defRPr/>
            </a:pPr>
            <a:r>
              <a:rPr lang="en-US" altLang="zh-CN" sz="2600" b="1" dirty="0">
                <a:solidFill>
                  <a:srgbClr val="C00000"/>
                </a:solidFill>
                <a:ea typeface="宋体" pitchFamily="2" charset="-122"/>
                <a:cs typeface="Times New Roman" panose="02020503050405090304" pitchFamily="18" charset="0"/>
              </a:rPr>
              <a:t>数据结构（技术）</a:t>
            </a:r>
            <a:r>
              <a:rPr lang="en-US" altLang="zh-CN" sz="2600" b="1" dirty="0">
                <a:ea typeface="宋体" pitchFamily="2" charset="-122"/>
                <a:cs typeface="Times New Roman" panose="02020503050405090304" pitchFamily="18" charset="0"/>
              </a:rPr>
              <a:t>就是根据各种不同的数据集合和数据元素之间的关系，研究如何表示、存储和操作（查找、插入、删除、修改、排序）这些数据的技术</a:t>
            </a:r>
            <a:endParaRPr lang="en-US" altLang="zh-CN" sz="2600" b="1" dirty="0">
              <a:solidFill>
                <a:srgbClr val="0033CC"/>
              </a:solidFill>
              <a:ea typeface="宋体" pitchFamily="2" charset="-122"/>
              <a:cs typeface="Times New Roman" panose="02020503050405090304" pitchFamily="18" charset="0"/>
            </a:endParaRPr>
          </a:p>
          <a:p>
            <a:pPr>
              <a:lnSpc>
                <a:spcPts val="3300"/>
              </a:lnSpc>
              <a:tabLst>
                <a:tab pos="444500" algn="l"/>
                <a:tab pos="800100" algn="l"/>
              </a:tabLst>
              <a:defRPr/>
            </a:pPr>
            <a:endParaRPr lang="en-US" altLang="zh-CN" sz="2795" b="1" dirty="0">
              <a:ea typeface="宋体" pitchFamily="2" charset="-122"/>
              <a:cs typeface="Times New Roman" panose="02020503050405090304" pitchFamily="18" charset="0"/>
            </a:endParaRPr>
          </a:p>
          <a:p>
            <a:pPr lvl="2">
              <a:lnSpc>
                <a:spcPts val="3600"/>
              </a:lnSpc>
              <a:tabLst>
                <a:tab pos="444500" algn="l"/>
                <a:tab pos="800100" algn="l"/>
              </a:tabLst>
              <a:defRPr/>
            </a:pPr>
            <a:endParaRPr lang="en-US" altLang="zh-CN" sz="2405" b="1" dirty="0">
              <a:ea typeface="宋体" pitchFamily="2" charset="-122"/>
              <a:cs typeface="Times New Roman" panose="02020503050405090304" pitchFamily="18" charset="0"/>
            </a:endParaRPr>
          </a:p>
          <a:p>
            <a:pPr lvl="1">
              <a:lnSpc>
                <a:spcPts val="3000"/>
              </a:lnSpc>
            </a:pPr>
            <a:endParaRPr lang="en-US" altLang="zh-CN" sz="2400" b="1" dirty="0"/>
          </a:p>
        </p:txBody>
      </p:sp>
      <p:sp>
        <p:nvSpPr>
          <p:cNvPr id="4" name="日期占位符 3"/>
          <p:cNvSpPr>
            <a:spLocks noGrp="1"/>
          </p:cNvSpPr>
          <p:nvPr>
            <p:ph type="dt" sz="half" idx="10"/>
          </p:nvPr>
        </p:nvSpPr>
        <p:spPr/>
        <p:txBody>
          <a:bodyPr/>
          <a:lstStyle/>
          <a:p>
            <a:fld id="{9292A1D4-DB20-4E7B-91A5-591F0FD0A76B}" type="datetime1">
              <a:rPr lang="zh-CN" altLang="en-US" b="1" smtClean="0">
                <a:solidFill>
                  <a:srgbClr val="F79646">
                    <a:lumMod val="75000"/>
                  </a:srgbClr>
                </a:solidFill>
              </a:rPr>
              <a:t>2025/11/27</a:t>
            </a:fld>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t>6</a:t>
            </a:fld>
            <a:endParaRPr lang="zh-CN" altLang="en-US" b="1" dirty="0">
              <a:solidFill>
                <a:srgbClr val="F79646">
                  <a:lumMod val="75000"/>
                </a:srgbClr>
              </a:solidFill>
            </a:endParaRPr>
          </a:p>
        </p:txBody>
      </p:sp>
      <p:cxnSp>
        <p:nvCxnSpPr>
          <p:cNvPr id="12" name="直接连接符 11"/>
          <p:cNvCxnSpPr/>
          <p:nvPr/>
        </p:nvCxnSpPr>
        <p:spPr>
          <a:xfrm>
            <a:off x="1981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panose="020B0604020202090204" pitchFamily="34" charset="0"/>
                <a:ea typeface="宋体" pitchFamily="2" charset="-122"/>
              </a:rPr>
              <a:t>13.1   </a:t>
            </a:r>
            <a:r>
              <a:rPr kumimoji="1" lang="zh-CN" altLang="en-US" sz="3200" b="1" dirty="0">
                <a:latin typeface="Arial" panose="020B0604020202090204" pitchFamily="34" charset="0"/>
                <a:ea typeface="宋体" pitchFamily="2" charset="-122"/>
              </a:rPr>
              <a:t>基本概念和术语</a:t>
            </a:r>
            <a:endParaRPr kumimoji="1" lang="zh-CN" altLang="en-US" sz="3200" b="1" dirty="0">
              <a:latin typeface="Arial" panose="020B0604020202090204" pitchFamily="34" charset="0"/>
              <a:ea typeface="宋体" pitchFamily="2" charset="-122"/>
              <a:cs typeface="+mn-cs"/>
            </a:endParaRPr>
          </a:p>
        </p:txBody>
      </p:sp>
      <p:sp>
        <p:nvSpPr>
          <p:cNvPr id="3" name="内容占位符 2"/>
          <p:cNvSpPr>
            <a:spLocks noGrp="1"/>
          </p:cNvSpPr>
          <p:nvPr>
            <p:ph idx="1"/>
          </p:nvPr>
        </p:nvSpPr>
        <p:spPr>
          <a:xfrm>
            <a:off x="838200" y="1890713"/>
            <a:ext cx="8229600" cy="4830762"/>
          </a:xfrm>
        </p:spPr>
        <p:txBody>
          <a:bodyPr>
            <a:normAutofit/>
          </a:bodyPr>
          <a:lstStyle/>
          <a:p>
            <a:pPr marL="514350">
              <a:lnSpc>
                <a:spcPts val="2700"/>
              </a:lnSpc>
            </a:pPr>
            <a:r>
              <a:rPr lang="zh-CN" altLang="en-US" sz="2800" b="1" dirty="0"/>
              <a:t>数据结构三要素：</a:t>
            </a:r>
            <a:endParaRPr lang="en-US" altLang="zh-CN" sz="2800" b="1" dirty="0"/>
          </a:p>
          <a:p>
            <a:pPr marL="1085850" lvl="1" indent="-457200">
              <a:lnSpc>
                <a:spcPts val="2700"/>
              </a:lnSpc>
              <a:buFont typeface="+mj-ea"/>
              <a:buAutoNum type="circleNumDbPlain"/>
            </a:pPr>
            <a:r>
              <a:rPr lang="zh-CN" altLang="en-US" sz="2400" b="1" dirty="0">
                <a:solidFill>
                  <a:srgbClr val="FF0000"/>
                </a:solidFill>
              </a:rPr>
              <a:t>数据的逻辑结构</a:t>
            </a:r>
          </a:p>
          <a:p>
            <a:pPr marL="1314450" lvl="2">
              <a:lnSpc>
                <a:spcPts val="2700"/>
              </a:lnSpc>
            </a:pPr>
            <a:r>
              <a:rPr lang="zh-CN" altLang="en-US" sz="2000" b="1" dirty="0"/>
              <a:t>数据元素之间的逻辑关系，是具体关系的抽象。</a:t>
            </a:r>
          </a:p>
          <a:p>
            <a:pPr marL="1085850" lvl="1" indent="-457200">
              <a:lnSpc>
                <a:spcPts val="2700"/>
              </a:lnSpc>
              <a:buFont typeface="+mj-ea"/>
              <a:buAutoNum type="circleNumDbPlain"/>
            </a:pPr>
            <a:r>
              <a:rPr lang="zh-CN" altLang="en-US" sz="2400" b="1" dirty="0">
                <a:solidFill>
                  <a:srgbClr val="FF0000"/>
                </a:solidFill>
              </a:rPr>
              <a:t>数据的存储结构</a:t>
            </a:r>
            <a:r>
              <a:rPr lang="en-US" altLang="zh-CN" sz="2400" b="1" dirty="0">
                <a:solidFill>
                  <a:srgbClr val="FF0000"/>
                </a:solidFill>
              </a:rPr>
              <a:t>(</a:t>
            </a:r>
            <a:r>
              <a:rPr lang="zh-CN" altLang="en-US" sz="2400" b="1" dirty="0">
                <a:solidFill>
                  <a:srgbClr val="FF0000"/>
                </a:solidFill>
              </a:rPr>
              <a:t>物理结构</a:t>
            </a:r>
            <a:r>
              <a:rPr lang="en-US" altLang="zh-CN" sz="2400" b="1" dirty="0">
                <a:solidFill>
                  <a:srgbClr val="FF0000"/>
                </a:solidFill>
              </a:rPr>
              <a:t>)</a:t>
            </a:r>
            <a:endParaRPr lang="zh-CN" altLang="en-US" sz="2400" b="1" dirty="0">
              <a:solidFill>
                <a:srgbClr val="FF0000"/>
              </a:solidFill>
            </a:endParaRPr>
          </a:p>
          <a:p>
            <a:pPr marL="1314450" lvl="2">
              <a:lnSpc>
                <a:spcPts val="2700"/>
              </a:lnSpc>
            </a:pPr>
            <a:r>
              <a:rPr lang="zh-CN" altLang="en-US" sz="2000" b="1" dirty="0"/>
              <a:t>数据元素及其关系在计算机内存中的表示；</a:t>
            </a:r>
          </a:p>
          <a:p>
            <a:pPr marL="1085850" lvl="1" indent="-457200">
              <a:lnSpc>
                <a:spcPts val="2700"/>
              </a:lnSpc>
              <a:buFont typeface="+mj-ea"/>
              <a:buAutoNum type="circleNumDbPlain"/>
            </a:pPr>
            <a:r>
              <a:rPr lang="zh-CN" altLang="en-US" sz="2400" b="1" dirty="0">
                <a:solidFill>
                  <a:srgbClr val="FF0000"/>
                </a:solidFill>
              </a:rPr>
              <a:t>数据的运算</a:t>
            </a:r>
          </a:p>
          <a:p>
            <a:pPr marL="1314450" lvl="2">
              <a:lnSpc>
                <a:spcPts val="2700"/>
              </a:lnSpc>
            </a:pPr>
            <a:r>
              <a:rPr lang="zh-CN" altLang="en-US" sz="2000" b="1" dirty="0"/>
              <a:t>施加在数据上的运算包括运算的定义和实现。</a:t>
            </a:r>
            <a:r>
              <a:rPr lang="zh-CN" altLang="en-US" sz="2000" b="1" dirty="0">
                <a:solidFill>
                  <a:srgbClr val="FF0000"/>
                </a:solidFill>
              </a:rPr>
              <a:t>运算的定义</a:t>
            </a:r>
            <a:r>
              <a:rPr lang="zh-CN" altLang="en-US" sz="2000" b="1" dirty="0"/>
              <a:t>是针对</a:t>
            </a:r>
            <a:r>
              <a:rPr lang="zh-CN" altLang="en-US" sz="2000" b="1" dirty="0">
                <a:solidFill>
                  <a:srgbClr val="FF0000"/>
                </a:solidFill>
              </a:rPr>
              <a:t>逻辑结构</a:t>
            </a:r>
            <a:r>
              <a:rPr lang="zh-CN" altLang="en-US" sz="2000" b="1" dirty="0"/>
              <a:t>的，指出运算的功能；</a:t>
            </a:r>
            <a:r>
              <a:rPr lang="zh-CN" altLang="en-US" sz="2000" b="1" dirty="0">
                <a:solidFill>
                  <a:srgbClr val="FF0000"/>
                </a:solidFill>
              </a:rPr>
              <a:t>运算的实现</a:t>
            </a:r>
            <a:r>
              <a:rPr lang="zh-CN" altLang="en-US" sz="2000" b="1" dirty="0"/>
              <a:t>是针对</a:t>
            </a:r>
            <a:r>
              <a:rPr lang="zh-CN" altLang="en-US" sz="2000" b="1" dirty="0">
                <a:solidFill>
                  <a:srgbClr val="FF0000"/>
                </a:solidFill>
              </a:rPr>
              <a:t>存储结构</a:t>
            </a:r>
            <a:r>
              <a:rPr lang="zh-CN" altLang="en-US" sz="2000" b="1" dirty="0"/>
              <a:t>的，指出运算的具体操作步骤</a:t>
            </a:r>
          </a:p>
          <a:p>
            <a:pPr lvl="1" indent="0">
              <a:lnSpc>
                <a:spcPts val="2700"/>
              </a:lnSpc>
              <a:buNone/>
            </a:pPr>
            <a:endParaRPr lang="zh-CN" altLang="en-US" b="1" dirty="0"/>
          </a:p>
          <a:p>
            <a:pPr marL="514350">
              <a:lnSpc>
                <a:spcPts val="2700"/>
              </a:lnSpc>
            </a:pPr>
            <a:endParaRPr lang="zh-CN" altLang="en-US" b="1" dirty="0"/>
          </a:p>
          <a:p>
            <a:pPr marL="628650" lvl="1" indent="0">
              <a:lnSpc>
                <a:spcPts val="2700"/>
              </a:lnSpc>
              <a:buNone/>
            </a:pPr>
            <a:endParaRPr lang="zh-CN" altLang="en-US" sz="2400" b="1" dirty="0"/>
          </a:p>
          <a:p>
            <a:pPr lvl="2">
              <a:lnSpc>
                <a:spcPts val="2700"/>
              </a:lnSpc>
            </a:pPr>
            <a:endParaRPr lang="zh-CN" altLang="en-US" sz="2000" b="1" dirty="0">
              <a:solidFill>
                <a:srgbClr val="FF0000"/>
              </a:solidFill>
            </a:endParaRPr>
          </a:p>
        </p:txBody>
      </p:sp>
      <p:sp>
        <p:nvSpPr>
          <p:cNvPr id="4" name="日期占位符 3"/>
          <p:cNvSpPr>
            <a:spLocks noGrp="1"/>
          </p:cNvSpPr>
          <p:nvPr>
            <p:ph type="dt" sz="half" idx="10"/>
          </p:nvPr>
        </p:nvSpPr>
        <p:spPr/>
        <p:txBody>
          <a:bodyPr/>
          <a:lstStyle/>
          <a:p>
            <a:fld id="{D9E76F4B-7DF1-471E-AF73-C939BE453ED7}" type="datetime1">
              <a:rPr lang="zh-CN" altLang="en-US" b="1" smtClean="0">
                <a:solidFill>
                  <a:srgbClr val="F79646">
                    <a:lumMod val="75000"/>
                  </a:srgbClr>
                </a:solidFill>
              </a:rPr>
              <a:t>2025/11/27</a:t>
            </a:fld>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t>7</a:t>
            </a:fld>
            <a:endParaRPr lang="zh-CN" altLang="en-US" b="1" dirty="0">
              <a:solidFill>
                <a:srgbClr val="F79646">
                  <a:lumMod val="75000"/>
                </a:srgbClr>
              </a:solidFill>
            </a:endParaRPr>
          </a:p>
        </p:txBody>
      </p:sp>
      <p:cxnSp>
        <p:nvCxnSpPr>
          <p:cNvPr id="12" name="直接连接符 11"/>
          <p:cNvCxnSpPr/>
          <p:nvPr/>
        </p:nvCxnSpPr>
        <p:spPr>
          <a:xfrm>
            <a:off x="1981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panose="020B0604020202090204" pitchFamily="34" charset="0"/>
                <a:ea typeface="宋体" pitchFamily="2" charset="-122"/>
              </a:rPr>
              <a:t>13.1   </a:t>
            </a:r>
            <a:r>
              <a:rPr kumimoji="1" lang="zh-CN" altLang="en-US" sz="3200" b="1" dirty="0">
                <a:latin typeface="Arial" panose="020B0604020202090204" pitchFamily="34" charset="0"/>
                <a:ea typeface="宋体" pitchFamily="2" charset="-122"/>
              </a:rPr>
              <a:t>基本概念和术语</a:t>
            </a:r>
            <a:endParaRPr kumimoji="1" lang="zh-CN" altLang="en-US" sz="3200" b="1" dirty="0">
              <a:latin typeface="Arial" panose="020B0604020202090204" pitchFamily="34" charset="0"/>
              <a:ea typeface="宋体" pitchFamily="2" charset="-122"/>
              <a:cs typeface="+mn-cs"/>
            </a:endParaRPr>
          </a:p>
        </p:txBody>
      </p:sp>
      <p:sp>
        <p:nvSpPr>
          <p:cNvPr id="4" name="日期占位符 3"/>
          <p:cNvSpPr>
            <a:spLocks noGrp="1"/>
          </p:cNvSpPr>
          <p:nvPr>
            <p:ph type="dt" sz="half" idx="10"/>
          </p:nvPr>
        </p:nvSpPr>
        <p:spPr/>
        <p:txBody>
          <a:bodyPr/>
          <a:lstStyle/>
          <a:p>
            <a:fld id="{D9E76F4B-7DF1-471E-AF73-C939BE453ED7}" type="datetime1">
              <a:rPr lang="zh-CN" altLang="en-US" b="1" smtClean="0">
                <a:solidFill>
                  <a:srgbClr val="F79646">
                    <a:lumMod val="75000"/>
                  </a:srgbClr>
                </a:solidFill>
              </a:rPr>
              <a:t>2025/11/27</a:t>
            </a:fld>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t>8</a:t>
            </a:fld>
            <a:endParaRPr lang="zh-CN" altLang="en-US" b="1" dirty="0">
              <a:solidFill>
                <a:srgbClr val="F79646">
                  <a:lumMod val="75000"/>
                </a:srgbClr>
              </a:solidFill>
            </a:endParaRPr>
          </a:p>
        </p:txBody>
      </p:sp>
      <p:cxnSp>
        <p:nvCxnSpPr>
          <p:cNvPr id="12" name="直接连接符 11"/>
          <p:cNvCxnSpPr/>
          <p:nvPr/>
        </p:nvCxnSpPr>
        <p:spPr>
          <a:xfrm>
            <a:off x="1981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
          <p:cNvSpPr txBox="1"/>
          <p:nvPr/>
        </p:nvSpPr>
        <p:spPr>
          <a:xfrm>
            <a:off x="1828800" y="2302318"/>
            <a:ext cx="9120188" cy="2956560"/>
          </a:xfrm>
          <a:prstGeom prst="rect">
            <a:avLst/>
          </a:prstGeom>
          <a:noFill/>
        </p:spPr>
        <p:txBody>
          <a:bodyPr wrap="square" lIns="0" tIns="0" rIns="0">
            <a:spAutoFit/>
          </a:bodyPr>
          <a:lstStyle/>
          <a:p>
            <a:pPr>
              <a:lnSpc>
                <a:spcPts val="3200"/>
              </a:lnSpc>
              <a:buFont typeface="Wingdings" panose="05000000000000000000" pitchFamily="2" charset="2"/>
              <a:buChar char="ü"/>
              <a:defRPr/>
            </a:pPr>
            <a:r>
              <a:rPr lang="en-US" altLang="zh-CN" sz="2800" b="1" dirty="0" err="1">
                <a:ea typeface="宋体" pitchFamily="2" charset="-122"/>
                <a:cs typeface="Times New Roman" panose="02020503050405090304" pitchFamily="18" charset="0"/>
              </a:rPr>
              <a:t>数据的逻辑结构</a:t>
            </a:r>
            <a:r>
              <a:rPr lang="en-US" altLang="zh-CN" sz="2800" b="1" dirty="0" err="1">
                <a:solidFill>
                  <a:srgbClr val="0000CC"/>
                </a:solidFill>
                <a:ea typeface="宋体" pitchFamily="2" charset="-122"/>
                <a:cs typeface="Times New Roman" panose="02020503050405090304" pitchFamily="18" charset="0"/>
              </a:rPr>
              <a:t>从逻辑关系上描述数据</a:t>
            </a:r>
            <a:r>
              <a:rPr lang="en-US" altLang="zh-CN" sz="2800" b="1" dirty="0" err="1">
                <a:solidFill>
                  <a:srgbClr val="008080"/>
                </a:solidFill>
                <a:ea typeface="宋体" pitchFamily="2" charset="-122"/>
                <a:cs typeface="Times New Roman" panose="02020503050405090304" pitchFamily="18" charset="0"/>
              </a:rPr>
              <a:t>，</a:t>
            </a:r>
            <a:r>
              <a:rPr lang="en-US" altLang="zh-CN" sz="2800" b="1" dirty="0" err="1">
                <a:solidFill>
                  <a:srgbClr val="333399"/>
                </a:solidFill>
                <a:ea typeface="宋体" pitchFamily="2" charset="-122"/>
                <a:cs typeface="Times New Roman" panose="02020503050405090304" pitchFamily="18" charset="0"/>
              </a:rPr>
              <a:t>与数据的存储无关</a:t>
            </a:r>
            <a:r>
              <a:rPr lang="en-US" altLang="zh-CN" sz="2800" b="1" dirty="0">
                <a:solidFill>
                  <a:srgbClr val="008080"/>
                </a:solidFill>
                <a:ea typeface="宋体" pitchFamily="2" charset="-122"/>
                <a:cs typeface="Times New Roman" panose="02020503050405090304" pitchFamily="18" charset="0"/>
              </a:rPr>
              <a:t>；</a:t>
            </a:r>
          </a:p>
          <a:p>
            <a:pPr>
              <a:lnSpc>
                <a:spcPts val="3200"/>
              </a:lnSpc>
              <a:buFont typeface="Wingdings" panose="05000000000000000000" pitchFamily="2" charset="2"/>
              <a:buChar char="ü"/>
              <a:defRPr/>
            </a:pPr>
            <a:endParaRPr lang="en-US" altLang="zh-CN" sz="2800" b="1" dirty="0">
              <a:solidFill>
                <a:srgbClr val="008080"/>
              </a:solidFill>
              <a:ea typeface="宋体" pitchFamily="2" charset="-122"/>
              <a:cs typeface="Times New Roman" panose="02020503050405090304" pitchFamily="18" charset="0"/>
            </a:endParaRPr>
          </a:p>
          <a:p>
            <a:pPr>
              <a:lnSpc>
                <a:spcPts val="1000"/>
              </a:lnSpc>
              <a:defRPr/>
            </a:pPr>
            <a:endParaRPr lang="en-US" altLang="zh-CN" sz="1400" b="1" dirty="0">
              <a:latin typeface="Arial" panose="020B0604020202090204" pitchFamily="34" charset="0"/>
              <a:ea typeface="宋体" pitchFamily="2" charset="-122"/>
            </a:endParaRPr>
          </a:p>
          <a:p>
            <a:pPr>
              <a:lnSpc>
                <a:spcPts val="3700"/>
              </a:lnSpc>
              <a:buFont typeface="Wingdings" panose="05000000000000000000" pitchFamily="2" charset="2"/>
              <a:buChar char="ü"/>
              <a:defRPr/>
            </a:pPr>
            <a:r>
              <a:rPr lang="en-US" altLang="zh-CN" sz="2800" b="1" dirty="0" err="1">
                <a:ea typeface="宋体" pitchFamily="2" charset="-122"/>
                <a:cs typeface="Times New Roman" panose="02020503050405090304" pitchFamily="18" charset="0"/>
              </a:rPr>
              <a:t>数据的逻辑结构可以看作是</a:t>
            </a:r>
            <a:r>
              <a:rPr lang="en-US" altLang="zh-CN" sz="2800" b="1" dirty="0" err="1">
                <a:solidFill>
                  <a:srgbClr val="333399"/>
                </a:solidFill>
                <a:ea typeface="宋体" pitchFamily="2" charset="-122"/>
                <a:cs typeface="Times New Roman" panose="02020503050405090304" pitchFamily="18" charset="0"/>
              </a:rPr>
              <a:t>从具体问题抽象出来的数据模型</a:t>
            </a:r>
            <a:r>
              <a:rPr lang="en-US" altLang="zh-CN" sz="2800" b="1" dirty="0">
                <a:solidFill>
                  <a:srgbClr val="008080"/>
                </a:solidFill>
                <a:ea typeface="宋体" pitchFamily="2" charset="-122"/>
                <a:cs typeface="Times New Roman" panose="02020503050405090304" pitchFamily="18" charset="0"/>
              </a:rPr>
              <a:t>；</a:t>
            </a:r>
          </a:p>
          <a:p>
            <a:pPr>
              <a:lnSpc>
                <a:spcPts val="3700"/>
              </a:lnSpc>
              <a:defRPr/>
            </a:pPr>
            <a:endParaRPr lang="en-US" altLang="zh-CN" sz="3205" b="1" dirty="0">
              <a:solidFill>
                <a:srgbClr val="008080"/>
              </a:solidFill>
              <a:ea typeface="宋体" pitchFamily="2" charset="-122"/>
              <a:cs typeface="Times New Roman" panose="02020503050405090304" pitchFamily="18" charset="0"/>
            </a:endParaRPr>
          </a:p>
          <a:p>
            <a:pPr>
              <a:lnSpc>
                <a:spcPts val="1000"/>
              </a:lnSpc>
              <a:defRPr/>
            </a:pPr>
            <a:endParaRPr lang="en-US" altLang="zh-CN" b="1" dirty="0">
              <a:latin typeface="Arial" panose="020B0604020202090204" pitchFamily="34" charset="0"/>
              <a:ea typeface="宋体" pitchFamily="2" charset="-122"/>
            </a:endParaRPr>
          </a:p>
        </p:txBody>
      </p:sp>
      <p:sp>
        <p:nvSpPr>
          <p:cNvPr id="14" name="TextBox 2"/>
          <p:cNvSpPr txBox="1">
            <a:spLocks noChangeArrowheads="1"/>
          </p:cNvSpPr>
          <p:nvPr/>
        </p:nvSpPr>
        <p:spPr bwMode="auto">
          <a:xfrm>
            <a:off x="1580852" y="1530744"/>
            <a:ext cx="4001095" cy="661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a:defRPr kumimoji="1" sz="2400">
                <a:solidFill>
                  <a:schemeClr val="tx1"/>
                </a:solidFill>
                <a:latin typeface="Times New Roman" panose="02020503050405090304" pitchFamily="18" charset="0"/>
                <a:ea typeface="宋体" pitchFamily="2" charset="-122"/>
              </a:defRPr>
            </a:lvl1pPr>
            <a:lvl2pPr marL="742950" indent="-285750">
              <a:defRPr kumimoji="1" sz="2400">
                <a:solidFill>
                  <a:schemeClr val="tx1"/>
                </a:solidFill>
                <a:latin typeface="Times New Roman" panose="02020503050405090304" pitchFamily="18" charset="0"/>
                <a:ea typeface="宋体" pitchFamily="2" charset="-122"/>
              </a:defRPr>
            </a:lvl2pPr>
            <a:lvl3pPr marL="1143000" indent="-228600">
              <a:defRPr kumimoji="1" sz="2400">
                <a:solidFill>
                  <a:schemeClr val="tx1"/>
                </a:solidFill>
                <a:latin typeface="Times New Roman" panose="02020503050405090304" pitchFamily="18" charset="0"/>
                <a:ea typeface="宋体" pitchFamily="2" charset="-122"/>
              </a:defRPr>
            </a:lvl3pPr>
            <a:lvl4pPr marL="1600200" indent="-228600">
              <a:defRPr kumimoji="1" sz="2400">
                <a:solidFill>
                  <a:schemeClr val="tx1"/>
                </a:solidFill>
                <a:latin typeface="Times New Roman" panose="02020503050405090304" pitchFamily="18" charset="0"/>
                <a:ea typeface="宋体" pitchFamily="2" charset="-122"/>
              </a:defRPr>
            </a:lvl4pPr>
            <a:lvl5pPr marL="2057400" indent="-228600">
              <a:defRPr kumimoji="1" sz="2400">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anose="02020503050405090304" pitchFamily="18" charset="0"/>
                <a:ea typeface="宋体" pitchFamily="2" charset="-122"/>
              </a:defRPr>
            </a:lvl9pPr>
          </a:lstStyle>
          <a:p>
            <a:pPr>
              <a:lnSpc>
                <a:spcPts val="4800"/>
              </a:lnSpc>
            </a:pPr>
            <a:r>
              <a:rPr lang="zh-CN" altLang="en-US" sz="3900" dirty="0">
                <a:solidFill>
                  <a:srgbClr val="C00000"/>
                </a:solidFill>
                <a:latin typeface="隶书" panose="02010509060101010101" pitchFamily="49" charset="-122"/>
                <a:ea typeface="隶书" panose="02010509060101010101" pitchFamily="49" charset="-122"/>
                <a:cs typeface="Times New Roman" panose="02020503050405090304" pitchFamily="18" charset="0"/>
              </a:rPr>
              <a:t>①</a:t>
            </a:r>
            <a:r>
              <a:rPr lang="en-US" altLang="zh-CN" sz="3900" dirty="0" err="1">
                <a:solidFill>
                  <a:srgbClr val="C00000"/>
                </a:solidFill>
                <a:latin typeface="隶书" panose="02010509060101010101" pitchFamily="49" charset="-122"/>
                <a:ea typeface="隶书" panose="02010509060101010101" pitchFamily="49" charset="-122"/>
                <a:cs typeface="Times New Roman" panose="02020503050405090304" pitchFamily="18" charset="0"/>
              </a:rPr>
              <a:t>数据的逻辑结构</a:t>
            </a:r>
            <a:endParaRPr lang="en-US" altLang="zh-CN" sz="3900" dirty="0">
              <a:solidFill>
                <a:srgbClr val="C00000"/>
              </a:solidFill>
              <a:latin typeface="隶书" panose="02010509060101010101" pitchFamily="49" charset="-122"/>
              <a:ea typeface="隶书" panose="02010509060101010101" pitchFamily="49" charset="-122"/>
              <a:cs typeface="Times New Roman" panose="0202050305040509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panose="020B0604020202090204" pitchFamily="34" charset="0"/>
                <a:ea typeface="宋体" pitchFamily="2" charset="-122"/>
                <a:cs typeface="+mn-cs"/>
              </a:rPr>
              <a:t>13.1   </a:t>
            </a:r>
            <a:r>
              <a:rPr kumimoji="1" lang="zh-CN" altLang="en-US" sz="3200" b="1" dirty="0">
                <a:latin typeface="Arial" panose="020B0604020202090204" pitchFamily="34" charset="0"/>
                <a:ea typeface="宋体" pitchFamily="2" charset="-122"/>
                <a:cs typeface="+mn-cs"/>
              </a:rPr>
              <a:t>基本概念和术语</a:t>
            </a:r>
          </a:p>
        </p:txBody>
      </p:sp>
      <p:sp>
        <p:nvSpPr>
          <p:cNvPr id="3" name="内容占位符 2"/>
          <p:cNvSpPr>
            <a:spLocks noGrp="1"/>
          </p:cNvSpPr>
          <p:nvPr>
            <p:ph idx="1"/>
          </p:nvPr>
        </p:nvSpPr>
        <p:spPr>
          <a:xfrm>
            <a:off x="1828800" y="1518444"/>
            <a:ext cx="8229600" cy="5105400"/>
          </a:xfrm>
        </p:spPr>
        <p:txBody>
          <a:bodyPr>
            <a:normAutofit/>
          </a:bodyPr>
          <a:lstStyle/>
          <a:p>
            <a:pPr>
              <a:lnSpc>
                <a:spcPts val="3000"/>
              </a:lnSpc>
            </a:pPr>
            <a:r>
              <a:rPr lang="zh-CN" altLang="en-US" sz="2800" b="1" dirty="0">
                <a:solidFill>
                  <a:srgbClr val="FF0000"/>
                </a:solidFill>
              </a:rPr>
              <a:t>数据结构从逻辑上分为四类：</a:t>
            </a:r>
            <a:endParaRPr lang="en-US" altLang="zh-CN" sz="2800" b="1" dirty="0">
              <a:solidFill>
                <a:srgbClr val="FF0000"/>
              </a:solidFill>
            </a:endParaRPr>
          </a:p>
          <a:p>
            <a:pPr marL="0" indent="0">
              <a:lnSpc>
                <a:spcPts val="3000"/>
              </a:lnSpc>
              <a:buNone/>
            </a:pPr>
            <a:r>
              <a:rPr lang="zh-CN" altLang="en-US" sz="2800" b="1" dirty="0">
                <a:solidFill>
                  <a:schemeClr val="accent6">
                    <a:lumMod val="75000"/>
                  </a:schemeClr>
                </a:solidFill>
              </a:rPr>
              <a:t>    即四种基本的逻辑结构 </a:t>
            </a:r>
          </a:p>
          <a:p>
            <a:pPr lvl="1">
              <a:lnSpc>
                <a:spcPts val="3000"/>
              </a:lnSpc>
            </a:pPr>
            <a:r>
              <a:rPr kumimoji="1" lang="zh-CN" altLang="en-US" b="1" dirty="0">
                <a:solidFill>
                  <a:srgbClr val="0000FF"/>
                </a:solidFill>
                <a:latin typeface="Arial" panose="020B0604020202090204" pitchFamily="34" charset="0"/>
                <a:ea typeface="宋体" pitchFamily="2" charset="-122"/>
              </a:rPr>
              <a:t>集合</a:t>
            </a:r>
            <a:r>
              <a:rPr lang="zh-CN" altLang="en-US" sz="2400" b="1" dirty="0"/>
              <a:t>：数据元素之间就是“属于</a:t>
            </a:r>
            <a:r>
              <a:rPr lang="zh-CN" altLang="en-US" sz="2400" b="1" dirty="0">
                <a:solidFill>
                  <a:schemeClr val="accent6">
                    <a:lumMod val="75000"/>
                  </a:schemeClr>
                </a:solidFill>
              </a:rPr>
              <a:t>同一个</a:t>
            </a:r>
            <a:r>
              <a:rPr lang="zh-CN" altLang="en-US" sz="2400" b="1" dirty="0"/>
              <a:t>集合”； </a:t>
            </a:r>
            <a:endParaRPr lang="en-US" altLang="zh-CN" sz="2400" b="1" dirty="0"/>
          </a:p>
          <a:p>
            <a:pPr lvl="1">
              <a:lnSpc>
                <a:spcPts val="3000"/>
              </a:lnSpc>
            </a:pPr>
            <a:r>
              <a:rPr kumimoji="1" lang="zh-CN" altLang="en-US" b="1" dirty="0">
                <a:solidFill>
                  <a:srgbClr val="0000FF"/>
                </a:solidFill>
                <a:latin typeface="Arial" panose="020B0604020202090204" pitchFamily="34" charset="0"/>
                <a:ea typeface="宋体" pitchFamily="2" charset="-122"/>
              </a:rPr>
              <a:t>线性结构</a:t>
            </a:r>
            <a:r>
              <a:rPr lang="zh-CN" altLang="en-US" sz="2400" b="1" dirty="0"/>
              <a:t>：数据元素之间存在着</a:t>
            </a:r>
            <a:r>
              <a:rPr lang="zh-CN" altLang="en-US" sz="2400" b="1" dirty="0">
                <a:solidFill>
                  <a:schemeClr val="accent6">
                    <a:lumMod val="75000"/>
                  </a:schemeClr>
                </a:solidFill>
              </a:rPr>
              <a:t>一对一</a:t>
            </a:r>
            <a:r>
              <a:rPr lang="zh-CN" altLang="en-US" sz="2400" b="1" dirty="0"/>
              <a:t>的线性关系；</a:t>
            </a:r>
          </a:p>
          <a:p>
            <a:pPr lvl="1">
              <a:lnSpc>
                <a:spcPts val="3000"/>
              </a:lnSpc>
            </a:pPr>
            <a:r>
              <a:rPr kumimoji="1" lang="zh-CN" altLang="en-US" b="1" dirty="0">
                <a:solidFill>
                  <a:srgbClr val="0000FF"/>
                </a:solidFill>
                <a:latin typeface="Arial" panose="020B0604020202090204" pitchFamily="34" charset="0"/>
                <a:ea typeface="宋体" pitchFamily="2" charset="-122"/>
              </a:rPr>
              <a:t>树型结构</a:t>
            </a:r>
            <a:r>
              <a:rPr lang="zh-CN" altLang="en-US" sz="2400" b="1" dirty="0"/>
              <a:t>：数据元素之间存在着</a:t>
            </a:r>
            <a:r>
              <a:rPr lang="zh-CN" altLang="en-US" sz="2400" b="1" dirty="0">
                <a:solidFill>
                  <a:schemeClr val="accent6">
                    <a:lumMod val="75000"/>
                  </a:schemeClr>
                </a:solidFill>
              </a:rPr>
              <a:t>一对多</a:t>
            </a:r>
            <a:r>
              <a:rPr lang="zh-CN" altLang="en-US" sz="2400" b="1" dirty="0"/>
              <a:t>的层次关系； </a:t>
            </a:r>
            <a:endParaRPr lang="en-US" altLang="zh-CN" sz="2400" b="1" dirty="0"/>
          </a:p>
          <a:p>
            <a:pPr lvl="1">
              <a:lnSpc>
                <a:spcPts val="3000"/>
              </a:lnSpc>
            </a:pPr>
            <a:r>
              <a:rPr kumimoji="1" lang="zh-CN" altLang="en-US" b="1" dirty="0">
                <a:solidFill>
                  <a:srgbClr val="0000FF"/>
                </a:solidFill>
                <a:latin typeface="Arial" panose="020B0604020202090204" pitchFamily="34" charset="0"/>
                <a:ea typeface="宋体" pitchFamily="2" charset="-122"/>
              </a:rPr>
              <a:t>图结构</a:t>
            </a:r>
            <a:r>
              <a:rPr lang="zh-CN" altLang="en-US" sz="2400" b="1" dirty="0"/>
              <a:t>：数据元素之间存在着 </a:t>
            </a:r>
            <a:r>
              <a:rPr lang="zh-CN" altLang="en-US" sz="2400" b="1" dirty="0">
                <a:solidFill>
                  <a:schemeClr val="accent6">
                    <a:lumMod val="75000"/>
                  </a:schemeClr>
                </a:solidFill>
              </a:rPr>
              <a:t>多对多</a:t>
            </a:r>
            <a:r>
              <a:rPr lang="zh-CN" altLang="en-US" sz="2400" b="1" dirty="0"/>
              <a:t>的任意关系。</a:t>
            </a:r>
            <a:endParaRPr lang="en-US" altLang="zh-CN" sz="2400" b="1" dirty="0"/>
          </a:p>
        </p:txBody>
      </p:sp>
      <p:sp>
        <p:nvSpPr>
          <p:cNvPr id="4" name="日期占位符 3"/>
          <p:cNvSpPr>
            <a:spLocks noGrp="1"/>
          </p:cNvSpPr>
          <p:nvPr>
            <p:ph type="dt" sz="half" idx="10"/>
          </p:nvPr>
        </p:nvSpPr>
        <p:spPr/>
        <p:txBody>
          <a:bodyPr/>
          <a:lstStyle/>
          <a:p>
            <a:fld id="{58A2F176-07C2-4FAD-A026-D4BDE20E6035}" type="datetime1">
              <a:rPr lang="zh-CN" altLang="en-US" b="1" smtClean="0">
                <a:solidFill>
                  <a:srgbClr val="F79646">
                    <a:lumMod val="75000"/>
                  </a:srgbClr>
                </a:solidFill>
              </a:rPr>
              <a:t>2025/11/27</a:t>
            </a:fld>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t>9</a:t>
            </a:fld>
            <a:endParaRPr lang="zh-CN" altLang="en-US" b="1" dirty="0">
              <a:solidFill>
                <a:srgbClr val="F79646">
                  <a:lumMod val="75000"/>
                </a:srgbClr>
              </a:solidFill>
            </a:endParaRPr>
          </a:p>
        </p:txBody>
      </p:sp>
      <p:cxnSp>
        <p:nvCxnSpPr>
          <p:cNvPr id="12" name="直接连接符 11"/>
          <p:cNvCxnSpPr/>
          <p:nvPr/>
        </p:nvCxnSpPr>
        <p:spPr>
          <a:xfrm>
            <a:off x="1981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11266"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35053" y="4603396"/>
            <a:ext cx="1957542" cy="13192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26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33800" y="5136356"/>
            <a:ext cx="2209800" cy="3500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268"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72201" y="4419600"/>
            <a:ext cx="2473395" cy="16716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269"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686800" y="4793964"/>
            <a:ext cx="1931474" cy="114694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panose="020B0604020202090204" pitchFamily="34" charset="0"/>
                <a:ea typeface="宋体" pitchFamily="2" charset="-122"/>
              </a:rPr>
              <a:t>13.1   </a:t>
            </a:r>
            <a:r>
              <a:rPr kumimoji="1" lang="zh-CN" altLang="en-US" sz="3200" b="1" dirty="0">
                <a:latin typeface="Arial" panose="020B0604020202090204" pitchFamily="34" charset="0"/>
                <a:ea typeface="宋体" pitchFamily="2" charset="-122"/>
              </a:rPr>
              <a:t>基本概念和术语</a:t>
            </a:r>
            <a:endParaRPr kumimoji="1" lang="zh-CN" altLang="en-US" sz="3200" b="1" dirty="0">
              <a:latin typeface="Arial" panose="020B0604020202090204" pitchFamily="34" charset="0"/>
              <a:ea typeface="宋体" pitchFamily="2" charset="-122"/>
              <a:cs typeface="+mn-cs"/>
            </a:endParaRPr>
          </a:p>
        </p:txBody>
      </p:sp>
      <p:sp>
        <p:nvSpPr>
          <p:cNvPr id="4" name="日期占位符 3"/>
          <p:cNvSpPr>
            <a:spLocks noGrp="1"/>
          </p:cNvSpPr>
          <p:nvPr>
            <p:ph type="dt" sz="half" idx="10"/>
          </p:nvPr>
        </p:nvSpPr>
        <p:spPr/>
        <p:txBody>
          <a:bodyPr/>
          <a:lstStyle/>
          <a:p>
            <a:fld id="{D9E76F4B-7DF1-471E-AF73-C939BE453ED7}" type="datetime1">
              <a:rPr lang="zh-CN" altLang="en-US" b="1" smtClean="0">
                <a:solidFill>
                  <a:srgbClr val="F79646">
                    <a:lumMod val="75000"/>
                  </a:srgbClr>
                </a:solidFill>
              </a:rPr>
              <a:t>2025/11/27</a:t>
            </a:fld>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t>10</a:t>
            </a:fld>
            <a:endParaRPr lang="zh-CN" altLang="en-US" b="1" dirty="0">
              <a:solidFill>
                <a:srgbClr val="F79646">
                  <a:lumMod val="75000"/>
                </a:srgbClr>
              </a:solidFill>
            </a:endParaRPr>
          </a:p>
        </p:txBody>
      </p:sp>
      <p:cxnSp>
        <p:nvCxnSpPr>
          <p:cNvPr id="12" name="直接连接符 11"/>
          <p:cNvCxnSpPr/>
          <p:nvPr/>
        </p:nvCxnSpPr>
        <p:spPr>
          <a:xfrm>
            <a:off x="1981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
          <p:cNvSpPr txBox="1"/>
          <p:nvPr/>
        </p:nvSpPr>
        <p:spPr>
          <a:xfrm>
            <a:off x="1828800" y="2209800"/>
            <a:ext cx="9120188" cy="2457083"/>
          </a:xfrm>
          <a:prstGeom prst="rect">
            <a:avLst/>
          </a:prstGeom>
          <a:noFill/>
        </p:spPr>
        <p:txBody>
          <a:bodyPr wrap="square" lIns="0" tIns="0" rIns="0">
            <a:spAutoFit/>
          </a:bodyPr>
          <a:lstStyle/>
          <a:p>
            <a:pPr>
              <a:lnSpc>
                <a:spcPts val="3700"/>
              </a:lnSpc>
              <a:defRPr/>
            </a:pPr>
            <a:r>
              <a:rPr lang="zh-CN" altLang="en-US" sz="2800" b="1" dirty="0">
                <a:solidFill>
                  <a:srgbClr val="008080"/>
                </a:solidFill>
                <a:ea typeface="宋体" pitchFamily="2" charset="-122"/>
                <a:cs typeface="Times New Roman" panose="02020503050405090304" pitchFamily="18" charset="0"/>
              </a:rPr>
              <a:t>形式化表示</a:t>
            </a:r>
            <a:endParaRPr lang="en-US" altLang="zh-CN" sz="2800" b="1" dirty="0">
              <a:solidFill>
                <a:srgbClr val="008080"/>
              </a:solidFill>
              <a:ea typeface="宋体" pitchFamily="2" charset="-122"/>
              <a:cs typeface="Times New Roman" panose="02020503050405090304" pitchFamily="18" charset="0"/>
            </a:endParaRPr>
          </a:p>
          <a:p>
            <a:pPr marL="0" lvl="1">
              <a:lnSpc>
                <a:spcPts val="3200"/>
              </a:lnSpc>
              <a:tabLst>
                <a:tab pos="444500" algn="l"/>
                <a:tab pos="800100" algn="l"/>
              </a:tabLst>
              <a:defRPr/>
            </a:pPr>
            <a:r>
              <a:rPr lang="zh-CN" altLang="en-US" sz="2400" b="1" dirty="0">
                <a:ea typeface="宋体" pitchFamily="2" charset="-122"/>
                <a:cs typeface="Times New Roman" panose="02020503050405090304" pitchFamily="18" charset="0"/>
              </a:rPr>
              <a:t>数据的逻辑结构</a:t>
            </a:r>
            <a:r>
              <a:rPr lang="en-US" altLang="zh-CN" sz="2400" b="1" dirty="0" err="1">
                <a:ea typeface="宋体" pitchFamily="2" charset="-122"/>
                <a:cs typeface="Times New Roman" panose="02020503050405090304" pitchFamily="18" charset="0"/>
              </a:rPr>
              <a:t>通常可以用一个二元组</a:t>
            </a:r>
            <a:r>
              <a:rPr lang="en-US" altLang="zh-CN" sz="2400" b="1" dirty="0">
                <a:ea typeface="宋体" pitchFamily="2" charset="-122"/>
                <a:cs typeface="Times New Roman" panose="02020503050405090304" pitchFamily="18" charset="0"/>
              </a:rPr>
              <a:t> </a:t>
            </a:r>
            <a:r>
              <a:rPr lang="en-US" altLang="zh-CN" sz="2400" b="1" dirty="0">
                <a:solidFill>
                  <a:srgbClr val="FF0000"/>
                </a:solidFill>
                <a:ea typeface="宋体" pitchFamily="2" charset="-122"/>
                <a:cs typeface="Times New Roman" panose="02020503050405090304" pitchFamily="18" charset="0"/>
              </a:rPr>
              <a:t>DS = </a:t>
            </a:r>
            <a:r>
              <a:rPr lang="zh-CN" altLang="en-US" sz="2400" b="1" dirty="0">
                <a:solidFill>
                  <a:srgbClr val="FF0000"/>
                </a:solidFill>
                <a:ea typeface="宋体" pitchFamily="2" charset="-122"/>
                <a:cs typeface="Times New Roman" panose="02020503050405090304" pitchFamily="18" charset="0"/>
              </a:rPr>
              <a:t>（</a:t>
            </a:r>
            <a:r>
              <a:rPr lang="en-US" altLang="zh-CN" sz="2400" b="1" dirty="0">
                <a:solidFill>
                  <a:srgbClr val="FF0000"/>
                </a:solidFill>
                <a:ea typeface="宋体" pitchFamily="2" charset="-122"/>
                <a:cs typeface="Times New Roman" panose="02020503050405090304" pitchFamily="18" charset="0"/>
              </a:rPr>
              <a:t>D，R</a:t>
            </a:r>
            <a:r>
              <a:rPr lang="zh-CN" altLang="en-US" sz="2400" b="1" dirty="0">
                <a:solidFill>
                  <a:srgbClr val="FF0000"/>
                </a:solidFill>
                <a:ea typeface="宋体" pitchFamily="2" charset="-122"/>
                <a:cs typeface="Times New Roman" panose="02020503050405090304" pitchFamily="18" charset="0"/>
              </a:rPr>
              <a:t>）</a:t>
            </a:r>
            <a:r>
              <a:rPr lang="en-US" altLang="zh-CN" sz="2400" b="1" dirty="0">
                <a:solidFill>
                  <a:srgbClr val="FF0000"/>
                </a:solidFill>
                <a:ea typeface="宋体" pitchFamily="2" charset="-122"/>
                <a:cs typeface="Times New Roman" panose="02020503050405090304" pitchFamily="18" charset="0"/>
              </a:rPr>
              <a:t> </a:t>
            </a:r>
            <a:r>
              <a:rPr lang="en-US" altLang="zh-CN" sz="2400" b="1" dirty="0" err="1">
                <a:ea typeface="宋体" pitchFamily="2" charset="-122"/>
                <a:cs typeface="Times New Roman" panose="02020503050405090304" pitchFamily="18" charset="0"/>
              </a:rPr>
              <a:t>来表示</a:t>
            </a:r>
            <a:endParaRPr lang="en-US" altLang="zh-CN" sz="2800" b="1" dirty="0">
              <a:latin typeface="Arial" panose="020B0604020202090204" pitchFamily="34" charset="0"/>
              <a:ea typeface="宋体" pitchFamily="2" charset="-122"/>
            </a:endParaRPr>
          </a:p>
          <a:p>
            <a:pPr marL="0" lvl="2">
              <a:lnSpc>
                <a:spcPts val="3600"/>
              </a:lnSpc>
              <a:tabLst>
                <a:tab pos="444500" algn="l"/>
                <a:tab pos="800100" algn="l"/>
              </a:tabLst>
              <a:defRPr/>
            </a:pPr>
            <a:r>
              <a:rPr lang="en-US" altLang="zh-CN" sz="2400" b="1" dirty="0" err="1">
                <a:ea typeface="宋体" pitchFamily="2" charset="-122"/>
                <a:cs typeface="Times New Roman" panose="02020503050405090304" pitchFamily="18" charset="0"/>
              </a:rPr>
              <a:t>其中D是数据</a:t>
            </a:r>
            <a:r>
              <a:rPr lang="zh-CN" altLang="en-US" sz="2400" b="1" dirty="0">
                <a:ea typeface="宋体" pitchFamily="2" charset="-122"/>
                <a:cs typeface="Times New Roman" panose="02020503050405090304" pitchFamily="18" charset="0"/>
              </a:rPr>
              <a:t>对象</a:t>
            </a:r>
            <a:r>
              <a:rPr lang="en-US" altLang="zh-CN" sz="2400" b="1" dirty="0">
                <a:ea typeface="宋体" pitchFamily="2" charset="-122"/>
                <a:cs typeface="Times New Roman" panose="02020503050405090304" pitchFamily="18" charset="0"/>
              </a:rPr>
              <a:t>（</a:t>
            </a:r>
            <a:r>
              <a:rPr lang="en-US" altLang="zh-CN" sz="2400" b="1" dirty="0" err="1">
                <a:ea typeface="宋体" pitchFamily="2" charset="-122"/>
                <a:cs typeface="Times New Roman" panose="02020503050405090304" pitchFamily="18" charset="0"/>
              </a:rPr>
              <a:t>数据</a:t>
            </a:r>
            <a:r>
              <a:rPr lang="zh-CN" altLang="en-US" sz="2400" b="1" dirty="0">
                <a:ea typeface="宋体" pitchFamily="2" charset="-122"/>
                <a:cs typeface="Times New Roman" panose="02020503050405090304" pitchFamily="18" charset="0"/>
              </a:rPr>
              <a:t>元素的有限集合</a:t>
            </a:r>
            <a:r>
              <a:rPr lang="en-US" altLang="zh-CN" sz="2400" b="1" dirty="0">
                <a:ea typeface="宋体" pitchFamily="2" charset="-122"/>
                <a:cs typeface="Times New Roman" panose="02020503050405090304" pitchFamily="18" charset="0"/>
              </a:rPr>
              <a:t>），</a:t>
            </a:r>
            <a:r>
              <a:rPr lang="en-US" altLang="zh-CN" sz="2400" b="1" dirty="0" err="1">
                <a:ea typeface="宋体" pitchFamily="2" charset="-122"/>
                <a:cs typeface="Times New Roman" panose="02020503050405090304" pitchFamily="18" charset="0"/>
              </a:rPr>
              <a:t>R是D中数据元素之间所存在的关系的有限集合</a:t>
            </a:r>
            <a:r>
              <a:rPr lang="en-US" altLang="zh-CN" sz="2400" b="1" dirty="0">
                <a:ea typeface="宋体" pitchFamily="2" charset="-122"/>
                <a:cs typeface="Times New Roman" panose="02020503050405090304" pitchFamily="18" charset="0"/>
              </a:rPr>
              <a:t>。</a:t>
            </a:r>
          </a:p>
          <a:p>
            <a:pPr>
              <a:lnSpc>
                <a:spcPts val="3700"/>
              </a:lnSpc>
              <a:defRPr/>
            </a:pPr>
            <a:endParaRPr lang="en-US" altLang="zh-CN" sz="3205" b="1" dirty="0">
              <a:solidFill>
                <a:srgbClr val="008080"/>
              </a:solidFill>
              <a:ea typeface="宋体" pitchFamily="2" charset="-122"/>
              <a:cs typeface="Times New Roman" panose="02020503050405090304" pitchFamily="18" charset="0"/>
            </a:endParaRPr>
          </a:p>
          <a:p>
            <a:pPr>
              <a:lnSpc>
                <a:spcPts val="1000"/>
              </a:lnSpc>
              <a:defRPr/>
            </a:pPr>
            <a:endParaRPr lang="en-US" altLang="zh-CN" b="1" dirty="0">
              <a:latin typeface="Arial" panose="020B0604020202090204" pitchFamily="34" charset="0"/>
              <a:ea typeface="宋体" pitchFamily="2" charset="-122"/>
            </a:endParaRPr>
          </a:p>
        </p:txBody>
      </p:sp>
      <p:sp>
        <p:nvSpPr>
          <p:cNvPr id="14" name="TextBox 2"/>
          <p:cNvSpPr txBox="1">
            <a:spLocks noChangeArrowheads="1"/>
          </p:cNvSpPr>
          <p:nvPr/>
        </p:nvSpPr>
        <p:spPr bwMode="auto">
          <a:xfrm>
            <a:off x="1600200" y="1443797"/>
            <a:ext cx="4001095" cy="661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a:defRPr kumimoji="1" sz="2400">
                <a:solidFill>
                  <a:schemeClr val="tx1"/>
                </a:solidFill>
                <a:latin typeface="Times New Roman" panose="02020503050405090304" pitchFamily="18" charset="0"/>
                <a:ea typeface="宋体" pitchFamily="2" charset="-122"/>
              </a:defRPr>
            </a:lvl1pPr>
            <a:lvl2pPr marL="742950" indent="-285750">
              <a:defRPr kumimoji="1" sz="2400">
                <a:solidFill>
                  <a:schemeClr val="tx1"/>
                </a:solidFill>
                <a:latin typeface="Times New Roman" panose="02020503050405090304" pitchFamily="18" charset="0"/>
                <a:ea typeface="宋体" pitchFamily="2" charset="-122"/>
              </a:defRPr>
            </a:lvl2pPr>
            <a:lvl3pPr marL="1143000" indent="-228600">
              <a:defRPr kumimoji="1" sz="2400">
                <a:solidFill>
                  <a:schemeClr val="tx1"/>
                </a:solidFill>
                <a:latin typeface="Times New Roman" panose="02020503050405090304" pitchFamily="18" charset="0"/>
                <a:ea typeface="宋体" pitchFamily="2" charset="-122"/>
              </a:defRPr>
            </a:lvl3pPr>
            <a:lvl4pPr marL="1600200" indent="-228600">
              <a:defRPr kumimoji="1" sz="2400">
                <a:solidFill>
                  <a:schemeClr val="tx1"/>
                </a:solidFill>
                <a:latin typeface="Times New Roman" panose="02020503050405090304" pitchFamily="18" charset="0"/>
                <a:ea typeface="宋体" pitchFamily="2" charset="-122"/>
              </a:defRPr>
            </a:lvl4pPr>
            <a:lvl5pPr marL="2057400" indent="-228600">
              <a:defRPr kumimoji="1" sz="2400">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anose="02020503050405090304" pitchFamily="18" charset="0"/>
                <a:ea typeface="宋体" pitchFamily="2" charset="-122"/>
              </a:defRPr>
            </a:lvl9pPr>
          </a:lstStyle>
          <a:p>
            <a:pPr>
              <a:lnSpc>
                <a:spcPts val="4800"/>
              </a:lnSpc>
            </a:pPr>
            <a:r>
              <a:rPr lang="zh-CN" altLang="en-US" sz="3900" dirty="0">
                <a:solidFill>
                  <a:srgbClr val="C00000"/>
                </a:solidFill>
                <a:latin typeface="隶书" panose="02010509060101010101" pitchFamily="49" charset="-122"/>
                <a:ea typeface="隶书" panose="02010509060101010101" pitchFamily="49" charset="-122"/>
                <a:cs typeface="Times New Roman" panose="02020503050405090304" pitchFamily="18" charset="0"/>
              </a:rPr>
              <a:t>①</a:t>
            </a:r>
            <a:r>
              <a:rPr lang="en-US" altLang="zh-CN" sz="3900" dirty="0" err="1">
                <a:solidFill>
                  <a:srgbClr val="C00000"/>
                </a:solidFill>
                <a:latin typeface="隶书" panose="02010509060101010101" pitchFamily="49" charset="-122"/>
                <a:ea typeface="隶书" panose="02010509060101010101" pitchFamily="49" charset="-122"/>
                <a:cs typeface="Times New Roman" panose="02020503050405090304" pitchFamily="18" charset="0"/>
              </a:rPr>
              <a:t>数据的逻辑结构</a:t>
            </a:r>
            <a:endParaRPr lang="en-US" altLang="zh-CN" sz="3900" dirty="0">
              <a:solidFill>
                <a:srgbClr val="C00000"/>
              </a:solidFill>
              <a:latin typeface="隶书" panose="02010509060101010101" pitchFamily="49" charset="-122"/>
              <a:ea typeface="隶书" panose="02010509060101010101" pitchFamily="49" charset="-122"/>
              <a:cs typeface="Times New Roman" panose="0202050305040509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061155" y="663570"/>
            <a:ext cx="9194800" cy="400110"/>
          </a:xfrm>
          <a:prstGeom prst="rect">
            <a:avLst/>
          </a:prstGeom>
        </p:spPr>
        <p:txBody>
          <a:bodyPr wrap="square">
            <a:spAutoFit/>
          </a:bodyPr>
          <a:lstStyle/>
          <a:p>
            <a:pPr algn="just">
              <a:spcAft>
                <a:spcPts val="0"/>
              </a:spcAft>
            </a:pPr>
            <a:r>
              <a:rPr lang="en-US" altLang="zh-CN" sz="2000" kern="100" dirty="0">
                <a:latin typeface="黑体" panose="02010609060101010101" pitchFamily="49" charset="-122"/>
                <a:ea typeface="黑体" panose="02010609060101010101" pitchFamily="49" charset="-122"/>
              </a:rPr>
              <a:t>2</a:t>
            </a:r>
            <a:r>
              <a:rPr lang="zh-CN" altLang="en-US" sz="2000" kern="100" dirty="0">
                <a:latin typeface="黑体" panose="02010609060101010101" pitchFamily="49" charset="-122"/>
                <a:ea typeface="黑体" panose="02010609060101010101" pitchFamily="49" charset="-122"/>
              </a:rPr>
              <a:t>、</a:t>
            </a:r>
            <a:r>
              <a:rPr lang="zh-CN" altLang="zh-CN" sz="2000" kern="100" dirty="0">
                <a:latin typeface="黑体" panose="02010609060101010101" pitchFamily="49" charset="-122"/>
                <a:ea typeface="黑体" panose="02010609060101010101" pitchFamily="49" charset="-122"/>
              </a:rPr>
              <a:t>根据二元组关系，画出对应逻辑图形的草图，</a:t>
            </a:r>
            <a:r>
              <a:rPr lang="zh-CN" altLang="en-US" sz="2000" kern="100" dirty="0">
                <a:latin typeface="黑体" panose="02010609060101010101" pitchFamily="49" charset="-122"/>
                <a:ea typeface="黑体" panose="02010609060101010101" pitchFamily="49" charset="-122"/>
              </a:rPr>
              <a:t>并</a:t>
            </a:r>
            <a:r>
              <a:rPr lang="zh-CN" altLang="zh-CN" sz="2000" kern="100" dirty="0">
                <a:latin typeface="黑体" panose="02010609060101010101" pitchFamily="49" charset="-122"/>
                <a:ea typeface="黑体" panose="02010609060101010101" pitchFamily="49" charset="-122"/>
              </a:rPr>
              <a:t>指出它们</a:t>
            </a:r>
            <a:r>
              <a:rPr lang="zh-CN" altLang="en-US" sz="2000" kern="100" dirty="0">
                <a:latin typeface="黑体" panose="02010609060101010101" pitchFamily="49" charset="-122"/>
                <a:ea typeface="黑体" panose="02010609060101010101" pitchFamily="49" charset="-122"/>
              </a:rPr>
              <a:t>所属的</a:t>
            </a:r>
            <a:r>
              <a:rPr lang="zh-CN" altLang="zh-CN" sz="2000" kern="100" dirty="0">
                <a:latin typeface="黑体" panose="02010609060101010101" pitchFamily="49" charset="-122"/>
                <a:ea typeface="黑体" panose="02010609060101010101" pitchFamily="49" charset="-122"/>
              </a:rPr>
              <a:t>数据结构。</a:t>
            </a:r>
            <a:endParaRPr lang="zh-CN" altLang="zh-CN" sz="1600" kern="100" dirty="0">
              <a:effectLst/>
              <a:latin typeface="黑体" panose="02010609060101010101" pitchFamily="49" charset="-122"/>
              <a:ea typeface="黑体" panose="02010609060101010101" pitchFamily="49" charset="-122"/>
            </a:endParaRPr>
          </a:p>
        </p:txBody>
      </p:sp>
      <p:sp>
        <p:nvSpPr>
          <p:cNvPr id="5" name="矩形 4"/>
          <p:cNvSpPr/>
          <p:nvPr/>
        </p:nvSpPr>
        <p:spPr>
          <a:xfrm>
            <a:off x="1330960" y="1179175"/>
            <a:ext cx="6096000" cy="1289007"/>
          </a:xfrm>
          <a:prstGeom prst="rect">
            <a:avLst/>
          </a:prstGeom>
        </p:spPr>
        <p:txBody>
          <a:bodyPr>
            <a:spAutoFit/>
          </a:bodyPr>
          <a:lstStyle/>
          <a:p>
            <a:pPr algn="just">
              <a:lnSpc>
                <a:spcPct val="150000"/>
              </a:lnSpc>
              <a:spcAft>
                <a:spcPts val="0"/>
              </a:spcAft>
            </a:pPr>
            <a:r>
              <a:rPr lang="zh-CN" altLang="zh-CN" kern="100" dirty="0">
                <a:latin typeface="Times New Roman" panose="02020503050405090304" pitchFamily="18" charset="0"/>
                <a:ea typeface="宋体" pitchFamily="2" charset="-122"/>
                <a:cs typeface="Times New Roman" panose="02020503050405090304" pitchFamily="18" charset="0"/>
              </a:rPr>
              <a:t>（</a:t>
            </a:r>
            <a:r>
              <a:rPr lang="en-US" altLang="zh-CN" kern="100" dirty="0">
                <a:latin typeface="Times New Roman" panose="02020503050405090304" pitchFamily="18" charset="0"/>
                <a:ea typeface="宋体" pitchFamily="2" charset="-122"/>
                <a:cs typeface="Times New Roman" panose="02020503050405090304" pitchFamily="18" charset="0"/>
              </a:rPr>
              <a:t>1</a:t>
            </a:r>
            <a:r>
              <a:rPr lang="zh-CN" altLang="zh-CN" kern="100" dirty="0">
                <a:latin typeface="Times New Roman" panose="02020503050405090304" pitchFamily="18" charset="0"/>
                <a:ea typeface="宋体" pitchFamily="2" charset="-122"/>
                <a:cs typeface="Times New Roman" panose="02020503050405090304" pitchFamily="18" charset="0"/>
              </a:rPr>
              <a:t>）</a:t>
            </a:r>
            <a:r>
              <a:rPr lang="en-US" altLang="zh-CN" kern="100" dirty="0">
                <a:latin typeface="Times New Roman" panose="02020503050405090304" pitchFamily="18" charset="0"/>
                <a:ea typeface="宋体" pitchFamily="2" charset="-122"/>
                <a:cs typeface="Times New Roman" panose="02020503050405090304" pitchFamily="18" charset="0"/>
              </a:rPr>
              <a:t>A=</a:t>
            </a:r>
            <a:r>
              <a:rPr lang="zh-CN" altLang="zh-CN" kern="100" dirty="0">
                <a:latin typeface="Times New Roman" panose="02020503050405090304" pitchFamily="18" charset="0"/>
                <a:ea typeface="宋体" pitchFamily="2" charset="-122"/>
                <a:cs typeface="Times New Roman" panose="02020503050405090304" pitchFamily="18" charset="0"/>
              </a:rPr>
              <a:t>（</a:t>
            </a:r>
            <a:r>
              <a:rPr lang="en-US" altLang="zh-CN" kern="100" dirty="0">
                <a:latin typeface="Times New Roman" panose="02020503050405090304" pitchFamily="18" charset="0"/>
                <a:ea typeface="宋体" pitchFamily="2" charset="-122"/>
                <a:cs typeface="Times New Roman" panose="02020503050405090304" pitchFamily="18" charset="0"/>
              </a:rPr>
              <a:t>D</a:t>
            </a:r>
            <a:r>
              <a:rPr lang="zh-CN" altLang="zh-CN" kern="100" dirty="0">
                <a:latin typeface="Times New Roman" panose="02020503050405090304" pitchFamily="18" charset="0"/>
                <a:ea typeface="宋体" pitchFamily="2" charset="-122"/>
                <a:cs typeface="Times New Roman" panose="02020503050405090304" pitchFamily="18" charset="0"/>
              </a:rPr>
              <a:t>，</a:t>
            </a:r>
            <a:r>
              <a:rPr lang="en-US" altLang="zh-CN" kern="100" dirty="0">
                <a:latin typeface="Times New Roman" panose="02020503050405090304" pitchFamily="18" charset="0"/>
                <a:ea typeface="宋体" pitchFamily="2" charset="-122"/>
                <a:cs typeface="Times New Roman" panose="02020503050405090304" pitchFamily="18" charset="0"/>
              </a:rPr>
              <a:t>R</a:t>
            </a:r>
            <a:r>
              <a:rPr lang="zh-CN" altLang="zh-CN" kern="100" dirty="0">
                <a:latin typeface="Times New Roman" panose="02020503050405090304" pitchFamily="18" charset="0"/>
                <a:ea typeface="宋体" pitchFamily="2" charset="-122"/>
                <a:cs typeface="Times New Roman" panose="02020503050405090304" pitchFamily="18" charset="0"/>
              </a:rPr>
              <a:t>），其中：</a:t>
            </a:r>
          </a:p>
          <a:p>
            <a:pPr marL="266700" indent="66675" algn="just">
              <a:lnSpc>
                <a:spcPct val="150000"/>
              </a:lnSpc>
              <a:spcAft>
                <a:spcPts val="0"/>
              </a:spcAft>
            </a:pPr>
            <a:r>
              <a:rPr lang="zh-CN" altLang="en-US" kern="100" dirty="0">
                <a:latin typeface="Times New Roman" panose="02020503050405090304" pitchFamily="18" charset="0"/>
                <a:ea typeface="宋体" pitchFamily="2" charset="-122"/>
                <a:cs typeface="Times New Roman" panose="02020503050405090304" pitchFamily="18" charset="0"/>
              </a:rPr>
              <a:t>    </a:t>
            </a:r>
            <a:r>
              <a:rPr lang="en-US" altLang="zh-CN" kern="100" dirty="0">
                <a:latin typeface="Times New Roman" panose="02020503050405090304" pitchFamily="18" charset="0"/>
                <a:ea typeface="宋体" pitchFamily="2" charset="-122"/>
                <a:cs typeface="Times New Roman" panose="02020503050405090304" pitchFamily="18" charset="0"/>
              </a:rPr>
              <a:t>D={a</a:t>
            </a:r>
            <a:r>
              <a:rPr lang="zh-CN" altLang="zh-CN" kern="100" dirty="0">
                <a:latin typeface="Times New Roman" panose="02020503050405090304" pitchFamily="18" charset="0"/>
                <a:ea typeface="宋体" pitchFamily="2" charset="-122"/>
                <a:cs typeface="Times New Roman" panose="02020503050405090304" pitchFamily="18" charset="0"/>
              </a:rPr>
              <a:t>，</a:t>
            </a:r>
            <a:r>
              <a:rPr lang="en-US" altLang="zh-CN" kern="100" dirty="0">
                <a:latin typeface="Times New Roman" panose="02020503050405090304" pitchFamily="18" charset="0"/>
                <a:ea typeface="宋体" pitchFamily="2" charset="-122"/>
                <a:cs typeface="Times New Roman" panose="02020503050405090304" pitchFamily="18" charset="0"/>
              </a:rPr>
              <a:t>b</a:t>
            </a:r>
            <a:r>
              <a:rPr lang="zh-CN" altLang="zh-CN" kern="100" dirty="0">
                <a:latin typeface="Times New Roman" panose="02020503050405090304" pitchFamily="18" charset="0"/>
                <a:ea typeface="宋体" pitchFamily="2" charset="-122"/>
                <a:cs typeface="Times New Roman" panose="02020503050405090304" pitchFamily="18" charset="0"/>
              </a:rPr>
              <a:t>，</a:t>
            </a:r>
            <a:r>
              <a:rPr lang="en-US" altLang="zh-CN" kern="100" dirty="0">
                <a:latin typeface="Times New Roman" panose="02020503050405090304" pitchFamily="18" charset="0"/>
                <a:ea typeface="宋体" pitchFamily="2" charset="-122"/>
                <a:cs typeface="Times New Roman" panose="02020503050405090304" pitchFamily="18" charset="0"/>
              </a:rPr>
              <a:t>c</a:t>
            </a:r>
            <a:r>
              <a:rPr lang="zh-CN" altLang="zh-CN" kern="100" dirty="0">
                <a:latin typeface="Times New Roman" panose="02020503050405090304" pitchFamily="18" charset="0"/>
                <a:ea typeface="宋体" pitchFamily="2" charset="-122"/>
                <a:cs typeface="Times New Roman" panose="02020503050405090304" pitchFamily="18" charset="0"/>
              </a:rPr>
              <a:t>，</a:t>
            </a:r>
            <a:r>
              <a:rPr lang="en-US" altLang="zh-CN" kern="100" dirty="0">
                <a:latin typeface="Times New Roman" panose="02020503050405090304" pitchFamily="18" charset="0"/>
                <a:ea typeface="宋体" pitchFamily="2" charset="-122"/>
                <a:cs typeface="Times New Roman" panose="02020503050405090304" pitchFamily="18" charset="0"/>
              </a:rPr>
              <a:t>d</a:t>
            </a:r>
            <a:r>
              <a:rPr lang="zh-CN" altLang="zh-CN" kern="100" dirty="0">
                <a:latin typeface="Times New Roman" panose="02020503050405090304" pitchFamily="18" charset="0"/>
                <a:ea typeface="宋体" pitchFamily="2" charset="-122"/>
                <a:cs typeface="Times New Roman" panose="02020503050405090304" pitchFamily="18" charset="0"/>
              </a:rPr>
              <a:t>，</a:t>
            </a:r>
            <a:r>
              <a:rPr lang="en-US" altLang="zh-CN" kern="100" dirty="0">
                <a:latin typeface="Times New Roman" panose="02020503050405090304" pitchFamily="18" charset="0"/>
                <a:ea typeface="宋体" pitchFamily="2" charset="-122"/>
                <a:cs typeface="Times New Roman" panose="02020503050405090304" pitchFamily="18" charset="0"/>
              </a:rPr>
              <a:t>e}</a:t>
            </a:r>
            <a:r>
              <a:rPr lang="zh-CN" altLang="zh-CN" kern="100" dirty="0">
                <a:latin typeface="Times New Roman" panose="02020503050405090304" pitchFamily="18" charset="0"/>
                <a:ea typeface="宋体" pitchFamily="2" charset="-122"/>
                <a:cs typeface="Times New Roman" panose="02020503050405090304" pitchFamily="18" charset="0"/>
              </a:rPr>
              <a:t>，</a:t>
            </a:r>
          </a:p>
          <a:p>
            <a:pPr marL="266700" indent="66675" algn="just">
              <a:lnSpc>
                <a:spcPct val="150000"/>
              </a:lnSpc>
              <a:spcAft>
                <a:spcPts val="0"/>
              </a:spcAft>
            </a:pPr>
            <a:r>
              <a:rPr lang="zh-CN" altLang="en-US" kern="100" dirty="0">
                <a:latin typeface="Times New Roman" panose="02020503050405090304" pitchFamily="18" charset="0"/>
                <a:ea typeface="宋体" pitchFamily="2" charset="-122"/>
                <a:cs typeface="Times New Roman" panose="02020503050405090304" pitchFamily="18" charset="0"/>
              </a:rPr>
              <a:t>    </a:t>
            </a:r>
            <a:r>
              <a:rPr lang="en-US" altLang="zh-CN" kern="100" dirty="0">
                <a:latin typeface="Times New Roman" panose="02020503050405090304" pitchFamily="18" charset="0"/>
                <a:ea typeface="宋体" pitchFamily="2" charset="-122"/>
                <a:cs typeface="Times New Roman" panose="02020503050405090304" pitchFamily="18" charset="0"/>
              </a:rPr>
              <a:t>R={ }</a:t>
            </a:r>
            <a:endParaRPr lang="zh-CN" altLang="zh-CN" kern="100" dirty="0">
              <a:latin typeface="Times New Roman" panose="02020503050405090304" pitchFamily="18" charset="0"/>
              <a:ea typeface="宋体" pitchFamily="2" charset="-122"/>
              <a:cs typeface="Times New Roman" panose="02020503050405090304" pitchFamily="18" charset="0"/>
            </a:endParaRPr>
          </a:p>
        </p:txBody>
      </p:sp>
      <p:grpSp>
        <p:nvGrpSpPr>
          <p:cNvPr id="17" name="组合 16"/>
          <p:cNvGrpSpPr/>
          <p:nvPr/>
        </p:nvGrpSpPr>
        <p:grpSpPr>
          <a:xfrm>
            <a:off x="5943600" y="1498600"/>
            <a:ext cx="2204720" cy="284480"/>
            <a:chOff x="5669280" y="1544320"/>
            <a:chExt cx="2204720" cy="284480"/>
          </a:xfrm>
        </p:grpSpPr>
        <p:sp>
          <p:nvSpPr>
            <p:cNvPr id="12" name="椭圆 11"/>
            <p:cNvSpPr/>
            <p:nvPr/>
          </p:nvSpPr>
          <p:spPr>
            <a:xfrm>
              <a:off x="5669280" y="1544320"/>
              <a:ext cx="294640" cy="284480"/>
            </a:xfrm>
            <a:prstGeom prst="ellipse">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503050405090304" pitchFamily="18" charset="0"/>
                  <a:cs typeface="Times New Roman" panose="02020503050405090304" pitchFamily="18" charset="0"/>
                </a:rPr>
                <a:t>a</a:t>
              </a:r>
              <a:endParaRPr kumimoji="1" lang="zh-CN" altLang="en-US" dirty="0">
                <a:solidFill>
                  <a:schemeClr val="tx1"/>
                </a:solidFill>
                <a:latin typeface="Times New Roman" panose="02020503050405090304" pitchFamily="18" charset="0"/>
                <a:cs typeface="Times New Roman" panose="02020503050405090304" pitchFamily="18" charset="0"/>
              </a:endParaRPr>
            </a:p>
          </p:txBody>
        </p:sp>
        <p:sp>
          <p:nvSpPr>
            <p:cNvPr id="13" name="椭圆 12"/>
            <p:cNvSpPr/>
            <p:nvPr/>
          </p:nvSpPr>
          <p:spPr>
            <a:xfrm>
              <a:off x="6146800" y="1544320"/>
              <a:ext cx="294640" cy="284480"/>
            </a:xfrm>
            <a:prstGeom prst="ellipse">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503050405090304" pitchFamily="18" charset="0"/>
                  <a:cs typeface="Times New Roman" panose="02020503050405090304" pitchFamily="18" charset="0"/>
                </a:rPr>
                <a:t>b</a:t>
              </a:r>
              <a:endParaRPr kumimoji="1" lang="zh-CN" altLang="en-US" dirty="0">
                <a:solidFill>
                  <a:schemeClr val="tx1"/>
                </a:solidFill>
                <a:latin typeface="Times New Roman" panose="02020503050405090304" pitchFamily="18" charset="0"/>
                <a:cs typeface="Times New Roman" panose="02020503050405090304" pitchFamily="18" charset="0"/>
              </a:endParaRPr>
            </a:p>
          </p:txBody>
        </p:sp>
        <p:sp>
          <p:nvSpPr>
            <p:cNvPr id="14" name="椭圆 13"/>
            <p:cNvSpPr/>
            <p:nvPr/>
          </p:nvSpPr>
          <p:spPr>
            <a:xfrm>
              <a:off x="6629400" y="1544320"/>
              <a:ext cx="294640" cy="284480"/>
            </a:xfrm>
            <a:prstGeom prst="ellipse">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503050405090304" pitchFamily="18" charset="0"/>
                  <a:cs typeface="Times New Roman" panose="02020503050405090304" pitchFamily="18" charset="0"/>
                </a:rPr>
                <a:t>c</a:t>
              </a:r>
              <a:endParaRPr kumimoji="1" lang="zh-CN" altLang="en-US" dirty="0">
                <a:solidFill>
                  <a:schemeClr val="tx1"/>
                </a:solidFill>
                <a:latin typeface="Times New Roman" panose="02020503050405090304" pitchFamily="18" charset="0"/>
                <a:cs typeface="Times New Roman" panose="02020503050405090304" pitchFamily="18" charset="0"/>
              </a:endParaRPr>
            </a:p>
          </p:txBody>
        </p:sp>
        <p:sp>
          <p:nvSpPr>
            <p:cNvPr id="15" name="椭圆 14"/>
            <p:cNvSpPr/>
            <p:nvPr/>
          </p:nvSpPr>
          <p:spPr>
            <a:xfrm>
              <a:off x="7122160" y="1544320"/>
              <a:ext cx="294640" cy="284480"/>
            </a:xfrm>
            <a:prstGeom prst="ellipse">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503050405090304" pitchFamily="18" charset="0"/>
                  <a:cs typeface="Times New Roman" panose="02020503050405090304" pitchFamily="18" charset="0"/>
                </a:rPr>
                <a:t>d</a:t>
              </a:r>
              <a:endParaRPr kumimoji="1" lang="zh-CN" altLang="en-US" dirty="0">
                <a:solidFill>
                  <a:schemeClr val="tx1"/>
                </a:solidFill>
                <a:latin typeface="Times New Roman" panose="02020503050405090304" pitchFamily="18" charset="0"/>
                <a:cs typeface="Times New Roman" panose="02020503050405090304" pitchFamily="18" charset="0"/>
              </a:endParaRPr>
            </a:p>
          </p:txBody>
        </p:sp>
        <p:sp>
          <p:nvSpPr>
            <p:cNvPr id="16" name="椭圆 15"/>
            <p:cNvSpPr/>
            <p:nvPr/>
          </p:nvSpPr>
          <p:spPr>
            <a:xfrm>
              <a:off x="7579360" y="1544320"/>
              <a:ext cx="294640" cy="284480"/>
            </a:xfrm>
            <a:prstGeom prst="ellipse">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503050405090304" pitchFamily="18" charset="0"/>
                  <a:cs typeface="Times New Roman" panose="02020503050405090304" pitchFamily="18" charset="0"/>
                </a:rPr>
                <a:t>e</a:t>
              </a:r>
              <a:endParaRPr kumimoji="1" lang="zh-CN" altLang="en-US" dirty="0">
                <a:solidFill>
                  <a:schemeClr val="tx1"/>
                </a:solidFill>
                <a:latin typeface="Times New Roman" panose="02020503050405090304" pitchFamily="18" charset="0"/>
                <a:cs typeface="Times New Roman" panose="02020503050405090304" pitchFamily="18" charset="0"/>
              </a:endParaRPr>
            </a:p>
          </p:txBody>
        </p:sp>
      </p:grpSp>
      <p:sp>
        <p:nvSpPr>
          <p:cNvPr id="18" name="矩形 17"/>
          <p:cNvSpPr/>
          <p:nvPr/>
        </p:nvSpPr>
        <p:spPr>
          <a:xfrm>
            <a:off x="1316244" y="2761908"/>
            <a:ext cx="8910320" cy="1286186"/>
          </a:xfrm>
          <a:prstGeom prst="rect">
            <a:avLst/>
          </a:prstGeom>
        </p:spPr>
        <p:txBody>
          <a:bodyPr wrap="square">
            <a:spAutoFit/>
          </a:bodyPr>
          <a:lstStyle/>
          <a:p>
            <a:pPr algn="just">
              <a:lnSpc>
                <a:spcPct val="150000"/>
              </a:lnSpc>
              <a:spcAft>
                <a:spcPts val="0"/>
              </a:spcAft>
            </a:pPr>
            <a:r>
              <a:rPr lang="zh-CN" altLang="zh-CN" kern="100" dirty="0">
                <a:latin typeface="Times New Roman" panose="02020503050405090304" pitchFamily="18" charset="0"/>
                <a:ea typeface="宋体" pitchFamily="2" charset="-122"/>
              </a:rPr>
              <a:t>（</a:t>
            </a:r>
            <a:r>
              <a:rPr lang="en-US" altLang="zh-CN" kern="100" dirty="0">
                <a:latin typeface="Times New Roman" panose="02020503050405090304" pitchFamily="18" charset="0"/>
                <a:ea typeface="宋体" pitchFamily="2" charset="-122"/>
              </a:rPr>
              <a:t>2</a:t>
            </a:r>
            <a:r>
              <a:rPr lang="zh-CN" altLang="zh-CN" kern="100" dirty="0">
                <a:latin typeface="Times New Roman" panose="02020503050405090304" pitchFamily="18" charset="0"/>
                <a:ea typeface="宋体" pitchFamily="2" charset="-122"/>
              </a:rPr>
              <a:t>）</a:t>
            </a:r>
            <a:r>
              <a:rPr lang="en-US" altLang="zh-CN" kern="100" dirty="0">
                <a:latin typeface="Times New Roman" panose="02020503050405090304" pitchFamily="18" charset="0"/>
                <a:ea typeface="宋体" pitchFamily="2" charset="-122"/>
              </a:rPr>
              <a:t>B=</a:t>
            </a:r>
            <a:r>
              <a:rPr lang="zh-CN" altLang="zh-CN" kern="100" dirty="0">
                <a:latin typeface="Times New Roman" panose="02020503050405090304" pitchFamily="18" charset="0"/>
                <a:ea typeface="宋体" pitchFamily="2" charset="-122"/>
              </a:rPr>
              <a:t>（</a:t>
            </a:r>
            <a:r>
              <a:rPr lang="en-US" altLang="zh-CN" kern="100" dirty="0">
                <a:latin typeface="Times New Roman" panose="02020503050405090304" pitchFamily="18" charset="0"/>
                <a:ea typeface="宋体" pitchFamily="2" charset="-122"/>
              </a:rPr>
              <a:t>D,R</a:t>
            </a:r>
            <a:r>
              <a:rPr lang="zh-CN" altLang="zh-CN" kern="100" dirty="0">
                <a:latin typeface="Times New Roman" panose="02020503050405090304" pitchFamily="18" charset="0"/>
                <a:ea typeface="宋体" pitchFamily="2" charset="-122"/>
              </a:rPr>
              <a:t>），其中：</a:t>
            </a:r>
          </a:p>
          <a:p>
            <a:pPr indent="333375" algn="just">
              <a:lnSpc>
                <a:spcPct val="150000"/>
              </a:lnSpc>
              <a:spcAft>
                <a:spcPts val="0"/>
              </a:spcAft>
            </a:pPr>
            <a:r>
              <a:rPr lang="zh-CN" altLang="en-US" kern="100" dirty="0">
                <a:latin typeface="Times New Roman" panose="02020503050405090304" pitchFamily="18" charset="0"/>
                <a:ea typeface="宋体" pitchFamily="2" charset="-122"/>
              </a:rPr>
              <a:t>    </a:t>
            </a:r>
            <a:r>
              <a:rPr lang="en-US" altLang="zh-CN" kern="100" dirty="0">
                <a:latin typeface="Times New Roman" panose="02020503050405090304" pitchFamily="18" charset="0"/>
                <a:ea typeface="宋体" pitchFamily="2" charset="-122"/>
              </a:rPr>
              <a:t>D={</a:t>
            </a:r>
            <a:r>
              <a:rPr lang="en-US" altLang="zh-CN" kern="100" dirty="0" err="1">
                <a:latin typeface="Times New Roman" panose="02020503050405090304" pitchFamily="18" charset="0"/>
                <a:ea typeface="宋体" pitchFamily="2" charset="-122"/>
              </a:rPr>
              <a:t>a,b,c,d,e,f</a:t>
            </a:r>
            <a:r>
              <a:rPr lang="en-US" altLang="zh-CN" kern="100" dirty="0">
                <a:latin typeface="Times New Roman" panose="02020503050405090304" pitchFamily="18" charset="0"/>
                <a:ea typeface="宋体" pitchFamily="2" charset="-122"/>
              </a:rPr>
              <a:t>}</a:t>
            </a:r>
            <a:r>
              <a:rPr lang="zh-CN" altLang="zh-CN" kern="100" dirty="0">
                <a:latin typeface="Times New Roman" panose="02020503050405090304" pitchFamily="18" charset="0"/>
                <a:ea typeface="宋体" pitchFamily="2" charset="-122"/>
              </a:rPr>
              <a:t>，</a:t>
            </a:r>
            <a:r>
              <a:rPr lang="en-US" altLang="zh-CN" kern="100" dirty="0">
                <a:latin typeface="Times New Roman" panose="02020503050405090304" pitchFamily="18" charset="0"/>
                <a:ea typeface="宋体" pitchFamily="2" charset="-122"/>
              </a:rPr>
              <a:t>R={r}</a:t>
            </a:r>
            <a:endParaRPr lang="zh-CN" altLang="zh-CN" kern="100" dirty="0">
              <a:latin typeface="Times New Roman" panose="02020503050405090304" pitchFamily="18" charset="0"/>
              <a:ea typeface="宋体" pitchFamily="2" charset="-122"/>
            </a:endParaRPr>
          </a:p>
          <a:p>
            <a:pPr indent="333375" algn="just">
              <a:lnSpc>
                <a:spcPct val="150000"/>
              </a:lnSpc>
              <a:spcAft>
                <a:spcPts val="0"/>
              </a:spcAft>
            </a:pPr>
            <a:r>
              <a:rPr lang="zh-CN" altLang="en-US" kern="100" dirty="0">
                <a:latin typeface="Times New Roman" panose="02020503050405090304" pitchFamily="18" charset="0"/>
                <a:ea typeface="宋体" pitchFamily="2" charset="-122"/>
              </a:rPr>
              <a:t>    </a:t>
            </a:r>
            <a:r>
              <a:rPr lang="en-US" altLang="zh-CN" kern="100" dirty="0">
                <a:latin typeface="Times New Roman" panose="02020503050405090304" pitchFamily="18" charset="0"/>
                <a:ea typeface="宋体" pitchFamily="2" charset="-122"/>
              </a:rPr>
              <a:t>r</a:t>
            </a:r>
            <a:r>
              <a:rPr lang="zh-CN" altLang="en-US" kern="100" dirty="0">
                <a:latin typeface="Times New Roman" panose="02020503050405090304" pitchFamily="18" charset="0"/>
                <a:ea typeface="宋体" pitchFamily="2" charset="-122"/>
              </a:rPr>
              <a:t> </a:t>
            </a:r>
            <a:r>
              <a:rPr lang="en-US" altLang="zh-CN" kern="100" dirty="0">
                <a:latin typeface="Times New Roman" panose="02020503050405090304" pitchFamily="18" charset="0"/>
                <a:ea typeface="宋体" pitchFamily="2" charset="-122"/>
              </a:rPr>
              <a:t>={&lt;</a:t>
            </a:r>
            <a:r>
              <a:rPr lang="en-US" altLang="zh-CN" kern="100" dirty="0" err="1">
                <a:latin typeface="Times New Roman" panose="02020503050405090304" pitchFamily="18" charset="0"/>
                <a:ea typeface="宋体" pitchFamily="2" charset="-122"/>
              </a:rPr>
              <a:t>a,b</a:t>
            </a:r>
            <a:r>
              <a:rPr lang="en-US" altLang="zh-CN" kern="100" dirty="0">
                <a:latin typeface="Times New Roman" panose="02020503050405090304" pitchFamily="18" charset="0"/>
                <a:ea typeface="宋体" pitchFamily="2" charset="-122"/>
              </a:rPr>
              <a:t>&gt;,&lt;</a:t>
            </a:r>
            <a:r>
              <a:rPr lang="en-US" altLang="zh-CN" kern="100" dirty="0" err="1">
                <a:latin typeface="Times New Roman" panose="02020503050405090304" pitchFamily="18" charset="0"/>
                <a:ea typeface="宋体" pitchFamily="2" charset="-122"/>
              </a:rPr>
              <a:t>b,c</a:t>
            </a:r>
            <a:r>
              <a:rPr lang="en-US" altLang="zh-CN" kern="100" dirty="0">
                <a:latin typeface="Times New Roman" panose="02020503050405090304" pitchFamily="18" charset="0"/>
                <a:ea typeface="宋体" pitchFamily="2" charset="-122"/>
              </a:rPr>
              <a:t>&gt;,&lt;</a:t>
            </a:r>
            <a:r>
              <a:rPr lang="en-US" altLang="zh-CN" kern="100" dirty="0" err="1">
                <a:latin typeface="Times New Roman" panose="02020503050405090304" pitchFamily="18" charset="0"/>
                <a:ea typeface="宋体" pitchFamily="2" charset="-122"/>
              </a:rPr>
              <a:t>c,d</a:t>
            </a:r>
            <a:r>
              <a:rPr lang="en-US" altLang="zh-CN" kern="100" dirty="0">
                <a:latin typeface="Times New Roman" panose="02020503050405090304" pitchFamily="18" charset="0"/>
                <a:ea typeface="宋体" pitchFamily="2" charset="-122"/>
              </a:rPr>
              <a:t>&gt;,&lt;</a:t>
            </a:r>
            <a:r>
              <a:rPr lang="en-US" altLang="zh-CN" kern="100" dirty="0" err="1">
                <a:latin typeface="Times New Roman" panose="02020503050405090304" pitchFamily="18" charset="0"/>
                <a:ea typeface="宋体" pitchFamily="2" charset="-122"/>
              </a:rPr>
              <a:t>d,e</a:t>
            </a:r>
            <a:r>
              <a:rPr lang="en-US" altLang="zh-CN" kern="100" dirty="0">
                <a:latin typeface="Times New Roman" panose="02020503050405090304" pitchFamily="18" charset="0"/>
                <a:ea typeface="宋体" pitchFamily="2" charset="-122"/>
              </a:rPr>
              <a:t>&gt;,&lt;</a:t>
            </a:r>
            <a:r>
              <a:rPr lang="en-US" altLang="zh-CN" kern="100" dirty="0" err="1">
                <a:latin typeface="Times New Roman" panose="02020503050405090304" pitchFamily="18" charset="0"/>
                <a:ea typeface="宋体" pitchFamily="2" charset="-122"/>
              </a:rPr>
              <a:t>e,f</a:t>
            </a:r>
            <a:r>
              <a:rPr lang="en-US" altLang="zh-CN" kern="100" dirty="0">
                <a:latin typeface="Times New Roman" panose="02020503050405090304" pitchFamily="18" charset="0"/>
                <a:ea typeface="宋体" pitchFamily="2" charset="-122"/>
              </a:rPr>
              <a:t>&gt;}    </a:t>
            </a:r>
            <a:r>
              <a:rPr lang="zh-CN" altLang="zh-CN" kern="100" dirty="0">
                <a:latin typeface="Times New Roman" panose="02020503050405090304" pitchFamily="18" charset="0"/>
                <a:ea typeface="宋体" pitchFamily="2" charset="-122"/>
              </a:rPr>
              <a:t>（尖括号表示结点之间关系是有向的）</a:t>
            </a:r>
          </a:p>
        </p:txBody>
      </p:sp>
      <p:grpSp>
        <p:nvGrpSpPr>
          <p:cNvPr id="52" name="组合 51"/>
          <p:cNvGrpSpPr/>
          <p:nvPr/>
        </p:nvGrpSpPr>
        <p:grpSpPr>
          <a:xfrm>
            <a:off x="5943600" y="3112376"/>
            <a:ext cx="3139440" cy="284480"/>
            <a:chOff x="5720080" y="3738413"/>
            <a:chExt cx="3139440" cy="284480"/>
          </a:xfrm>
        </p:grpSpPr>
        <p:sp>
          <p:nvSpPr>
            <p:cNvPr id="32" name="椭圆 31"/>
            <p:cNvSpPr/>
            <p:nvPr/>
          </p:nvSpPr>
          <p:spPr>
            <a:xfrm>
              <a:off x="5720080" y="3738413"/>
              <a:ext cx="294640" cy="284480"/>
            </a:xfrm>
            <a:prstGeom prst="ellipse">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503050405090304" pitchFamily="18" charset="0"/>
                  <a:cs typeface="Times New Roman" panose="02020503050405090304" pitchFamily="18" charset="0"/>
                </a:rPr>
                <a:t>a</a:t>
              </a:r>
              <a:endParaRPr kumimoji="1" lang="zh-CN" altLang="en-US" dirty="0">
                <a:solidFill>
                  <a:schemeClr val="tx1"/>
                </a:solidFill>
                <a:latin typeface="Times New Roman" panose="02020503050405090304" pitchFamily="18" charset="0"/>
                <a:cs typeface="Times New Roman" panose="02020503050405090304" pitchFamily="18" charset="0"/>
              </a:endParaRPr>
            </a:p>
          </p:txBody>
        </p:sp>
        <p:sp>
          <p:nvSpPr>
            <p:cNvPr id="33" name="椭圆 32"/>
            <p:cNvSpPr/>
            <p:nvPr/>
          </p:nvSpPr>
          <p:spPr>
            <a:xfrm>
              <a:off x="6294120" y="3738413"/>
              <a:ext cx="294640" cy="284480"/>
            </a:xfrm>
            <a:prstGeom prst="ellipse">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503050405090304" pitchFamily="18" charset="0"/>
                  <a:cs typeface="Times New Roman" panose="02020503050405090304" pitchFamily="18" charset="0"/>
                </a:rPr>
                <a:t>b</a:t>
              </a:r>
              <a:endParaRPr kumimoji="1" lang="zh-CN" altLang="en-US" dirty="0">
                <a:solidFill>
                  <a:schemeClr val="tx1"/>
                </a:solidFill>
                <a:latin typeface="Times New Roman" panose="02020503050405090304" pitchFamily="18" charset="0"/>
                <a:cs typeface="Times New Roman" panose="02020503050405090304" pitchFamily="18" charset="0"/>
              </a:endParaRPr>
            </a:p>
          </p:txBody>
        </p:sp>
        <p:sp>
          <p:nvSpPr>
            <p:cNvPr id="34" name="椭圆 33"/>
            <p:cNvSpPr/>
            <p:nvPr/>
          </p:nvSpPr>
          <p:spPr>
            <a:xfrm>
              <a:off x="6903720" y="3738413"/>
              <a:ext cx="294640" cy="284480"/>
            </a:xfrm>
            <a:prstGeom prst="ellipse">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503050405090304" pitchFamily="18" charset="0"/>
                  <a:cs typeface="Times New Roman" panose="02020503050405090304" pitchFamily="18" charset="0"/>
                </a:rPr>
                <a:t>c</a:t>
              </a:r>
              <a:endParaRPr kumimoji="1" lang="zh-CN" altLang="en-US" dirty="0">
                <a:solidFill>
                  <a:schemeClr val="tx1"/>
                </a:solidFill>
                <a:latin typeface="Times New Roman" panose="02020503050405090304" pitchFamily="18" charset="0"/>
                <a:cs typeface="Times New Roman" panose="02020503050405090304" pitchFamily="18" charset="0"/>
              </a:endParaRPr>
            </a:p>
          </p:txBody>
        </p:sp>
        <p:sp>
          <p:nvSpPr>
            <p:cNvPr id="35" name="椭圆 34"/>
            <p:cNvSpPr/>
            <p:nvPr/>
          </p:nvSpPr>
          <p:spPr>
            <a:xfrm>
              <a:off x="7467600" y="3738413"/>
              <a:ext cx="294640" cy="284480"/>
            </a:xfrm>
            <a:prstGeom prst="ellipse">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503050405090304" pitchFamily="18" charset="0"/>
                  <a:cs typeface="Times New Roman" panose="02020503050405090304" pitchFamily="18" charset="0"/>
                </a:rPr>
                <a:t>d</a:t>
              </a:r>
              <a:endParaRPr kumimoji="1" lang="zh-CN" altLang="en-US" dirty="0">
                <a:solidFill>
                  <a:schemeClr val="tx1"/>
                </a:solidFill>
                <a:latin typeface="Times New Roman" panose="02020503050405090304" pitchFamily="18" charset="0"/>
                <a:cs typeface="Times New Roman" panose="02020503050405090304" pitchFamily="18" charset="0"/>
              </a:endParaRPr>
            </a:p>
          </p:txBody>
        </p:sp>
        <p:sp>
          <p:nvSpPr>
            <p:cNvPr id="36" name="椭圆 35"/>
            <p:cNvSpPr/>
            <p:nvPr/>
          </p:nvSpPr>
          <p:spPr>
            <a:xfrm>
              <a:off x="8006080" y="3738413"/>
              <a:ext cx="294640" cy="284480"/>
            </a:xfrm>
            <a:prstGeom prst="ellipse">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503050405090304" pitchFamily="18" charset="0"/>
                  <a:cs typeface="Times New Roman" panose="02020503050405090304" pitchFamily="18" charset="0"/>
                </a:rPr>
                <a:t>e</a:t>
              </a:r>
              <a:endParaRPr kumimoji="1" lang="zh-CN" altLang="en-US" dirty="0">
                <a:solidFill>
                  <a:schemeClr val="tx1"/>
                </a:solidFill>
                <a:latin typeface="Times New Roman" panose="02020503050405090304" pitchFamily="18" charset="0"/>
                <a:cs typeface="Times New Roman" panose="02020503050405090304" pitchFamily="18" charset="0"/>
              </a:endParaRPr>
            </a:p>
          </p:txBody>
        </p:sp>
        <p:sp>
          <p:nvSpPr>
            <p:cNvPr id="37" name="椭圆 36"/>
            <p:cNvSpPr/>
            <p:nvPr/>
          </p:nvSpPr>
          <p:spPr>
            <a:xfrm>
              <a:off x="8564880" y="3738413"/>
              <a:ext cx="294640" cy="284480"/>
            </a:xfrm>
            <a:prstGeom prst="ellipse">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503050405090304" pitchFamily="18" charset="0"/>
                  <a:cs typeface="Times New Roman" panose="02020503050405090304" pitchFamily="18" charset="0"/>
                </a:rPr>
                <a:t>f</a:t>
              </a:r>
              <a:endParaRPr kumimoji="1" lang="zh-CN" altLang="en-US" dirty="0">
                <a:solidFill>
                  <a:schemeClr val="tx1"/>
                </a:solidFill>
                <a:latin typeface="Times New Roman" panose="02020503050405090304" pitchFamily="18" charset="0"/>
                <a:cs typeface="Times New Roman" panose="02020503050405090304" pitchFamily="18" charset="0"/>
              </a:endParaRPr>
            </a:p>
          </p:txBody>
        </p:sp>
        <p:cxnSp>
          <p:nvCxnSpPr>
            <p:cNvPr id="39" name="直线箭头连接符 38"/>
            <p:cNvCxnSpPr>
              <a:stCxn id="32" idx="6"/>
              <a:endCxn id="33" idx="2"/>
            </p:cNvCxnSpPr>
            <p:nvPr/>
          </p:nvCxnSpPr>
          <p:spPr>
            <a:xfrm>
              <a:off x="6014720" y="3880653"/>
              <a:ext cx="279400" cy="0"/>
            </a:xfrm>
            <a:prstGeom prst="straightConnector1">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直线箭头连接符 39"/>
            <p:cNvCxnSpPr>
              <a:stCxn id="33" idx="6"/>
              <a:endCxn id="34" idx="2"/>
            </p:cNvCxnSpPr>
            <p:nvPr/>
          </p:nvCxnSpPr>
          <p:spPr>
            <a:xfrm>
              <a:off x="6588760" y="3880653"/>
              <a:ext cx="314960" cy="0"/>
            </a:xfrm>
            <a:prstGeom prst="straightConnector1">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直线箭头连接符 42"/>
            <p:cNvCxnSpPr>
              <a:stCxn id="34" idx="6"/>
              <a:endCxn id="35" idx="2"/>
            </p:cNvCxnSpPr>
            <p:nvPr/>
          </p:nvCxnSpPr>
          <p:spPr>
            <a:xfrm>
              <a:off x="7198360" y="3880653"/>
              <a:ext cx="269240" cy="0"/>
            </a:xfrm>
            <a:prstGeom prst="straightConnector1">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直线箭头连接符 45"/>
            <p:cNvCxnSpPr>
              <a:stCxn id="35" idx="6"/>
              <a:endCxn id="36" idx="2"/>
            </p:cNvCxnSpPr>
            <p:nvPr/>
          </p:nvCxnSpPr>
          <p:spPr>
            <a:xfrm>
              <a:off x="7762240" y="3880653"/>
              <a:ext cx="243840" cy="0"/>
            </a:xfrm>
            <a:prstGeom prst="straightConnector1">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直线箭头连接符 48"/>
            <p:cNvCxnSpPr>
              <a:stCxn id="36" idx="6"/>
              <a:endCxn id="37" idx="2"/>
            </p:cNvCxnSpPr>
            <p:nvPr/>
          </p:nvCxnSpPr>
          <p:spPr>
            <a:xfrm>
              <a:off x="8300720" y="3880653"/>
              <a:ext cx="264160" cy="0"/>
            </a:xfrm>
            <a:prstGeom prst="straightConnector1">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grpSp>
      <p:cxnSp>
        <p:nvCxnSpPr>
          <p:cNvPr id="54" name="Line 230"/>
          <p:cNvCxnSpPr>
            <a:cxnSpLocks noChangeShapeType="1"/>
          </p:cNvCxnSpPr>
          <p:nvPr/>
        </p:nvCxnSpPr>
        <p:spPr bwMode="auto">
          <a:xfrm>
            <a:off x="7673975" y="12840167"/>
            <a:ext cx="0" cy="1"/>
          </a:xfrm>
          <a:prstGeom prst="line">
            <a:avLst/>
          </a:prstGeom>
          <a:noFill/>
          <a:ln w="9525">
            <a:solidFill>
              <a:srgbClr val="000000"/>
            </a:solidFill>
            <a:round/>
          </a:ln>
          <a:extLst>
            <a:ext uri="{909E8E84-426E-40DD-AFC4-6F175D3DCCD1}">
              <a14:hiddenFill xmlns:a14="http://schemas.microsoft.com/office/drawing/2010/main">
                <a:noFill/>
              </a14:hiddenFill>
            </a:ext>
          </a:extLst>
        </p:spPr>
      </p:cxnSp>
      <p:sp>
        <p:nvSpPr>
          <p:cNvPr id="55" name="Rectangle 3"/>
          <p:cNvSpPr>
            <a:spLocks noChangeArrowheads="1"/>
          </p:cNvSpPr>
          <p:nvPr/>
        </p:nvSpPr>
        <p:spPr bwMode="auto">
          <a:xfrm>
            <a:off x="1027603" y="4479752"/>
            <a:ext cx="7402989" cy="12890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lvl1pPr indent="333375" eaLnBrk="0" fontAlgn="base" hangingPunct="0">
              <a:spcBef>
                <a:spcPct val="0"/>
              </a:spcBef>
              <a:spcAft>
                <a:spcPct val="0"/>
              </a:spcAft>
              <a:defRPr>
                <a:solidFill>
                  <a:schemeClr val="tx1"/>
                </a:solidFill>
                <a:latin typeface="Arial" panose="020B0604020202090204" pitchFamily="34" charset="0"/>
              </a:defRPr>
            </a:lvl1pPr>
            <a:lvl2pPr eaLnBrk="0" fontAlgn="base" hangingPunct="0">
              <a:spcBef>
                <a:spcPct val="0"/>
              </a:spcBef>
              <a:spcAft>
                <a:spcPct val="0"/>
              </a:spcAft>
              <a:defRPr>
                <a:solidFill>
                  <a:schemeClr val="tx1"/>
                </a:solidFill>
                <a:latin typeface="Arial" panose="020B0604020202090204" pitchFamily="34" charset="0"/>
              </a:defRPr>
            </a:lvl2pPr>
            <a:lvl3pPr eaLnBrk="0" fontAlgn="base" hangingPunct="0">
              <a:spcBef>
                <a:spcPct val="0"/>
              </a:spcBef>
              <a:spcAft>
                <a:spcPct val="0"/>
              </a:spcAft>
              <a:defRPr>
                <a:solidFill>
                  <a:schemeClr val="tx1"/>
                </a:solidFill>
                <a:latin typeface="Arial" panose="020B0604020202090204" pitchFamily="34" charset="0"/>
              </a:defRPr>
            </a:lvl3pPr>
            <a:lvl4pPr eaLnBrk="0" fontAlgn="base" hangingPunct="0">
              <a:spcBef>
                <a:spcPct val="0"/>
              </a:spcBef>
              <a:spcAft>
                <a:spcPct val="0"/>
              </a:spcAft>
              <a:defRPr>
                <a:solidFill>
                  <a:schemeClr val="tx1"/>
                </a:solidFill>
                <a:latin typeface="Arial" panose="020B0604020202090204" pitchFamily="34" charset="0"/>
              </a:defRPr>
            </a:lvl4pPr>
            <a:lvl5pPr eaLnBrk="0" fontAlgn="base" hangingPunct="0">
              <a:spcBef>
                <a:spcPct val="0"/>
              </a:spcBef>
              <a:spcAft>
                <a:spcPct val="0"/>
              </a:spcAft>
              <a:defRPr>
                <a:solidFill>
                  <a:schemeClr val="tx1"/>
                </a:solidFill>
                <a:latin typeface="Arial" panose="020B0604020202090204" pitchFamily="34" charset="0"/>
              </a:defRPr>
            </a:lvl5pPr>
            <a:lvl6pPr eaLnBrk="0" fontAlgn="base" hangingPunct="0">
              <a:spcBef>
                <a:spcPct val="0"/>
              </a:spcBef>
              <a:spcAft>
                <a:spcPct val="0"/>
              </a:spcAft>
              <a:defRPr>
                <a:solidFill>
                  <a:schemeClr val="tx1"/>
                </a:solidFill>
                <a:latin typeface="Arial" panose="020B0604020202090204" pitchFamily="34" charset="0"/>
              </a:defRPr>
            </a:lvl6pPr>
            <a:lvl7pPr eaLnBrk="0" fontAlgn="base" hangingPunct="0">
              <a:spcBef>
                <a:spcPct val="0"/>
              </a:spcBef>
              <a:spcAft>
                <a:spcPct val="0"/>
              </a:spcAft>
              <a:defRPr>
                <a:solidFill>
                  <a:schemeClr val="tx1"/>
                </a:solidFill>
                <a:latin typeface="Arial" panose="020B0604020202090204" pitchFamily="34" charset="0"/>
              </a:defRPr>
            </a:lvl7pPr>
            <a:lvl8pPr eaLnBrk="0" fontAlgn="base" hangingPunct="0">
              <a:spcBef>
                <a:spcPct val="0"/>
              </a:spcBef>
              <a:spcAft>
                <a:spcPct val="0"/>
              </a:spcAft>
              <a:defRPr>
                <a:solidFill>
                  <a:schemeClr val="tx1"/>
                </a:solidFill>
                <a:latin typeface="Arial" panose="020B0604020202090204" pitchFamily="34" charset="0"/>
              </a:defRPr>
            </a:lvl8pPr>
            <a:lvl9pPr eaLnBrk="0" fontAlgn="base" hangingPunct="0">
              <a:spcBef>
                <a:spcPct val="0"/>
              </a:spcBef>
              <a:spcAft>
                <a:spcPct val="0"/>
              </a:spcAft>
              <a:defRPr>
                <a:solidFill>
                  <a:schemeClr val="tx1"/>
                </a:solidFill>
                <a:latin typeface="Arial" panose="020B0604020202090204" pitchFamily="34" charset="0"/>
              </a:defRPr>
            </a:lvl9pPr>
          </a:lstStyle>
          <a:p>
            <a:pPr marL="0" marR="0" lvl="0" indent="333375" algn="l" defTabSz="914400" rtl="0" eaLnBrk="0" fontAlgn="base" latinLnBrk="0" hangingPunct="0">
              <a:lnSpc>
                <a:spcPct val="150000"/>
              </a:lnSpc>
              <a:spcBef>
                <a:spcPct val="0"/>
              </a:spcBef>
              <a:spcAft>
                <a:spcPct val="0"/>
              </a:spcAft>
              <a:buClrTx/>
              <a:buSzTx/>
              <a:buFontTx/>
              <a:buNone/>
            </a:pPr>
            <a:r>
              <a:rPr kumimoji="0" lang="zh-CN" altLang="zh-CN" b="0" i="0" u="none" strike="noStrike" cap="none" normalizeH="0" baseline="0" dirty="0">
                <a:ln>
                  <a:noFill/>
                </a:ln>
                <a:solidFill>
                  <a:schemeClr val="tx1"/>
                </a:solidFill>
                <a:effectLst/>
                <a:latin typeface="Times New Roman" panose="02020503050405090304" pitchFamily="18" charset="0"/>
                <a:ea typeface="黑体" panose="02010609060101010101" pitchFamily="49" charset="-122"/>
                <a:cs typeface="Times New Roman" panose="02020503050405090304" pitchFamily="18" charset="0"/>
              </a:rPr>
              <a:t>（3）F=（D,R），其中：</a:t>
            </a:r>
          </a:p>
          <a:p>
            <a:pPr marL="0" marR="0" lvl="0" indent="333375" algn="l" defTabSz="914400" rtl="0" eaLnBrk="0" fontAlgn="base" latinLnBrk="0" hangingPunct="0">
              <a:lnSpc>
                <a:spcPct val="150000"/>
              </a:lnSpc>
              <a:spcBef>
                <a:spcPct val="0"/>
              </a:spcBef>
              <a:spcAft>
                <a:spcPct val="0"/>
              </a:spcAft>
              <a:buClrTx/>
              <a:buSzTx/>
              <a:buFontTx/>
              <a:buNone/>
            </a:pPr>
            <a:r>
              <a:rPr kumimoji="0" lang="zh-CN" altLang="en-US" b="0" i="0" u="none" strike="noStrike" cap="none" normalizeH="0" baseline="0" dirty="0">
                <a:ln>
                  <a:noFill/>
                </a:ln>
                <a:solidFill>
                  <a:schemeClr val="tx1"/>
                </a:solidFill>
                <a:effectLst/>
                <a:latin typeface="Times New Roman" panose="02020503050405090304" pitchFamily="18" charset="0"/>
                <a:ea typeface="黑体" panose="02010609060101010101" pitchFamily="49" charset="-122"/>
                <a:cs typeface="Times New Roman" panose="02020503050405090304" pitchFamily="18" charset="0"/>
              </a:rPr>
              <a:t>          </a:t>
            </a:r>
            <a:r>
              <a:rPr kumimoji="0" lang="zh-CN" altLang="zh-CN" b="0" i="0" u="none" strike="noStrike" cap="none" normalizeH="0" baseline="0" dirty="0">
                <a:ln>
                  <a:noFill/>
                </a:ln>
                <a:solidFill>
                  <a:schemeClr val="tx1"/>
                </a:solidFill>
                <a:effectLst/>
                <a:latin typeface="Times New Roman" panose="02020503050405090304" pitchFamily="18" charset="0"/>
                <a:ea typeface="黑体" panose="02010609060101010101" pitchFamily="49" charset="-122"/>
                <a:cs typeface="Times New Roman" panose="02020503050405090304" pitchFamily="18" charset="0"/>
              </a:rPr>
              <a:t>D={50,25,64,57,82,36,75,55}，R={r}</a:t>
            </a:r>
          </a:p>
          <a:p>
            <a:pPr marL="0" marR="0" lvl="0" indent="333375" algn="l" defTabSz="914400" rtl="0" eaLnBrk="0" fontAlgn="base" latinLnBrk="0" hangingPunct="0">
              <a:lnSpc>
                <a:spcPct val="150000"/>
              </a:lnSpc>
              <a:spcBef>
                <a:spcPct val="0"/>
              </a:spcBef>
              <a:spcAft>
                <a:spcPct val="0"/>
              </a:spcAft>
              <a:buClrTx/>
              <a:buSzTx/>
              <a:buFontTx/>
              <a:buNone/>
            </a:pPr>
            <a:r>
              <a:rPr kumimoji="0" lang="zh-CN" altLang="en-US" b="0" i="0" u="none" strike="noStrike" cap="none" normalizeH="0" baseline="0" dirty="0">
                <a:ln>
                  <a:noFill/>
                </a:ln>
                <a:solidFill>
                  <a:schemeClr val="tx1"/>
                </a:solidFill>
                <a:effectLst/>
                <a:latin typeface="Times New Roman" panose="02020503050405090304" pitchFamily="18" charset="0"/>
                <a:ea typeface="黑体" panose="02010609060101010101" pitchFamily="49" charset="-122"/>
                <a:cs typeface="Times New Roman" panose="02020503050405090304" pitchFamily="18" charset="0"/>
              </a:rPr>
              <a:t>          </a:t>
            </a:r>
            <a:r>
              <a:rPr kumimoji="0" lang="en-US" altLang="zh-CN" b="0" i="0" u="none" strike="noStrike" cap="none" normalizeH="0" baseline="0" dirty="0">
                <a:ln>
                  <a:noFill/>
                </a:ln>
                <a:solidFill>
                  <a:schemeClr val="tx1"/>
                </a:solidFill>
                <a:effectLst/>
                <a:latin typeface="Times New Roman" panose="02020503050405090304" pitchFamily="18" charset="0"/>
                <a:ea typeface="黑体" panose="02010609060101010101" pitchFamily="49" charset="-122"/>
                <a:cs typeface="Times New Roman" panose="02020503050405090304" pitchFamily="18" charset="0"/>
              </a:rPr>
              <a:t>r</a:t>
            </a:r>
            <a:r>
              <a:rPr kumimoji="0" lang="zh-CN" altLang="en-US" b="0" i="0" u="none" strike="noStrike" cap="none" normalizeH="0" baseline="0" dirty="0">
                <a:ln>
                  <a:noFill/>
                </a:ln>
                <a:solidFill>
                  <a:schemeClr val="tx1"/>
                </a:solidFill>
                <a:effectLst/>
                <a:latin typeface="Times New Roman" panose="02020503050405090304" pitchFamily="18" charset="0"/>
                <a:ea typeface="黑体" panose="02010609060101010101" pitchFamily="49" charset="-122"/>
                <a:cs typeface="Times New Roman" panose="02020503050405090304" pitchFamily="18" charset="0"/>
              </a:rPr>
              <a:t> </a:t>
            </a:r>
            <a:r>
              <a:rPr kumimoji="0" lang="zh-CN" altLang="zh-CN" b="0" i="0" u="none" strike="noStrike" cap="none" normalizeH="0" baseline="0" dirty="0">
                <a:ln>
                  <a:noFill/>
                </a:ln>
                <a:solidFill>
                  <a:schemeClr val="tx1"/>
                </a:solidFill>
                <a:effectLst/>
                <a:latin typeface="Times New Roman" panose="02020503050405090304" pitchFamily="18" charset="0"/>
                <a:ea typeface="黑体" panose="02010609060101010101" pitchFamily="49" charset="-122"/>
                <a:cs typeface="Times New Roman" panose="02020503050405090304" pitchFamily="18" charset="0"/>
              </a:rPr>
              <a:t>={&lt;50,25&gt;,&lt;50,64&gt;,&lt;25,36&gt;,&lt;64,57&gt;,&lt;64,82&gt;,&lt;57,55&gt;,&lt;57,75&gt;}</a:t>
            </a:r>
          </a:p>
        </p:txBody>
      </p:sp>
      <p:grpSp>
        <p:nvGrpSpPr>
          <p:cNvPr id="96" name="组合 95"/>
          <p:cNvGrpSpPr/>
          <p:nvPr/>
        </p:nvGrpSpPr>
        <p:grpSpPr>
          <a:xfrm>
            <a:off x="9745439" y="4113637"/>
            <a:ext cx="1566920" cy="2115301"/>
            <a:chOff x="9668636" y="4151586"/>
            <a:chExt cx="1566920" cy="2115301"/>
          </a:xfrm>
        </p:grpSpPr>
        <p:sp>
          <p:nvSpPr>
            <p:cNvPr id="73" name="椭圆 72"/>
            <p:cNvSpPr/>
            <p:nvPr/>
          </p:nvSpPr>
          <p:spPr>
            <a:xfrm>
              <a:off x="10068911" y="4151586"/>
              <a:ext cx="367861" cy="278701"/>
            </a:xfrm>
            <a:prstGeom prst="ellipse">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CN" sz="1600" dirty="0">
                  <a:solidFill>
                    <a:schemeClr val="tx1"/>
                  </a:solidFill>
                </a:rPr>
                <a:t>50</a:t>
              </a:r>
              <a:endParaRPr kumimoji="1" lang="zh-CN" altLang="en-US" sz="1600" dirty="0">
                <a:solidFill>
                  <a:schemeClr val="tx1"/>
                </a:solidFill>
              </a:endParaRPr>
            </a:p>
          </p:txBody>
        </p:sp>
        <p:sp>
          <p:nvSpPr>
            <p:cNvPr id="74" name="椭圆 73"/>
            <p:cNvSpPr/>
            <p:nvPr/>
          </p:nvSpPr>
          <p:spPr>
            <a:xfrm>
              <a:off x="9669519" y="4707072"/>
              <a:ext cx="367861" cy="278701"/>
            </a:xfrm>
            <a:prstGeom prst="ellipse">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CN" sz="1600" dirty="0">
                  <a:solidFill>
                    <a:schemeClr val="tx1"/>
                  </a:solidFill>
                </a:rPr>
                <a:t>25</a:t>
              </a:r>
              <a:endParaRPr kumimoji="1" lang="zh-CN" altLang="en-US" sz="1600" dirty="0">
                <a:solidFill>
                  <a:schemeClr val="tx1"/>
                </a:solidFill>
              </a:endParaRPr>
            </a:p>
          </p:txBody>
        </p:sp>
        <p:sp>
          <p:nvSpPr>
            <p:cNvPr id="75" name="椭圆 74"/>
            <p:cNvSpPr/>
            <p:nvPr/>
          </p:nvSpPr>
          <p:spPr>
            <a:xfrm>
              <a:off x="10468303" y="4707072"/>
              <a:ext cx="367861" cy="278701"/>
            </a:xfrm>
            <a:prstGeom prst="ellipse">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CN" sz="1600" dirty="0">
                  <a:solidFill>
                    <a:schemeClr val="tx1"/>
                  </a:solidFill>
                </a:rPr>
                <a:t>64</a:t>
              </a:r>
              <a:endParaRPr kumimoji="1" lang="zh-CN" altLang="en-US" sz="1600" dirty="0">
                <a:solidFill>
                  <a:schemeClr val="tx1"/>
                </a:solidFill>
              </a:endParaRPr>
            </a:p>
          </p:txBody>
        </p:sp>
        <p:sp>
          <p:nvSpPr>
            <p:cNvPr id="76" name="椭圆 75"/>
            <p:cNvSpPr/>
            <p:nvPr/>
          </p:nvSpPr>
          <p:spPr>
            <a:xfrm>
              <a:off x="10143184" y="5301323"/>
              <a:ext cx="367861" cy="278701"/>
            </a:xfrm>
            <a:prstGeom prst="ellipse">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CN" sz="1600" dirty="0">
                  <a:solidFill>
                    <a:schemeClr val="tx1"/>
                  </a:solidFill>
                </a:rPr>
                <a:t>57</a:t>
              </a:r>
              <a:endParaRPr kumimoji="1" lang="zh-CN" altLang="en-US" sz="1600" dirty="0">
                <a:solidFill>
                  <a:schemeClr val="tx1"/>
                </a:solidFill>
              </a:endParaRPr>
            </a:p>
          </p:txBody>
        </p:sp>
        <p:sp>
          <p:nvSpPr>
            <p:cNvPr id="77" name="椭圆 76"/>
            <p:cNvSpPr/>
            <p:nvPr/>
          </p:nvSpPr>
          <p:spPr>
            <a:xfrm>
              <a:off x="10867695" y="5291669"/>
              <a:ext cx="367861" cy="278701"/>
            </a:xfrm>
            <a:prstGeom prst="ellipse">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CN" sz="1600" dirty="0">
                  <a:solidFill>
                    <a:schemeClr val="tx1"/>
                  </a:solidFill>
                </a:rPr>
                <a:t>82</a:t>
              </a:r>
              <a:endParaRPr kumimoji="1" lang="zh-CN" altLang="en-US" sz="1600" dirty="0">
                <a:solidFill>
                  <a:schemeClr val="tx1"/>
                </a:solidFill>
              </a:endParaRPr>
            </a:p>
          </p:txBody>
        </p:sp>
        <p:sp>
          <p:nvSpPr>
            <p:cNvPr id="78" name="椭圆 77"/>
            <p:cNvSpPr/>
            <p:nvPr/>
          </p:nvSpPr>
          <p:spPr>
            <a:xfrm>
              <a:off x="9841006" y="5988185"/>
              <a:ext cx="367861" cy="278701"/>
            </a:xfrm>
            <a:prstGeom prst="ellipse">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CN" sz="1600" dirty="0">
                  <a:solidFill>
                    <a:schemeClr val="tx1"/>
                  </a:solidFill>
                </a:rPr>
                <a:t>55</a:t>
              </a:r>
              <a:endParaRPr kumimoji="1" lang="zh-CN" altLang="en-US" sz="1600" dirty="0">
                <a:solidFill>
                  <a:schemeClr val="tx1"/>
                </a:solidFill>
              </a:endParaRPr>
            </a:p>
          </p:txBody>
        </p:sp>
        <p:sp>
          <p:nvSpPr>
            <p:cNvPr id="79" name="椭圆 78"/>
            <p:cNvSpPr/>
            <p:nvPr/>
          </p:nvSpPr>
          <p:spPr>
            <a:xfrm>
              <a:off x="10468303" y="5988186"/>
              <a:ext cx="367861" cy="278701"/>
            </a:xfrm>
            <a:prstGeom prst="ellipse">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CN" sz="1600" dirty="0">
                  <a:solidFill>
                    <a:schemeClr val="tx1"/>
                  </a:solidFill>
                </a:rPr>
                <a:t>75</a:t>
              </a:r>
              <a:endParaRPr kumimoji="1" lang="zh-CN" altLang="en-US" sz="1600" dirty="0">
                <a:solidFill>
                  <a:schemeClr val="tx1"/>
                </a:solidFill>
              </a:endParaRPr>
            </a:p>
          </p:txBody>
        </p:sp>
        <p:sp>
          <p:nvSpPr>
            <p:cNvPr id="81" name="椭圆 80"/>
            <p:cNvSpPr/>
            <p:nvPr/>
          </p:nvSpPr>
          <p:spPr>
            <a:xfrm>
              <a:off x="9668636" y="5301323"/>
              <a:ext cx="367861" cy="278701"/>
            </a:xfrm>
            <a:prstGeom prst="ellipse">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CN" sz="1600" dirty="0">
                  <a:solidFill>
                    <a:schemeClr val="tx1"/>
                  </a:solidFill>
                </a:rPr>
                <a:t>36</a:t>
              </a:r>
              <a:endParaRPr kumimoji="1" lang="zh-CN" altLang="en-US" sz="1600" dirty="0">
                <a:solidFill>
                  <a:schemeClr val="tx1"/>
                </a:solidFill>
              </a:endParaRPr>
            </a:p>
          </p:txBody>
        </p:sp>
        <p:cxnSp>
          <p:nvCxnSpPr>
            <p:cNvPr id="83" name="直线箭头连接符 82"/>
            <p:cNvCxnSpPr>
              <a:stCxn id="73" idx="4"/>
              <a:endCxn id="74" idx="0"/>
            </p:cNvCxnSpPr>
            <p:nvPr/>
          </p:nvCxnSpPr>
          <p:spPr>
            <a:xfrm flipH="1">
              <a:off x="9853450" y="4430287"/>
              <a:ext cx="399392" cy="276785"/>
            </a:xfrm>
            <a:prstGeom prst="straightConnector1">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85" name="直线箭头连接符 84"/>
            <p:cNvCxnSpPr>
              <a:stCxn id="73" idx="4"/>
              <a:endCxn id="75" idx="0"/>
            </p:cNvCxnSpPr>
            <p:nvPr/>
          </p:nvCxnSpPr>
          <p:spPr>
            <a:xfrm>
              <a:off x="10252842" y="4430287"/>
              <a:ext cx="399392" cy="276785"/>
            </a:xfrm>
            <a:prstGeom prst="straightConnector1">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87" name="直线箭头连接符 86"/>
            <p:cNvCxnSpPr>
              <a:stCxn id="74" idx="4"/>
              <a:endCxn id="81" idx="0"/>
            </p:cNvCxnSpPr>
            <p:nvPr/>
          </p:nvCxnSpPr>
          <p:spPr>
            <a:xfrm flipH="1">
              <a:off x="9852567" y="4985773"/>
              <a:ext cx="883" cy="315550"/>
            </a:xfrm>
            <a:prstGeom prst="straightConnector1">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89" name="直线箭头连接符 88"/>
            <p:cNvCxnSpPr>
              <a:stCxn id="75" idx="4"/>
              <a:endCxn id="76" idx="0"/>
            </p:cNvCxnSpPr>
            <p:nvPr/>
          </p:nvCxnSpPr>
          <p:spPr>
            <a:xfrm flipH="1">
              <a:off x="10327115" y="4985773"/>
              <a:ext cx="325119" cy="315550"/>
            </a:xfrm>
            <a:prstGeom prst="straightConnector1">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91" name="直线箭头连接符 90"/>
            <p:cNvCxnSpPr>
              <a:stCxn id="75" idx="4"/>
              <a:endCxn id="77" idx="0"/>
            </p:cNvCxnSpPr>
            <p:nvPr/>
          </p:nvCxnSpPr>
          <p:spPr>
            <a:xfrm>
              <a:off x="10652234" y="4985773"/>
              <a:ext cx="399392" cy="305896"/>
            </a:xfrm>
            <a:prstGeom prst="straightConnector1">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93" name="直线箭头连接符 92"/>
            <p:cNvCxnSpPr>
              <a:stCxn id="76" idx="4"/>
              <a:endCxn id="78" idx="0"/>
            </p:cNvCxnSpPr>
            <p:nvPr/>
          </p:nvCxnSpPr>
          <p:spPr>
            <a:xfrm flipH="1">
              <a:off x="10024937" y="5580024"/>
              <a:ext cx="302178" cy="408161"/>
            </a:xfrm>
            <a:prstGeom prst="straightConnector1">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95" name="直线箭头连接符 94"/>
            <p:cNvCxnSpPr>
              <a:stCxn id="76" idx="4"/>
              <a:endCxn id="79" idx="0"/>
            </p:cNvCxnSpPr>
            <p:nvPr/>
          </p:nvCxnSpPr>
          <p:spPr>
            <a:xfrm>
              <a:off x="10327115" y="5580024"/>
              <a:ext cx="325119" cy="408162"/>
            </a:xfrm>
            <a:prstGeom prst="straightConnector1">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grpSp>
      <p:sp>
        <p:nvSpPr>
          <p:cNvPr id="97" name="文本框 96"/>
          <p:cNvSpPr txBox="1"/>
          <p:nvPr/>
        </p:nvSpPr>
        <p:spPr>
          <a:xfrm>
            <a:off x="9425694" y="1446126"/>
            <a:ext cx="800219" cy="461665"/>
          </a:xfrm>
          <a:prstGeom prst="rect">
            <a:avLst/>
          </a:prstGeom>
          <a:noFill/>
        </p:spPr>
        <p:txBody>
          <a:bodyPr wrap="none" rtlCol="0">
            <a:spAutoFit/>
          </a:bodyPr>
          <a:lstStyle/>
          <a:p>
            <a:r>
              <a:rPr kumimoji="1" lang="zh-CN" altLang="en-US" sz="2400" dirty="0">
                <a:solidFill>
                  <a:srgbClr val="FF0000"/>
                </a:solidFill>
                <a:latin typeface="黑体" panose="02010609060101010101" pitchFamily="49" charset="-122"/>
                <a:ea typeface="黑体" panose="02010609060101010101" pitchFamily="49" charset="-122"/>
              </a:rPr>
              <a:t>集合</a:t>
            </a:r>
          </a:p>
        </p:txBody>
      </p:sp>
      <p:sp>
        <p:nvSpPr>
          <p:cNvPr id="98" name="文本框 97"/>
          <p:cNvSpPr txBox="1"/>
          <p:nvPr/>
        </p:nvSpPr>
        <p:spPr>
          <a:xfrm>
            <a:off x="9420903" y="3059668"/>
            <a:ext cx="1107996" cy="461665"/>
          </a:xfrm>
          <a:prstGeom prst="rect">
            <a:avLst/>
          </a:prstGeom>
          <a:noFill/>
        </p:spPr>
        <p:txBody>
          <a:bodyPr wrap="none" rtlCol="0">
            <a:spAutoFit/>
          </a:bodyPr>
          <a:lstStyle/>
          <a:p>
            <a:r>
              <a:rPr kumimoji="1" lang="zh-CN" altLang="en-US" sz="2400" dirty="0">
                <a:solidFill>
                  <a:srgbClr val="FF0000"/>
                </a:solidFill>
                <a:latin typeface="黑体" panose="02010609060101010101" pitchFamily="49" charset="-122"/>
                <a:ea typeface="黑体" panose="02010609060101010101" pitchFamily="49" charset="-122"/>
              </a:rPr>
              <a:t>线性表</a:t>
            </a:r>
          </a:p>
        </p:txBody>
      </p:sp>
      <p:sp>
        <p:nvSpPr>
          <p:cNvPr id="99" name="文本框 98"/>
          <p:cNvSpPr txBox="1"/>
          <p:nvPr/>
        </p:nvSpPr>
        <p:spPr>
          <a:xfrm>
            <a:off x="9346468" y="5858753"/>
            <a:ext cx="492443" cy="461665"/>
          </a:xfrm>
          <a:prstGeom prst="rect">
            <a:avLst/>
          </a:prstGeom>
          <a:noFill/>
        </p:spPr>
        <p:txBody>
          <a:bodyPr wrap="none" rtlCol="0">
            <a:spAutoFit/>
          </a:bodyPr>
          <a:lstStyle/>
          <a:p>
            <a:r>
              <a:rPr kumimoji="1" lang="zh-CN" altLang="en-US" sz="2400" dirty="0">
                <a:solidFill>
                  <a:srgbClr val="FF0000"/>
                </a:solidFill>
                <a:latin typeface="黑体" panose="02010609060101010101" pitchFamily="49" charset="-122"/>
                <a:ea typeface="黑体" panose="02010609060101010101" pitchFamily="49" charset="-122"/>
              </a:rPr>
              <a:t>树</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checkerboard(across)">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97"/>
                                        </p:tgtEl>
                                        <p:attrNameLst>
                                          <p:attrName>style.visibility</p:attrName>
                                        </p:attrNameLst>
                                      </p:cBhvr>
                                      <p:to>
                                        <p:strVal val="visible"/>
                                      </p:to>
                                    </p:set>
                                    <p:animEffect transition="in" filter="blinds(horizontal)">
                                      <p:cBhvr>
                                        <p:cTn id="17" dur="500"/>
                                        <p:tgtEl>
                                          <p:spTgt spid="9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wipe(left)">
                                      <p:cBhvr>
                                        <p:cTn id="22" dur="500"/>
                                        <p:tgtEl>
                                          <p:spTgt spid="18"/>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52"/>
                                        </p:tgtEl>
                                        <p:attrNameLst>
                                          <p:attrName>style.visibility</p:attrName>
                                        </p:attrNameLst>
                                      </p:cBhvr>
                                      <p:to>
                                        <p:strVal val="visible"/>
                                      </p:to>
                                    </p:set>
                                    <p:animEffect transition="in" filter="checkerboard(across)">
                                      <p:cBhvr>
                                        <p:cTn id="27" dur="500"/>
                                        <p:tgtEl>
                                          <p:spTgt spid="52"/>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98"/>
                                        </p:tgtEl>
                                        <p:attrNameLst>
                                          <p:attrName>style.visibility</p:attrName>
                                        </p:attrNameLst>
                                      </p:cBhvr>
                                      <p:to>
                                        <p:strVal val="visible"/>
                                      </p:to>
                                    </p:set>
                                    <p:animEffect transition="in" filter="blinds(horizontal)">
                                      <p:cBhvr>
                                        <p:cTn id="32" dur="500"/>
                                        <p:tgtEl>
                                          <p:spTgt spid="9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55"/>
                                        </p:tgtEl>
                                        <p:attrNameLst>
                                          <p:attrName>style.visibility</p:attrName>
                                        </p:attrNameLst>
                                      </p:cBhvr>
                                      <p:to>
                                        <p:strVal val="visible"/>
                                      </p:to>
                                    </p:set>
                                    <p:animEffect transition="in" filter="wipe(left)">
                                      <p:cBhvr>
                                        <p:cTn id="37" dur="500"/>
                                        <p:tgtEl>
                                          <p:spTgt spid="55"/>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nodeType="clickEffect">
                                  <p:stCondLst>
                                    <p:cond delay="0"/>
                                  </p:stCondLst>
                                  <p:childTnLst>
                                    <p:set>
                                      <p:cBhvr>
                                        <p:cTn id="41" dur="1" fill="hold">
                                          <p:stCondLst>
                                            <p:cond delay="0"/>
                                          </p:stCondLst>
                                        </p:cTn>
                                        <p:tgtEl>
                                          <p:spTgt spid="96"/>
                                        </p:tgtEl>
                                        <p:attrNameLst>
                                          <p:attrName>style.visibility</p:attrName>
                                        </p:attrNameLst>
                                      </p:cBhvr>
                                      <p:to>
                                        <p:strVal val="visible"/>
                                      </p:to>
                                    </p:set>
                                    <p:animEffect transition="in" filter="dissolve">
                                      <p:cBhvr>
                                        <p:cTn id="42" dur="500"/>
                                        <p:tgtEl>
                                          <p:spTgt spid="96"/>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99"/>
                                        </p:tgtEl>
                                        <p:attrNameLst>
                                          <p:attrName>style.visibility</p:attrName>
                                        </p:attrNameLst>
                                      </p:cBhvr>
                                      <p:to>
                                        <p:strVal val="visible"/>
                                      </p:to>
                                    </p:set>
                                    <p:animEffect transition="in" filter="blinds(horizontal)">
                                      <p:cBhvr>
                                        <p:cTn id="47" dur="500"/>
                                        <p:tgtEl>
                                          <p:spTgt spid="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8" grpId="0"/>
      <p:bldP spid="55" grpId="0"/>
      <p:bldP spid="97" grpId="0"/>
      <p:bldP spid="98" grpId="0"/>
      <p:bldP spid="9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387365" y="758298"/>
            <a:ext cx="9196551" cy="1286186"/>
          </a:xfrm>
          <a:prstGeom prst="rect">
            <a:avLst/>
          </a:prstGeom>
        </p:spPr>
        <p:txBody>
          <a:bodyPr wrap="square">
            <a:spAutoFit/>
          </a:bodyPr>
          <a:lstStyle/>
          <a:p>
            <a:pPr algn="just">
              <a:lnSpc>
                <a:spcPct val="150000"/>
              </a:lnSpc>
              <a:spcAft>
                <a:spcPts val="0"/>
              </a:spcAft>
            </a:pPr>
            <a:r>
              <a:rPr lang="zh-CN" altLang="zh-CN" kern="100" dirty="0">
                <a:latin typeface="Times New Roman" panose="02020503050405090304" pitchFamily="18" charset="0"/>
                <a:ea typeface="宋体" pitchFamily="2" charset="-122"/>
                <a:cs typeface="Times New Roman" panose="02020503050405090304" pitchFamily="18" charset="0"/>
              </a:rPr>
              <a:t>（</a:t>
            </a:r>
            <a:r>
              <a:rPr lang="en-US" altLang="zh-CN" kern="100" dirty="0">
                <a:latin typeface="Times New Roman" panose="02020503050405090304" pitchFamily="18" charset="0"/>
                <a:ea typeface="宋体" pitchFamily="2" charset="-122"/>
                <a:cs typeface="Times New Roman" panose="02020503050405090304" pitchFamily="18" charset="0"/>
              </a:rPr>
              <a:t>4</a:t>
            </a:r>
            <a:r>
              <a:rPr lang="zh-CN" altLang="zh-CN" kern="100" dirty="0">
                <a:latin typeface="Times New Roman" panose="02020503050405090304" pitchFamily="18" charset="0"/>
                <a:ea typeface="宋体" pitchFamily="2" charset="-122"/>
                <a:cs typeface="Times New Roman" panose="02020503050405090304" pitchFamily="18" charset="0"/>
              </a:rPr>
              <a:t>）</a:t>
            </a:r>
            <a:r>
              <a:rPr lang="en-US" altLang="zh-CN" kern="100" dirty="0">
                <a:latin typeface="Times New Roman" panose="02020503050405090304" pitchFamily="18" charset="0"/>
                <a:ea typeface="宋体" pitchFamily="2" charset="-122"/>
                <a:cs typeface="Times New Roman" panose="02020503050405090304" pitchFamily="18" charset="0"/>
              </a:rPr>
              <a:t>C=</a:t>
            </a:r>
            <a:r>
              <a:rPr lang="zh-CN" altLang="zh-CN" kern="100" dirty="0">
                <a:latin typeface="Times New Roman" panose="02020503050405090304" pitchFamily="18" charset="0"/>
                <a:ea typeface="宋体" pitchFamily="2" charset="-122"/>
                <a:cs typeface="Times New Roman" panose="02020503050405090304" pitchFamily="18" charset="0"/>
              </a:rPr>
              <a:t>（</a:t>
            </a:r>
            <a:r>
              <a:rPr lang="en-US" altLang="zh-CN" kern="100" dirty="0">
                <a:latin typeface="Times New Roman" panose="02020503050405090304" pitchFamily="18" charset="0"/>
                <a:ea typeface="宋体" pitchFamily="2" charset="-122"/>
                <a:cs typeface="Times New Roman" panose="02020503050405090304" pitchFamily="18" charset="0"/>
              </a:rPr>
              <a:t>D,R</a:t>
            </a:r>
            <a:r>
              <a:rPr lang="zh-CN" altLang="zh-CN" kern="100" dirty="0">
                <a:latin typeface="Times New Roman" panose="02020503050405090304" pitchFamily="18" charset="0"/>
                <a:ea typeface="宋体" pitchFamily="2" charset="-122"/>
                <a:cs typeface="Times New Roman" panose="02020503050405090304" pitchFamily="18" charset="0"/>
              </a:rPr>
              <a:t>），其中：</a:t>
            </a:r>
          </a:p>
          <a:p>
            <a:pPr algn="just">
              <a:lnSpc>
                <a:spcPct val="150000"/>
              </a:lnSpc>
              <a:spcAft>
                <a:spcPts val="0"/>
              </a:spcAft>
            </a:pPr>
            <a:r>
              <a:rPr lang="en-US" altLang="zh-CN" kern="100" dirty="0">
                <a:latin typeface="Times New Roman" panose="02020503050405090304" pitchFamily="18" charset="0"/>
                <a:ea typeface="宋体" pitchFamily="2" charset="-122"/>
                <a:cs typeface="Times New Roman" panose="02020503050405090304" pitchFamily="18" charset="0"/>
              </a:rPr>
              <a:t>    </a:t>
            </a:r>
            <a:r>
              <a:rPr lang="zh-CN" altLang="en-US" kern="100" dirty="0">
                <a:latin typeface="Times New Roman" panose="02020503050405090304" pitchFamily="18" charset="0"/>
                <a:ea typeface="宋体" pitchFamily="2" charset="-122"/>
                <a:cs typeface="Times New Roman" panose="02020503050405090304" pitchFamily="18" charset="0"/>
              </a:rPr>
              <a:t>     </a:t>
            </a:r>
            <a:r>
              <a:rPr lang="en-US" altLang="zh-CN" kern="100" dirty="0">
                <a:latin typeface="Times New Roman" panose="02020503050405090304" pitchFamily="18" charset="0"/>
                <a:ea typeface="宋体" pitchFamily="2" charset="-122"/>
                <a:cs typeface="Times New Roman" panose="02020503050405090304" pitchFamily="18" charset="0"/>
              </a:rPr>
              <a:t> D={1,2,3,4,5,6}</a:t>
            </a:r>
            <a:r>
              <a:rPr lang="zh-CN" altLang="zh-CN" kern="100" dirty="0">
                <a:latin typeface="Times New Roman" panose="02020503050405090304" pitchFamily="18" charset="0"/>
                <a:ea typeface="宋体" pitchFamily="2" charset="-122"/>
                <a:cs typeface="Times New Roman" panose="02020503050405090304" pitchFamily="18" charset="0"/>
              </a:rPr>
              <a:t>，</a:t>
            </a:r>
            <a:r>
              <a:rPr lang="en-US" altLang="zh-CN" kern="100" dirty="0">
                <a:latin typeface="Times New Roman" panose="02020503050405090304" pitchFamily="18" charset="0"/>
                <a:ea typeface="宋体" pitchFamily="2" charset="-122"/>
                <a:cs typeface="Times New Roman" panose="02020503050405090304" pitchFamily="18" charset="0"/>
              </a:rPr>
              <a:t>R={r}</a:t>
            </a:r>
            <a:endParaRPr lang="zh-CN" altLang="zh-CN" kern="100" dirty="0">
              <a:latin typeface="Times New Roman" panose="02020503050405090304" pitchFamily="18" charset="0"/>
              <a:ea typeface="宋体" pitchFamily="2" charset="-122"/>
              <a:cs typeface="Times New Roman" panose="02020503050405090304" pitchFamily="18" charset="0"/>
            </a:endParaRPr>
          </a:p>
          <a:p>
            <a:pPr indent="333375" algn="just">
              <a:lnSpc>
                <a:spcPct val="150000"/>
              </a:lnSpc>
              <a:spcAft>
                <a:spcPts val="0"/>
              </a:spcAft>
            </a:pPr>
            <a:r>
              <a:rPr lang="zh-CN" altLang="en-US" kern="100" dirty="0">
                <a:latin typeface="Times New Roman" panose="02020503050405090304" pitchFamily="18" charset="0"/>
                <a:ea typeface="宋体" pitchFamily="2" charset="-122"/>
                <a:cs typeface="Times New Roman" panose="02020503050405090304" pitchFamily="18" charset="0"/>
              </a:rPr>
              <a:t>    </a:t>
            </a:r>
            <a:r>
              <a:rPr lang="en-US" altLang="zh-CN" kern="100" dirty="0">
                <a:latin typeface="Times New Roman" panose="02020503050405090304" pitchFamily="18" charset="0"/>
                <a:ea typeface="宋体" pitchFamily="2" charset="-122"/>
                <a:cs typeface="Times New Roman" panose="02020503050405090304" pitchFamily="18" charset="0"/>
              </a:rPr>
              <a:t>r</a:t>
            </a:r>
            <a:r>
              <a:rPr lang="zh-CN" altLang="en-US" kern="100" dirty="0">
                <a:latin typeface="Times New Roman" panose="02020503050405090304" pitchFamily="18" charset="0"/>
                <a:ea typeface="宋体" pitchFamily="2" charset="-122"/>
                <a:cs typeface="Times New Roman" panose="02020503050405090304" pitchFamily="18" charset="0"/>
              </a:rPr>
              <a:t> </a:t>
            </a:r>
            <a:r>
              <a:rPr lang="en-US" altLang="zh-CN" kern="100" dirty="0">
                <a:latin typeface="Times New Roman" panose="02020503050405090304" pitchFamily="18" charset="0"/>
                <a:ea typeface="宋体" pitchFamily="2" charset="-122"/>
                <a:cs typeface="Times New Roman" panose="02020503050405090304" pitchFamily="18" charset="0"/>
              </a:rPr>
              <a:t>={(1,2),(2,3),(2,4),(3,4),(3,5),(3,6),(4,5),(4,6)}</a:t>
            </a:r>
            <a:r>
              <a:rPr lang="zh-CN" altLang="zh-CN" kern="100" dirty="0">
                <a:latin typeface="Times New Roman" panose="02020503050405090304" pitchFamily="18" charset="0"/>
                <a:ea typeface="宋体" pitchFamily="2" charset="-122"/>
                <a:cs typeface="Times New Roman" panose="02020503050405090304" pitchFamily="18" charset="0"/>
              </a:rPr>
              <a:t>（园括号表示结点之间关系是</a:t>
            </a:r>
            <a:r>
              <a:rPr lang="zh-CN" altLang="en-US" kern="100" dirty="0">
                <a:latin typeface="Times New Roman" panose="02020503050405090304" pitchFamily="18" charset="0"/>
                <a:ea typeface="宋体" pitchFamily="2" charset="-122"/>
                <a:cs typeface="Times New Roman" panose="02020503050405090304" pitchFamily="18" charset="0"/>
              </a:rPr>
              <a:t>无</a:t>
            </a:r>
            <a:r>
              <a:rPr lang="zh-CN" altLang="zh-CN" kern="100" dirty="0">
                <a:latin typeface="Times New Roman" panose="02020503050405090304" pitchFamily="18" charset="0"/>
                <a:ea typeface="宋体" pitchFamily="2" charset="-122"/>
                <a:cs typeface="Times New Roman" panose="02020503050405090304" pitchFamily="18" charset="0"/>
              </a:rPr>
              <a:t>向的）</a:t>
            </a:r>
          </a:p>
        </p:txBody>
      </p:sp>
      <p:grpSp>
        <p:nvGrpSpPr>
          <p:cNvPr id="80" name="组合 79"/>
          <p:cNvGrpSpPr/>
          <p:nvPr/>
        </p:nvGrpSpPr>
        <p:grpSpPr>
          <a:xfrm>
            <a:off x="3062779" y="2452195"/>
            <a:ext cx="3731171" cy="1382111"/>
            <a:chOff x="3888828" y="2737945"/>
            <a:chExt cx="3731171" cy="1382111"/>
          </a:xfrm>
        </p:grpSpPr>
        <p:sp>
          <p:nvSpPr>
            <p:cNvPr id="21" name="椭圆 20"/>
            <p:cNvSpPr/>
            <p:nvPr/>
          </p:nvSpPr>
          <p:spPr>
            <a:xfrm>
              <a:off x="3888828" y="3279228"/>
              <a:ext cx="357351" cy="357352"/>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503050405090304" pitchFamily="18" charset="0"/>
                  <a:cs typeface="Times New Roman" panose="02020503050405090304" pitchFamily="18" charset="0"/>
                </a:rPr>
                <a:t>1</a:t>
              </a:r>
              <a:endParaRPr kumimoji="1" lang="zh-CN" altLang="en-US" dirty="0">
                <a:solidFill>
                  <a:schemeClr val="tx1"/>
                </a:solidFill>
                <a:latin typeface="Times New Roman" panose="02020503050405090304" pitchFamily="18" charset="0"/>
                <a:cs typeface="Times New Roman" panose="02020503050405090304" pitchFamily="18" charset="0"/>
              </a:endParaRPr>
            </a:p>
          </p:txBody>
        </p:sp>
        <p:sp>
          <p:nvSpPr>
            <p:cNvPr id="22" name="椭圆 21"/>
            <p:cNvSpPr/>
            <p:nvPr/>
          </p:nvSpPr>
          <p:spPr>
            <a:xfrm>
              <a:off x="4713889" y="3279228"/>
              <a:ext cx="357351" cy="357352"/>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503050405090304" pitchFamily="18" charset="0"/>
                  <a:cs typeface="Times New Roman" panose="02020503050405090304" pitchFamily="18" charset="0"/>
                </a:rPr>
                <a:t>2</a:t>
              </a:r>
              <a:endParaRPr kumimoji="1" lang="zh-CN" altLang="en-US" dirty="0">
                <a:solidFill>
                  <a:schemeClr val="tx1"/>
                </a:solidFill>
                <a:latin typeface="Times New Roman" panose="02020503050405090304" pitchFamily="18" charset="0"/>
                <a:cs typeface="Times New Roman" panose="02020503050405090304" pitchFamily="18" charset="0"/>
              </a:endParaRPr>
            </a:p>
          </p:txBody>
        </p:sp>
        <p:sp>
          <p:nvSpPr>
            <p:cNvPr id="23" name="椭圆 22"/>
            <p:cNvSpPr/>
            <p:nvPr/>
          </p:nvSpPr>
          <p:spPr>
            <a:xfrm>
              <a:off x="5554718" y="2737945"/>
              <a:ext cx="357351" cy="357352"/>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503050405090304" pitchFamily="18" charset="0"/>
                  <a:cs typeface="Times New Roman" panose="02020503050405090304" pitchFamily="18" charset="0"/>
                </a:rPr>
                <a:t>3</a:t>
              </a:r>
              <a:endParaRPr kumimoji="1" lang="zh-CN" altLang="en-US" dirty="0">
                <a:solidFill>
                  <a:schemeClr val="tx1"/>
                </a:solidFill>
                <a:latin typeface="Times New Roman" panose="02020503050405090304" pitchFamily="18" charset="0"/>
                <a:cs typeface="Times New Roman" panose="02020503050405090304" pitchFamily="18" charset="0"/>
              </a:endParaRPr>
            </a:p>
          </p:txBody>
        </p:sp>
        <p:sp>
          <p:nvSpPr>
            <p:cNvPr id="24" name="椭圆 23"/>
            <p:cNvSpPr/>
            <p:nvPr/>
          </p:nvSpPr>
          <p:spPr>
            <a:xfrm>
              <a:off x="5554717" y="3762704"/>
              <a:ext cx="357351" cy="357352"/>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503050405090304" pitchFamily="18" charset="0"/>
                  <a:cs typeface="Times New Roman" panose="02020503050405090304" pitchFamily="18" charset="0"/>
                </a:rPr>
                <a:t>4</a:t>
              </a:r>
              <a:endParaRPr kumimoji="1" lang="zh-CN" altLang="en-US" dirty="0">
                <a:solidFill>
                  <a:schemeClr val="tx1"/>
                </a:solidFill>
                <a:latin typeface="Times New Roman" panose="02020503050405090304" pitchFamily="18" charset="0"/>
                <a:cs typeface="Times New Roman" panose="02020503050405090304" pitchFamily="18" charset="0"/>
              </a:endParaRPr>
            </a:p>
          </p:txBody>
        </p:sp>
        <p:sp>
          <p:nvSpPr>
            <p:cNvPr id="25" name="椭圆 24"/>
            <p:cNvSpPr/>
            <p:nvPr/>
          </p:nvSpPr>
          <p:spPr>
            <a:xfrm>
              <a:off x="6437587" y="3279228"/>
              <a:ext cx="357351" cy="357352"/>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503050405090304" pitchFamily="18" charset="0"/>
                  <a:cs typeface="Times New Roman" panose="02020503050405090304" pitchFamily="18" charset="0"/>
                </a:rPr>
                <a:t>5</a:t>
              </a:r>
              <a:endParaRPr kumimoji="1" lang="zh-CN" altLang="en-US" dirty="0">
                <a:solidFill>
                  <a:schemeClr val="tx1"/>
                </a:solidFill>
                <a:latin typeface="Times New Roman" panose="02020503050405090304" pitchFamily="18" charset="0"/>
                <a:cs typeface="Times New Roman" panose="02020503050405090304" pitchFamily="18" charset="0"/>
              </a:endParaRPr>
            </a:p>
          </p:txBody>
        </p:sp>
        <p:sp>
          <p:nvSpPr>
            <p:cNvPr id="26" name="椭圆 25"/>
            <p:cNvSpPr/>
            <p:nvPr/>
          </p:nvSpPr>
          <p:spPr>
            <a:xfrm>
              <a:off x="7262648" y="3279228"/>
              <a:ext cx="357351" cy="357352"/>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503050405090304" pitchFamily="18" charset="0"/>
                  <a:cs typeface="Times New Roman" panose="02020503050405090304" pitchFamily="18" charset="0"/>
                </a:rPr>
                <a:t>6</a:t>
              </a:r>
              <a:endParaRPr kumimoji="1" lang="zh-CN" altLang="en-US" dirty="0">
                <a:solidFill>
                  <a:schemeClr val="tx1"/>
                </a:solidFill>
                <a:latin typeface="Times New Roman" panose="02020503050405090304" pitchFamily="18" charset="0"/>
                <a:cs typeface="Times New Roman" panose="02020503050405090304" pitchFamily="18" charset="0"/>
              </a:endParaRPr>
            </a:p>
          </p:txBody>
        </p:sp>
        <p:cxnSp>
          <p:nvCxnSpPr>
            <p:cNvPr id="30" name="直线连接符 29"/>
            <p:cNvCxnSpPr>
              <a:stCxn id="21" idx="6"/>
              <a:endCxn id="22" idx="2"/>
            </p:cNvCxnSpPr>
            <p:nvPr/>
          </p:nvCxnSpPr>
          <p:spPr>
            <a:xfrm>
              <a:off x="4246179" y="3457904"/>
              <a:ext cx="46771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2" name="直线连接符 31"/>
            <p:cNvCxnSpPr>
              <a:stCxn id="22" idx="7"/>
              <a:endCxn id="23" idx="3"/>
            </p:cNvCxnSpPr>
            <p:nvPr/>
          </p:nvCxnSpPr>
          <p:spPr>
            <a:xfrm flipV="1">
              <a:off x="5018907" y="3042964"/>
              <a:ext cx="588144" cy="288597"/>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4" name="直线连接符 33"/>
            <p:cNvCxnSpPr>
              <a:stCxn id="22" idx="5"/>
              <a:endCxn id="24" idx="1"/>
            </p:cNvCxnSpPr>
            <p:nvPr/>
          </p:nvCxnSpPr>
          <p:spPr>
            <a:xfrm>
              <a:off x="5018907" y="3584247"/>
              <a:ext cx="588143" cy="23079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6" name="直线连接符 35"/>
            <p:cNvCxnSpPr>
              <a:stCxn id="23" idx="4"/>
              <a:endCxn id="24" idx="0"/>
            </p:cNvCxnSpPr>
            <p:nvPr/>
          </p:nvCxnSpPr>
          <p:spPr>
            <a:xfrm flipH="1">
              <a:off x="5733393" y="3095297"/>
              <a:ext cx="1" cy="667407"/>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8" name="直线连接符 37"/>
            <p:cNvCxnSpPr>
              <a:stCxn id="23" idx="6"/>
              <a:endCxn id="25" idx="0"/>
            </p:cNvCxnSpPr>
            <p:nvPr/>
          </p:nvCxnSpPr>
          <p:spPr>
            <a:xfrm>
              <a:off x="5912069" y="2916621"/>
              <a:ext cx="704194" cy="362607"/>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0" name="直线连接符 39"/>
            <p:cNvCxnSpPr>
              <a:stCxn id="24" idx="6"/>
              <a:endCxn id="25" idx="4"/>
            </p:cNvCxnSpPr>
            <p:nvPr/>
          </p:nvCxnSpPr>
          <p:spPr>
            <a:xfrm flipV="1">
              <a:off x="5912068" y="3636580"/>
              <a:ext cx="704195" cy="3048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2" name="直线连接符 41"/>
            <p:cNvCxnSpPr>
              <a:stCxn id="23" idx="6"/>
              <a:endCxn id="26" idx="1"/>
            </p:cNvCxnSpPr>
            <p:nvPr/>
          </p:nvCxnSpPr>
          <p:spPr>
            <a:xfrm>
              <a:off x="5912069" y="2916621"/>
              <a:ext cx="1402912" cy="41494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4" name="直线连接符 43"/>
            <p:cNvCxnSpPr>
              <a:stCxn id="24" idx="6"/>
              <a:endCxn id="26" idx="3"/>
            </p:cNvCxnSpPr>
            <p:nvPr/>
          </p:nvCxnSpPr>
          <p:spPr>
            <a:xfrm flipV="1">
              <a:off x="5912068" y="3584247"/>
              <a:ext cx="1402913" cy="357133"/>
            </a:xfrm>
            <a:prstGeom prst="line">
              <a:avLst/>
            </a:prstGeom>
            <a:ln w="28575"/>
          </p:spPr>
          <p:style>
            <a:lnRef idx="1">
              <a:schemeClr val="accent1"/>
            </a:lnRef>
            <a:fillRef idx="0">
              <a:schemeClr val="accent1"/>
            </a:fillRef>
            <a:effectRef idx="0">
              <a:schemeClr val="accent1"/>
            </a:effectRef>
            <a:fontRef idx="minor">
              <a:schemeClr val="tx1"/>
            </a:fontRef>
          </p:style>
        </p:cxnSp>
      </p:grpSp>
      <p:cxnSp>
        <p:nvCxnSpPr>
          <p:cNvPr id="46" name="Line 231"/>
          <p:cNvCxnSpPr>
            <a:cxnSpLocks noChangeShapeType="1"/>
          </p:cNvCxnSpPr>
          <p:nvPr/>
        </p:nvCxnSpPr>
        <p:spPr bwMode="auto">
          <a:xfrm>
            <a:off x="5219065" y="7815121"/>
            <a:ext cx="0" cy="0"/>
          </a:xfrm>
          <a:prstGeom prst="line">
            <a:avLst/>
          </a:prstGeom>
          <a:noFill/>
          <a:ln w="9525">
            <a:solidFill>
              <a:srgbClr val="000000"/>
            </a:solidFill>
            <a:round/>
          </a:ln>
          <a:extLst>
            <a:ext uri="{909E8E84-426E-40DD-AFC4-6F175D3DCCD1}">
              <a14:hiddenFill xmlns:a14="http://schemas.microsoft.com/office/drawing/2010/main">
                <a:noFill/>
              </a14:hiddenFill>
            </a:ext>
          </a:extLst>
        </p:spPr>
      </p:cxnSp>
      <p:sp>
        <p:nvSpPr>
          <p:cNvPr id="47" name="Rectangle 3"/>
          <p:cNvSpPr>
            <a:spLocks noChangeArrowheads="1"/>
          </p:cNvSpPr>
          <p:nvPr/>
        </p:nvSpPr>
        <p:spPr bwMode="auto">
          <a:xfrm>
            <a:off x="1076526" y="4242018"/>
            <a:ext cx="5764720" cy="12890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lvl1pPr indent="400050" eaLnBrk="0" fontAlgn="base" hangingPunct="0">
              <a:spcBef>
                <a:spcPct val="0"/>
              </a:spcBef>
              <a:spcAft>
                <a:spcPct val="0"/>
              </a:spcAft>
              <a:defRPr>
                <a:solidFill>
                  <a:schemeClr val="tx1"/>
                </a:solidFill>
                <a:latin typeface="Arial" panose="020B0604020202090204" pitchFamily="34" charset="0"/>
              </a:defRPr>
            </a:lvl1pPr>
            <a:lvl2pPr eaLnBrk="0" fontAlgn="base" hangingPunct="0">
              <a:spcBef>
                <a:spcPct val="0"/>
              </a:spcBef>
              <a:spcAft>
                <a:spcPct val="0"/>
              </a:spcAft>
              <a:defRPr>
                <a:solidFill>
                  <a:schemeClr val="tx1"/>
                </a:solidFill>
                <a:latin typeface="Arial" panose="020B0604020202090204" pitchFamily="34" charset="0"/>
              </a:defRPr>
            </a:lvl2pPr>
            <a:lvl3pPr eaLnBrk="0" fontAlgn="base" hangingPunct="0">
              <a:spcBef>
                <a:spcPct val="0"/>
              </a:spcBef>
              <a:spcAft>
                <a:spcPct val="0"/>
              </a:spcAft>
              <a:defRPr>
                <a:solidFill>
                  <a:schemeClr val="tx1"/>
                </a:solidFill>
                <a:latin typeface="Arial" panose="020B0604020202090204" pitchFamily="34" charset="0"/>
              </a:defRPr>
            </a:lvl3pPr>
            <a:lvl4pPr eaLnBrk="0" fontAlgn="base" hangingPunct="0">
              <a:spcBef>
                <a:spcPct val="0"/>
              </a:spcBef>
              <a:spcAft>
                <a:spcPct val="0"/>
              </a:spcAft>
              <a:defRPr>
                <a:solidFill>
                  <a:schemeClr val="tx1"/>
                </a:solidFill>
                <a:latin typeface="Arial" panose="020B0604020202090204" pitchFamily="34" charset="0"/>
              </a:defRPr>
            </a:lvl4pPr>
            <a:lvl5pPr eaLnBrk="0" fontAlgn="base" hangingPunct="0">
              <a:spcBef>
                <a:spcPct val="0"/>
              </a:spcBef>
              <a:spcAft>
                <a:spcPct val="0"/>
              </a:spcAft>
              <a:defRPr>
                <a:solidFill>
                  <a:schemeClr val="tx1"/>
                </a:solidFill>
                <a:latin typeface="Arial" panose="020B0604020202090204" pitchFamily="34" charset="0"/>
              </a:defRPr>
            </a:lvl5pPr>
            <a:lvl6pPr eaLnBrk="0" fontAlgn="base" hangingPunct="0">
              <a:spcBef>
                <a:spcPct val="0"/>
              </a:spcBef>
              <a:spcAft>
                <a:spcPct val="0"/>
              </a:spcAft>
              <a:defRPr>
                <a:solidFill>
                  <a:schemeClr val="tx1"/>
                </a:solidFill>
                <a:latin typeface="Arial" panose="020B0604020202090204" pitchFamily="34" charset="0"/>
              </a:defRPr>
            </a:lvl6pPr>
            <a:lvl7pPr eaLnBrk="0" fontAlgn="base" hangingPunct="0">
              <a:spcBef>
                <a:spcPct val="0"/>
              </a:spcBef>
              <a:spcAft>
                <a:spcPct val="0"/>
              </a:spcAft>
              <a:defRPr>
                <a:solidFill>
                  <a:schemeClr val="tx1"/>
                </a:solidFill>
                <a:latin typeface="Arial" panose="020B0604020202090204" pitchFamily="34" charset="0"/>
              </a:defRPr>
            </a:lvl7pPr>
            <a:lvl8pPr eaLnBrk="0" fontAlgn="base" hangingPunct="0">
              <a:spcBef>
                <a:spcPct val="0"/>
              </a:spcBef>
              <a:spcAft>
                <a:spcPct val="0"/>
              </a:spcAft>
              <a:defRPr>
                <a:solidFill>
                  <a:schemeClr val="tx1"/>
                </a:solidFill>
                <a:latin typeface="Arial" panose="020B0604020202090204" pitchFamily="34" charset="0"/>
              </a:defRPr>
            </a:lvl8pPr>
            <a:lvl9pPr eaLnBrk="0" fontAlgn="base" hangingPunct="0">
              <a:spcBef>
                <a:spcPct val="0"/>
              </a:spcBef>
              <a:spcAft>
                <a:spcPct val="0"/>
              </a:spcAft>
              <a:defRPr>
                <a:solidFill>
                  <a:schemeClr val="tx1"/>
                </a:solidFill>
                <a:latin typeface="Arial" panose="020B0604020202090204" pitchFamily="34" charset="0"/>
              </a:defRPr>
            </a:lvl9pPr>
          </a:lstStyle>
          <a:p>
            <a:pPr marL="0" marR="0" lvl="0" indent="400050" algn="l" defTabSz="914400" rtl="0" eaLnBrk="0" fontAlgn="base" latinLnBrk="0" hangingPunct="0">
              <a:lnSpc>
                <a:spcPct val="150000"/>
              </a:lnSpc>
              <a:spcBef>
                <a:spcPct val="0"/>
              </a:spcBef>
              <a:spcAft>
                <a:spcPct val="0"/>
              </a:spcAft>
              <a:buClrTx/>
              <a:buSzTx/>
              <a:buFontTx/>
              <a:buNone/>
            </a:pPr>
            <a:r>
              <a:rPr kumimoji="0" lang="zh-CN" altLang="zh-CN" b="0" i="0" u="none" strike="noStrike" cap="none" normalizeH="0" baseline="0" dirty="0">
                <a:ln>
                  <a:noFill/>
                </a:ln>
                <a:solidFill>
                  <a:schemeClr val="tx1"/>
                </a:solidFill>
                <a:effectLst/>
                <a:latin typeface="Times New Roman" panose="02020503050405090304" pitchFamily="18" charset="0"/>
                <a:ea typeface="黑体" panose="02010609060101010101" pitchFamily="49" charset="-122"/>
                <a:cs typeface="Times New Roman" panose="02020503050405090304" pitchFamily="18" charset="0"/>
              </a:rPr>
              <a:t>（5）E=（D,R），其中： </a:t>
            </a:r>
          </a:p>
          <a:p>
            <a:pPr marL="0" marR="0" lvl="0" indent="400050" algn="l" defTabSz="914400" rtl="0" eaLnBrk="0" fontAlgn="base" latinLnBrk="0" hangingPunct="0">
              <a:lnSpc>
                <a:spcPct val="150000"/>
              </a:lnSpc>
              <a:spcBef>
                <a:spcPct val="0"/>
              </a:spcBef>
              <a:spcAft>
                <a:spcPct val="0"/>
              </a:spcAft>
              <a:buClrTx/>
              <a:buSzTx/>
              <a:buFontTx/>
              <a:buNone/>
            </a:pPr>
            <a:r>
              <a:rPr kumimoji="0" lang="zh-CN" altLang="en-US" b="0" i="0" u="none" strike="noStrike" cap="none" normalizeH="0" baseline="0" dirty="0">
                <a:ln>
                  <a:noFill/>
                </a:ln>
                <a:solidFill>
                  <a:schemeClr val="tx1"/>
                </a:solidFill>
                <a:effectLst/>
                <a:latin typeface="Times New Roman" panose="02020503050405090304" pitchFamily="18" charset="0"/>
                <a:ea typeface="黑体" panose="02010609060101010101" pitchFamily="49" charset="-122"/>
                <a:cs typeface="Times New Roman" panose="02020503050405090304" pitchFamily="18" charset="0"/>
              </a:rPr>
              <a:t>          </a:t>
            </a:r>
            <a:r>
              <a:rPr kumimoji="0" lang="de-DE" altLang="zh-CN" b="0" i="0" u="none" strike="noStrike" cap="none" normalizeH="0" baseline="0" dirty="0">
                <a:ln>
                  <a:noFill/>
                </a:ln>
                <a:solidFill>
                  <a:schemeClr val="tx1"/>
                </a:solidFill>
                <a:effectLst/>
                <a:latin typeface="Times New Roman" panose="02020503050405090304" pitchFamily="18" charset="0"/>
                <a:ea typeface="黑体" panose="02010609060101010101" pitchFamily="49" charset="-122"/>
                <a:cs typeface="Times New Roman" panose="02020503050405090304" pitchFamily="18" charset="0"/>
              </a:rPr>
              <a:t>D={</a:t>
            </a:r>
            <a:r>
              <a:rPr kumimoji="0" lang="de-DE" altLang="zh-CN" b="0" i="0" u="none" strike="noStrike" cap="none" normalizeH="0" baseline="0" dirty="0" err="1">
                <a:ln>
                  <a:noFill/>
                </a:ln>
                <a:solidFill>
                  <a:schemeClr val="tx1"/>
                </a:solidFill>
                <a:effectLst/>
                <a:latin typeface="Times New Roman" panose="02020503050405090304" pitchFamily="18" charset="0"/>
                <a:ea typeface="黑体" panose="02010609060101010101" pitchFamily="49" charset="-122"/>
                <a:cs typeface="Times New Roman" panose="02020503050405090304" pitchFamily="18" charset="0"/>
              </a:rPr>
              <a:t>a,b,c,d,e,f,g,h</a:t>
            </a:r>
            <a:r>
              <a:rPr kumimoji="0" lang="de-DE" altLang="zh-CN" b="0" i="0" u="none" strike="noStrike" cap="none" normalizeH="0" baseline="0" dirty="0">
                <a:ln>
                  <a:noFill/>
                </a:ln>
                <a:solidFill>
                  <a:schemeClr val="tx1"/>
                </a:solidFill>
                <a:effectLst/>
                <a:latin typeface="Times New Roman" panose="02020503050405090304" pitchFamily="18" charset="0"/>
                <a:ea typeface="黑体" panose="02010609060101010101" pitchFamily="49" charset="-122"/>
                <a:cs typeface="Times New Roman" panose="02020503050405090304" pitchFamily="18" charset="0"/>
              </a:rPr>
              <a:t>}</a:t>
            </a:r>
            <a:r>
              <a:rPr kumimoji="0" lang="zh-CN" altLang="de-DE" b="0" i="0" u="none" strike="noStrike" cap="none" normalizeH="0" baseline="0" dirty="0">
                <a:ln>
                  <a:noFill/>
                </a:ln>
                <a:solidFill>
                  <a:schemeClr val="tx1"/>
                </a:solidFill>
                <a:effectLst/>
                <a:latin typeface="Times New Roman" panose="02020503050405090304" pitchFamily="18" charset="0"/>
                <a:ea typeface="黑体" panose="02010609060101010101" pitchFamily="49" charset="-122"/>
                <a:cs typeface="Times New Roman" panose="02020503050405090304" pitchFamily="18" charset="0"/>
              </a:rPr>
              <a:t>，</a:t>
            </a:r>
            <a:r>
              <a:rPr kumimoji="0" lang="de-DE" altLang="zh-CN" b="0" i="0" u="none" strike="noStrike" cap="none" normalizeH="0" baseline="0" dirty="0">
                <a:ln>
                  <a:noFill/>
                </a:ln>
                <a:solidFill>
                  <a:schemeClr val="tx1"/>
                </a:solidFill>
                <a:effectLst/>
                <a:latin typeface="Times New Roman" panose="02020503050405090304" pitchFamily="18" charset="0"/>
                <a:ea typeface="黑体" panose="02010609060101010101" pitchFamily="49" charset="-122"/>
                <a:cs typeface="Times New Roman" panose="02020503050405090304" pitchFamily="18" charset="0"/>
              </a:rPr>
              <a:t>R={</a:t>
            </a:r>
            <a:r>
              <a:rPr kumimoji="0" lang="de-DE" altLang="zh-CN" b="0" i="0" u="none" strike="noStrike" cap="none" normalizeH="0" baseline="0" dirty="0" err="1">
                <a:ln>
                  <a:noFill/>
                </a:ln>
                <a:solidFill>
                  <a:schemeClr val="tx1"/>
                </a:solidFill>
                <a:effectLst/>
                <a:latin typeface="Times New Roman" panose="02020503050405090304" pitchFamily="18" charset="0"/>
                <a:ea typeface="黑体" panose="02010609060101010101" pitchFamily="49" charset="-122"/>
                <a:cs typeface="Times New Roman" panose="02020503050405090304" pitchFamily="18" charset="0"/>
              </a:rPr>
              <a:t>r</a:t>
            </a:r>
            <a:r>
              <a:rPr kumimoji="0" lang="de-DE" altLang="zh-CN" b="0" i="0" u="none" strike="noStrike" cap="none" normalizeH="0" baseline="0" dirty="0">
                <a:ln>
                  <a:noFill/>
                </a:ln>
                <a:solidFill>
                  <a:schemeClr val="tx1"/>
                </a:solidFill>
                <a:effectLst/>
                <a:latin typeface="Times New Roman" panose="02020503050405090304" pitchFamily="18" charset="0"/>
                <a:ea typeface="黑体" panose="02010609060101010101" pitchFamily="49" charset="-122"/>
                <a:cs typeface="Times New Roman" panose="02020503050405090304" pitchFamily="18" charset="0"/>
              </a:rPr>
              <a:t>}</a:t>
            </a:r>
          </a:p>
          <a:p>
            <a:pPr marL="0" marR="0" lvl="0" indent="400050" algn="l" defTabSz="914400" rtl="0" eaLnBrk="0" fontAlgn="base" latinLnBrk="0" hangingPunct="0">
              <a:lnSpc>
                <a:spcPct val="150000"/>
              </a:lnSpc>
              <a:spcBef>
                <a:spcPct val="0"/>
              </a:spcBef>
              <a:spcAft>
                <a:spcPct val="0"/>
              </a:spcAft>
              <a:buClrTx/>
              <a:buSzTx/>
              <a:buFontTx/>
              <a:buNone/>
            </a:pPr>
            <a:r>
              <a:rPr kumimoji="0" lang="zh-CN" altLang="en-US" b="0" i="0" u="none" strike="noStrike" cap="none" normalizeH="0" baseline="0" dirty="0">
                <a:ln>
                  <a:noFill/>
                </a:ln>
                <a:solidFill>
                  <a:schemeClr val="tx1"/>
                </a:solidFill>
                <a:effectLst/>
                <a:latin typeface="Times New Roman" panose="02020503050405090304" pitchFamily="18" charset="0"/>
                <a:ea typeface="黑体" panose="02010609060101010101" pitchFamily="49" charset="-122"/>
                <a:cs typeface="Times New Roman" panose="02020503050405090304" pitchFamily="18" charset="0"/>
              </a:rPr>
              <a:t>          </a:t>
            </a:r>
            <a:r>
              <a:rPr kumimoji="0" lang="en-US" altLang="zh-CN" b="0" i="0" u="none" strike="noStrike" cap="none" normalizeH="0" baseline="0" dirty="0">
                <a:ln>
                  <a:noFill/>
                </a:ln>
                <a:solidFill>
                  <a:schemeClr val="tx1"/>
                </a:solidFill>
                <a:effectLst/>
                <a:latin typeface="Times New Roman" panose="02020503050405090304" pitchFamily="18" charset="0"/>
                <a:ea typeface="黑体" panose="02010609060101010101" pitchFamily="49" charset="-122"/>
                <a:cs typeface="Times New Roman" panose="02020503050405090304" pitchFamily="18" charset="0"/>
              </a:rPr>
              <a:t>r</a:t>
            </a:r>
            <a:r>
              <a:rPr kumimoji="0" lang="zh-CN" altLang="en-US" b="0" i="0" u="none" strike="noStrike" cap="none" normalizeH="0" baseline="0" dirty="0">
                <a:ln>
                  <a:noFill/>
                </a:ln>
                <a:solidFill>
                  <a:schemeClr val="tx1"/>
                </a:solidFill>
                <a:effectLst/>
                <a:latin typeface="Times New Roman" panose="02020503050405090304" pitchFamily="18" charset="0"/>
                <a:ea typeface="黑体" panose="02010609060101010101" pitchFamily="49" charset="-122"/>
                <a:cs typeface="Times New Roman" panose="02020503050405090304" pitchFamily="18" charset="0"/>
              </a:rPr>
              <a:t> </a:t>
            </a:r>
            <a:r>
              <a:rPr kumimoji="0" lang="de-DE" altLang="zh-CN" b="0" i="0" u="none" strike="noStrike" cap="none" normalizeH="0" baseline="0" dirty="0">
                <a:ln>
                  <a:noFill/>
                </a:ln>
                <a:solidFill>
                  <a:schemeClr val="tx1"/>
                </a:solidFill>
                <a:effectLst/>
                <a:latin typeface="Times New Roman" panose="02020503050405090304" pitchFamily="18" charset="0"/>
                <a:ea typeface="黑体" panose="02010609060101010101" pitchFamily="49" charset="-122"/>
                <a:cs typeface="Times New Roman" panose="02020503050405090304" pitchFamily="18" charset="0"/>
              </a:rPr>
              <a:t>={&lt;</a:t>
            </a:r>
            <a:r>
              <a:rPr kumimoji="0" lang="de-DE" altLang="zh-CN" b="0" i="0" u="none" strike="noStrike" cap="none" normalizeH="0" baseline="0" dirty="0" err="1">
                <a:ln>
                  <a:noFill/>
                </a:ln>
                <a:solidFill>
                  <a:schemeClr val="tx1"/>
                </a:solidFill>
                <a:effectLst/>
                <a:latin typeface="Times New Roman" panose="02020503050405090304" pitchFamily="18" charset="0"/>
                <a:ea typeface="黑体" panose="02010609060101010101" pitchFamily="49" charset="-122"/>
                <a:cs typeface="Times New Roman" panose="02020503050405090304" pitchFamily="18" charset="0"/>
              </a:rPr>
              <a:t>d,b</a:t>
            </a:r>
            <a:r>
              <a:rPr kumimoji="0" lang="de-DE" altLang="zh-CN" b="0" i="0" u="none" strike="noStrike" cap="none" normalizeH="0" baseline="0" dirty="0">
                <a:ln>
                  <a:noFill/>
                </a:ln>
                <a:solidFill>
                  <a:schemeClr val="tx1"/>
                </a:solidFill>
                <a:effectLst/>
                <a:latin typeface="Times New Roman" panose="02020503050405090304" pitchFamily="18" charset="0"/>
                <a:ea typeface="黑体" panose="02010609060101010101" pitchFamily="49" charset="-122"/>
                <a:cs typeface="Times New Roman" panose="02020503050405090304" pitchFamily="18" charset="0"/>
              </a:rPr>
              <a:t>&gt;,&lt;</a:t>
            </a:r>
            <a:r>
              <a:rPr kumimoji="0" lang="de-DE" altLang="zh-CN" b="0" i="0" u="none" strike="noStrike" cap="none" normalizeH="0" baseline="0" dirty="0" err="1">
                <a:ln>
                  <a:noFill/>
                </a:ln>
                <a:solidFill>
                  <a:schemeClr val="tx1"/>
                </a:solidFill>
                <a:effectLst/>
                <a:latin typeface="Times New Roman" panose="02020503050405090304" pitchFamily="18" charset="0"/>
                <a:ea typeface="黑体" panose="02010609060101010101" pitchFamily="49" charset="-122"/>
                <a:cs typeface="Times New Roman" panose="02020503050405090304" pitchFamily="18" charset="0"/>
              </a:rPr>
              <a:t>d,g</a:t>
            </a:r>
            <a:r>
              <a:rPr kumimoji="0" lang="de-DE" altLang="zh-CN" b="0" i="0" u="none" strike="noStrike" cap="none" normalizeH="0" baseline="0" dirty="0">
                <a:ln>
                  <a:noFill/>
                </a:ln>
                <a:solidFill>
                  <a:schemeClr val="tx1"/>
                </a:solidFill>
                <a:effectLst/>
                <a:latin typeface="Times New Roman" panose="02020503050405090304" pitchFamily="18" charset="0"/>
                <a:ea typeface="黑体" panose="02010609060101010101" pitchFamily="49" charset="-122"/>
                <a:cs typeface="Times New Roman" panose="02020503050405090304" pitchFamily="18" charset="0"/>
              </a:rPr>
              <a:t>&gt;,&lt;</a:t>
            </a:r>
            <a:r>
              <a:rPr kumimoji="0" lang="de-DE" altLang="zh-CN" b="0" i="0" u="none" strike="noStrike" cap="none" normalizeH="0" baseline="0" dirty="0" err="1">
                <a:ln>
                  <a:noFill/>
                </a:ln>
                <a:solidFill>
                  <a:schemeClr val="tx1"/>
                </a:solidFill>
                <a:effectLst/>
                <a:latin typeface="Times New Roman" panose="02020503050405090304" pitchFamily="18" charset="0"/>
                <a:ea typeface="黑体" panose="02010609060101010101" pitchFamily="49" charset="-122"/>
                <a:cs typeface="Times New Roman" panose="02020503050405090304" pitchFamily="18" charset="0"/>
              </a:rPr>
              <a:t>d,a</a:t>
            </a:r>
            <a:r>
              <a:rPr kumimoji="0" lang="de-DE" altLang="zh-CN" b="0" i="0" u="none" strike="noStrike" cap="none" normalizeH="0" baseline="0" dirty="0">
                <a:ln>
                  <a:noFill/>
                </a:ln>
                <a:solidFill>
                  <a:schemeClr val="tx1"/>
                </a:solidFill>
                <a:effectLst/>
                <a:latin typeface="Times New Roman" panose="02020503050405090304" pitchFamily="18" charset="0"/>
                <a:ea typeface="黑体" panose="02010609060101010101" pitchFamily="49" charset="-122"/>
                <a:cs typeface="Times New Roman" panose="02020503050405090304" pitchFamily="18" charset="0"/>
              </a:rPr>
              <a:t>&gt;,&lt;</a:t>
            </a:r>
            <a:r>
              <a:rPr kumimoji="0" lang="de-DE" altLang="zh-CN" b="0" i="0" u="none" strike="noStrike" cap="none" normalizeH="0" baseline="0" dirty="0" err="1">
                <a:ln>
                  <a:noFill/>
                </a:ln>
                <a:solidFill>
                  <a:schemeClr val="tx1"/>
                </a:solidFill>
                <a:effectLst/>
                <a:latin typeface="Times New Roman" panose="02020503050405090304" pitchFamily="18" charset="0"/>
                <a:ea typeface="黑体" panose="02010609060101010101" pitchFamily="49" charset="-122"/>
                <a:cs typeface="Times New Roman" panose="02020503050405090304" pitchFamily="18" charset="0"/>
              </a:rPr>
              <a:t>b,c</a:t>
            </a:r>
            <a:r>
              <a:rPr kumimoji="0" lang="de-DE" altLang="zh-CN" b="0" i="0" u="none" strike="noStrike" cap="none" normalizeH="0" baseline="0" dirty="0">
                <a:ln>
                  <a:noFill/>
                </a:ln>
                <a:solidFill>
                  <a:schemeClr val="tx1"/>
                </a:solidFill>
                <a:effectLst/>
                <a:latin typeface="Times New Roman" panose="02020503050405090304" pitchFamily="18" charset="0"/>
                <a:ea typeface="黑体" panose="02010609060101010101" pitchFamily="49" charset="-122"/>
                <a:cs typeface="Times New Roman" panose="02020503050405090304" pitchFamily="18" charset="0"/>
              </a:rPr>
              <a:t>&gt;,&lt;</a:t>
            </a:r>
            <a:r>
              <a:rPr kumimoji="0" lang="de-DE" altLang="zh-CN" b="0" i="0" u="none" strike="noStrike" cap="none" normalizeH="0" baseline="0" dirty="0" err="1">
                <a:ln>
                  <a:noFill/>
                </a:ln>
                <a:solidFill>
                  <a:schemeClr val="tx1"/>
                </a:solidFill>
                <a:effectLst/>
                <a:latin typeface="Times New Roman" panose="02020503050405090304" pitchFamily="18" charset="0"/>
                <a:ea typeface="黑体" panose="02010609060101010101" pitchFamily="49" charset="-122"/>
                <a:cs typeface="Times New Roman" panose="02020503050405090304" pitchFamily="18" charset="0"/>
              </a:rPr>
              <a:t>g,e</a:t>
            </a:r>
            <a:r>
              <a:rPr kumimoji="0" lang="de-DE" altLang="zh-CN" b="0" i="0" u="none" strike="noStrike" cap="none" normalizeH="0" baseline="0" dirty="0">
                <a:ln>
                  <a:noFill/>
                </a:ln>
                <a:solidFill>
                  <a:schemeClr val="tx1"/>
                </a:solidFill>
                <a:effectLst/>
                <a:latin typeface="Times New Roman" panose="02020503050405090304" pitchFamily="18" charset="0"/>
                <a:ea typeface="黑体" panose="02010609060101010101" pitchFamily="49" charset="-122"/>
                <a:cs typeface="Times New Roman" panose="02020503050405090304" pitchFamily="18" charset="0"/>
              </a:rPr>
              <a:t>&gt;,&lt;</a:t>
            </a:r>
            <a:r>
              <a:rPr kumimoji="0" lang="de-DE" altLang="zh-CN" b="0" i="0" u="none" strike="noStrike" cap="none" normalizeH="0" baseline="0" dirty="0" err="1">
                <a:ln>
                  <a:noFill/>
                </a:ln>
                <a:solidFill>
                  <a:schemeClr val="tx1"/>
                </a:solidFill>
                <a:effectLst/>
                <a:latin typeface="Times New Roman" panose="02020503050405090304" pitchFamily="18" charset="0"/>
                <a:ea typeface="黑体" panose="02010609060101010101" pitchFamily="49" charset="-122"/>
                <a:cs typeface="Times New Roman" panose="02020503050405090304" pitchFamily="18" charset="0"/>
              </a:rPr>
              <a:t>g,h</a:t>
            </a:r>
            <a:r>
              <a:rPr kumimoji="0" lang="de-DE" altLang="zh-CN" b="0" i="0" u="none" strike="noStrike" cap="none" normalizeH="0" baseline="0" dirty="0">
                <a:ln>
                  <a:noFill/>
                </a:ln>
                <a:solidFill>
                  <a:schemeClr val="tx1"/>
                </a:solidFill>
                <a:effectLst/>
                <a:latin typeface="Times New Roman" panose="02020503050405090304" pitchFamily="18" charset="0"/>
                <a:ea typeface="黑体" panose="02010609060101010101" pitchFamily="49" charset="-122"/>
                <a:cs typeface="Times New Roman" panose="02020503050405090304" pitchFamily="18" charset="0"/>
              </a:rPr>
              <a:t>&gt;,&lt;</a:t>
            </a:r>
            <a:r>
              <a:rPr kumimoji="0" lang="de-DE" altLang="zh-CN" b="0" i="0" u="none" strike="noStrike" cap="none" normalizeH="0" baseline="0" dirty="0" err="1">
                <a:ln>
                  <a:noFill/>
                </a:ln>
                <a:solidFill>
                  <a:schemeClr val="tx1"/>
                </a:solidFill>
                <a:effectLst/>
                <a:latin typeface="Times New Roman" panose="02020503050405090304" pitchFamily="18" charset="0"/>
                <a:ea typeface="黑体" panose="02010609060101010101" pitchFamily="49" charset="-122"/>
                <a:cs typeface="Times New Roman" panose="02020503050405090304" pitchFamily="18" charset="0"/>
              </a:rPr>
              <a:t>e,f</a:t>
            </a:r>
            <a:r>
              <a:rPr kumimoji="0" lang="de-DE" altLang="zh-CN" b="0" i="0" u="none" strike="noStrike" cap="none" normalizeH="0" baseline="0" dirty="0">
                <a:ln>
                  <a:noFill/>
                </a:ln>
                <a:solidFill>
                  <a:schemeClr val="tx1"/>
                </a:solidFill>
                <a:effectLst/>
                <a:latin typeface="Times New Roman" panose="02020503050405090304" pitchFamily="18" charset="0"/>
                <a:ea typeface="黑体" panose="02010609060101010101" pitchFamily="49" charset="-122"/>
                <a:cs typeface="Times New Roman" panose="02020503050405090304" pitchFamily="18" charset="0"/>
              </a:rPr>
              <a:t>&gt;}</a:t>
            </a:r>
          </a:p>
        </p:txBody>
      </p:sp>
      <p:grpSp>
        <p:nvGrpSpPr>
          <p:cNvPr id="81" name="组合 80"/>
          <p:cNvGrpSpPr/>
          <p:nvPr/>
        </p:nvGrpSpPr>
        <p:grpSpPr>
          <a:xfrm>
            <a:off x="7512364" y="3655630"/>
            <a:ext cx="1961170" cy="2642922"/>
            <a:chOff x="8497613" y="3578772"/>
            <a:chExt cx="1961170" cy="2642922"/>
          </a:xfrm>
        </p:grpSpPr>
        <p:sp>
          <p:nvSpPr>
            <p:cNvPr id="48" name="椭圆 47"/>
            <p:cNvSpPr/>
            <p:nvPr/>
          </p:nvSpPr>
          <p:spPr>
            <a:xfrm>
              <a:off x="9291145" y="3578772"/>
              <a:ext cx="357351" cy="357352"/>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503050405090304" pitchFamily="18" charset="0"/>
                  <a:cs typeface="Times New Roman" panose="02020503050405090304" pitchFamily="18" charset="0"/>
                </a:rPr>
                <a:t>d</a:t>
              </a:r>
              <a:endParaRPr kumimoji="1" lang="zh-CN" altLang="en-US" dirty="0">
                <a:solidFill>
                  <a:schemeClr val="tx1"/>
                </a:solidFill>
                <a:latin typeface="Times New Roman" panose="02020503050405090304" pitchFamily="18" charset="0"/>
                <a:cs typeface="Times New Roman" panose="02020503050405090304" pitchFamily="18" charset="0"/>
              </a:endParaRPr>
            </a:p>
          </p:txBody>
        </p:sp>
        <p:sp>
          <p:nvSpPr>
            <p:cNvPr id="49" name="椭圆 48"/>
            <p:cNvSpPr/>
            <p:nvPr/>
          </p:nvSpPr>
          <p:spPr>
            <a:xfrm>
              <a:off x="8497614" y="4372304"/>
              <a:ext cx="357351" cy="357352"/>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503050405090304" pitchFamily="18" charset="0"/>
                  <a:cs typeface="Times New Roman" panose="02020503050405090304" pitchFamily="18" charset="0"/>
                </a:rPr>
                <a:t>b</a:t>
              </a:r>
              <a:endParaRPr kumimoji="1" lang="zh-CN" altLang="en-US" dirty="0">
                <a:solidFill>
                  <a:schemeClr val="tx1"/>
                </a:solidFill>
                <a:latin typeface="Times New Roman" panose="02020503050405090304" pitchFamily="18" charset="0"/>
                <a:cs typeface="Times New Roman" panose="02020503050405090304" pitchFamily="18" charset="0"/>
              </a:endParaRPr>
            </a:p>
          </p:txBody>
        </p:sp>
        <p:sp>
          <p:nvSpPr>
            <p:cNvPr id="50" name="椭圆 49"/>
            <p:cNvSpPr/>
            <p:nvPr/>
          </p:nvSpPr>
          <p:spPr>
            <a:xfrm>
              <a:off x="9291145" y="4393326"/>
              <a:ext cx="357351" cy="357352"/>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503050405090304" pitchFamily="18" charset="0"/>
                  <a:cs typeface="Times New Roman" panose="02020503050405090304" pitchFamily="18" charset="0"/>
                </a:rPr>
                <a:t>g</a:t>
              </a:r>
              <a:endParaRPr kumimoji="1" lang="zh-CN" altLang="en-US" dirty="0">
                <a:solidFill>
                  <a:schemeClr val="tx1"/>
                </a:solidFill>
                <a:latin typeface="Times New Roman" panose="02020503050405090304" pitchFamily="18" charset="0"/>
                <a:cs typeface="Times New Roman" panose="02020503050405090304" pitchFamily="18" charset="0"/>
              </a:endParaRPr>
            </a:p>
          </p:txBody>
        </p:sp>
        <p:sp>
          <p:nvSpPr>
            <p:cNvPr id="51" name="椭圆 50"/>
            <p:cNvSpPr/>
            <p:nvPr/>
          </p:nvSpPr>
          <p:spPr>
            <a:xfrm>
              <a:off x="10101432" y="4372304"/>
              <a:ext cx="357351" cy="357352"/>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503050405090304" pitchFamily="18" charset="0"/>
                  <a:cs typeface="Times New Roman" panose="02020503050405090304" pitchFamily="18" charset="0"/>
                </a:rPr>
                <a:t>a</a:t>
              </a:r>
              <a:endParaRPr kumimoji="1" lang="zh-CN" altLang="en-US" dirty="0">
                <a:solidFill>
                  <a:schemeClr val="tx1"/>
                </a:solidFill>
                <a:latin typeface="Times New Roman" panose="02020503050405090304" pitchFamily="18" charset="0"/>
                <a:cs typeface="Times New Roman" panose="02020503050405090304" pitchFamily="18" charset="0"/>
              </a:endParaRPr>
            </a:p>
          </p:txBody>
        </p:sp>
        <p:sp>
          <p:nvSpPr>
            <p:cNvPr id="52" name="椭圆 51"/>
            <p:cNvSpPr/>
            <p:nvPr/>
          </p:nvSpPr>
          <p:spPr>
            <a:xfrm>
              <a:off x="8497613" y="5102556"/>
              <a:ext cx="357351" cy="357352"/>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503050405090304" pitchFamily="18" charset="0"/>
                  <a:cs typeface="Times New Roman" panose="02020503050405090304" pitchFamily="18" charset="0"/>
                </a:rPr>
                <a:t>c</a:t>
              </a:r>
              <a:endParaRPr kumimoji="1" lang="zh-CN" altLang="en-US" dirty="0">
                <a:solidFill>
                  <a:schemeClr val="tx1"/>
                </a:solidFill>
                <a:latin typeface="Times New Roman" panose="02020503050405090304" pitchFamily="18" charset="0"/>
                <a:cs typeface="Times New Roman" panose="02020503050405090304" pitchFamily="18" charset="0"/>
              </a:endParaRPr>
            </a:p>
          </p:txBody>
        </p:sp>
        <p:sp>
          <p:nvSpPr>
            <p:cNvPr id="53" name="椭圆 52"/>
            <p:cNvSpPr/>
            <p:nvPr/>
          </p:nvSpPr>
          <p:spPr>
            <a:xfrm>
              <a:off x="8969096" y="5128834"/>
              <a:ext cx="357351" cy="357352"/>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503050405090304" pitchFamily="18" charset="0"/>
                  <a:cs typeface="Times New Roman" panose="02020503050405090304" pitchFamily="18" charset="0"/>
                </a:rPr>
                <a:t>e</a:t>
              </a:r>
              <a:endParaRPr kumimoji="1" lang="zh-CN" altLang="en-US" dirty="0">
                <a:solidFill>
                  <a:schemeClr val="tx1"/>
                </a:solidFill>
                <a:latin typeface="Times New Roman" panose="02020503050405090304" pitchFamily="18" charset="0"/>
                <a:cs typeface="Times New Roman" panose="02020503050405090304" pitchFamily="18" charset="0"/>
              </a:endParaRPr>
            </a:p>
          </p:txBody>
        </p:sp>
        <p:sp>
          <p:nvSpPr>
            <p:cNvPr id="54" name="椭圆 53"/>
            <p:cNvSpPr/>
            <p:nvPr/>
          </p:nvSpPr>
          <p:spPr>
            <a:xfrm>
              <a:off x="9668527" y="5126160"/>
              <a:ext cx="357351" cy="357352"/>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503050405090304" pitchFamily="18" charset="0"/>
                  <a:cs typeface="Times New Roman" panose="02020503050405090304" pitchFamily="18" charset="0"/>
                </a:rPr>
                <a:t>h</a:t>
              </a:r>
              <a:endParaRPr kumimoji="1" lang="zh-CN" altLang="en-US" dirty="0">
                <a:solidFill>
                  <a:schemeClr val="tx1"/>
                </a:solidFill>
                <a:latin typeface="Times New Roman" panose="02020503050405090304" pitchFamily="18" charset="0"/>
                <a:cs typeface="Times New Roman" panose="02020503050405090304" pitchFamily="18" charset="0"/>
              </a:endParaRPr>
            </a:p>
          </p:txBody>
        </p:sp>
        <p:sp>
          <p:nvSpPr>
            <p:cNvPr id="55" name="椭圆 54"/>
            <p:cNvSpPr/>
            <p:nvPr/>
          </p:nvSpPr>
          <p:spPr>
            <a:xfrm>
              <a:off x="8979606" y="5864342"/>
              <a:ext cx="357351" cy="357352"/>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503050405090304" pitchFamily="18" charset="0"/>
                  <a:cs typeface="Times New Roman" panose="02020503050405090304" pitchFamily="18" charset="0"/>
                </a:rPr>
                <a:t>f</a:t>
              </a:r>
              <a:endParaRPr kumimoji="1" lang="zh-CN" altLang="en-US" dirty="0">
                <a:solidFill>
                  <a:schemeClr val="tx1"/>
                </a:solidFill>
                <a:latin typeface="Times New Roman" panose="02020503050405090304" pitchFamily="18" charset="0"/>
                <a:cs typeface="Times New Roman" panose="02020503050405090304" pitchFamily="18" charset="0"/>
              </a:endParaRPr>
            </a:p>
          </p:txBody>
        </p:sp>
        <p:cxnSp>
          <p:nvCxnSpPr>
            <p:cNvPr id="57" name="直线箭头连接符 56"/>
            <p:cNvCxnSpPr>
              <a:stCxn id="48" idx="4"/>
              <a:endCxn id="49" idx="0"/>
            </p:cNvCxnSpPr>
            <p:nvPr/>
          </p:nvCxnSpPr>
          <p:spPr>
            <a:xfrm flipH="1">
              <a:off x="8676290" y="3936124"/>
              <a:ext cx="793531" cy="43618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59" name="直线箭头连接符 58"/>
            <p:cNvCxnSpPr>
              <a:stCxn id="48" idx="4"/>
              <a:endCxn id="50" idx="0"/>
            </p:cNvCxnSpPr>
            <p:nvPr/>
          </p:nvCxnSpPr>
          <p:spPr>
            <a:xfrm>
              <a:off x="9469821" y="3936124"/>
              <a:ext cx="0" cy="45720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61" name="直线箭头连接符 60"/>
            <p:cNvCxnSpPr>
              <a:stCxn id="48" idx="4"/>
              <a:endCxn id="51" idx="0"/>
            </p:cNvCxnSpPr>
            <p:nvPr/>
          </p:nvCxnSpPr>
          <p:spPr>
            <a:xfrm>
              <a:off x="9469821" y="3936124"/>
              <a:ext cx="810287" cy="43618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63" name="直线箭头连接符 62"/>
            <p:cNvCxnSpPr>
              <a:stCxn id="49" idx="4"/>
              <a:endCxn id="52" idx="0"/>
            </p:cNvCxnSpPr>
            <p:nvPr/>
          </p:nvCxnSpPr>
          <p:spPr>
            <a:xfrm flipH="1">
              <a:off x="8676289" y="4729656"/>
              <a:ext cx="1" cy="37290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65" name="直线箭头连接符 64"/>
            <p:cNvCxnSpPr>
              <a:stCxn id="50" idx="4"/>
              <a:endCxn id="53" idx="0"/>
            </p:cNvCxnSpPr>
            <p:nvPr/>
          </p:nvCxnSpPr>
          <p:spPr>
            <a:xfrm flipH="1">
              <a:off x="9147772" y="4750678"/>
              <a:ext cx="322049" cy="378156"/>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67" name="直线箭头连接符 66"/>
            <p:cNvCxnSpPr>
              <a:stCxn id="50" idx="4"/>
              <a:endCxn id="54" idx="0"/>
            </p:cNvCxnSpPr>
            <p:nvPr/>
          </p:nvCxnSpPr>
          <p:spPr>
            <a:xfrm>
              <a:off x="9469821" y="4750678"/>
              <a:ext cx="377382" cy="37548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79" name="直线箭头连接符 78"/>
            <p:cNvCxnSpPr>
              <a:stCxn id="53" idx="4"/>
              <a:endCxn id="55" idx="0"/>
            </p:cNvCxnSpPr>
            <p:nvPr/>
          </p:nvCxnSpPr>
          <p:spPr>
            <a:xfrm>
              <a:off x="9147772" y="5486186"/>
              <a:ext cx="10510" cy="378156"/>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grpSp>
      <p:sp>
        <p:nvSpPr>
          <p:cNvPr id="82" name="文本框 81"/>
          <p:cNvSpPr txBox="1"/>
          <p:nvPr/>
        </p:nvSpPr>
        <p:spPr>
          <a:xfrm>
            <a:off x="7239648" y="2387882"/>
            <a:ext cx="2031325" cy="461665"/>
          </a:xfrm>
          <a:prstGeom prst="rect">
            <a:avLst/>
          </a:prstGeom>
          <a:noFill/>
        </p:spPr>
        <p:txBody>
          <a:bodyPr wrap="none" rtlCol="0">
            <a:spAutoFit/>
          </a:bodyPr>
          <a:lstStyle/>
          <a:p>
            <a:r>
              <a:rPr kumimoji="1" lang="zh-CN" altLang="en-US" sz="2400" dirty="0">
                <a:solidFill>
                  <a:srgbClr val="FF0000"/>
                </a:solidFill>
                <a:latin typeface="黑体" panose="02010609060101010101" pitchFamily="49" charset="-122"/>
                <a:ea typeface="黑体" panose="02010609060101010101" pitchFamily="49" charset="-122"/>
              </a:rPr>
              <a:t>图（无向图）</a:t>
            </a:r>
          </a:p>
        </p:txBody>
      </p:sp>
      <p:sp>
        <p:nvSpPr>
          <p:cNvPr id="83" name="文本框 82"/>
          <p:cNvSpPr txBox="1"/>
          <p:nvPr/>
        </p:nvSpPr>
        <p:spPr>
          <a:xfrm>
            <a:off x="8981091" y="5846313"/>
            <a:ext cx="492443" cy="461665"/>
          </a:xfrm>
          <a:prstGeom prst="rect">
            <a:avLst/>
          </a:prstGeom>
          <a:noFill/>
        </p:spPr>
        <p:txBody>
          <a:bodyPr wrap="none" rtlCol="0">
            <a:spAutoFit/>
          </a:bodyPr>
          <a:lstStyle/>
          <a:p>
            <a:r>
              <a:rPr kumimoji="1" lang="zh-CN" altLang="en-US" sz="2400" dirty="0">
                <a:solidFill>
                  <a:srgbClr val="FF0000"/>
                </a:solidFill>
                <a:latin typeface="黑体" panose="02010609060101010101" pitchFamily="49" charset="-122"/>
                <a:ea typeface="黑体" panose="02010609060101010101" pitchFamily="49" charset="-122"/>
              </a:rPr>
              <a:t>树</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80"/>
                                        </p:tgtEl>
                                        <p:attrNameLst>
                                          <p:attrName>style.visibility</p:attrName>
                                        </p:attrNameLst>
                                      </p:cBhvr>
                                      <p:to>
                                        <p:strVal val="visible"/>
                                      </p:to>
                                    </p:set>
                                    <p:animEffect transition="in" filter="checkerboard(across)">
                                      <p:cBhvr>
                                        <p:cTn id="7" dur="500"/>
                                        <p:tgtEl>
                                          <p:spTgt spid="8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2"/>
                                        </p:tgtEl>
                                        <p:attrNameLst>
                                          <p:attrName>style.visibility</p:attrName>
                                        </p:attrNameLst>
                                      </p:cBhvr>
                                      <p:to>
                                        <p:strVal val="visible"/>
                                      </p:to>
                                    </p:set>
                                    <p:animEffect transition="in" filter="blinds(horizontal)">
                                      <p:cBhvr>
                                        <p:cTn id="12" dur="500"/>
                                        <p:tgtEl>
                                          <p:spTgt spid="8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7"/>
                                        </p:tgtEl>
                                        <p:attrNameLst>
                                          <p:attrName>style.visibility</p:attrName>
                                        </p:attrNameLst>
                                      </p:cBhvr>
                                      <p:to>
                                        <p:strVal val="visible"/>
                                      </p:to>
                                    </p:set>
                                    <p:animEffect transition="in" filter="wipe(left)">
                                      <p:cBhvr>
                                        <p:cTn id="17" dur="500"/>
                                        <p:tgtEl>
                                          <p:spTgt spid="47"/>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81"/>
                                        </p:tgtEl>
                                        <p:attrNameLst>
                                          <p:attrName>style.visibility</p:attrName>
                                        </p:attrNameLst>
                                      </p:cBhvr>
                                      <p:to>
                                        <p:strVal val="visible"/>
                                      </p:to>
                                    </p:set>
                                    <p:animEffect transition="in" filter="blinds(horizontal)">
                                      <p:cBhvr>
                                        <p:cTn id="22" dur="500"/>
                                        <p:tgtEl>
                                          <p:spTgt spid="81"/>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83"/>
                                        </p:tgtEl>
                                        <p:attrNameLst>
                                          <p:attrName>style.visibility</p:attrName>
                                        </p:attrNameLst>
                                      </p:cBhvr>
                                      <p:to>
                                        <p:strVal val="visible"/>
                                      </p:to>
                                    </p:set>
                                    <p:animEffect transition="in" filter="blinds(horizontal)">
                                      <p:cBhvr>
                                        <p:cTn id="27" dur="500"/>
                                        <p:tgtEl>
                                          <p:spTgt spid="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P spid="82" grpId="0"/>
      <p:bldP spid="8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panose="020B0604020202090204" pitchFamily="34" charset="0"/>
                <a:ea typeface="宋体" pitchFamily="2" charset="-122"/>
                <a:cs typeface="+mn-cs"/>
              </a:rPr>
              <a:t>13.1   </a:t>
            </a:r>
            <a:r>
              <a:rPr kumimoji="1" lang="zh-CN" altLang="en-US" sz="3200" b="1" dirty="0">
                <a:latin typeface="Arial" panose="020B0604020202090204" pitchFamily="34" charset="0"/>
                <a:ea typeface="宋体" pitchFamily="2" charset="-122"/>
                <a:cs typeface="+mn-cs"/>
              </a:rPr>
              <a:t>基本概念和术语</a:t>
            </a:r>
          </a:p>
        </p:txBody>
      </p:sp>
      <p:sp>
        <p:nvSpPr>
          <p:cNvPr id="3" name="内容占位符 2"/>
          <p:cNvSpPr>
            <a:spLocks noGrp="1"/>
          </p:cNvSpPr>
          <p:nvPr>
            <p:ph idx="1"/>
          </p:nvPr>
        </p:nvSpPr>
        <p:spPr>
          <a:xfrm>
            <a:off x="1295400" y="1616076"/>
            <a:ext cx="9906000" cy="5105400"/>
          </a:xfrm>
        </p:spPr>
        <p:txBody>
          <a:bodyPr>
            <a:normAutofit/>
          </a:bodyPr>
          <a:lstStyle/>
          <a:p>
            <a:pPr>
              <a:lnSpc>
                <a:spcPct val="150000"/>
              </a:lnSpc>
            </a:pPr>
            <a:r>
              <a:rPr lang="zh-CN" altLang="en-US" sz="2800" b="1" dirty="0">
                <a:solidFill>
                  <a:srgbClr val="FF0000"/>
                </a:solidFill>
              </a:rPr>
              <a:t>②</a:t>
            </a:r>
            <a:r>
              <a:rPr lang="zh-CN" altLang="en-US" b="1" dirty="0">
                <a:solidFill>
                  <a:srgbClr val="FF0000"/>
                </a:solidFill>
              </a:rPr>
              <a:t>数据的存储结构</a:t>
            </a:r>
            <a:r>
              <a:rPr lang="zh-CN" altLang="en-US" b="1" dirty="0"/>
              <a:t> </a:t>
            </a:r>
            <a:endParaRPr lang="en-US" altLang="zh-CN" b="1" dirty="0"/>
          </a:p>
          <a:p>
            <a:pPr lvl="1">
              <a:lnSpc>
                <a:spcPct val="150000"/>
              </a:lnSpc>
            </a:pPr>
            <a:r>
              <a:rPr lang="zh-CN" altLang="en-US" sz="2400" b="1" dirty="0"/>
              <a:t>又称物理结构，是数据及其逻辑结构在</a:t>
            </a:r>
            <a:r>
              <a:rPr lang="zh-CN" altLang="en-US" sz="2400" b="1" dirty="0">
                <a:solidFill>
                  <a:schemeClr val="accent6">
                    <a:lumMod val="75000"/>
                  </a:schemeClr>
                </a:solidFill>
              </a:rPr>
              <a:t>计算机</a:t>
            </a:r>
            <a:r>
              <a:rPr lang="zh-CN" altLang="en-US" sz="2400" b="1" dirty="0"/>
              <a:t>中的表示。 </a:t>
            </a:r>
            <a:endParaRPr lang="en-US" altLang="zh-CN" sz="2400" b="1" dirty="0"/>
          </a:p>
          <a:p>
            <a:pPr lvl="1">
              <a:lnSpc>
                <a:spcPct val="150000"/>
              </a:lnSpc>
            </a:pPr>
            <a:r>
              <a:rPr lang="zh-CN" altLang="en-US" sz="2400" b="1" dirty="0"/>
              <a:t>实质上是内存分配，以确定</a:t>
            </a:r>
            <a:r>
              <a:rPr lang="zh-CN" altLang="en-US" sz="2400" b="1" dirty="0">
                <a:solidFill>
                  <a:schemeClr val="accent6">
                    <a:lumMod val="75000"/>
                  </a:schemeClr>
                </a:solidFill>
              </a:rPr>
              <a:t>元素</a:t>
            </a:r>
            <a:r>
              <a:rPr lang="zh-CN" altLang="en-US" sz="2400" b="1" dirty="0"/>
              <a:t>及</a:t>
            </a:r>
            <a:r>
              <a:rPr lang="zh-CN" altLang="en-US" sz="2400" b="1" dirty="0">
                <a:solidFill>
                  <a:schemeClr val="accent6">
                    <a:lumMod val="75000"/>
                  </a:schemeClr>
                </a:solidFill>
              </a:rPr>
              <a:t>元素之间</a:t>
            </a:r>
            <a:r>
              <a:rPr lang="zh-CN" altLang="en-US" sz="2400" b="1" dirty="0"/>
              <a:t>关系的表示。 </a:t>
            </a:r>
            <a:endParaRPr lang="en-US" altLang="zh-CN" sz="2400" b="1" dirty="0"/>
          </a:p>
          <a:p>
            <a:pPr lvl="1">
              <a:lnSpc>
                <a:spcPct val="150000"/>
              </a:lnSpc>
            </a:pPr>
            <a:r>
              <a:rPr lang="zh-CN" altLang="en-US" sz="2400" b="1" dirty="0"/>
              <a:t>在具体实现时，依赖于</a:t>
            </a:r>
            <a:r>
              <a:rPr lang="zh-CN" altLang="en-US" sz="2400" b="1" dirty="0">
                <a:solidFill>
                  <a:schemeClr val="accent6">
                    <a:lumMod val="75000"/>
                  </a:schemeClr>
                </a:solidFill>
              </a:rPr>
              <a:t>计算机语言</a:t>
            </a:r>
            <a:r>
              <a:rPr lang="zh-CN" altLang="en-US" sz="2400" b="1" dirty="0"/>
              <a:t>。</a:t>
            </a:r>
            <a:endParaRPr lang="en-US" altLang="zh-CN" sz="2400" b="1" dirty="0"/>
          </a:p>
          <a:p>
            <a:pPr marL="457200" lvl="1" indent="0">
              <a:lnSpc>
                <a:spcPts val="3000"/>
              </a:lnSpc>
              <a:buNone/>
            </a:pPr>
            <a:endParaRPr lang="en-US" altLang="zh-CN" sz="2400" b="1" dirty="0"/>
          </a:p>
          <a:p>
            <a:pPr marL="457200" lvl="1" indent="0">
              <a:lnSpc>
                <a:spcPts val="3000"/>
              </a:lnSpc>
              <a:buNone/>
            </a:pPr>
            <a:endParaRPr lang="zh-CN" altLang="en-US" sz="2000" b="1" dirty="0"/>
          </a:p>
        </p:txBody>
      </p:sp>
      <p:sp>
        <p:nvSpPr>
          <p:cNvPr id="4" name="日期占位符 3"/>
          <p:cNvSpPr>
            <a:spLocks noGrp="1"/>
          </p:cNvSpPr>
          <p:nvPr>
            <p:ph type="dt" sz="half" idx="10"/>
          </p:nvPr>
        </p:nvSpPr>
        <p:spPr/>
        <p:txBody>
          <a:bodyPr/>
          <a:lstStyle/>
          <a:p>
            <a:fld id="{55BCBFBE-ACD3-4943-848E-88897BF7EB47}" type="datetime1">
              <a:rPr lang="zh-CN" altLang="en-US" b="1" smtClean="0">
                <a:solidFill>
                  <a:srgbClr val="F79646">
                    <a:lumMod val="75000"/>
                  </a:srgbClr>
                </a:solidFill>
              </a:rPr>
              <a:t>2025/11/27</a:t>
            </a:fld>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t>13</a:t>
            </a:fld>
            <a:endParaRPr lang="zh-CN" altLang="en-US" b="1" dirty="0">
              <a:solidFill>
                <a:srgbClr val="F79646">
                  <a:lumMod val="75000"/>
                </a:srgbClr>
              </a:solidFill>
            </a:endParaRPr>
          </a:p>
        </p:txBody>
      </p:sp>
      <p:cxnSp>
        <p:nvCxnSpPr>
          <p:cNvPr id="12" name="直接连接符 11"/>
          <p:cNvCxnSpPr/>
          <p:nvPr/>
        </p:nvCxnSpPr>
        <p:spPr>
          <a:xfrm>
            <a:off x="1981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panose="020B0604020202090204" pitchFamily="34" charset="0"/>
                <a:ea typeface="宋体" pitchFamily="2" charset="-122"/>
                <a:cs typeface="+mn-cs"/>
              </a:rPr>
              <a:t>13.1   </a:t>
            </a:r>
            <a:r>
              <a:rPr kumimoji="1" lang="zh-CN" altLang="en-US" sz="3200" b="1" dirty="0">
                <a:latin typeface="Arial" panose="020B0604020202090204" pitchFamily="34" charset="0"/>
                <a:ea typeface="宋体" pitchFamily="2" charset="-122"/>
                <a:cs typeface="+mn-cs"/>
              </a:rPr>
              <a:t>基本概念和术语</a:t>
            </a:r>
          </a:p>
        </p:txBody>
      </p:sp>
      <p:sp>
        <p:nvSpPr>
          <p:cNvPr id="3" name="内容占位符 2"/>
          <p:cNvSpPr>
            <a:spLocks noGrp="1"/>
          </p:cNvSpPr>
          <p:nvPr>
            <p:ph idx="1"/>
          </p:nvPr>
        </p:nvSpPr>
        <p:spPr>
          <a:xfrm>
            <a:off x="1981200" y="1295400"/>
            <a:ext cx="8229600" cy="5105400"/>
          </a:xfrm>
        </p:spPr>
        <p:txBody>
          <a:bodyPr>
            <a:normAutofit/>
          </a:bodyPr>
          <a:lstStyle/>
          <a:p>
            <a:pPr>
              <a:lnSpc>
                <a:spcPts val="3000"/>
              </a:lnSpc>
            </a:pPr>
            <a:r>
              <a:rPr lang="zh-CN" altLang="en-US" sz="2800" b="1" dirty="0">
                <a:solidFill>
                  <a:srgbClr val="FF0000"/>
                </a:solidFill>
              </a:rPr>
              <a:t>两种基本的存储结构：</a:t>
            </a:r>
            <a:endParaRPr lang="en-US" altLang="zh-CN" sz="2800" b="1" dirty="0">
              <a:solidFill>
                <a:srgbClr val="FF0000"/>
              </a:solidFill>
            </a:endParaRPr>
          </a:p>
          <a:p>
            <a:pPr lvl="1">
              <a:lnSpc>
                <a:spcPts val="3000"/>
              </a:lnSpc>
            </a:pPr>
            <a:r>
              <a:rPr kumimoji="1" lang="zh-CN" altLang="en-US" b="1" dirty="0">
                <a:solidFill>
                  <a:srgbClr val="0000FF"/>
                </a:solidFill>
                <a:latin typeface="Arial" panose="020B0604020202090204" pitchFamily="34" charset="0"/>
                <a:ea typeface="宋体" pitchFamily="2" charset="-122"/>
              </a:rPr>
              <a:t>顺序存储结构</a:t>
            </a:r>
            <a:endParaRPr kumimoji="1" lang="en-US" altLang="zh-CN" b="1" dirty="0">
              <a:solidFill>
                <a:srgbClr val="0000FF"/>
              </a:solidFill>
              <a:latin typeface="Arial" panose="020B0604020202090204" pitchFamily="34" charset="0"/>
              <a:ea typeface="宋体" pitchFamily="2" charset="-122"/>
            </a:endParaRPr>
          </a:p>
          <a:p>
            <a:pPr lvl="2">
              <a:lnSpc>
                <a:spcPts val="3000"/>
              </a:lnSpc>
            </a:pPr>
            <a:r>
              <a:rPr lang="zh-CN" altLang="en-US" sz="2000" b="1" dirty="0"/>
              <a:t>用一组</a:t>
            </a:r>
            <a:r>
              <a:rPr lang="zh-CN" altLang="en-US" sz="2000" b="1" dirty="0">
                <a:solidFill>
                  <a:srgbClr val="FF0000"/>
                </a:solidFill>
              </a:rPr>
              <a:t>连续</a:t>
            </a:r>
            <a:r>
              <a:rPr lang="zh-CN" altLang="en-US" sz="2000" b="1" dirty="0"/>
              <a:t>的存储单元</a:t>
            </a:r>
            <a:r>
              <a:rPr lang="zh-CN" altLang="en-US" sz="2000" b="1" dirty="0">
                <a:solidFill>
                  <a:srgbClr val="FF0000"/>
                </a:solidFill>
              </a:rPr>
              <a:t>依次</a:t>
            </a:r>
            <a:endParaRPr lang="en-US" altLang="zh-CN" sz="2000" b="1" dirty="0">
              <a:solidFill>
                <a:srgbClr val="FF0000"/>
              </a:solidFill>
            </a:endParaRPr>
          </a:p>
          <a:p>
            <a:pPr marL="914400" lvl="2" indent="0">
              <a:lnSpc>
                <a:spcPts val="3000"/>
              </a:lnSpc>
              <a:buNone/>
            </a:pPr>
            <a:r>
              <a:rPr lang="zh-CN" altLang="en-US" sz="2000" b="1" dirty="0"/>
              <a:t>    存储数据元素，数据元素之 </a:t>
            </a:r>
            <a:endParaRPr lang="en-US" altLang="zh-CN" sz="2000" b="1" dirty="0"/>
          </a:p>
          <a:p>
            <a:pPr marL="914400" lvl="2" indent="0">
              <a:lnSpc>
                <a:spcPts val="3000"/>
              </a:lnSpc>
              <a:buNone/>
            </a:pPr>
            <a:r>
              <a:rPr lang="zh-CN" altLang="en-US" sz="2000" b="1" dirty="0"/>
              <a:t>    间的逻辑关系由元素的</a:t>
            </a:r>
            <a:r>
              <a:rPr lang="zh-CN" altLang="en-US" sz="2000" b="1" dirty="0">
                <a:solidFill>
                  <a:srgbClr val="FF0000"/>
                </a:solidFill>
              </a:rPr>
              <a:t>存储</a:t>
            </a:r>
            <a:endParaRPr lang="en-US" altLang="zh-CN" sz="2000" b="1" dirty="0">
              <a:solidFill>
                <a:srgbClr val="FF0000"/>
              </a:solidFill>
            </a:endParaRPr>
          </a:p>
          <a:p>
            <a:pPr marL="914400" lvl="2" indent="0">
              <a:lnSpc>
                <a:spcPts val="3000"/>
              </a:lnSpc>
              <a:buNone/>
            </a:pPr>
            <a:r>
              <a:rPr lang="en-US" altLang="zh-CN" sz="2000" b="1" dirty="0">
                <a:solidFill>
                  <a:srgbClr val="FF0000"/>
                </a:solidFill>
              </a:rPr>
              <a:t>    </a:t>
            </a:r>
            <a:r>
              <a:rPr lang="zh-CN" altLang="en-US" sz="2000" b="1" dirty="0">
                <a:solidFill>
                  <a:srgbClr val="FF0000"/>
                </a:solidFill>
              </a:rPr>
              <a:t>位置</a:t>
            </a:r>
            <a:r>
              <a:rPr lang="zh-CN" altLang="en-US" sz="2000" b="1" dirty="0"/>
              <a:t>来表示。</a:t>
            </a:r>
          </a:p>
          <a:p>
            <a:pPr marL="914400" lvl="2" indent="0">
              <a:lnSpc>
                <a:spcPts val="3000"/>
              </a:lnSpc>
              <a:buNone/>
            </a:pPr>
            <a:endParaRPr lang="en-US" altLang="zh-CN" sz="2000" b="1" dirty="0"/>
          </a:p>
        </p:txBody>
      </p:sp>
      <p:sp>
        <p:nvSpPr>
          <p:cNvPr id="4" name="日期占位符 3"/>
          <p:cNvSpPr>
            <a:spLocks noGrp="1"/>
          </p:cNvSpPr>
          <p:nvPr>
            <p:ph type="dt" sz="half" idx="10"/>
          </p:nvPr>
        </p:nvSpPr>
        <p:spPr/>
        <p:txBody>
          <a:bodyPr/>
          <a:lstStyle/>
          <a:p>
            <a:fld id="{82C260F3-2F15-4643-BD88-DA7D2CC1FAEE}" type="datetime1">
              <a:rPr lang="zh-CN" altLang="en-US" b="1">
                <a:solidFill>
                  <a:srgbClr val="F79646">
                    <a:lumMod val="75000"/>
                  </a:srgbClr>
                </a:solidFill>
              </a:rPr>
              <a:t>2025/11/27</a:t>
            </a:fld>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t>14</a:t>
            </a:fld>
            <a:endParaRPr lang="zh-CN" altLang="en-US" b="1" dirty="0">
              <a:solidFill>
                <a:srgbClr val="F79646">
                  <a:lumMod val="75000"/>
                </a:srgbClr>
              </a:solidFill>
            </a:endParaRPr>
          </a:p>
        </p:txBody>
      </p:sp>
      <p:cxnSp>
        <p:nvCxnSpPr>
          <p:cNvPr id="12" name="直接连接符 11"/>
          <p:cNvCxnSpPr/>
          <p:nvPr/>
        </p:nvCxnSpPr>
        <p:spPr>
          <a:xfrm>
            <a:off x="1981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6934200" y="1534180"/>
            <a:ext cx="3581400" cy="523220"/>
          </a:xfrm>
          <a:prstGeom prst="rect">
            <a:avLst/>
          </a:prstGeom>
          <a:noFill/>
        </p:spPr>
        <p:txBody>
          <a:bodyPr wrap="square" rtlCol="0">
            <a:spAutoFit/>
          </a:bodyPr>
          <a:lstStyle/>
          <a:p>
            <a:r>
              <a:rPr lang="zh-CN" altLang="en-US" sz="2800" b="1" dirty="0"/>
              <a:t>例：（</a:t>
            </a:r>
            <a:r>
              <a:rPr lang="en-US" altLang="zh-CN" sz="2800" b="1" dirty="0"/>
              <a:t>bat, cat, eat</a:t>
            </a:r>
            <a:r>
              <a:rPr lang="zh-CN" altLang="en-US" sz="2800" b="1" dirty="0"/>
              <a:t>） </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39347" y="2042612"/>
            <a:ext cx="2357790" cy="42057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panose="020B0604020202090204" pitchFamily="34" charset="0"/>
                <a:ea typeface="宋体" pitchFamily="2" charset="-122"/>
              </a:rPr>
              <a:t>13.1</a:t>
            </a:r>
            <a:r>
              <a:rPr kumimoji="1" lang="en-US" altLang="zh-CN" sz="3200" b="1" dirty="0">
                <a:latin typeface="Arial" panose="020B0604020202090204" pitchFamily="34" charset="0"/>
                <a:ea typeface="宋体" pitchFamily="2" charset="-122"/>
                <a:cs typeface="+mn-cs"/>
              </a:rPr>
              <a:t>   </a:t>
            </a:r>
            <a:r>
              <a:rPr kumimoji="1" lang="zh-CN" altLang="en-US" sz="3200" b="1" dirty="0">
                <a:latin typeface="Arial" panose="020B0604020202090204" pitchFamily="34" charset="0"/>
                <a:ea typeface="宋体" pitchFamily="2" charset="-122"/>
                <a:cs typeface="+mn-cs"/>
              </a:rPr>
              <a:t>基本概念和术语</a:t>
            </a:r>
          </a:p>
        </p:txBody>
      </p:sp>
      <p:sp>
        <p:nvSpPr>
          <p:cNvPr id="3" name="内容占位符 2"/>
          <p:cNvSpPr>
            <a:spLocks noGrp="1"/>
          </p:cNvSpPr>
          <p:nvPr>
            <p:ph idx="1"/>
          </p:nvPr>
        </p:nvSpPr>
        <p:spPr>
          <a:xfrm>
            <a:off x="1981200" y="1295400"/>
            <a:ext cx="8229600" cy="5105400"/>
          </a:xfrm>
        </p:spPr>
        <p:txBody>
          <a:bodyPr>
            <a:normAutofit/>
          </a:bodyPr>
          <a:lstStyle/>
          <a:p>
            <a:pPr>
              <a:lnSpc>
                <a:spcPts val="3000"/>
              </a:lnSpc>
            </a:pPr>
            <a:r>
              <a:rPr lang="zh-CN" altLang="en-US" sz="2800" b="1" dirty="0">
                <a:solidFill>
                  <a:srgbClr val="FF0000"/>
                </a:solidFill>
              </a:rPr>
              <a:t>两种基本的存储结构：</a:t>
            </a:r>
            <a:endParaRPr lang="en-US" altLang="zh-CN" sz="2800" b="1" dirty="0">
              <a:solidFill>
                <a:srgbClr val="FF0000"/>
              </a:solidFill>
            </a:endParaRPr>
          </a:p>
          <a:p>
            <a:pPr lvl="1">
              <a:lnSpc>
                <a:spcPts val="3000"/>
              </a:lnSpc>
            </a:pPr>
            <a:r>
              <a:rPr kumimoji="1" lang="zh-CN" altLang="en-US" b="1" dirty="0">
                <a:solidFill>
                  <a:srgbClr val="0000FF"/>
                </a:solidFill>
                <a:latin typeface="Arial" panose="020B0604020202090204" pitchFamily="34" charset="0"/>
                <a:ea typeface="宋体" pitchFamily="2" charset="-122"/>
              </a:rPr>
              <a:t>顺序存储结构</a:t>
            </a:r>
            <a:endParaRPr kumimoji="1" lang="en-US" altLang="zh-CN" b="1" dirty="0">
              <a:solidFill>
                <a:srgbClr val="0000FF"/>
              </a:solidFill>
              <a:latin typeface="Arial" panose="020B0604020202090204" pitchFamily="34" charset="0"/>
              <a:ea typeface="宋体" pitchFamily="2" charset="-122"/>
            </a:endParaRPr>
          </a:p>
          <a:p>
            <a:pPr lvl="2">
              <a:lnSpc>
                <a:spcPts val="3000"/>
              </a:lnSpc>
            </a:pPr>
            <a:r>
              <a:rPr lang="zh-CN" altLang="en-US" sz="2000" b="1" dirty="0">
                <a:solidFill>
                  <a:prstClr val="black"/>
                </a:solidFill>
              </a:rPr>
              <a:t>用一组</a:t>
            </a:r>
            <a:r>
              <a:rPr lang="zh-CN" altLang="en-US" sz="2000" b="1" dirty="0">
                <a:solidFill>
                  <a:srgbClr val="FF0000"/>
                </a:solidFill>
              </a:rPr>
              <a:t>连续</a:t>
            </a:r>
            <a:r>
              <a:rPr lang="zh-CN" altLang="en-US" sz="2000" b="1" dirty="0">
                <a:solidFill>
                  <a:prstClr val="black"/>
                </a:solidFill>
              </a:rPr>
              <a:t>的存储单元</a:t>
            </a:r>
            <a:r>
              <a:rPr lang="zh-CN" altLang="en-US" sz="2000" b="1" dirty="0">
                <a:solidFill>
                  <a:srgbClr val="FF0000"/>
                </a:solidFill>
              </a:rPr>
              <a:t>依次</a:t>
            </a:r>
            <a:endParaRPr lang="en-US" altLang="zh-CN" sz="2000" b="1" dirty="0">
              <a:solidFill>
                <a:srgbClr val="FF0000"/>
              </a:solidFill>
            </a:endParaRPr>
          </a:p>
          <a:p>
            <a:pPr marL="914400" lvl="2" indent="0">
              <a:lnSpc>
                <a:spcPts val="3000"/>
              </a:lnSpc>
              <a:buNone/>
            </a:pPr>
            <a:r>
              <a:rPr lang="zh-CN" altLang="en-US" sz="2000" b="1" dirty="0">
                <a:solidFill>
                  <a:prstClr val="black"/>
                </a:solidFill>
              </a:rPr>
              <a:t>    存储数据元素，数据元素之 </a:t>
            </a:r>
            <a:endParaRPr lang="en-US" altLang="zh-CN" sz="2000" b="1" dirty="0">
              <a:solidFill>
                <a:prstClr val="black"/>
              </a:solidFill>
            </a:endParaRPr>
          </a:p>
          <a:p>
            <a:pPr marL="914400" lvl="2" indent="0">
              <a:lnSpc>
                <a:spcPts val="3000"/>
              </a:lnSpc>
              <a:buNone/>
            </a:pPr>
            <a:r>
              <a:rPr lang="zh-CN" altLang="en-US" sz="2000" b="1" dirty="0">
                <a:solidFill>
                  <a:prstClr val="black"/>
                </a:solidFill>
              </a:rPr>
              <a:t>    间的逻辑关系由元素的</a:t>
            </a:r>
            <a:r>
              <a:rPr lang="zh-CN" altLang="en-US" sz="2000" b="1" dirty="0">
                <a:solidFill>
                  <a:srgbClr val="FF0000"/>
                </a:solidFill>
              </a:rPr>
              <a:t>存储</a:t>
            </a:r>
            <a:endParaRPr lang="en-US" altLang="zh-CN" sz="2000" b="1" dirty="0">
              <a:solidFill>
                <a:srgbClr val="FF0000"/>
              </a:solidFill>
            </a:endParaRPr>
          </a:p>
          <a:p>
            <a:pPr marL="914400" lvl="2" indent="0">
              <a:lnSpc>
                <a:spcPts val="3000"/>
              </a:lnSpc>
              <a:buNone/>
            </a:pPr>
            <a:r>
              <a:rPr lang="en-US" altLang="zh-CN" sz="2000" b="1" dirty="0">
                <a:solidFill>
                  <a:srgbClr val="FF0000"/>
                </a:solidFill>
              </a:rPr>
              <a:t>    </a:t>
            </a:r>
            <a:r>
              <a:rPr lang="zh-CN" altLang="en-US" sz="2000" b="1" dirty="0">
                <a:solidFill>
                  <a:srgbClr val="FF0000"/>
                </a:solidFill>
              </a:rPr>
              <a:t>位置</a:t>
            </a:r>
            <a:r>
              <a:rPr lang="zh-CN" altLang="en-US" sz="2000" b="1" dirty="0">
                <a:solidFill>
                  <a:prstClr val="black"/>
                </a:solidFill>
              </a:rPr>
              <a:t>来表示。</a:t>
            </a:r>
            <a:endParaRPr kumimoji="1" lang="en-US" altLang="zh-CN" b="1" dirty="0">
              <a:solidFill>
                <a:srgbClr val="0000FF"/>
              </a:solidFill>
              <a:latin typeface="Arial" panose="020B0604020202090204" pitchFamily="34" charset="0"/>
              <a:ea typeface="宋体" pitchFamily="2" charset="-122"/>
            </a:endParaRPr>
          </a:p>
          <a:p>
            <a:pPr lvl="1">
              <a:lnSpc>
                <a:spcPts val="3000"/>
              </a:lnSpc>
            </a:pPr>
            <a:r>
              <a:rPr kumimoji="1" lang="zh-CN" altLang="en-US" b="1" dirty="0">
                <a:solidFill>
                  <a:srgbClr val="0000FF"/>
                </a:solidFill>
                <a:latin typeface="Arial" panose="020B0604020202090204" pitchFamily="34" charset="0"/>
                <a:ea typeface="宋体" pitchFamily="2" charset="-122"/>
              </a:rPr>
              <a:t>链接存储结构</a:t>
            </a:r>
            <a:endParaRPr kumimoji="1" lang="en-US" altLang="zh-CN" b="1" dirty="0">
              <a:solidFill>
                <a:srgbClr val="0000FF"/>
              </a:solidFill>
              <a:latin typeface="Arial" panose="020B0604020202090204" pitchFamily="34" charset="0"/>
              <a:ea typeface="宋体" pitchFamily="2" charset="-122"/>
            </a:endParaRPr>
          </a:p>
          <a:p>
            <a:pPr lvl="2">
              <a:lnSpc>
                <a:spcPts val="3000"/>
              </a:lnSpc>
            </a:pPr>
            <a:r>
              <a:rPr lang="zh-CN" altLang="en-US" sz="2000" b="1" dirty="0"/>
              <a:t>用一组</a:t>
            </a:r>
            <a:r>
              <a:rPr lang="zh-CN" altLang="en-US" sz="2000" b="1" dirty="0">
                <a:solidFill>
                  <a:srgbClr val="FF0000"/>
                </a:solidFill>
              </a:rPr>
              <a:t>任意</a:t>
            </a:r>
            <a:r>
              <a:rPr lang="zh-CN" altLang="en-US" sz="2000" b="1" dirty="0"/>
              <a:t>的存储单元存储</a:t>
            </a:r>
            <a:endParaRPr lang="en-US" altLang="zh-CN" sz="2000" b="1" dirty="0"/>
          </a:p>
          <a:p>
            <a:pPr marL="914400" lvl="2" indent="0">
              <a:lnSpc>
                <a:spcPts val="3000"/>
              </a:lnSpc>
              <a:buNone/>
            </a:pPr>
            <a:r>
              <a:rPr lang="en-US" altLang="zh-CN" sz="2000" b="1" dirty="0"/>
              <a:t>  </a:t>
            </a:r>
            <a:r>
              <a:rPr lang="zh-CN" altLang="en-US" sz="2000" b="1" dirty="0"/>
              <a:t> 数据元素，数据元素之间的 </a:t>
            </a:r>
            <a:endParaRPr lang="en-US" altLang="zh-CN" sz="2000" b="1" dirty="0"/>
          </a:p>
          <a:p>
            <a:pPr marL="914400" lvl="2" indent="0">
              <a:lnSpc>
                <a:spcPts val="3000"/>
              </a:lnSpc>
              <a:buNone/>
            </a:pPr>
            <a:r>
              <a:rPr lang="en-US" altLang="zh-CN" sz="2000" b="1" dirty="0"/>
              <a:t>   </a:t>
            </a:r>
            <a:r>
              <a:rPr lang="zh-CN" altLang="en-US" sz="2000" b="1" dirty="0"/>
              <a:t>逻辑关系用</a:t>
            </a:r>
            <a:r>
              <a:rPr lang="zh-CN" altLang="en-US" sz="2000" b="1" dirty="0">
                <a:solidFill>
                  <a:srgbClr val="FF0000"/>
                </a:solidFill>
              </a:rPr>
              <a:t>指针</a:t>
            </a:r>
            <a:r>
              <a:rPr lang="zh-CN" altLang="en-US" sz="2000" b="1" dirty="0"/>
              <a:t>来表示。</a:t>
            </a:r>
          </a:p>
          <a:p>
            <a:pPr marL="914400" lvl="2" indent="0">
              <a:lnSpc>
                <a:spcPts val="3000"/>
              </a:lnSpc>
              <a:buNone/>
            </a:pPr>
            <a:endParaRPr lang="en-US" altLang="zh-CN" sz="2000" b="1" dirty="0"/>
          </a:p>
        </p:txBody>
      </p:sp>
      <p:sp>
        <p:nvSpPr>
          <p:cNvPr id="4" name="日期占位符 3"/>
          <p:cNvSpPr>
            <a:spLocks noGrp="1"/>
          </p:cNvSpPr>
          <p:nvPr>
            <p:ph type="dt" sz="half" idx="10"/>
          </p:nvPr>
        </p:nvSpPr>
        <p:spPr/>
        <p:txBody>
          <a:bodyPr/>
          <a:lstStyle/>
          <a:p>
            <a:fld id="{82C260F3-2F15-4643-BD88-DA7D2CC1FAEE}" type="datetime1">
              <a:rPr lang="zh-CN" altLang="en-US" b="1">
                <a:solidFill>
                  <a:srgbClr val="F79646">
                    <a:lumMod val="75000"/>
                  </a:srgbClr>
                </a:solidFill>
              </a:rPr>
              <a:t>2025/11/27</a:t>
            </a:fld>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t>15</a:t>
            </a:fld>
            <a:endParaRPr lang="zh-CN" altLang="en-US" b="1" dirty="0">
              <a:solidFill>
                <a:srgbClr val="F79646">
                  <a:lumMod val="75000"/>
                </a:srgbClr>
              </a:solidFill>
            </a:endParaRPr>
          </a:p>
        </p:txBody>
      </p:sp>
      <p:cxnSp>
        <p:nvCxnSpPr>
          <p:cNvPr id="12" name="直接连接符 11"/>
          <p:cNvCxnSpPr/>
          <p:nvPr/>
        </p:nvCxnSpPr>
        <p:spPr>
          <a:xfrm>
            <a:off x="1981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6934200" y="1534180"/>
            <a:ext cx="3581400" cy="523220"/>
          </a:xfrm>
          <a:prstGeom prst="rect">
            <a:avLst/>
          </a:prstGeom>
          <a:noFill/>
        </p:spPr>
        <p:txBody>
          <a:bodyPr wrap="square" rtlCol="0">
            <a:spAutoFit/>
          </a:bodyPr>
          <a:lstStyle/>
          <a:p>
            <a:r>
              <a:rPr lang="zh-CN" altLang="en-US" sz="2800" b="1" dirty="0">
                <a:solidFill>
                  <a:prstClr val="black"/>
                </a:solidFill>
              </a:rPr>
              <a:t>例：（</a:t>
            </a:r>
            <a:r>
              <a:rPr lang="en-US" altLang="zh-CN" sz="2800" b="1" dirty="0">
                <a:solidFill>
                  <a:prstClr val="black"/>
                </a:solidFill>
              </a:rPr>
              <a:t>bat, cat, eat</a:t>
            </a:r>
            <a:r>
              <a:rPr lang="zh-CN" altLang="en-US" sz="2800" b="1" dirty="0">
                <a:solidFill>
                  <a:prstClr val="black"/>
                </a:solidFill>
              </a:rPr>
              <a:t>） </a:t>
            </a: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39000" y="1981200"/>
            <a:ext cx="2755900" cy="428045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panose="020B0604020202090204" pitchFamily="34" charset="0"/>
                <a:ea typeface="宋体" pitchFamily="2" charset="-122"/>
              </a:rPr>
              <a:t>13.1</a:t>
            </a:r>
            <a:r>
              <a:rPr kumimoji="1" lang="en-US" altLang="zh-CN" sz="3200" b="1" dirty="0">
                <a:latin typeface="Arial" panose="020B0604020202090204" pitchFamily="34" charset="0"/>
                <a:ea typeface="宋体" pitchFamily="2" charset="-122"/>
                <a:cs typeface="+mn-cs"/>
              </a:rPr>
              <a:t>   </a:t>
            </a:r>
            <a:r>
              <a:rPr kumimoji="1" lang="zh-CN" altLang="en-US" sz="3200" b="1" dirty="0">
                <a:latin typeface="Arial" panose="020B0604020202090204" pitchFamily="34" charset="0"/>
                <a:ea typeface="宋体" pitchFamily="2" charset="-122"/>
                <a:cs typeface="+mn-cs"/>
              </a:rPr>
              <a:t>基本概念和术语</a:t>
            </a:r>
          </a:p>
        </p:txBody>
      </p:sp>
      <p:sp>
        <p:nvSpPr>
          <p:cNvPr id="3" name="内容占位符 2"/>
          <p:cNvSpPr>
            <a:spLocks noGrp="1"/>
          </p:cNvSpPr>
          <p:nvPr>
            <p:ph idx="1"/>
          </p:nvPr>
        </p:nvSpPr>
        <p:spPr>
          <a:xfrm>
            <a:off x="1981200" y="1295400"/>
            <a:ext cx="8229600" cy="5105400"/>
          </a:xfrm>
        </p:spPr>
        <p:txBody>
          <a:bodyPr>
            <a:normAutofit/>
          </a:bodyPr>
          <a:lstStyle/>
          <a:p>
            <a:pPr>
              <a:lnSpc>
                <a:spcPts val="3000"/>
              </a:lnSpc>
            </a:pPr>
            <a:r>
              <a:rPr lang="zh-CN" altLang="en-US" sz="2800" b="1" dirty="0">
                <a:solidFill>
                  <a:srgbClr val="FF0000"/>
                </a:solidFill>
              </a:rPr>
              <a:t>数据的存储结构：</a:t>
            </a:r>
            <a:endParaRPr lang="en-US" altLang="zh-CN" sz="2800" b="1" dirty="0">
              <a:solidFill>
                <a:srgbClr val="FF0000"/>
              </a:solidFill>
            </a:endParaRPr>
          </a:p>
          <a:p>
            <a:pPr lvl="1">
              <a:lnSpc>
                <a:spcPts val="3000"/>
              </a:lnSpc>
            </a:pPr>
            <a:r>
              <a:rPr kumimoji="1" lang="zh-CN" altLang="en-US" b="1" dirty="0">
                <a:latin typeface="Arial" panose="020B0604020202090204" pitchFamily="34" charset="0"/>
                <a:ea typeface="宋体" pitchFamily="2" charset="-122"/>
              </a:rPr>
              <a:t>顺序存储方法：数组</a:t>
            </a:r>
          </a:p>
          <a:p>
            <a:pPr lvl="1">
              <a:lnSpc>
                <a:spcPts val="3000"/>
              </a:lnSpc>
            </a:pPr>
            <a:r>
              <a:rPr kumimoji="1" lang="zh-CN" altLang="en-US" b="1" dirty="0">
                <a:latin typeface="Arial" panose="020B0604020202090204" pitchFamily="34" charset="0"/>
                <a:ea typeface="宋体" pitchFamily="2" charset="-122"/>
              </a:rPr>
              <a:t>链接存储方法：指针</a:t>
            </a:r>
          </a:p>
          <a:p>
            <a:pPr lvl="1">
              <a:lnSpc>
                <a:spcPts val="3000"/>
              </a:lnSpc>
            </a:pPr>
            <a:r>
              <a:rPr kumimoji="1" lang="zh-CN" altLang="en-US" b="1" dirty="0">
                <a:latin typeface="Arial" panose="020B0604020202090204" pitchFamily="34" charset="0"/>
                <a:ea typeface="宋体" pitchFamily="2" charset="-122"/>
              </a:rPr>
              <a:t>索引存储方法</a:t>
            </a:r>
          </a:p>
          <a:p>
            <a:pPr lvl="1">
              <a:lnSpc>
                <a:spcPts val="3000"/>
              </a:lnSpc>
            </a:pPr>
            <a:r>
              <a:rPr kumimoji="1" lang="zh-CN" altLang="en-US" b="1" dirty="0">
                <a:latin typeface="Arial" panose="020B0604020202090204" pitchFamily="34" charset="0"/>
                <a:ea typeface="宋体" pitchFamily="2" charset="-122"/>
              </a:rPr>
              <a:t>散列存储方法</a:t>
            </a:r>
          </a:p>
          <a:p>
            <a:pPr marL="914400" lvl="2" indent="0">
              <a:lnSpc>
                <a:spcPts val="3000"/>
              </a:lnSpc>
              <a:buNone/>
            </a:pPr>
            <a:endParaRPr lang="en-US" altLang="zh-CN" sz="2000" b="1" dirty="0"/>
          </a:p>
        </p:txBody>
      </p:sp>
      <p:sp>
        <p:nvSpPr>
          <p:cNvPr id="4" name="日期占位符 3"/>
          <p:cNvSpPr>
            <a:spLocks noGrp="1"/>
          </p:cNvSpPr>
          <p:nvPr>
            <p:ph type="dt" sz="half" idx="10"/>
          </p:nvPr>
        </p:nvSpPr>
        <p:spPr/>
        <p:txBody>
          <a:bodyPr/>
          <a:lstStyle/>
          <a:p>
            <a:fld id="{82C260F3-2F15-4643-BD88-DA7D2CC1FAEE}" type="datetime1">
              <a:rPr lang="zh-CN" altLang="en-US" b="1">
                <a:solidFill>
                  <a:srgbClr val="F79646">
                    <a:lumMod val="75000"/>
                  </a:srgbClr>
                </a:solidFill>
              </a:rPr>
              <a:t>2025/11/27</a:t>
            </a:fld>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t>16</a:t>
            </a:fld>
            <a:endParaRPr lang="zh-CN" altLang="en-US" b="1" dirty="0">
              <a:solidFill>
                <a:srgbClr val="F79646">
                  <a:lumMod val="75000"/>
                </a:srgbClr>
              </a:solidFill>
            </a:endParaRPr>
          </a:p>
        </p:txBody>
      </p:sp>
      <p:cxnSp>
        <p:nvCxnSpPr>
          <p:cNvPr id="12" name="直接连接符 11"/>
          <p:cNvCxnSpPr/>
          <p:nvPr/>
        </p:nvCxnSpPr>
        <p:spPr>
          <a:xfrm>
            <a:off x="1981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Text Box 4"/>
          <p:cNvSpPr txBox="1">
            <a:spLocks noChangeArrowheads="1"/>
          </p:cNvSpPr>
          <p:nvPr/>
        </p:nvSpPr>
        <p:spPr bwMode="auto">
          <a:xfrm>
            <a:off x="2051050" y="4033898"/>
            <a:ext cx="8464550" cy="2062103"/>
          </a:xfrm>
          <a:prstGeom prst="rect">
            <a:avLst/>
          </a:prstGeom>
          <a:noFill/>
          <a:ln w="9525">
            <a:solidFill>
              <a:srgbClr val="0000FF"/>
            </a:solidFill>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lnSpc>
                <a:spcPct val="150000"/>
              </a:lnSpc>
              <a:spcBef>
                <a:spcPct val="20000"/>
              </a:spcBef>
              <a:buClr>
                <a:schemeClr val="tx1"/>
              </a:buClr>
              <a:buSzPct val="95000"/>
              <a:buFont typeface="Wingdings" panose="05000000000000000000" pitchFamily="2" charset="2"/>
              <a:buChar char="Ø"/>
              <a:defRPr sz="2400" b="1">
                <a:solidFill>
                  <a:srgbClr val="0000FF"/>
                </a:solidFill>
                <a:latin typeface="宋体" pitchFamily="2" charset="-122"/>
                <a:ea typeface="宋体" pitchFamily="2" charset="-122"/>
              </a:defRPr>
            </a:lvl1pPr>
            <a:lvl2pPr marL="742950" indent="-285750" eaLnBrk="0" hangingPunct="0">
              <a:lnSpc>
                <a:spcPct val="150000"/>
              </a:lnSpc>
              <a:spcBef>
                <a:spcPct val="20000"/>
              </a:spcBef>
              <a:buClr>
                <a:schemeClr val="tx1"/>
              </a:buClr>
              <a:buSzPct val="95000"/>
              <a:buFont typeface="Wingdings" panose="05000000000000000000" pitchFamily="2" charset="2"/>
              <a:buChar char="Ø"/>
              <a:defRPr sz="2400" b="1">
                <a:solidFill>
                  <a:srgbClr val="0000FF"/>
                </a:solidFill>
                <a:latin typeface="宋体" pitchFamily="2" charset="-122"/>
                <a:ea typeface="宋体" pitchFamily="2" charset="-122"/>
              </a:defRPr>
            </a:lvl2pPr>
            <a:lvl3pPr marL="1143000" indent="-228600" eaLnBrk="0" hangingPunct="0">
              <a:lnSpc>
                <a:spcPct val="150000"/>
              </a:lnSpc>
              <a:spcBef>
                <a:spcPct val="20000"/>
              </a:spcBef>
              <a:buClr>
                <a:schemeClr val="tx1"/>
              </a:buClr>
              <a:buSzPct val="95000"/>
              <a:buFont typeface="Wingdings" panose="05000000000000000000" pitchFamily="2" charset="2"/>
              <a:buChar char="Ø"/>
              <a:defRPr sz="2400" b="1">
                <a:solidFill>
                  <a:srgbClr val="0000FF"/>
                </a:solidFill>
                <a:latin typeface="宋体" pitchFamily="2" charset="-122"/>
                <a:ea typeface="宋体" pitchFamily="2" charset="-122"/>
              </a:defRPr>
            </a:lvl3pPr>
            <a:lvl4pPr marL="1600200" indent="-228600" eaLnBrk="0" hangingPunct="0">
              <a:lnSpc>
                <a:spcPct val="150000"/>
              </a:lnSpc>
              <a:spcBef>
                <a:spcPct val="20000"/>
              </a:spcBef>
              <a:buClr>
                <a:schemeClr val="tx1"/>
              </a:buClr>
              <a:buSzPct val="95000"/>
              <a:buFont typeface="Wingdings" panose="05000000000000000000" pitchFamily="2" charset="2"/>
              <a:buChar char="Ø"/>
              <a:defRPr sz="2400" b="1">
                <a:solidFill>
                  <a:srgbClr val="0000FF"/>
                </a:solidFill>
                <a:latin typeface="宋体" pitchFamily="2" charset="-122"/>
                <a:ea typeface="宋体" pitchFamily="2" charset="-122"/>
              </a:defRPr>
            </a:lvl4pPr>
            <a:lvl5pPr marL="2057400" indent="-228600" eaLnBrk="0" hangingPunct="0">
              <a:lnSpc>
                <a:spcPct val="150000"/>
              </a:lnSpc>
              <a:spcBef>
                <a:spcPct val="20000"/>
              </a:spcBef>
              <a:buClr>
                <a:schemeClr val="tx1"/>
              </a:buClr>
              <a:buSzPct val="95000"/>
              <a:buFont typeface="Wingdings" panose="05000000000000000000" pitchFamily="2" charset="2"/>
              <a:buChar char="Ø"/>
              <a:defRPr sz="2400" b="1">
                <a:solidFill>
                  <a:srgbClr val="0000FF"/>
                </a:solidFill>
                <a:latin typeface="宋体" pitchFamily="2" charset="-122"/>
                <a:ea typeface="宋体" pitchFamily="2" charset="-122"/>
              </a:defRPr>
            </a:lvl5pPr>
            <a:lvl6pPr marL="2514600" indent="-228600" eaLnBrk="0" fontAlgn="base" hangingPunct="0">
              <a:lnSpc>
                <a:spcPct val="150000"/>
              </a:lnSpc>
              <a:spcBef>
                <a:spcPct val="20000"/>
              </a:spcBef>
              <a:spcAft>
                <a:spcPct val="0"/>
              </a:spcAft>
              <a:buClr>
                <a:schemeClr val="tx1"/>
              </a:buClr>
              <a:buSzPct val="95000"/>
              <a:buFont typeface="Wingdings" panose="05000000000000000000" pitchFamily="2" charset="2"/>
              <a:buChar char="Ø"/>
              <a:defRPr sz="2400" b="1">
                <a:solidFill>
                  <a:srgbClr val="0000FF"/>
                </a:solidFill>
                <a:latin typeface="宋体" pitchFamily="2" charset="-122"/>
                <a:ea typeface="宋体" pitchFamily="2" charset="-122"/>
              </a:defRPr>
            </a:lvl6pPr>
            <a:lvl7pPr marL="2971800" indent="-228600" eaLnBrk="0" fontAlgn="base" hangingPunct="0">
              <a:lnSpc>
                <a:spcPct val="150000"/>
              </a:lnSpc>
              <a:spcBef>
                <a:spcPct val="20000"/>
              </a:spcBef>
              <a:spcAft>
                <a:spcPct val="0"/>
              </a:spcAft>
              <a:buClr>
                <a:schemeClr val="tx1"/>
              </a:buClr>
              <a:buSzPct val="95000"/>
              <a:buFont typeface="Wingdings" panose="05000000000000000000" pitchFamily="2" charset="2"/>
              <a:buChar char="Ø"/>
              <a:defRPr sz="2400" b="1">
                <a:solidFill>
                  <a:srgbClr val="0000FF"/>
                </a:solidFill>
                <a:latin typeface="宋体" pitchFamily="2" charset="-122"/>
                <a:ea typeface="宋体" pitchFamily="2" charset="-122"/>
              </a:defRPr>
            </a:lvl7pPr>
            <a:lvl8pPr marL="3429000" indent="-228600" eaLnBrk="0" fontAlgn="base" hangingPunct="0">
              <a:lnSpc>
                <a:spcPct val="150000"/>
              </a:lnSpc>
              <a:spcBef>
                <a:spcPct val="20000"/>
              </a:spcBef>
              <a:spcAft>
                <a:spcPct val="0"/>
              </a:spcAft>
              <a:buClr>
                <a:schemeClr val="tx1"/>
              </a:buClr>
              <a:buSzPct val="95000"/>
              <a:buFont typeface="Wingdings" panose="05000000000000000000" pitchFamily="2" charset="2"/>
              <a:buChar char="Ø"/>
              <a:defRPr sz="2400" b="1">
                <a:solidFill>
                  <a:srgbClr val="0000FF"/>
                </a:solidFill>
                <a:latin typeface="宋体" pitchFamily="2" charset="-122"/>
                <a:ea typeface="宋体" pitchFamily="2" charset="-122"/>
              </a:defRPr>
            </a:lvl8pPr>
            <a:lvl9pPr marL="3886200" indent="-228600" eaLnBrk="0" fontAlgn="base" hangingPunct="0">
              <a:lnSpc>
                <a:spcPct val="150000"/>
              </a:lnSpc>
              <a:spcBef>
                <a:spcPct val="20000"/>
              </a:spcBef>
              <a:spcAft>
                <a:spcPct val="0"/>
              </a:spcAft>
              <a:buClr>
                <a:schemeClr val="tx1"/>
              </a:buClr>
              <a:buSzPct val="95000"/>
              <a:buFont typeface="Wingdings" panose="05000000000000000000" pitchFamily="2" charset="2"/>
              <a:buChar char="Ø"/>
              <a:defRPr sz="2400" b="1">
                <a:solidFill>
                  <a:srgbClr val="0000FF"/>
                </a:solidFill>
                <a:latin typeface="宋体" pitchFamily="2" charset="-122"/>
                <a:ea typeface="宋体" pitchFamily="2" charset="-122"/>
              </a:defRPr>
            </a:lvl9pPr>
          </a:lstStyle>
          <a:p>
            <a:pPr fontAlgn="base">
              <a:lnSpc>
                <a:spcPct val="100000"/>
              </a:lnSpc>
              <a:spcBef>
                <a:spcPct val="0"/>
              </a:spcBef>
              <a:spcAft>
                <a:spcPct val="0"/>
              </a:spcAft>
              <a:buClrTx/>
              <a:buSzTx/>
              <a:buFontTx/>
              <a:buNone/>
            </a:pPr>
            <a:r>
              <a:rPr kumimoji="1" lang="zh-CN" altLang="en-US" sz="3200" dirty="0">
                <a:latin typeface="华文楷体" panose="02010600040101010101" pitchFamily="2" charset="-122"/>
                <a:ea typeface="华文楷体" panose="02010600040101010101" pitchFamily="2" charset="-122"/>
              </a:rPr>
              <a:t>说明：   </a:t>
            </a:r>
          </a:p>
          <a:p>
            <a:pPr fontAlgn="base">
              <a:lnSpc>
                <a:spcPct val="100000"/>
              </a:lnSpc>
              <a:spcBef>
                <a:spcPct val="0"/>
              </a:spcBef>
              <a:spcAft>
                <a:spcPct val="0"/>
              </a:spcAft>
              <a:buClrTx/>
              <a:buSzTx/>
              <a:buFontTx/>
              <a:buChar char="•"/>
            </a:pPr>
            <a:r>
              <a:rPr kumimoji="1" lang="zh-CN" altLang="en-US" dirty="0">
                <a:solidFill>
                  <a:srgbClr val="3333FF"/>
                </a:solidFill>
                <a:latin typeface="华文楷体" panose="02010600040101010101" pitchFamily="2" charset="-122"/>
                <a:ea typeface="华文楷体" panose="02010600040101010101" pitchFamily="2" charset="-122"/>
              </a:rPr>
              <a:t>  </a:t>
            </a:r>
            <a:r>
              <a:rPr kumimoji="1" lang="zh-CN" altLang="en-US" dirty="0">
                <a:solidFill>
                  <a:srgbClr val="FF0000"/>
                </a:solidFill>
                <a:latin typeface="华文楷体" panose="02010600040101010101" pitchFamily="2" charset="-122"/>
                <a:ea typeface="华文楷体" panose="02010600040101010101" pitchFamily="2" charset="-122"/>
              </a:rPr>
              <a:t>同一逻辑结构的不同存储结构</a:t>
            </a:r>
            <a:r>
              <a:rPr kumimoji="1" lang="zh-CN" altLang="en-US" dirty="0">
                <a:solidFill>
                  <a:srgbClr val="3333FF"/>
                </a:solidFill>
                <a:latin typeface="华文楷体" panose="02010600040101010101" pitchFamily="2" charset="-122"/>
                <a:ea typeface="华文楷体" panose="02010600040101010101" pitchFamily="2" charset="-122"/>
              </a:rPr>
              <a:t>，冠以不同的数据结构名称。如顺序表、链表、散列表。</a:t>
            </a:r>
          </a:p>
          <a:p>
            <a:pPr fontAlgn="base">
              <a:lnSpc>
                <a:spcPct val="100000"/>
              </a:lnSpc>
              <a:spcBef>
                <a:spcPct val="0"/>
              </a:spcBef>
              <a:spcAft>
                <a:spcPct val="0"/>
              </a:spcAft>
              <a:buClrTx/>
              <a:buSzTx/>
              <a:buFontTx/>
              <a:buChar char="•"/>
            </a:pPr>
            <a:r>
              <a:rPr kumimoji="1" lang="zh-CN" altLang="en-US" dirty="0">
                <a:solidFill>
                  <a:srgbClr val="3333FF"/>
                </a:solidFill>
                <a:latin typeface="华文楷体" panose="02010600040101010101" pitchFamily="2" charset="-122"/>
                <a:ea typeface="华文楷体" panose="02010600040101010101" pitchFamily="2" charset="-122"/>
              </a:rPr>
              <a:t>   </a:t>
            </a:r>
            <a:r>
              <a:rPr kumimoji="1" lang="zh-CN" altLang="en-US" dirty="0">
                <a:solidFill>
                  <a:srgbClr val="FF0000"/>
                </a:solidFill>
                <a:latin typeface="华文楷体" panose="02010600040101010101" pitchFamily="2" charset="-122"/>
                <a:ea typeface="华文楷体" panose="02010600040101010101" pitchFamily="2" charset="-122"/>
              </a:rPr>
              <a:t>运算不同，数据结构也不同</a:t>
            </a:r>
            <a:r>
              <a:rPr kumimoji="1" lang="zh-CN" altLang="en-US" dirty="0">
                <a:solidFill>
                  <a:srgbClr val="3333FF"/>
                </a:solidFill>
                <a:latin typeface="华文楷体" panose="02010600040101010101" pitchFamily="2" charset="-122"/>
                <a:ea typeface="华文楷体" panose="02010600040101010101" pitchFamily="2" charset="-122"/>
              </a:rPr>
              <a:t>。如栈和队列。更进一步，顺 序栈、链栈、顺序队列、链队列。</a:t>
            </a:r>
          </a:p>
        </p:txBody>
      </p:sp>
      <p:sp>
        <p:nvSpPr>
          <p:cNvPr id="13" name="右大括号 12"/>
          <p:cNvSpPr/>
          <p:nvPr/>
        </p:nvSpPr>
        <p:spPr>
          <a:xfrm>
            <a:off x="6273800" y="2502138"/>
            <a:ext cx="544286" cy="99060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2000"/>
          </a:p>
        </p:txBody>
      </p:sp>
      <p:sp>
        <p:nvSpPr>
          <p:cNvPr id="15" name="文本框 14"/>
          <p:cNvSpPr txBox="1"/>
          <p:nvPr/>
        </p:nvSpPr>
        <p:spPr>
          <a:xfrm>
            <a:off x="6731000" y="2797384"/>
            <a:ext cx="2286000" cy="461665"/>
          </a:xfrm>
          <a:prstGeom prst="rect">
            <a:avLst/>
          </a:prstGeom>
          <a:noFill/>
        </p:spPr>
        <p:txBody>
          <a:bodyPr wrap="square" rtlCol="0">
            <a:spAutoFit/>
          </a:bodyPr>
          <a:lstStyle/>
          <a:p>
            <a:r>
              <a:rPr lang="zh-CN" altLang="en-US" sz="2400" b="1" dirty="0"/>
              <a:t>非顺序存储</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panose="020B0604020202090204" pitchFamily="34" charset="0"/>
                <a:ea typeface="宋体" pitchFamily="2" charset="-122"/>
                <a:cs typeface="+mn-cs"/>
              </a:rPr>
              <a:t>13.1   </a:t>
            </a:r>
            <a:r>
              <a:rPr kumimoji="1" lang="zh-CN" altLang="en-US" sz="3200" b="1" dirty="0">
                <a:latin typeface="Arial" panose="020B0604020202090204" pitchFamily="34" charset="0"/>
                <a:ea typeface="宋体" pitchFamily="2" charset="-122"/>
                <a:cs typeface="+mn-cs"/>
              </a:rPr>
              <a:t>基本概念和术语</a:t>
            </a:r>
          </a:p>
        </p:txBody>
      </p:sp>
      <p:sp>
        <p:nvSpPr>
          <p:cNvPr id="3" name="内容占位符 2"/>
          <p:cNvSpPr>
            <a:spLocks noGrp="1"/>
          </p:cNvSpPr>
          <p:nvPr>
            <p:ph idx="1"/>
          </p:nvPr>
        </p:nvSpPr>
        <p:spPr>
          <a:xfrm>
            <a:off x="1981200" y="1295400"/>
            <a:ext cx="8229600" cy="5105400"/>
          </a:xfrm>
        </p:spPr>
        <p:txBody>
          <a:bodyPr>
            <a:normAutofit/>
          </a:bodyPr>
          <a:lstStyle/>
          <a:p>
            <a:pPr>
              <a:lnSpc>
                <a:spcPts val="3000"/>
              </a:lnSpc>
            </a:pPr>
            <a:r>
              <a:rPr lang="zh-CN" altLang="en-US" sz="2800" b="1" dirty="0">
                <a:solidFill>
                  <a:srgbClr val="FF0000"/>
                </a:solidFill>
              </a:rPr>
              <a:t>③数据的运算</a:t>
            </a:r>
            <a:endParaRPr lang="en-US" altLang="zh-CN" sz="2800" b="1" dirty="0">
              <a:solidFill>
                <a:srgbClr val="FF0000"/>
              </a:solidFill>
            </a:endParaRPr>
          </a:p>
          <a:p>
            <a:pPr lvl="1">
              <a:lnSpc>
                <a:spcPts val="3000"/>
              </a:lnSpc>
            </a:pPr>
            <a:r>
              <a:rPr lang="zh-CN" altLang="en-US" sz="2000" b="1" dirty="0"/>
              <a:t>施加在数据上的运算包括运算的定义和实现。</a:t>
            </a:r>
            <a:endParaRPr lang="en-US" altLang="zh-CN" sz="2000" b="1" dirty="0"/>
          </a:p>
          <a:p>
            <a:pPr lvl="1">
              <a:lnSpc>
                <a:spcPts val="3000"/>
              </a:lnSpc>
            </a:pPr>
            <a:r>
              <a:rPr lang="zh-CN" altLang="en-US" sz="2000" b="1" dirty="0">
                <a:solidFill>
                  <a:srgbClr val="FF0000"/>
                </a:solidFill>
              </a:rPr>
              <a:t>运算的定义</a:t>
            </a:r>
            <a:r>
              <a:rPr lang="zh-CN" altLang="en-US" sz="2000" b="1" dirty="0"/>
              <a:t>是针对</a:t>
            </a:r>
            <a:r>
              <a:rPr lang="zh-CN" altLang="en-US" sz="2000" b="1" dirty="0">
                <a:solidFill>
                  <a:srgbClr val="FF0000"/>
                </a:solidFill>
              </a:rPr>
              <a:t>逻辑结构</a:t>
            </a:r>
            <a:r>
              <a:rPr lang="zh-CN" altLang="en-US" sz="2000" b="1" dirty="0"/>
              <a:t>的，指出运算的功能；</a:t>
            </a:r>
            <a:endParaRPr lang="en-US" altLang="zh-CN" sz="2000" b="1" dirty="0"/>
          </a:p>
          <a:p>
            <a:pPr lvl="1">
              <a:lnSpc>
                <a:spcPts val="3000"/>
              </a:lnSpc>
            </a:pPr>
            <a:r>
              <a:rPr lang="zh-CN" altLang="en-US" sz="2000" b="1" dirty="0">
                <a:solidFill>
                  <a:srgbClr val="FF0000"/>
                </a:solidFill>
              </a:rPr>
              <a:t>运算的实现</a:t>
            </a:r>
            <a:r>
              <a:rPr lang="zh-CN" altLang="en-US" sz="2000" b="1" dirty="0"/>
              <a:t>是针对</a:t>
            </a:r>
            <a:r>
              <a:rPr lang="zh-CN" altLang="en-US" sz="2000" b="1" dirty="0">
                <a:solidFill>
                  <a:srgbClr val="FF0000"/>
                </a:solidFill>
              </a:rPr>
              <a:t>存储结构</a:t>
            </a:r>
            <a:r>
              <a:rPr lang="zh-CN" altLang="en-US" sz="2000" b="1" dirty="0"/>
              <a:t>的，指出运算的具体操作步骤</a:t>
            </a:r>
          </a:p>
          <a:p>
            <a:pPr marL="457200" lvl="1" indent="0">
              <a:lnSpc>
                <a:spcPts val="3000"/>
              </a:lnSpc>
              <a:buNone/>
            </a:pPr>
            <a:endParaRPr lang="en-US" altLang="zh-CN" sz="2400" b="1" dirty="0"/>
          </a:p>
          <a:p>
            <a:pPr marL="457200" lvl="1" indent="0">
              <a:lnSpc>
                <a:spcPts val="3000"/>
              </a:lnSpc>
              <a:buNone/>
            </a:pPr>
            <a:endParaRPr lang="zh-CN" altLang="en-US" sz="2000" b="1" dirty="0"/>
          </a:p>
        </p:txBody>
      </p:sp>
      <p:sp>
        <p:nvSpPr>
          <p:cNvPr id="4" name="日期占位符 3"/>
          <p:cNvSpPr>
            <a:spLocks noGrp="1"/>
          </p:cNvSpPr>
          <p:nvPr>
            <p:ph type="dt" sz="half" idx="10"/>
          </p:nvPr>
        </p:nvSpPr>
        <p:spPr/>
        <p:txBody>
          <a:bodyPr/>
          <a:lstStyle/>
          <a:p>
            <a:fld id="{55BCBFBE-ACD3-4943-848E-88897BF7EB47}" type="datetime1">
              <a:rPr lang="zh-CN" altLang="en-US" b="1" smtClean="0">
                <a:solidFill>
                  <a:srgbClr val="F79646">
                    <a:lumMod val="75000"/>
                  </a:srgbClr>
                </a:solidFill>
              </a:rPr>
              <a:t>2025/11/27</a:t>
            </a:fld>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t>17</a:t>
            </a:fld>
            <a:endParaRPr lang="zh-CN" altLang="en-US" b="1" dirty="0">
              <a:solidFill>
                <a:srgbClr val="F79646">
                  <a:lumMod val="75000"/>
                </a:srgbClr>
              </a:solidFill>
            </a:endParaRPr>
          </a:p>
        </p:txBody>
      </p:sp>
      <p:cxnSp>
        <p:nvCxnSpPr>
          <p:cNvPr id="12" name="直接连接符 11"/>
          <p:cNvCxnSpPr/>
          <p:nvPr/>
        </p:nvCxnSpPr>
        <p:spPr>
          <a:xfrm>
            <a:off x="1981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object 18"/>
          <p:cNvSpPr txBox="1">
            <a:spLocks noChangeAspect="1"/>
          </p:cNvSpPr>
          <p:nvPr/>
        </p:nvSpPr>
        <p:spPr>
          <a:xfrm>
            <a:off x="3574439" y="4086415"/>
            <a:ext cx="964557" cy="265701"/>
          </a:xfrm>
          <a:prstGeom prst="rect">
            <a:avLst/>
          </a:prstGeom>
        </p:spPr>
        <p:txBody>
          <a:bodyPr vert="horz" wrap="square" lIns="0" tIns="19291" rIns="0" bIns="0" rtlCol="0">
            <a:spAutoFit/>
          </a:bodyPr>
          <a:lstStyle/>
          <a:p>
            <a:pPr marL="19050">
              <a:spcBef>
                <a:spcPts val="150"/>
              </a:spcBef>
            </a:pPr>
            <a:r>
              <a:rPr lang="zh-CN" altLang="en-US" sz="1600" dirty="0">
                <a:solidFill>
                  <a:srgbClr val="010202"/>
                </a:solidFill>
                <a:latin typeface="宋体"/>
                <a:cs typeface="宋体"/>
              </a:rPr>
              <a:t>线性结构</a:t>
            </a:r>
            <a:endParaRPr sz="1825" dirty="0">
              <a:latin typeface="宋体"/>
              <a:cs typeface="宋体"/>
            </a:endParaRPr>
          </a:p>
        </p:txBody>
      </p:sp>
      <p:sp>
        <p:nvSpPr>
          <p:cNvPr id="15" name="object 19"/>
          <p:cNvSpPr>
            <a:spLocks noChangeAspect="1"/>
          </p:cNvSpPr>
          <p:nvPr/>
        </p:nvSpPr>
        <p:spPr>
          <a:xfrm>
            <a:off x="2916239" y="3684038"/>
            <a:ext cx="335664" cy="331808"/>
          </a:xfrm>
          <a:custGeom>
            <a:avLst/>
            <a:gdLst/>
            <a:ahLst/>
            <a:cxnLst/>
            <a:rect l="l" t="t" r="r" b="b"/>
            <a:pathLst>
              <a:path w="220980" h="218439">
                <a:moveTo>
                  <a:pt x="110451" y="0"/>
                </a:moveTo>
                <a:lnTo>
                  <a:pt x="67454" y="8569"/>
                </a:lnTo>
                <a:lnTo>
                  <a:pt x="32346" y="31938"/>
                </a:lnTo>
                <a:lnTo>
                  <a:pt x="8678" y="66602"/>
                </a:lnTo>
                <a:lnTo>
                  <a:pt x="0" y="109054"/>
                </a:lnTo>
                <a:lnTo>
                  <a:pt x="8678" y="151508"/>
                </a:lnTo>
                <a:lnTo>
                  <a:pt x="32346" y="186177"/>
                </a:lnTo>
                <a:lnTo>
                  <a:pt x="67454" y="209551"/>
                </a:lnTo>
                <a:lnTo>
                  <a:pt x="110451" y="218122"/>
                </a:lnTo>
                <a:lnTo>
                  <a:pt x="153443" y="209551"/>
                </a:lnTo>
                <a:lnTo>
                  <a:pt x="188552" y="186177"/>
                </a:lnTo>
                <a:lnTo>
                  <a:pt x="212223" y="151508"/>
                </a:lnTo>
                <a:lnTo>
                  <a:pt x="220903" y="109054"/>
                </a:lnTo>
                <a:lnTo>
                  <a:pt x="212223" y="66602"/>
                </a:lnTo>
                <a:lnTo>
                  <a:pt x="188552" y="31938"/>
                </a:lnTo>
                <a:lnTo>
                  <a:pt x="153443" y="8569"/>
                </a:lnTo>
                <a:lnTo>
                  <a:pt x="110451" y="0"/>
                </a:lnTo>
                <a:close/>
              </a:path>
            </a:pathLst>
          </a:custGeom>
          <a:solidFill>
            <a:srgbClr val="EC7D30"/>
          </a:solidFill>
        </p:spPr>
        <p:txBody>
          <a:bodyPr wrap="square" lIns="0" tIns="0" rIns="0" bIns="0" rtlCol="0"/>
          <a:lstStyle/>
          <a:p>
            <a:endParaRPr sz="2735"/>
          </a:p>
        </p:txBody>
      </p:sp>
      <p:sp>
        <p:nvSpPr>
          <p:cNvPr id="16" name="object 20"/>
          <p:cNvSpPr>
            <a:spLocks noChangeAspect="1"/>
          </p:cNvSpPr>
          <p:nvPr/>
        </p:nvSpPr>
        <p:spPr>
          <a:xfrm>
            <a:off x="2916239" y="3684038"/>
            <a:ext cx="335664" cy="331808"/>
          </a:xfrm>
          <a:custGeom>
            <a:avLst/>
            <a:gdLst/>
            <a:ahLst/>
            <a:cxnLst/>
            <a:rect l="l" t="t" r="r" b="b"/>
            <a:pathLst>
              <a:path w="220980" h="218439">
                <a:moveTo>
                  <a:pt x="0" y="109054"/>
                </a:moveTo>
                <a:lnTo>
                  <a:pt x="8678" y="66602"/>
                </a:lnTo>
                <a:lnTo>
                  <a:pt x="32346" y="31938"/>
                </a:lnTo>
                <a:lnTo>
                  <a:pt x="67454" y="8569"/>
                </a:lnTo>
                <a:lnTo>
                  <a:pt x="110451" y="0"/>
                </a:lnTo>
                <a:lnTo>
                  <a:pt x="153443" y="8569"/>
                </a:lnTo>
                <a:lnTo>
                  <a:pt x="188552" y="31938"/>
                </a:lnTo>
                <a:lnTo>
                  <a:pt x="212223" y="66602"/>
                </a:lnTo>
                <a:lnTo>
                  <a:pt x="220903" y="109054"/>
                </a:lnTo>
                <a:lnTo>
                  <a:pt x="212223" y="151508"/>
                </a:lnTo>
                <a:lnTo>
                  <a:pt x="188552" y="186177"/>
                </a:lnTo>
                <a:lnTo>
                  <a:pt x="153443" y="209551"/>
                </a:lnTo>
                <a:lnTo>
                  <a:pt x="110451" y="218122"/>
                </a:lnTo>
                <a:lnTo>
                  <a:pt x="67454" y="209551"/>
                </a:lnTo>
                <a:lnTo>
                  <a:pt x="32346" y="186177"/>
                </a:lnTo>
                <a:lnTo>
                  <a:pt x="8678" y="151508"/>
                </a:lnTo>
                <a:lnTo>
                  <a:pt x="0" y="109054"/>
                </a:lnTo>
                <a:close/>
              </a:path>
            </a:pathLst>
          </a:custGeom>
          <a:ln w="6350">
            <a:solidFill>
              <a:srgbClr val="41719D"/>
            </a:solidFill>
          </a:ln>
        </p:spPr>
        <p:txBody>
          <a:bodyPr wrap="square" lIns="0" tIns="0" rIns="0" bIns="0" rtlCol="0"/>
          <a:lstStyle/>
          <a:p>
            <a:endParaRPr sz="2735"/>
          </a:p>
        </p:txBody>
      </p:sp>
      <p:sp>
        <p:nvSpPr>
          <p:cNvPr id="17" name="object 21"/>
          <p:cNvSpPr txBox="1">
            <a:spLocks noChangeAspect="1"/>
          </p:cNvSpPr>
          <p:nvPr/>
        </p:nvSpPr>
        <p:spPr>
          <a:xfrm>
            <a:off x="3023117" y="3709079"/>
            <a:ext cx="122499" cy="229858"/>
          </a:xfrm>
          <a:prstGeom prst="rect">
            <a:avLst/>
          </a:prstGeom>
        </p:spPr>
        <p:txBody>
          <a:bodyPr vert="horz" wrap="square" lIns="0" tIns="19291" rIns="0" bIns="0" rtlCol="0">
            <a:spAutoFit/>
          </a:bodyPr>
          <a:lstStyle/>
          <a:p>
            <a:pPr marL="19050">
              <a:spcBef>
                <a:spcPts val="150"/>
              </a:spcBef>
            </a:pPr>
            <a:r>
              <a:rPr sz="1365" dirty="0">
                <a:solidFill>
                  <a:srgbClr val="FFFFFF"/>
                </a:solidFill>
                <a:latin typeface="Calibri"/>
                <a:cs typeface="Calibri"/>
              </a:rPr>
              <a:t>a</a:t>
            </a:r>
            <a:endParaRPr sz="1365">
              <a:latin typeface="Calibri"/>
              <a:cs typeface="Calibri"/>
            </a:endParaRPr>
          </a:p>
        </p:txBody>
      </p:sp>
      <p:sp>
        <p:nvSpPr>
          <p:cNvPr id="18" name="object 22"/>
          <p:cNvSpPr>
            <a:spLocks noChangeAspect="1"/>
          </p:cNvSpPr>
          <p:nvPr/>
        </p:nvSpPr>
        <p:spPr>
          <a:xfrm>
            <a:off x="3466056" y="3684038"/>
            <a:ext cx="335664" cy="331808"/>
          </a:xfrm>
          <a:custGeom>
            <a:avLst/>
            <a:gdLst/>
            <a:ahLst/>
            <a:cxnLst/>
            <a:rect l="l" t="t" r="r" b="b"/>
            <a:pathLst>
              <a:path w="220980" h="218439">
                <a:moveTo>
                  <a:pt x="110451" y="0"/>
                </a:moveTo>
                <a:lnTo>
                  <a:pt x="67460" y="8569"/>
                </a:lnTo>
                <a:lnTo>
                  <a:pt x="32351" y="31938"/>
                </a:lnTo>
                <a:lnTo>
                  <a:pt x="8680" y="66602"/>
                </a:lnTo>
                <a:lnTo>
                  <a:pt x="0" y="109054"/>
                </a:lnTo>
                <a:lnTo>
                  <a:pt x="8680" y="151508"/>
                </a:lnTo>
                <a:lnTo>
                  <a:pt x="32351" y="186177"/>
                </a:lnTo>
                <a:lnTo>
                  <a:pt x="67460" y="209551"/>
                </a:lnTo>
                <a:lnTo>
                  <a:pt x="110451" y="218122"/>
                </a:lnTo>
                <a:lnTo>
                  <a:pt x="153443" y="209551"/>
                </a:lnTo>
                <a:lnTo>
                  <a:pt x="188552" y="186177"/>
                </a:lnTo>
                <a:lnTo>
                  <a:pt x="212223" y="151508"/>
                </a:lnTo>
                <a:lnTo>
                  <a:pt x="220903" y="109054"/>
                </a:lnTo>
                <a:lnTo>
                  <a:pt x="212223" y="66602"/>
                </a:lnTo>
                <a:lnTo>
                  <a:pt x="188552" y="31938"/>
                </a:lnTo>
                <a:lnTo>
                  <a:pt x="153443" y="8569"/>
                </a:lnTo>
                <a:lnTo>
                  <a:pt x="110451" y="0"/>
                </a:lnTo>
                <a:close/>
              </a:path>
            </a:pathLst>
          </a:custGeom>
          <a:solidFill>
            <a:srgbClr val="EC7D30"/>
          </a:solidFill>
        </p:spPr>
        <p:txBody>
          <a:bodyPr wrap="square" lIns="0" tIns="0" rIns="0" bIns="0" rtlCol="0"/>
          <a:lstStyle/>
          <a:p>
            <a:endParaRPr sz="2735"/>
          </a:p>
        </p:txBody>
      </p:sp>
      <p:sp>
        <p:nvSpPr>
          <p:cNvPr id="19" name="object 23"/>
          <p:cNvSpPr>
            <a:spLocks noChangeAspect="1"/>
          </p:cNvSpPr>
          <p:nvPr/>
        </p:nvSpPr>
        <p:spPr>
          <a:xfrm>
            <a:off x="3466056" y="3684038"/>
            <a:ext cx="335664" cy="331808"/>
          </a:xfrm>
          <a:custGeom>
            <a:avLst/>
            <a:gdLst/>
            <a:ahLst/>
            <a:cxnLst/>
            <a:rect l="l" t="t" r="r" b="b"/>
            <a:pathLst>
              <a:path w="220980" h="218439">
                <a:moveTo>
                  <a:pt x="0" y="109054"/>
                </a:moveTo>
                <a:lnTo>
                  <a:pt x="8680" y="66602"/>
                </a:lnTo>
                <a:lnTo>
                  <a:pt x="32351" y="31938"/>
                </a:lnTo>
                <a:lnTo>
                  <a:pt x="67460" y="8569"/>
                </a:lnTo>
                <a:lnTo>
                  <a:pt x="110451" y="0"/>
                </a:lnTo>
                <a:lnTo>
                  <a:pt x="153443" y="8569"/>
                </a:lnTo>
                <a:lnTo>
                  <a:pt x="188552" y="31938"/>
                </a:lnTo>
                <a:lnTo>
                  <a:pt x="212223" y="66602"/>
                </a:lnTo>
                <a:lnTo>
                  <a:pt x="220903" y="109054"/>
                </a:lnTo>
                <a:lnTo>
                  <a:pt x="212223" y="151508"/>
                </a:lnTo>
                <a:lnTo>
                  <a:pt x="188552" y="186177"/>
                </a:lnTo>
                <a:lnTo>
                  <a:pt x="153443" y="209551"/>
                </a:lnTo>
                <a:lnTo>
                  <a:pt x="110451" y="218122"/>
                </a:lnTo>
                <a:lnTo>
                  <a:pt x="67460" y="209551"/>
                </a:lnTo>
                <a:lnTo>
                  <a:pt x="32351" y="186177"/>
                </a:lnTo>
                <a:lnTo>
                  <a:pt x="8680" y="151508"/>
                </a:lnTo>
                <a:lnTo>
                  <a:pt x="0" y="109054"/>
                </a:lnTo>
                <a:close/>
              </a:path>
            </a:pathLst>
          </a:custGeom>
          <a:ln w="6350">
            <a:solidFill>
              <a:srgbClr val="41719D"/>
            </a:solidFill>
          </a:ln>
        </p:spPr>
        <p:txBody>
          <a:bodyPr wrap="square" lIns="0" tIns="0" rIns="0" bIns="0" rtlCol="0"/>
          <a:lstStyle/>
          <a:p>
            <a:endParaRPr sz="2735"/>
          </a:p>
        </p:txBody>
      </p:sp>
      <p:sp>
        <p:nvSpPr>
          <p:cNvPr id="20" name="object 24"/>
          <p:cNvSpPr txBox="1">
            <a:spLocks noChangeAspect="1"/>
          </p:cNvSpPr>
          <p:nvPr/>
        </p:nvSpPr>
        <p:spPr>
          <a:xfrm>
            <a:off x="3568730" y="3709079"/>
            <a:ext cx="130215" cy="229858"/>
          </a:xfrm>
          <a:prstGeom prst="rect">
            <a:avLst/>
          </a:prstGeom>
        </p:spPr>
        <p:txBody>
          <a:bodyPr vert="horz" wrap="square" lIns="0" tIns="19291" rIns="0" bIns="0" rtlCol="0">
            <a:spAutoFit/>
          </a:bodyPr>
          <a:lstStyle/>
          <a:p>
            <a:pPr marL="19050">
              <a:spcBef>
                <a:spcPts val="150"/>
              </a:spcBef>
            </a:pPr>
            <a:r>
              <a:rPr sz="1365" dirty="0">
                <a:solidFill>
                  <a:srgbClr val="FFFFFF"/>
                </a:solidFill>
                <a:latin typeface="Calibri"/>
                <a:cs typeface="Calibri"/>
              </a:rPr>
              <a:t>b</a:t>
            </a:r>
            <a:endParaRPr sz="1365">
              <a:latin typeface="Calibri"/>
              <a:cs typeface="Calibri"/>
            </a:endParaRPr>
          </a:p>
        </p:txBody>
      </p:sp>
      <p:sp>
        <p:nvSpPr>
          <p:cNvPr id="21" name="object 25"/>
          <p:cNvSpPr>
            <a:spLocks noChangeAspect="1"/>
          </p:cNvSpPr>
          <p:nvPr/>
        </p:nvSpPr>
        <p:spPr>
          <a:xfrm>
            <a:off x="4015872" y="3684038"/>
            <a:ext cx="335664" cy="331808"/>
          </a:xfrm>
          <a:custGeom>
            <a:avLst/>
            <a:gdLst/>
            <a:ahLst/>
            <a:cxnLst/>
            <a:rect l="l" t="t" r="r" b="b"/>
            <a:pathLst>
              <a:path w="220980" h="218439">
                <a:moveTo>
                  <a:pt x="110451" y="0"/>
                </a:moveTo>
                <a:lnTo>
                  <a:pt x="67460" y="8569"/>
                </a:lnTo>
                <a:lnTo>
                  <a:pt x="32351" y="31938"/>
                </a:lnTo>
                <a:lnTo>
                  <a:pt x="8680" y="66602"/>
                </a:lnTo>
                <a:lnTo>
                  <a:pt x="0" y="109054"/>
                </a:lnTo>
                <a:lnTo>
                  <a:pt x="8680" y="151508"/>
                </a:lnTo>
                <a:lnTo>
                  <a:pt x="32351" y="186177"/>
                </a:lnTo>
                <a:lnTo>
                  <a:pt x="67460" y="209551"/>
                </a:lnTo>
                <a:lnTo>
                  <a:pt x="110451" y="218122"/>
                </a:lnTo>
                <a:lnTo>
                  <a:pt x="153448" y="209551"/>
                </a:lnTo>
                <a:lnTo>
                  <a:pt x="188556" y="186177"/>
                </a:lnTo>
                <a:lnTo>
                  <a:pt x="212225" y="151508"/>
                </a:lnTo>
                <a:lnTo>
                  <a:pt x="220903" y="109054"/>
                </a:lnTo>
                <a:lnTo>
                  <a:pt x="212225" y="66602"/>
                </a:lnTo>
                <a:lnTo>
                  <a:pt x="188556" y="31938"/>
                </a:lnTo>
                <a:lnTo>
                  <a:pt x="153448" y="8569"/>
                </a:lnTo>
                <a:lnTo>
                  <a:pt x="110451" y="0"/>
                </a:lnTo>
                <a:close/>
              </a:path>
            </a:pathLst>
          </a:custGeom>
          <a:solidFill>
            <a:srgbClr val="EC7D30"/>
          </a:solidFill>
        </p:spPr>
        <p:txBody>
          <a:bodyPr wrap="square" lIns="0" tIns="0" rIns="0" bIns="0" rtlCol="0"/>
          <a:lstStyle/>
          <a:p>
            <a:endParaRPr sz="2735"/>
          </a:p>
        </p:txBody>
      </p:sp>
      <p:sp>
        <p:nvSpPr>
          <p:cNvPr id="22" name="object 26"/>
          <p:cNvSpPr>
            <a:spLocks noChangeAspect="1"/>
          </p:cNvSpPr>
          <p:nvPr/>
        </p:nvSpPr>
        <p:spPr>
          <a:xfrm>
            <a:off x="4015872" y="3684038"/>
            <a:ext cx="335664" cy="331808"/>
          </a:xfrm>
          <a:custGeom>
            <a:avLst/>
            <a:gdLst/>
            <a:ahLst/>
            <a:cxnLst/>
            <a:rect l="l" t="t" r="r" b="b"/>
            <a:pathLst>
              <a:path w="220980" h="218439">
                <a:moveTo>
                  <a:pt x="0" y="109054"/>
                </a:moveTo>
                <a:lnTo>
                  <a:pt x="8680" y="66602"/>
                </a:lnTo>
                <a:lnTo>
                  <a:pt x="32351" y="31938"/>
                </a:lnTo>
                <a:lnTo>
                  <a:pt x="67460" y="8569"/>
                </a:lnTo>
                <a:lnTo>
                  <a:pt x="110451" y="0"/>
                </a:lnTo>
                <a:lnTo>
                  <a:pt x="153448" y="8569"/>
                </a:lnTo>
                <a:lnTo>
                  <a:pt x="188556" y="31938"/>
                </a:lnTo>
                <a:lnTo>
                  <a:pt x="212225" y="66602"/>
                </a:lnTo>
                <a:lnTo>
                  <a:pt x="220903" y="109054"/>
                </a:lnTo>
                <a:lnTo>
                  <a:pt x="212225" y="151508"/>
                </a:lnTo>
                <a:lnTo>
                  <a:pt x="188556" y="186177"/>
                </a:lnTo>
                <a:lnTo>
                  <a:pt x="153448" y="209551"/>
                </a:lnTo>
                <a:lnTo>
                  <a:pt x="110451" y="218122"/>
                </a:lnTo>
                <a:lnTo>
                  <a:pt x="67460" y="209551"/>
                </a:lnTo>
                <a:lnTo>
                  <a:pt x="32351" y="186177"/>
                </a:lnTo>
                <a:lnTo>
                  <a:pt x="8680" y="151508"/>
                </a:lnTo>
                <a:lnTo>
                  <a:pt x="0" y="109054"/>
                </a:lnTo>
                <a:close/>
              </a:path>
            </a:pathLst>
          </a:custGeom>
          <a:ln w="6350">
            <a:solidFill>
              <a:srgbClr val="41719D"/>
            </a:solidFill>
          </a:ln>
        </p:spPr>
        <p:txBody>
          <a:bodyPr wrap="square" lIns="0" tIns="0" rIns="0" bIns="0" rtlCol="0"/>
          <a:lstStyle/>
          <a:p>
            <a:endParaRPr sz="2735"/>
          </a:p>
        </p:txBody>
      </p:sp>
      <p:sp>
        <p:nvSpPr>
          <p:cNvPr id="23" name="object 27"/>
          <p:cNvSpPr>
            <a:spLocks noChangeAspect="1"/>
          </p:cNvSpPr>
          <p:nvPr/>
        </p:nvSpPr>
        <p:spPr>
          <a:xfrm>
            <a:off x="4565709" y="3684038"/>
            <a:ext cx="335664" cy="331808"/>
          </a:xfrm>
          <a:custGeom>
            <a:avLst/>
            <a:gdLst/>
            <a:ahLst/>
            <a:cxnLst/>
            <a:rect l="l" t="t" r="r" b="b"/>
            <a:pathLst>
              <a:path w="220980" h="218439">
                <a:moveTo>
                  <a:pt x="110451" y="0"/>
                </a:moveTo>
                <a:lnTo>
                  <a:pt x="67454" y="8569"/>
                </a:lnTo>
                <a:lnTo>
                  <a:pt x="32346" y="31938"/>
                </a:lnTo>
                <a:lnTo>
                  <a:pt x="8678" y="66602"/>
                </a:lnTo>
                <a:lnTo>
                  <a:pt x="0" y="109054"/>
                </a:lnTo>
                <a:lnTo>
                  <a:pt x="8678" y="151508"/>
                </a:lnTo>
                <a:lnTo>
                  <a:pt x="32346" y="186177"/>
                </a:lnTo>
                <a:lnTo>
                  <a:pt x="67454" y="209551"/>
                </a:lnTo>
                <a:lnTo>
                  <a:pt x="110451" y="218122"/>
                </a:lnTo>
                <a:lnTo>
                  <a:pt x="153443" y="209551"/>
                </a:lnTo>
                <a:lnTo>
                  <a:pt x="188552" y="186177"/>
                </a:lnTo>
                <a:lnTo>
                  <a:pt x="212223" y="151508"/>
                </a:lnTo>
                <a:lnTo>
                  <a:pt x="220903" y="109054"/>
                </a:lnTo>
                <a:lnTo>
                  <a:pt x="212223" y="66602"/>
                </a:lnTo>
                <a:lnTo>
                  <a:pt x="188552" y="31938"/>
                </a:lnTo>
                <a:lnTo>
                  <a:pt x="153443" y="8569"/>
                </a:lnTo>
                <a:lnTo>
                  <a:pt x="110451" y="0"/>
                </a:lnTo>
                <a:close/>
              </a:path>
            </a:pathLst>
          </a:custGeom>
          <a:solidFill>
            <a:srgbClr val="EC7D30"/>
          </a:solidFill>
        </p:spPr>
        <p:txBody>
          <a:bodyPr wrap="square" lIns="0" tIns="0" rIns="0" bIns="0" rtlCol="0"/>
          <a:lstStyle/>
          <a:p>
            <a:endParaRPr sz="2735"/>
          </a:p>
        </p:txBody>
      </p:sp>
      <p:sp>
        <p:nvSpPr>
          <p:cNvPr id="24" name="object 28"/>
          <p:cNvSpPr>
            <a:spLocks noChangeAspect="1"/>
          </p:cNvSpPr>
          <p:nvPr/>
        </p:nvSpPr>
        <p:spPr>
          <a:xfrm>
            <a:off x="4565709" y="3684038"/>
            <a:ext cx="335664" cy="331808"/>
          </a:xfrm>
          <a:custGeom>
            <a:avLst/>
            <a:gdLst/>
            <a:ahLst/>
            <a:cxnLst/>
            <a:rect l="l" t="t" r="r" b="b"/>
            <a:pathLst>
              <a:path w="220980" h="218439">
                <a:moveTo>
                  <a:pt x="0" y="109054"/>
                </a:moveTo>
                <a:lnTo>
                  <a:pt x="8678" y="66602"/>
                </a:lnTo>
                <a:lnTo>
                  <a:pt x="32346" y="31938"/>
                </a:lnTo>
                <a:lnTo>
                  <a:pt x="67454" y="8569"/>
                </a:lnTo>
                <a:lnTo>
                  <a:pt x="110451" y="0"/>
                </a:lnTo>
                <a:lnTo>
                  <a:pt x="153443" y="8569"/>
                </a:lnTo>
                <a:lnTo>
                  <a:pt x="188552" y="31938"/>
                </a:lnTo>
                <a:lnTo>
                  <a:pt x="212223" y="66602"/>
                </a:lnTo>
                <a:lnTo>
                  <a:pt x="220903" y="109054"/>
                </a:lnTo>
                <a:lnTo>
                  <a:pt x="212223" y="151508"/>
                </a:lnTo>
                <a:lnTo>
                  <a:pt x="188552" y="186177"/>
                </a:lnTo>
                <a:lnTo>
                  <a:pt x="153443" y="209551"/>
                </a:lnTo>
                <a:lnTo>
                  <a:pt x="110451" y="218122"/>
                </a:lnTo>
                <a:lnTo>
                  <a:pt x="67454" y="209551"/>
                </a:lnTo>
                <a:lnTo>
                  <a:pt x="32346" y="186177"/>
                </a:lnTo>
                <a:lnTo>
                  <a:pt x="8678" y="151508"/>
                </a:lnTo>
                <a:lnTo>
                  <a:pt x="0" y="109054"/>
                </a:lnTo>
                <a:close/>
              </a:path>
            </a:pathLst>
          </a:custGeom>
          <a:ln w="6350">
            <a:solidFill>
              <a:srgbClr val="41719D"/>
            </a:solidFill>
          </a:ln>
        </p:spPr>
        <p:txBody>
          <a:bodyPr wrap="square" lIns="0" tIns="0" rIns="0" bIns="0" rtlCol="0"/>
          <a:lstStyle/>
          <a:p>
            <a:endParaRPr sz="2735"/>
          </a:p>
        </p:txBody>
      </p:sp>
      <p:sp>
        <p:nvSpPr>
          <p:cNvPr id="25" name="object 29"/>
          <p:cNvSpPr txBox="1">
            <a:spLocks noChangeAspect="1"/>
          </p:cNvSpPr>
          <p:nvPr/>
        </p:nvSpPr>
        <p:spPr>
          <a:xfrm>
            <a:off x="4118547" y="3709079"/>
            <a:ext cx="678084" cy="229858"/>
          </a:xfrm>
          <a:prstGeom prst="rect">
            <a:avLst/>
          </a:prstGeom>
        </p:spPr>
        <p:txBody>
          <a:bodyPr vert="horz" wrap="square" lIns="0" tIns="19291" rIns="0" bIns="0" rtlCol="0">
            <a:spAutoFit/>
          </a:bodyPr>
          <a:lstStyle/>
          <a:p>
            <a:pPr marL="19050">
              <a:spcBef>
                <a:spcPts val="150"/>
              </a:spcBef>
              <a:tabLst>
                <a:tab pos="570865" algn="l"/>
              </a:tabLst>
            </a:pPr>
            <a:r>
              <a:rPr sz="1365" dirty="0">
                <a:solidFill>
                  <a:srgbClr val="FFFFFF"/>
                </a:solidFill>
                <a:latin typeface="Calibri"/>
                <a:cs typeface="Calibri"/>
              </a:rPr>
              <a:t>d	e</a:t>
            </a:r>
            <a:endParaRPr sz="1365">
              <a:latin typeface="Calibri"/>
              <a:cs typeface="Calibri"/>
            </a:endParaRPr>
          </a:p>
        </p:txBody>
      </p:sp>
      <p:sp>
        <p:nvSpPr>
          <p:cNvPr id="26" name="object 30"/>
          <p:cNvSpPr>
            <a:spLocks noChangeAspect="1"/>
          </p:cNvSpPr>
          <p:nvPr/>
        </p:nvSpPr>
        <p:spPr>
          <a:xfrm>
            <a:off x="5115526" y="3684038"/>
            <a:ext cx="335664" cy="331808"/>
          </a:xfrm>
          <a:custGeom>
            <a:avLst/>
            <a:gdLst/>
            <a:ahLst/>
            <a:cxnLst/>
            <a:rect l="l" t="t" r="r" b="b"/>
            <a:pathLst>
              <a:path w="220980" h="218439">
                <a:moveTo>
                  <a:pt x="110451" y="0"/>
                </a:moveTo>
                <a:lnTo>
                  <a:pt x="67460" y="8569"/>
                </a:lnTo>
                <a:lnTo>
                  <a:pt x="32351" y="31938"/>
                </a:lnTo>
                <a:lnTo>
                  <a:pt x="8680" y="66602"/>
                </a:lnTo>
                <a:lnTo>
                  <a:pt x="0" y="109054"/>
                </a:lnTo>
                <a:lnTo>
                  <a:pt x="8680" y="151508"/>
                </a:lnTo>
                <a:lnTo>
                  <a:pt x="32351" y="186177"/>
                </a:lnTo>
                <a:lnTo>
                  <a:pt x="67460" y="209551"/>
                </a:lnTo>
                <a:lnTo>
                  <a:pt x="110451" y="218122"/>
                </a:lnTo>
                <a:lnTo>
                  <a:pt x="153443" y="209551"/>
                </a:lnTo>
                <a:lnTo>
                  <a:pt x="188552" y="186177"/>
                </a:lnTo>
                <a:lnTo>
                  <a:pt x="212223" y="151508"/>
                </a:lnTo>
                <a:lnTo>
                  <a:pt x="220903" y="109054"/>
                </a:lnTo>
                <a:lnTo>
                  <a:pt x="212223" y="66602"/>
                </a:lnTo>
                <a:lnTo>
                  <a:pt x="188552" y="31938"/>
                </a:lnTo>
                <a:lnTo>
                  <a:pt x="153443" y="8569"/>
                </a:lnTo>
                <a:lnTo>
                  <a:pt x="110451" y="0"/>
                </a:lnTo>
                <a:close/>
              </a:path>
            </a:pathLst>
          </a:custGeom>
          <a:solidFill>
            <a:srgbClr val="EC7D30"/>
          </a:solidFill>
        </p:spPr>
        <p:txBody>
          <a:bodyPr wrap="square" lIns="0" tIns="0" rIns="0" bIns="0" rtlCol="0"/>
          <a:lstStyle/>
          <a:p>
            <a:endParaRPr sz="2735"/>
          </a:p>
        </p:txBody>
      </p:sp>
      <p:sp>
        <p:nvSpPr>
          <p:cNvPr id="27" name="object 31"/>
          <p:cNvSpPr>
            <a:spLocks noChangeAspect="1"/>
          </p:cNvSpPr>
          <p:nvPr/>
        </p:nvSpPr>
        <p:spPr>
          <a:xfrm>
            <a:off x="5115526" y="3684038"/>
            <a:ext cx="335664" cy="331808"/>
          </a:xfrm>
          <a:custGeom>
            <a:avLst/>
            <a:gdLst/>
            <a:ahLst/>
            <a:cxnLst/>
            <a:rect l="l" t="t" r="r" b="b"/>
            <a:pathLst>
              <a:path w="220980" h="218439">
                <a:moveTo>
                  <a:pt x="0" y="109054"/>
                </a:moveTo>
                <a:lnTo>
                  <a:pt x="8680" y="66602"/>
                </a:lnTo>
                <a:lnTo>
                  <a:pt x="32351" y="31938"/>
                </a:lnTo>
                <a:lnTo>
                  <a:pt x="67460" y="8569"/>
                </a:lnTo>
                <a:lnTo>
                  <a:pt x="110451" y="0"/>
                </a:lnTo>
                <a:lnTo>
                  <a:pt x="153443" y="8569"/>
                </a:lnTo>
                <a:lnTo>
                  <a:pt x="188552" y="31938"/>
                </a:lnTo>
                <a:lnTo>
                  <a:pt x="212223" y="66602"/>
                </a:lnTo>
                <a:lnTo>
                  <a:pt x="220903" y="109054"/>
                </a:lnTo>
                <a:lnTo>
                  <a:pt x="212223" y="151508"/>
                </a:lnTo>
                <a:lnTo>
                  <a:pt x="188552" y="186177"/>
                </a:lnTo>
                <a:lnTo>
                  <a:pt x="153443" y="209551"/>
                </a:lnTo>
                <a:lnTo>
                  <a:pt x="110451" y="218122"/>
                </a:lnTo>
                <a:lnTo>
                  <a:pt x="67460" y="209551"/>
                </a:lnTo>
                <a:lnTo>
                  <a:pt x="32351" y="186177"/>
                </a:lnTo>
                <a:lnTo>
                  <a:pt x="8680" y="151508"/>
                </a:lnTo>
                <a:lnTo>
                  <a:pt x="0" y="109054"/>
                </a:lnTo>
                <a:close/>
              </a:path>
            </a:pathLst>
          </a:custGeom>
          <a:ln w="6350">
            <a:solidFill>
              <a:srgbClr val="41719D"/>
            </a:solidFill>
          </a:ln>
        </p:spPr>
        <p:txBody>
          <a:bodyPr wrap="square" lIns="0" tIns="0" rIns="0" bIns="0" rtlCol="0"/>
          <a:lstStyle/>
          <a:p>
            <a:endParaRPr sz="2735"/>
          </a:p>
        </p:txBody>
      </p:sp>
      <p:sp>
        <p:nvSpPr>
          <p:cNvPr id="28" name="object 32"/>
          <p:cNvSpPr txBox="1">
            <a:spLocks noChangeAspect="1"/>
          </p:cNvSpPr>
          <p:nvPr/>
        </p:nvSpPr>
        <p:spPr>
          <a:xfrm>
            <a:off x="5237494" y="3709079"/>
            <a:ext cx="91633" cy="229858"/>
          </a:xfrm>
          <a:prstGeom prst="rect">
            <a:avLst/>
          </a:prstGeom>
        </p:spPr>
        <p:txBody>
          <a:bodyPr vert="horz" wrap="square" lIns="0" tIns="19291" rIns="0" bIns="0" rtlCol="0">
            <a:spAutoFit/>
          </a:bodyPr>
          <a:lstStyle/>
          <a:p>
            <a:pPr marL="19050">
              <a:spcBef>
                <a:spcPts val="150"/>
              </a:spcBef>
            </a:pPr>
            <a:r>
              <a:rPr sz="1365" dirty="0">
                <a:solidFill>
                  <a:srgbClr val="FFFFFF"/>
                </a:solidFill>
                <a:latin typeface="Calibri"/>
                <a:cs typeface="Calibri"/>
              </a:rPr>
              <a:t>f</a:t>
            </a:r>
            <a:endParaRPr sz="1365">
              <a:latin typeface="Calibri"/>
              <a:cs typeface="Calibri"/>
            </a:endParaRPr>
          </a:p>
        </p:txBody>
      </p:sp>
      <p:sp>
        <p:nvSpPr>
          <p:cNvPr id="29" name="object 33"/>
          <p:cNvSpPr>
            <a:spLocks noChangeAspect="1"/>
          </p:cNvSpPr>
          <p:nvPr/>
        </p:nvSpPr>
        <p:spPr>
          <a:xfrm>
            <a:off x="3251789" y="3849691"/>
            <a:ext cx="215096" cy="0"/>
          </a:xfrm>
          <a:custGeom>
            <a:avLst/>
            <a:gdLst/>
            <a:ahLst/>
            <a:cxnLst/>
            <a:rect l="l" t="t" r="r" b="b"/>
            <a:pathLst>
              <a:path w="141605">
                <a:moveTo>
                  <a:pt x="0" y="0"/>
                </a:moveTo>
                <a:lnTo>
                  <a:pt x="141058" y="0"/>
                </a:lnTo>
              </a:path>
            </a:pathLst>
          </a:custGeom>
          <a:ln w="12700">
            <a:solidFill>
              <a:srgbClr val="5C9BD3"/>
            </a:solidFill>
          </a:ln>
        </p:spPr>
        <p:txBody>
          <a:bodyPr wrap="square" lIns="0" tIns="0" rIns="0" bIns="0" rtlCol="0"/>
          <a:lstStyle/>
          <a:p>
            <a:endParaRPr sz="2735"/>
          </a:p>
        </p:txBody>
      </p:sp>
      <p:sp>
        <p:nvSpPr>
          <p:cNvPr id="30" name="object 34"/>
          <p:cNvSpPr>
            <a:spLocks noChangeAspect="1"/>
          </p:cNvSpPr>
          <p:nvPr/>
        </p:nvSpPr>
        <p:spPr>
          <a:xfrm>
            <a:off x="3801606" y="3849691"/>
            <a:ext cx="215096" cy="0"/>
          </a:xfrm>
          <a:custGeom>
            <a:avLst/>
            <a:gdLst/>
            <a:ahLst/>
            <a:cxnLst/>
            <a:rect l="l" t="t" r="r" b="b"/>
            <a:pathLst>
              <a:path w="141605">
                <a:moveTo>
                  <a:pt x="0" y="0"/>
                </a:moveTo>
                <a:lnTo>
                  <a:pt x="141058" y="0"/>
                </a:lnTo>
              </a:path>
            </a:pathLst>
          </a:custGeom>
          <a:ln w="12700">
            <a:solidFill>
              <a:srgbClr val="5C9BD3"/>
            </a:solidFill>
          </a:ln>
        </p:spPr>
        <p:txBody>
          <a:bodyPr wrap="square" lIns="0" tIns="0" rIns="0" bIns="0" rtlCol="0"/>
          <a:lstStyle/>
          <a:p>
            <a:endParaRPr sz="2735"/>
          </a:p>
        </p:txBody>
      </p:sp>
      <p:sp>
        <p:nvSpPr>
          <p:cNvPr id="31" name="object 35"/>
          <p:cNvSpPr>
            <a:spLocks noChangeAspect="1"/>
          </p:cNvSpPr>
          <p:nvPr/>
        </p:nvSpPr>
        <p:spPr>
          <a:xfrm>
            <a:off x="4351422" y="3849691"/>
            <a:ext cx="215096" cy="0"/>
          </a:xfrm>
          <a:custGeom>
            <a:avLst/>
            <a:gdLst/>
            <a:ahLst/>
            <a:cxnLst/>
            <a:rect l="l" t="t" r="r" b="b"/>
            <a:pathLst>
              <a:path w="141605">
                <a:moveTo>
                  <a:pt x="0" y="0"/>
                </a:moveTo>
                <a:lnTo>
                  <a:pt x="141071" y="0"/>
                </a:lnTo>
              </a:path>
            </a:pathLst>
          </a:custGeom>
          <a:ln w="12700">
            <a:solidFill>
              <a:srgbClr val="5C9BD3"/>
            </a:solidFill>
          </a:ln>
        </p:spPr>
        <p:txBody>
          <a:bodyPr wrap="square" lIns="0" tIns="0" rIns="0" bIns="0" rtlCol="0"/>
          <a:lstStyle/>
          <a:p>
            <a:endParaRPr sz="2735"/>
          </a:p>
        </p:txBody>
      </p:sp>
      <p:sp>
        <p:nvSpPr>
          <p:cNvPr id="32" name="object 36"/>
          <p:cNvSpPr>
            <a:spLocks noChangeAspect="1"/>
          </p:cNvSpPr>
          <p:nvPr/>
        </p:nvSpPr>
        <p:spPr>
          <a:xfrm>
            <a:off x="4901259" y="3849691"/>
            <a:ext cx="215096" cy="0"/>
          </a:xfrm>
          <a:custGeom>
            <a:avLst/>
            <a:gdLst/>
            <a:ahLst/>
            <a:cxnLst/>
            <a:rect l="l" t="t" r="r" b="b"/>
            <a:pathLst>
              <a:path w="141605">
                <a:moveTo>
                  <a:pt x="141058" y="0"/>
                </a:moveTo>
                <a:lnTo>
                  <a:pt x="0" y="0"/>
                </a:lnTo>
              </a:path>
            </a:pathLst>
          </a:custGeom>
          <a:ln w="12700">
            <a:solidFill>
              <a:srgbClr val="5C9BD3"/>
            </a:solidFill>
          </a:ln>
        </p:spPr>
        <p:txBody>
          <a:bodyPr wrap="square" lIns="0" tIns="0" rIns="0" bIns="0" rtlCol="0"/>
          <a:lstStyle/>
          <a:p>
            <a:endParaRPr sz="2735"/>
          </a:p>
        </p:txBody>
      </p:sp>
      <p:sp>
        <p:nvSpPr>
          <p:cNvPr id="44" name="矩形标注 43"/>
          <p:cNvSpPr/>
          <p:nvPr/>
        </p:nvSpPr>
        <p:spPr>
          <a:xfrm>
            <a:off x="2299938" y="3208820"/>
            <a:ext cx="944911" cy="284258"/>
          </a:xfrm>
          <a:prstGeom prst="wedgeRectCallout">
            <a:avLst>
              <a:gd name="adj1" fmla="val 82249"/>
              <a:gd name="adj2" fmla="val 53286"/>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逻辑结构</a:t>
            </a:r>
          </a:p>
        </p:txBody>
      </p:sp>
      <p:sp>
        <p:nvSpPr>
          <p:cNvPr id="45" name="矩形标注 44"/>
          <p:cNvSpPr/>
          <p:nvPr/>
        </p:nvSpPr>
        <p:spPr>
          <a:xfrm>
            <a:off x="6155245" y="3150620"/>
            <a:ext cx="921763" cy="339870"/>
          </a:xfrm>
          <a:prstGeom prst="wedgeRectCallout">
            <a:avLst>
              <a:gd name="adj1" fmla="val 72747"/>
              <a:gd name="adj2" fmla="val 226676"/>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存储结构</a:t>
            </a:r>
          </a:p>
        </p:txBody>
      </p:sp>
      <p:sp>
        <p:nvSpPr>
          <p:cNvPr id="78" name="object 35"/>
          <p:cNvSpPr txBox="1"/>
          <p:nvPr/>
        </p:nvSpPr>
        <p:spPr>
          <a:xfrm>
            <a:off x="2493193" y="4863460"/>
            <a:ext cx="4819508" cy="1258678"/>
          </a:xfrm>
          <a:prstGeom prst="rect">
            <a:avLst/>
          </a:prstGeom>
        </p:spPr>
        <p:txBody>
          <a:bodyPr vert="horz" wrap="square" lIns="0" tIns="9525" rIns="0" bIns="0" rtlCol="0">
            <a:spAutoFit/>
          </a:bodyPr>
          <a:lstStyle/>
          <a:p>
            <a:pPr marL="12700" marR="5080">
              <a:spcBef>
                <a:spcPts val="75"/>
              </a:spcBef>
            </a:pPr>
            <a:r>
              <a:rPr dirty="0" err="1">
                <a:solidFill>
                  <a:srgbClr val="010202"/>
                </a:solidFill>
                <a:latin typeface="宋体"/>
                <a:cs typeface="宋体"/>
              </a:rPr>
              <a:t>结合现实需求</a:t>
            </a:r>
            <a:r>
              <a:rPr dirty="0" err="1">
                <a:solidFill>
                  <a:srgbClr val="BF2026"/>
                </a:solidFill>
                <a:latin typeface="宋体"/>
                <a:cs typeface="宋体"/>
              </a:rPr>
              <a:t>定义</a:t>
            </a:r>
            <a:r>
              <a:rPr dirty="0" err="1">
                <a:solidFill>
                  <a:srgbClr val="010202"/>
                </a:solidFill>
                <a:latin typeface="宋体"/>
                <a:cs typeface="宋体"/>
              </a:rPr>
              <a:t>这种逻辑结构的运算</a:t>
            </a:r>
            <a:r>
              <a:rPr dirty="0">
                <a:solidFill>
                  <a:srgbClr val="010202"/>
                </a:solidFill>
                <a:latin typeface="宋体"/>
                <a:cs typeface="宋体"/>
              </a:rPr>
              <a:t>： </a:t>
            </a:r>
            <a:endParaRPr lang="en-US" dirty="0">
              <a:solidFill>
                <a:srgbClr val="010202"/>
              </a:solidFill>
              <a:latin typeface="宋体"/>
              <a:cs typeface="宋体"/>
            </a:endParaRPr>
          </a:p>
          <a:p>
            <a:pPr marL="12700" marR="5080">
              <a:spcBef>
                <a:spcPts val="75"/>
              </a:spcBef>
            </a:pPr>
            <a:r>
              <a:rPr lang="en-US" altLang="zh-CN" dirty="0">
                <a:solidFill>
                  <a:srgbClr val="010202"/>
                </a:solidFill>
                <a:latin typeface="宋体"/>
                <a:cs typeface="宋体"/>
              </a:rPr>
              <a:t>1</a:t>
            </a:r>
            <a:r>
              <a:rPr lang="zh-CN" altLang="en-US" dirty="0">
                <a:solidFill>
                  <a:srgbClr val="010202"/>
                </a:solidFill>
                <a:latin typeface="宋体"/>
                <a:cs typeface="宋体"/>
              </a:rPr>
              <a:t>、插入</a:t>
            </a:r>
            <a:r>
              <a:rPr dirty="0" err="1">
                <a:solidFill>
                  <a:srgbClr val="010202"/>
                </a:solidFill>
                <a:latin typeface="宋体"/>
                <a:cs typeface="宋体"/>
              </a:rPr>
              <a:t>元素</a:t>
            </a:r>
            <a:r>
              <a:rPr dirty="0">
                <a:solidFill>
                  <a:srgbClr val="010202"/>
                </a:solidFill>
                <a:latin typeface="宋体"/>
                <a:cs typeface="宋体"/>
              </a:rPr>
              <a:t>；</a:t>
            </a:r>
            <a:endParaRPr dirty="0">
              <a:latin typeface="宋体"/>
              <a:cs typeface="宋体"/>
            </a:endParaRPr>
          </a:p>
          <a:p>
            <a:pPr marL="12700"/>
            <a:r>
              <a:rPr lang="en-US" dirty="0">
                <a:solidFill>
                  <a:srgbClr val="010202"/>
                </a:solidFill>
                <a:latin typeface="宋体"/>
                <a:cs typeface="宋体"/>
              </a:rPr>
              <a:t>2</a:t>
            </a:r>
            <a:r>
              <a:rPr lang="zh-CN" altLang="en-US" dirty="0">
                <a:solidFill>
                  <a:srgbClr val="010202"/>
                </a:solidFill>
                <a:latin typeface="宋体"/>
                <a:cs typeface="宋体"/>
              </a:rPr>
              <a:t>、删除</a:t>
            </a:r>
            <a:r>
              <a:rPr dirty="0" err="1">
                <a:solidFill>
                  <a:srgbClr val="010202"/>
                </a:solidFill>
                <a:latin typeface="宋体"/>
                <a:cs typeface="宋体"/>
              </a:rPr>
              <a:t>元素</a:t>
            </a:r>
            <a:r>
              <a:rPr dirty="0">
                <a:solidFill>
                  <a:srgbClr val="010202"/>
                </a:solidFill>
                <a:latin typeface="宋体"/>
                <a:cs typeface="宋体"/>
              </a:rPr>
              <a:t>；</a:t>
            </a:r>
            <a:endParaRPr dirty="0">
              <a:latin typeface="宋体"/>
              <a:cs typeface="宋体"/>
            </a:endParaRPr>
          </a:p>
          <a:p>
            <a:pPr marL="12700">
              <a:spcBef>
                <a:spcPts val="25"/>
              </a:spcBef>
            </a:pPr>
            <a:r>
              <a:rPr lang="en-US" dirty="0">
                <a:solidFill>
                  <a:srgbClr val="010202"/>
                </a:solidFill>
                <a:latin typeface="宋体"/>
                <a:cs typeface="宋体"/>
              </a:rPr>
              <a:t>3</a:t>
            </a:r>
            <a:r>
              <a:rPr lang="zh-CN" altLang="en-US" dirty="0">
                <a:solidFill>
                  <a:srgbClr val="010202"/>
                </a:solidFill>
                <a:latin typeface="宋体"/>
                <a:cs typeface="宋体"/>
              </a:rPr>
              <a:t>、</a:t>
            </a:r>
            <a:r>
              <a:rPr dirty="0" err="1">
                <a:solidFill>
                  <a:srgbClr val="010202"/>
                </a:solidFill>
                <a:latin typeface="宋体"/>
                <a:cs typeface="宋体"/>
              </a:rPr>
              <a:t>输出</a:t>
            </a:r>
            <a:r>
              <a:rPr lang="zh-CN" altLang="en-US" dirty="0">
                <a:solidFill>
                  <a:srgbClr val="010202"/>
                </a:solidFill>
                <a:latin typeface="宋体"/>
                <a:cs typeface="宋体"/>
              </a:rPr>
              <a:t>表长</a:t>
            </a:r>
            <a:r>
              <a:rPr dirty="0">
                <a:solidFill>
                  <a:srgbClr val="010202"/>
                </a:solidFill>
                <a:latin typeface="宋体"/>
                <a:cs typeface="宋体"/>
              </a:rPr>
              <a:t>；</a:t>
            </a:r>
            <a:endParaRPr dirty="0">
              <a:latin typeface="宋体"/>
              <a:cs typeface="宋体"/>
            </a:endParaRPr>
          </a:p>
          <a:p>
            <a:pPr marL="12700">
              <a:lnSpc>
                <a:spcPts val="1045"/>
              </a:lnSpc>
            </a:pPr>
            <a:r>
              <a:rPr sz="900" spc="409" dirty="0">
                <a:solidFill>
                  <a:srgbClr val="010202"/>
                </a:solidFill>
                <a:latin typeface="Calibri"/>
                <a:cs typeface="Calibri"/>
              </a:rPr>
              <a:t>  </a:t>
            </a:r>
            <a:endParaRPr sz="900" dirty="0">
              <a:latin typeface="Calibri"/>
              <a:cs typeface="Calibri"/>
            </a:endParaRPr>
          </a:p>
        </p:txBody>
      </p:sp>
      <p:sp>
        <p:nvSpPr>
          <p:cNvPr id="79" name="矩形标注 78"/>
          <p:cNvSpPr/>
          <p:nvPr/>
        </p:nvSpPr>
        <p:spPr>
          <a:xfrm>
            <a:off x="2133600" y="4518869"/>
            <a:ext cx="793076" cy="262384"/>
          </a:xfrm>
          <a:prstGeom prst="wedgeRectCallout">
            <a:avLst>
              <a:gd name="adj1" fmla="val 82249"/>
              <a:gd name="adj2" fmla="val 53286"/>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运算</a:t>
            </a:r>
          </a:p>
        </p:txBody>
      </p:sp>
      <p:pic>
        <p:nvPicPr>
          <p:cNvPr id="80"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18830" y="3462676"/>
            <a:ext cx="1659555" cy="257761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panose="020B0604020202090204" pitchFamily="34" charset="0"/>
                <a:ea typeface="宋体" pitchFamily="2" charset="-122"/>
              </a:rPr>
              <a:t>13.1   </a:t>
            </a:r>
            <a:r>
              <a:rPr kumimoji="1" lang="zh-CN" altLang="en-US" sz="3200" b="1" dirty="0">
                <a:latin typeface="Arial" panose="020B0604020202090204" pitchFamily="34" charset="0"/>
                <a:ea typeface="宋体" pitchFamily="2" charset="-122"/>
              </a:rPr>
              <a:t>基本概念和术语</a:t>
            </a:r>
            <a:endParaRPr kumimoji="1" lang="zh-CN" altLang="en-US" sz="3200" b="1" dirty="0">
              <a:latin typeface="Arial" panose="020B0604020202090204" pitchFamily="34" charset="0"/>
              <a:ea typeface="宋体" pitchFamily="2" charset="-122"/>
              <a:cs typeface="+mn-cs"/>
            </a:endParaRPr>
          </a:p>
        </p:txBody>
      </p:sp>
      <p:sp>
        <p:nvSpPr>
          <p:cNvPr id="3" name="内容占位符 2"/>
          <p:cNvSpPr>
            <a:spLocks noGrp="1"/>
          </p:cNvSpPr>
          <p:nvPr>
            <p:ph idx="1"/>
          </p:nvPr>
        </p:nvSpPr>
        <p:spPr>
          <a:xfrm>
            <a:off x="1981200" y="1417638"/>
            <a:ext cx="8229600" cy="4830762"/>
          </a:xfrm>
        </p:spPr>
        <p:txBody>
          <a:bodyPr>
            <a:normAutofit/>
          </a:bodyPr>
          <a:lstStyle/>
          <a:p>
            <a:pPr marL="514350">
              <a:lnSpc>
                <a:spcPts val="2700"/>
              </a:lnSpc>
            </a:pPr>
            <a:r>
              <a:rPr lang="zh-CN" altLang="en-US" sz="2800" b="1" dirty="0"/>
              <a:t>数据结构三要素：</a:t>
            </a:r>
            <a:endParaRPr lang="en-US" altLang="zh-CN" sz="2800" b="1" dirty="0"/>
          </a:p>
          <a:p>
            <a:pPr marL="1085850" lvl="1" indent="-457200">
              <a:lnSpc>
                <a:spcPts val="2700"/>
              </a:lnSpc>
              <a:buFont typeface="+mj-ea"/>
              <a:buAutoNum type="circleNumDbPlain"/>
            </a:pPr>
            <a:r>
              <a:rPr lang="zh-CN" altLang="en-US" sz="2400" b="1" dirty="0">
                <a:solidFill>
                  <a:srgbClr val="FF0000"/>
                </a:solidFill>
              </a:rPr>
              <a:t>数据的逻辑结构</a:t>
            </a:r>
          </a:p>
          <a:p>
            <a:pPr marL="1314450" lvl="2">
              <a:lnSpc>
                <a:spcPts val="2700"/>
              </a:lnSpc>
            </a:pPr>
            <a:r>
              <a:rPr lang="zh-CN" altLang="en-US" sz="2000" b="1" dirty="0"/>
              <a:t>  数据元素之间的逻辑关系，是具体关系的抽象。</a:t>
            </a:r>
          </a:p>
          <a:p>
            <a:pPr marL="1085850" lvl="1" indent="-457200">
              <a:lnSpc>
                <a:spcPts val="2700"/>
              </a:lnSpc>
              <a:buFont typeface="+mj-ea"/>
              <a:buAutoNum type="circleNumDbPlain"/>
            </a:pPr>
            <a:r>
              <a:rPr lang="zh-CN" altLang="en-US" sz="2400" b="1" dirty="0">
                <a:solidFill>
                  <a:srgbClr val="FF0000"/>
                </a:solidFill>
              </a:rPr>
              <a:t>数据的存储结构</a:t>
            </a:r>
            <a:r>
              <a:rPr lang="en-US" altLang="zh-CN" sz="2400" b="1" dirty="0">
                <a:solidFill>
                  <a:srgbClr val="FF0000"/>
                </a:solidFill>
              </a:rPr>
              <a:t>(</a:t>
            </a:r>
            <a:r>
              <a:rPr lang="zh-CN" altLang="en-US" sz="2400" b="1" dirty="0">
                <a:solidFill>
                  <a:srgbClr val="FF0000"/>
                </a:solidFill>
              </a:rPr>
              <a:t>物理结构</a:t>
            </a:r>
            <a:r>
              <a:rPr lang="en-US" altLang="zh-CN" sz="2400" b="1" dirty="0">
                <a:solidFill>
                  <a:srgbClr val="FF0000"/>
                </a:solidFill>
              </a:rPr>
              <a:t>)</a:t>
            </a:r>
            <a:endParaRPr lang="zh-CN" altLang="en-US" sz="2400" b="1" dirty="0">
              <a:solidFill>
                <a:srgbClr val="FF0000"/>
              </a:solidFill>
            </a:endParaRPr>
          </a:p>
          <a:p>
            <a:pPr marL="1314450" lvl="2">
              <a:lnSpc>
                <a:spcPts val="2700"/>
              </a:lnSpc>
            </a:pPr>
            <a:r>
              <a:rPr lang="zh-CN" altLang="en-US" sz="2000" b="1" dirty="0"/>
              <a:t>    数据元素及其关系在计算机内存中的表示；</a:t>
            </a:r>
          </a:p>
          <a:p>
            <a:pPr marL="1085850" lvl="1" indent="-457200">
              <a:lnSpc>
                <a:spcPts val="2700"/>
              </a:lnSpc>
              <a:buFont typeface="+mj-ea"/>
              <a:buAutoNum type="circleNumDbPlain"/>
            </a:pPr>
            <a:r>
              <a:rPr lang="zh-CN" altLang="en-US" sz="2400" b="1" dirty="0">
                <a:solidFill>
                  <a:srgbClr val="FF0000"/>
                </a:solidFill>
              </a:rPr>
              <a:t>数据的运算</a:t>
            </a:r>
          </a:p>
          <a:p>
            <a:pPr marL="1314450" lvl="2">
              <a:lnSpc>
                <a:spcPts val="2700"/>
              </a:lnSpc>
            </a:pPr>
            <a:r>
              <a:rPr lang="zh-CN" altLang="en-US" sz="2000" b="1" dirty="0"/>
              <a:t>施加在数据上的运算包括运算的定义和实现。</a:t>
            </a:r>
            <a:r>
              <a:rPr lang="zh-CN" altLang="en-US" sz="2000" b="1" dirty="0">
                <a:solidFill>
                  <a:srgbClr val="FF0000"/>
                </a:solidFill>
              </a:rPr>
              <a:t>运算的定义</a:t>
            </a:r>
            <a:r>
              <a:rPr lang="zh-CN" altLang="en-US" sz="2000" b="1" dirty="0"/>
              <a:t>是针对</a:t>
            </a:r>
            <a:r>
              <a:rPr lang="zh-CN" altLang="en-US" sz="2000" b="1" dirty="0">
                <a:solidFill>
                  <a:srgbClr val="FF0000"/>
                </a:solidFill>
              </a:rPr>
              <a:t>逻辑结构</a:t>
            </a:r>
            <a:r>
              <a:rPr lang="zh-CN" altLang="en-US" sz="2000" b="1" dirty="0"/>
              <a:t>的，指出运算的功能；</a:t>
            </a:r>
            <a:r>
              <a:rPr lang="zh-CN" altLang="en-US" sz="2000" b="1" dirty="0">
                <a:solidFill>
                  <a:srgbClr val="FF0000"/>
                </a:solidFill>
              </a:rPr>
              <a:t>运算的实现</a:t>
            </a:r>
            <a:r>
              <a:rPr lang="zh-CN" altLang="en-US" sz="2000" b="1" dirty="0"/>
              <a:t>是针对</a:t>
            </a:r>
            <a:r>
              <a:rPr lang="zh-CN" altLang="en-US" sz="2000" b="1" dirty="0">
                <a:solidFill>
                  <a:srgbClr val="FF0000"/>
                </a:solidFill>
              </a:rPr>
              <a:t>存储结构</a:t>
            </a:r>
            <a:r>
              <a:rPr lang="zh-CN" altLang="en-US" sz="2000" b="1" dirty="0"/>
              <a:t>的，指出运算的具体操作步骤</a:t>
            </a:r>
          </a:p>
          <a:p>
            <a:pPr marL="914400" lvl="1">
              <a:lnSpc>
                <a:spcPts val="2700"/>
              </a:lnSpc>
            </a:pPr>
            <a:endParaRPr lang="zh-CN" altLang="en-US" sz="2400" b="1" dirty="0"/>
          </a:p>
          <a:p>
            <a:pPr marL="514350">
              <a:lnSpc>
                <a:spcPts val="2700"/>
              </a:lnSpc>
            </a:pPr>
            <a:endParaRPr lang="zh-CN" altLang="en-US" b="1" dirty="0"/>
          </a:p>
          <a:p>
            <a:pPr marL="514350">
              <a:lnSpc>
                <a:spcPts val="2700"/>
              </a:lnSpc>
            </a:pPr>
            <a:endParaRPr lang="zh-CN" altLang="en-US" b="1" dirty="0"/>
          </a:p>
          <a:p>
            <a:pPr marL="628650" lvl="1" indent="0">
              <a:lnSpc>
                <a:spcPts val="2700"/>
              </a:lnSpc>
              <a:buNone/>
            </a:pPr>
            <a:endParaRPr lang="zh-CN" altLang="en-US" sz="2400" b="1" dirty="0"/>
          </a:p>
          <a:p>
            <a:pPr lvl="2">
              <a:lnSpc>
                <a:spcPts val="2700"/>
              </a:lnSpc>
            </a:pPr>
            <a:endParaRPr lang="zh-CN" altLang="en-US" sz="2000" b="1" dirty="0">
              <a:solidFill>
                <a:srgbClr val="FF0000"/>
              </a:solidFill>
            </a:endParaRPr>
          </a:p>
        </p:txBody>
      </p:sp>
      <p:sp>
        <p:nvSpPr>
          <p:cNvPr id="4" name="日期占位符 3"/>
          <p:cNvSpPr>
            <a:spLocks noGrp="1"/>
          </p:cNvSpPr>
          <p:nvPr>
            <p:ph type="dt" sz="half" idx="10"/>
          </p:nvPr>
        </p:nvSpPr>
        <p:spPr/>
        <p:txBody>
          <a:bodyPr/>
          <a:lstStyle/>
          <a:p>
            <a:fld id="{D9E76F4B-7DF1-471E-AF73-C939BE453ED7}" type="datetime1">
              <a:rPr lang="zh-CN" altLang="en-US" b="1" smtClean="0">
                <a:solidFill>
                  <a:srgbClr val="F79646">
                    <a:lumMod val="75000"/>
                  </a:srgbClr>
                </a:solidFill>
              </a:rPr>
              <a:t>2025/11/27</a:t>
            </a:fld>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t>18</a:t>
            </a:fld>
            <a:endParaRPr lang="zh-CN" altLang="en-US" b="1" dirty="0">
              <a:solidFill>
                <a:srgbClr val="F79646">
                  <a:lumMod val="75000"/>
                </a:srgbClr>
              </a:solidFill>
            </a:endParaRPr>
          </a:p>
        </p:txBody>
      </p:sp>
      <p:cxnSp>
        <p:nvCxnSpPr>
          <p:cNvPr id="12" name="直接连接符 11"/>
          <p:cNvCxnSpPr/>
          <p:nvPr/>
        </p:nvCxnSpPr>
        <p:spPr>
          <a:xfrm>
            <a:off x="1981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panose="020B0604020202090204" pitchFamily="34" charset="0"/>
                <a:ea typeface="宋体" pitchFamily="2" charset="-122"/>
                <a:cs typeface="+mn-cs"/>
              </a:rPr>
              <a:t>13.1   </a:t>
            </a:r>
            <a:r>
              <a:rPr kumimoji="1" lang="zh-CN" altLang="en-US" sz="3200" b="1" dirty="0">
                <a:latin typeface="Arial" panose="020B0604020202090204" pitchFamily="34" charset="0"/>
                <a:ea typeface="宋体" pitchFamily="2" charset="-122"/>
                <a:cs typeface="+mn-cs"/>
              </a:rPr>
              <a:t>基本概念和术语</a:t>
            </a:r>
          </a:p>
        </p:txBody>
      </p:sp>
      <p:sp>
        <p:nvSpPr>
          <p:cNvPr id="3" name="内容占位符 2"/>
          <p:cNvSpPr>
            <a:spLocks noGrp="1"/>
          </p:cNvSpPr>
          <p:nvPr>
            <p:ph idx="1"/>
          </p:nvPr>
        </p:nvSpPr>
        <p:spPr>
          <a:xfrm>
            <a:off x="1127448" y="1690688"/>
            <a:ext cx="10439400" cy="5105400"/>
          </a:xfrm>
        </p:spPr>
        <p:txBody>
          <a:bodyPr>
            <a:normAutofit/>
          </a:bodyPr>
          <a:lstStyle/>
          <a:p>
            <a:pPr>
              <a:lnSpc>
                <a:spcPts val="2800"/>
              </a:lnSpc>
            </a:pPr>
            <a:r>
              <a:rPr kumimoji="1" lang="zh-CN" altLang="en-US" sz="2800" b="1" dirty="0">
                <a:solidFill>
                  <a:srgbClr val="FF0000"/>
                </a:solidFill>
                <a:latin typeface="Arial" panose="020B0604020202090204" pitchFamily="34" charset="0"/>
                <a:ea typeface="宋体" pitchFamily="2" charset="-122"/>
              </a:rPr>
              <a:t>数据结构的学习内容：</a:t>
            </a:r>
            <a:endParaRPr kumimoji="1" lang="en-US" altLang="zh-CN" sz="2800" b="1" dirty="0">
              <a:solidFill>
                <a:srgbClr val="FF0000"/>
              </a:solidFill>
              <a:latin typeface="Arial" panose="020B0604020202090204" pitchFamily="34" charset="0"/>
              <a:ea typeface="宋体" pitchFamily="2" charset="-122"/>
            </a:endParaRPr>
          </a:p>
          <a:p>
            <a:pPr lvl="1">
              <a:lnSpc>
                <a:spcPts val="2800"/>
              </a:lnSpc>
            </a:pPr>
            <a:r>
              <a:rPr kumimoji="1" lang="zh-CN" altLang="en-US" sz="2000" b="1" dirty="0">
                <a:latin typeface="Arial" panose="020B0604020202090204" pitchFamily="34" charset="0"/>
                <a:ea typeface="宋体" pitchFamily="2" charset="-122"/>
              </a:rPr>
              <a:t>数据对象的</a:t>
            </a:r>
            <a:r>
              <a:rPr kumimoji="1" lang="zh-CN" altLang="en-US" sz="2000" b="1" dirty="0">
                <a:solidFill>
                  <a:srgbClr val="FF0000"/>
                </a:solidFill>
                <a:latin typeface="Arial" panose="020B0604020202090204" pitchFamily="34" charset="0"/>
                <a:ea typeface="宋体" pitchFamily="2" charset="-122"/>
              </a:rPr>
              <a:t>结构形式</a:t>
            </a:r>
            <a:r>
              <a:rPr kumimoji="1" lang="zh-CN" altLang="en-US" sz="2000" b="1" dirty="0">
                <a:latin typeface="Arial" panose="020B0604020202090204" pitchFamily="34" charset="0"/>
                <a:ea typeface="宋体" pitchFamily="2" charset="-122"/>
              </a:rPr>
              <a:t>，各种数据结构的性质</a:t>
            </a:r>
            <a:r>
              <a:rPr kumimoji="1" lang="en-US" altLang="zh-CN" sz="2000" b="1" dirty="0">
                <a:latin typeface="Arial" panose="020B0604020202090204" pitchFamily="34" charset="0"/>
                <a:ea typeface="宋体" pitchFamily="2" charset="-122"/>
              </a:rPr>
              <a:t>(</a:t>
            </a:r>
            <a:r>
              <a:rPr kumimoji="1" lang="zh-CN" altLang="en-US" sz="2000" b="1" dirty="0">
                <a:solidFill>
                  <a:srgbClr val="FF0000"/>
                </a:solidFill>
                <a:latin typeface="Arial" panose="020B0604020202090204" pitchFamily="34" charset="0"/>
                <a:ea typeface="宋体" pitchFamily="2" charset="-122"/>
              </a:rPr>
              <a:t>逻辑结构</a:t>
            </a:r>
            <a:r>
              <a:rPr kumimoji="1" lang="en-US" altLang="zh-CN" sz="2000" b="1" dirty="0">
                <a:latin typeface="Arial" panose="020B0604020202090204" pitchFamily="34" charset="0"/>
                <a:ea typeface="宋体" pitchFamily="2" charset="-122"/>
              </a:rPr>
              <a:t>); </a:t>
            </a:r>
          </a:p>
          <a:p>
            <a:pPr lvl="1">
              <a:lnSpc>
                <a:spcPts val="2800"/>
              </a:lnSpc>
            </a:pPr>
            <a:r>
              <a:rPr kumimoji="1" lang="zh-CN" altLang="en-US" sz="2000" b="1" dirty="0">
                <a:latin typeface="Arial" panose="020B0604020202090204" pitchFamily="34" charset="0"/>
                <a:ea typeface="宋体" pitchFamily="2" charset="-122"/>
              </a:rPr>
              <a:t>数据对象和“关系”在</a:t>
            </a:r>
            <a:r>
              <a:rPr kumimoji="1" lang="zh-CN" altLang="en-US" sz="2000" b="1" dirty="0">
                <a:solidFill>
                  <a:srgbClr val="FF0000"/>
                </a:solidFill>
                <a:latin typeface="Arial" panose="020B0604020202090204" pitchFamily="34" charset="0"/>
                <a:ea typeface="宋体" pitchFamily="2" charset="-122"/>
              </a:rPr>
              <a:t>计算机中的表示</a:t>
            </a:r>
            <a:r>
              <a:rPr kumimoji="1" lang="en-US" altLang="zh-CN" sz="2000" b="1" dirty="0">
                <a:latin typeface="Arial" panose="020B0604020202090204" pitchFamily="34" charset="0"/>
                <a:ea typeface="宋体" pitchFamily="2" charset="-122"/>
              </a:rPr>
              <a:t>(</a:t>
            </a:r>
            <a:r>
              <a:rPr kumimoji="1" lang="zh-CN" altLang="en-US" sz="2000" b="1" dirty="0">
                <a:solidFill>
                  <a:srgbClr val="FF0000"/>
                </a:solidFill>
                <a:latin typeface="Arial" panose="020B0604020202090204" pitchFamily="34" charset="0"/>
                <a:ea typeface="宋体" pitchFamily="2" charset="-122"/>
              </a:rPr>
              <a:t>物理结构</a:t>
            </a:r>
            <a:r>
              <a:rPr kumimoji="1" lang="en-US" altLang="zh-CN" sz="2000" b="1" dirty="0">
                <a:solidFill>
                  <a:srgbClr val="FF0000"/>
                </a:solidFill>
                <a:latin typeface="Arial" panose="020B0604020202090204" pitchFamily="34" charset="0"/>
                <a:ea typeface="宋体" pitchFamily="2" charset="-122"/>
              </a:rPr>
              <a:t>/</a:t>
            </a:r>
            <a:r>
              <a:rPr kumimoji="1" lang="zh-CN" altLang="en-US" sz="2000" b="1" dirty="0">
                <a:solidFill>
                  <a:srgbClr val="FF0000"/>
                </a:solidFill>
                <a:latin typeface="Arial" panose="020B0604020202090204" pitchFamily="34" charset="0"/>
                <a:ea typeface="宋体" pitchFamily="2" charset="-122"/>
              </a:rPr>
              <a:t>存储结构</a:t>
            </a:r>
            <a:r>
              <a:rPr kumimoji="1" lang="en-US" altLang="zh-CN" sz="2000" b="1" dirty="0">
                <a:latin typeface="Arial" panose="020B0604020202090204" pitchFamily="34" charset="0"/>
                <a:ea typeface="宋体" pitchFamily="2" charset="-122"/>
              </a:rPr>
              <a:t>); </a:t>
            </a:r>
          </a:p>
          <a:p>
            <a:pPr lvl="1">
              <a:lnSpc>
                <a:spcPts val="2800"/>
              </a:lnSpc>
            </a:pPr>
            <a:r>
              <a:rPr kumimoji="1" lang="zh-CN" altLang="en-US" sz="2000" b="1" dirty="0">
                <a:latin typeface="Arial" panose="020B0604020202090204" pitchFamily="34" charset="0"/>
                <a:ea typeface="宋体" pitchFamily="2" charset="-122"/>
              </a:rPr>
              <a:t>数据结构上定义的</a:t>
            </a:r>
            <a:r>
              <a:rPr kumimoji="1" lang="zh-CN" altLang="en-US" sz="2000" b="1" dirty="0">
                <a:solidFill>
                  <a:srgbClr val="FF0000"/>
                </a:solidFill>
                <a:latin typeface="Arial" panose="020B0604020202090204" pitchFamily="34" charset="0"/>
                <a:ea typeface="宋体" pitchFamily="2" charset="-122"/>
              </a:rPr>
              <a:t>基本操作</a:t>
            </a:r>
            <a:r>
              <a:rPr kumimoji="1" lang="en-US" altLang="zh-CN" sz="2000" b="1" dirty="0">
                <a:solidFill>
                  <a:srgbClr val="FF0000"/>
                </a:solidFill>
                <a:latin typeface="Arial" panose="020B0604020202090204" pitchFamily="34" charset="0"/>
                <a:ea typeface="宋体" pitchFamily="2" charset="-122"/>
              </a:rPr>
              <a:t>(</a:t>
            </a:r>
            <a:r>
              <a:rPr kumimoji="1" lang="zh-CN" altLang="en-US" sz="2000" b="1" dirty="0">
                <a:solidFill>
                  <a:srgbClr val="FF0000"/>
                </a:solidFill>
                <a:latin typeface="Arial" panose="020B0604020202090204" pitchFamily="34" charset="0"/>
                <a:ea typeface="宋体" pitchFamily="2" charset="-122"/>
              </a:rPr>
              <a:t>算法</a:t>
            </a:r>
            <a:r>
              <a:rPr kumimoji="1" lang="en-US" altLang="zh-CN" sz="2000" b="1" dirty="0">
                <a:solidFill>
                  <a:srgbClr val="FF0000"/>
                </a:solidFill>
                <a:latin typeface="Arial" panose="020B0604020202090204" pitchFamily="34" charset="0"/>
                <a:ea typeface="宋体" pitchFamily="2" charset="-122"/>
              </a:rPr>
              <a:t>)</a:t>
            </a:r>
            <a:r>
              <a:rPr kumimoji="1" lang="zh-CN" altLang="en-US" sz="2000" b="1" dirty="0">
                <a:latin typeface="Arial" panose="020B0604020202090204" pitchFamily="34" charset="0"/>
                <a:ea typeface="宋体" pitchFamily="2" charset="-122"/>
              </a:rPr>
              <a:t>及其实现</a:t>
            </a:r>
            <a:r>
              <a:rPr kumimoji="1" lang="en-US" altLang="zh-CN" sz="2000" b="1" dirty="0">
                <a:latin typeface="Arial" panose="020B0604020202090204" pitchFamily="34" charset="0"/>
                <a:ea typeface="宋体" pitchFamily="2" charset="-122"/>
              </a:rPr>
              <a:t>; </a:t>
            </a:r>
          </a:p>
          <a:p>
            <a:pPr lvl="1">
              <a:lnSpc>
                <a:spcPts val="2800"/>
              </a:lnSpc>
            </a:pPr>
            <a:r>
              <a:rPr kumimoji="1" lang="zh-CN" altLang="en-US" sz="2000" b="1" dirty="0">
                <a:latin typeface="Arial" panose="020B0604020202090204" pitchFamily="34" charset="0"/>
                <a:ea typeface="宋体" pitchFamily="2" charset="-122"/>
              </a:rPr>
              <a:t>算法的效率（</a:t>
            </a:r>
            <a:r>
              <a:rPr kumimoji="1" lang="zh-CN" altLang="en-US" sz="2000" b="1" dirty="0">
                <a:solidFill>
                  <a:srgbClr val="FF0000"/>
                </a:solidFill>
                <a:latin typeface="Arial" panose="020B0604020202090204" pitchFamily="34" charset="0"/>
                <a:ea typeface="宋体" pitchFamily="2" charset="-122"/>
              </a:rPr>
              <a:t>时间和空间</a:t>
            </a:r>
            <a:r>
              <a:rPr kumimoji="1" lang="zh-CN" altLang="en-US" sz="2000" b="1" dirty="0">
                <a:latin typeface="Arial" panose="020B0604020202090204" pitchFamily="34" charset="0"/>
                <a:ea typeface="宋体" pitchFamily="2" charset="-122"/>
              </a:rPr>
              <a:t>）</a:t>
            </a:r>
            <a:r>
              <a:rPr kumimoji="1" lang="en-US" altLang="zh-CN" sz="2000" b="1" dirty="0">
                <a:latin typeface="Arial" panose="020B0604020202090204" pitchFamily="34" charset="0"/>
                <a:ea typeface="宋体" pitchFamily="2" charset="-122"/>
              </a:rPr>
              <a:t>;</a:t>
            </a:r>
          </a:p>
          <a:p>
            <a:pPr lvl="1">
              <a:lnSpc>
                <a:spcPts val="2800"/>
              </a:lnSpc>
            </a:pPr>
            <a:r>
              <a:rPr kumimoji="1" lang="zh-CN" altLang="en-US" sz="2000" b="1" dirty="0">
                <a:latin typeface="Arial" panose="020B0604020202090204" pitchFamily="34" charset="0"/>
                <a:ea typeface="宋体" pitchFamily="2" charset="-122"/>
              </a:rPr>
              <a:t>数据结构的</a:t>
            </a:r>
            <a:r>
              <a:rPr kumimoji="1" lang="zh-CN" altLang="en-US" sz="2000" b="1" dirty="0">
                <a:solidFill>
                  <a:srgbClr val="FF0000"/>
                </a:solidFill>
                <a:latin typeface="Arial" panose="020B0604020202090204" pitchFamily="34" charset="0"/>
                <a:ea typeface="宋体" pitchFamily="2" charset="-122"/>
              </a:rPr>
              <a:t>应用</a:t>
            </a:r>
            <a:r>
              <a:rPr kumimoji="1" lang="zh-CN" altLang="en-US" sz="2000" b="1" dirty="0">
                <a:latin typeface="Arial" panose="020B0604020202090204" pitchFamily="34" charset="0"/>
                <a:ea typeface="宋体" pitchFamily="2" charset="-122"/>
              </a:rPr>
              <a:t>，如数据分类、检索等。</a:t>
            </a:r>
            <a:endParaRPr kumimoji="1" lang="en-US" altLang="zh-CN" sz="2000" b="1" dirty="0">
              <a:latin typeface="Arial" panose="020B0604020202090204" pitchFamily="34" charset="0"/>
              <a:ea typeface="宋体" pitchFamily="2" charset="-122"/>
            </a:endParaRPr>
          </a:p>
        </p:txBody>
      </p:sp>
      <p:sp>
        <p:nvSpPr>
          <p:cNvPr id="4" name="日期占位符 3"/>
          <p:cNvSpPr>
            <a:spLocks noGrp="1"/>
          </p:cNvSpPr>
          <p:nvPr>
            <p:ph type="dt" sz="half" idx="10"/>
          </p:nvPr>
        </p:nvSpPr>
        <p:spPr/>
        <p:txBody>
          <a:bodyPr/>
          <a:lstStyle/>
          <a:p>
            <a:fld id="{F561DD41-6EC3-4C05-B47E-B21585932072}" type="datetime1">
              <a:rPr lang="zh-CN" altLang="en-US" b="1" smtClean="0">
                <a:solidFill>
                  <a:srgbClr val="F79646">
                    <a:lumMod val="75000"/>
                  </a:srgbClr>
                </a:solidFill>
              </a:rPr>
              <a:t>2025/11/27</a:t>
            </a:fld>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t>19</a:t>
            </a:fld>
            <a:endParaRPr lang="zh-CN" altLang="en-US" b="1" dirty="0">
              <a:solidFill>
                <a:srgbClr val="F79646">
                  <a:lumMod val="75000"/>
                </a:srgbClr>
              </a:solidFill>
            </a:endParaRPr>
          </a:p>
        </p:txBody>
      </p:sp>
      <p:cxnSp>
        <p:nvCxnSpPr>
          <p:cNvPr id="12" name="直接连接符 11"/>
          <p:cNvCxnSpPr/>
          <p:nvPr/>
        </p:nvCxnSpPr>
        <p:spPr>
          <a:xfrm>
            <a:off x="1981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panose="020B0604020202090204" pitchFamily="34" charset="0"/>
                <a:ea typeface="宋体" pitchFamily="2" charset="-122"/>
                <a:cs typeface="+mn-cs"/>
              </a:rPr>
              <a:t>13.2  </a:t>
            </a:r>
            <a:r>
              <a:rPr kumimoji="1" lang="zh-CN" altLang="en-US" sz="3200" b="1" dirty="0">
                <a:latin typeface="Arial" panose="020B0604020202090204" pitchFamily="34" charset="0"/>
                <a:ea typeface="宋体" pitchFamily="2" charset="-122"/>
                <a:cs typeface="+mn-cs"/>
              </a:rPr>
              <a:t>线性表概念及基本操作</a:t>
            </a:r>
          </a:p>
        </p:txBody>
      </p:sp>
      <p:sp>
        <p:nvSpPr>
          <p:cNvPr id="3" name="内容占位符 2"/>
          <p:cNvSpPr>
            <a:spLocks noGrp="1"/>
          </p:cNvSpPr>
          <p:nvPr>
            <p:ph idx="1"/>
          </p:nvPr>
        </p:nvSpPr>
        <p:spPr>
          <a:xfrm>
            <a:off x="1066800" y="1295400"/>
            <a:ext cx="9144000" cy="5105400"/>
          </a:xfrm>
        </p:spPr>
        <p:txBody>
          <a:bodyPr>
            <a:normAutofit/>
          </a:bodyPr>
          <a:lstStyle/>
          <a:p>
            <a:pPr>
              <a:lnSpc>
                <a:spcPts val="3100"/>
              </a:lnSpc>
            </a:pPr>
            <a:r>
              <a:rPr lang="zh-CN" altLang="en-US" sz="2800" b="1" dirty="0"/>
              <a:t>线性表的逻辑结构</a:t>
            </a:r>
            <a:endParaRPr lang="en-US" altLang="zh-CN" sz="2800" b="1" dirty="0"/>
          </a:p>
          <a:p>
            <a:pPr lvl="1">
              <a:lnSpc>
                <a:spcPts val="3100"/>
              </a:lnSpc>
            </a:pPr>
            <a:r>
              <a:rPr lang="zh-CN" altLang="en-US" sz="2400" b="1" dirty="0"/>
              <a:t>线性表的定义：是</a:t>
            </a:r>
            <a:r>
              <a:rPr lang="en-US" altLang="zh-CN" sz="2400" b="1" dirty="0"/>
              <a:t>n </a:t>
            </a:r>
            <a:r>
              <a:rPr lang="zh-CN" altLang="en-US" sz="2400" b="1" dirty="0"/>
              <a:t>个</a:t>
            </a:r>
            <a:r>
              <a:rPr lang="zh-CN" altLang="en-US" sz="2400" b="1" dirty="0">
                <a:solidFill>
                  <a:srgbClr val="FF0000"/>
                </a:solidFill>
              </a:rPr>
              <a:t>类型相同</a:t>
            </a:r>
            <a:r>
              <a:rPr lang="zh-CN" altLang="en-US" sz="2400" b="1" dirty="0"/>
              <a:t>数据元素的有限序列</a:t>
            </a:r>
          </a:p>
          <a:p>
            <a:pPr lvl="1">
              <a:lnSpc>
                <a:spcPts val="3100"/>
              </a:lnSpc>
            </a:pPr>
            <a:r>
              <a:rPr lang="zh-CN" altLang="en-US" sz="2400" b="1" dirty="0"/>
              <a:t>通常记作：</a:t>
            </a:r>
            <a:r>
              <a:rPr lang="en-US" altLang="zh-CN" sz="2400" b="1" dirty="0"/>
              <a:t>L =</a:t>
            </a:r>
            <a:r>
              <a:rPr lang="zh-CN" altLang="en-US" sz="2400" b="1" dirty="0"/>
              <a:t>（</a:t>
            </a:r>
            <a:r>
              <a:rPr lang="en-US" altLang="zh-CN" sz="2400" b="1" dirty="0"/>
              <a:t>a</a:t>
            </a:r>
            <a:r>
              <a:rPr lang="en-US" altLang="zh-CN" sz="2400" b="1" baseline="-25000" dirty="0"/>
              <a:t>1</a:t>
            </a:r>
            <a:r>
              <a:rPr lang="en-US" altLang="zh-CN" sz="2400" b="1" dirty="0"/>
              <a:t>, a</a:t>
            </a:r>
            <a:r>
              <a:rPr lang="en-US" altLang="zh-CN" sz="2400" b="1" baseline="-25000" dirty="0"/>
              <a:t>2</a:t>
            </a:r>
            <a:r>
              <a:rPr lang="en-US" altLang="zh-CN" sz="2400" b="1" dirty="0"/>
              <a:t>, a</a:t>
            </a:r>
            <a:r>
              <a:rPr lang="en-US" altLang="zh-CN" sz="2400" b="1" baseline="-25000" dirty="0"/>
              <a:t>3</a:t>
            </a:r>
            <a:r>
              <a:rPr lang="en-US" altLang="zh-CN" sz="2400" b="1" dirty="0"/>
              <a:t>, …,a</a:t>
            </a:r>
            <a:r>
              <a:rPr lang="en-US" altLang="zh-CN" sz="2400" b="1" baseline="-25000" dirty="0"/>
              <a:t>i-1</a:t>
            </a:r>
            <a:r>
              <a:rPr lang="en-US" altLang="zh-CN" sz="2400" b="1" dirty="0"/>
              <a:t>, </a:t>
            </a:r>
            <a:r>
              <a:rPr lang="en-US" altLang="zh-CN" sz="2400" b="1" dirty="0" err="1"/>
              <a:t>a</a:t>
            </a:r>
            <a:r>
              <a:rPr lang="en-US" altLang="zh-CN" sz="2400" b="1" baseline="-25000" dirty="0" err="1"/>
              <a:t>i</a:t>
            </a:r>
            <a:r>
              <a:rPr lang="en-US" altLang="zh-CN" sz="2400" b="1" dirty="0"/>
              <a:t>, a</a:t>
            </a:r>
            <a:r>
              <a:rPr lang="en-US" altLang="zh-CN" sz="2400" b="1" baseline="-25000" dirty="0"/>
              <a:t>i+1</a:t>
            </a:r>
            <a:r>
              <a:rPr lang="en-US" altLang="zh-CN" sz="2400" b="1" dirty="0"/>
              <a:t>,…, a</a:t>
            </a:r>
            <a:r>
              <a:rPr lang="en-US" altLang="zh-CN" sz="2400" b="1" baseline="-25000" dirty="0"/>
              <a:t>n</a:t>
            </a:r>
            <a:r>
              <a:rPr lang="en-US" altLang="zh-CN" sz="2400" b="1" dirty="0"/>
              <a:t> </a:t>
            </a:r>
            <a:r>
              <a:rPr lang="zh-CN" altLang="en-US" sz="2400" b="1" dirty="0"/>
              <a:t>）；</a:t>
            </a:r>
          </a:p>
          <a:p>
            <a:pPr lvl="1">
              <a:lnSpc>
                <a:spcPts val="3100"/>
              </a:lnSpc>
            </a:pPr>
            <a:r>
              <a:rPr lang="en-US" altLang="zh-CN" sz="2400" b="1" dirty="0" err="1"/>
              <a:t>a</a:t>
            </a:r>
            <a:r>
              <a:rPr lang="en-US" altLang="zh-CN" sz="2400" b="1" baseline="-25000" dirty="0" err="1"/>
              <a:t>i</a:t>
            </a:r>
            <a:r>
              <a:rPr lang="zh-CN" altLang="en-US" sz="2400" b="1" dirty="0"/>
              <a:t>（</a:t>
            </a:r>
            <a:r>
              <a:rPr lang="en-US" altLang="zh-CN" sz="2400" b="1" dirty="0"/>
              <a:t>1≤i≤n</a:t>
            </a:r>
            <a:r>
              <a:rPr lang="zh-CN" altLang="en-US" sz="2400" b="1" dirty="0"/>
              <a:t>）称为数据元素；</a:t>
            </a:r>
            <a:endParaRPr lang="en-US" altLang="zh-CN" sz="2400" b="1" dirty="0"/>
          </a:p>
          <a:p>
            <a:pPr lvl="2">
              <a:lnSpc>
                <a:spcPts val="3100"/>
              </a:lnSpc>
            </a:pPr>
            <a:r>
              <a:rPr lang="zh-CN" altLang="en-US" sz="2000" b="1" dirty="0"/>
              <a:t>下标</a:t>
            </a:r>
            <a:r>
              <a:rPr lang="en-US" altLang="zh-CN" sz="2000" b="1" i="1" dirty="0" err="1"/>
              <a:t>i</a:t>
            </a:r>
            <a:r>
              <a:rPr lang="en-US" altLang="zh-CN" sz="2000" b="1" i="1" dirty="0"/>
              <a:t> </a:t>
            </a:r>
            <a:r>
              <a:rPr lang="zh-CN" altLang="en-US" sz="2000" b="1" dirty="0"/>
              <a:t>表示该元素在线性表中的位置或序号。</a:t>
            </a:r>
            <a:endParaRPr lang="en-US" altLang="zh-CN" sz="2000" b="1" dirty="0"/>
          </a:p>
          <a:p>
            <a:pPr lvl="1">
              <a:lnSpc>
                <a:spcPts val="3100"/>
              </a:lnSpc>
            </a:pPr>
            <a:r>
              <a:rPr lang="en-US" altLang="zh-CN" sz="2400" b="1" dirty="0"/>
              <a:t>n</a:t>
            </a:r>
            <a:r>
              <a:rPr lang="zh-CN" altLang="en-US" sz="2400" b="1" dirty="0"/>
              <a:t>为线性表中元素个数，称为线性表的</a:t>
            </a:r>
            <a:r>
              <a:rPr lang="zh-CN" altLang="en-US" sz="2400" b="1" dirty="0">
                <a:solidFill>
                  <a:srgbClr val="FF0000"/>
                </a:solidFill>
              </a:rPr>
              <a:t>长度</a:t>
            </a:r>
            <a:r>
              <a:rPr lang="zh-CN" altLang="en-US" sz="2400" b="1" dirty="0"/>
              <a:t>；</a:t>
            </a:r>
            <a:endParaRPr lang="en-US" altLang="zh-CN" sz="2400" b="1" dirty="0"/>
          </a:p>
          <a:p>
            <a:pPr lvl="2">
              <a:lnSpc>
                <a:spcPts val="3100"/>
              </a:lnSpc>
            </a:pPr>
            <a:r>
              <a:rPr lang="en-US" altLang="zh-CN" sz="2000" b="1" dirty="0"/>
              <a:t>n=0</a:t>
            </a:r>
            <a:r>
              <a:rPr lang="zh-CN" altLang="en-US" sz="2000" b="1" dirty="0"/>
              <a:t>时为空表，记为</a:t>
            </a:r>
            <a:r>
              <a:rPr lang="en-US" altLang="zh-CN" sz="2000" b="1" dirty="0"/>
              <a:t>L=</a:t>
            </a:r>
            <a:r>
              <a:rPr lang="zh-CN" altLang="en-US" sz="2000" b="1" dirty="0"/>
              <a:t>（ ）。</a:t>
            </a:r>
            <a:endParaRPr lang="en-US" altLang="zh-CN" sz="2000" b="1" dirty="0"/>
          </a:p>
          <a:p>
            <a:pPr lvl="1">
              <a:lnSpc>
                <a:spcPts val="3100"/>
              </a:lnSpc>
            </a:pPr>
            <a:r>
              <a:rPr lang="en-US" altLang="zh-CN" sz="2400" b="1" dirty="0"/>
              <a:t>L</a:t>
            </a:r>
            <a:r>
              <a:rPr lang="zh-CN" altLang="en-US" sz="2400" b="1" dirty="0"/>
              <a:t>的图示表示：</a:t>
            </a:r>
            <a:endParaRPr lang="en-US" altLang="zh-CN" sz="2400" b="1" dirty="0"/>
          </a:p>
          <a:p>
            <a:pPr lvl="1">
              <a:lnSpc>
                <a:spcPts val="3100"/>
              </a:lnSpc>
            </a:pPr>
            <a:r>
              <a:rPr lang="zh-CN" altLang="en-US" sz="2400" b="1" dirty="0"/>
              <a:t>例：</a:t>
            </a:r>
            <a:endParaRPr lang="en-US" altLang="zh-CN" sz="2400" b="1" dirty="0"/>
          </a:p>
          <a:p>
            <a:pPr lvl="2">
              <a:lnSpc>
                <a:spcPts val="3100"/>
              </a:lnSpc>
            </a:pPr>
            <a:r>
              <a:rPr lang="zh-CN" altLang="en-US" sz="2000" b="1" dirty="0"/>
              <a:t>数学中的数列（</a:t>
            </a:r>
            <a:r>
              <a:rPr lang="en-US" altLang="zh-CN" sz="2000" b="1" dirty="0"/>
              <a:t>11</a:t>
            </a:r>
            <a:r>
              <a:rPr lang="zh-CN" altLang="en-US" sz="2000" b="1" dirty="0"/>
              <a:t>，</a:t>
            </a:r>
            <a:r>
              <a:rPr lang="en-US" altLang="zh-CN" sz="2000" b="1" dirty="0"/>
              <a:t>13</a:t>
            </a:r>
            <a:r>
              <a:rPr lang="zh-CN" altLang="en-US" sz="2000" b="1" dirty="0"/>
              <a:t>，</a:t>
            </a:r>
            <a:r>
              <a:rPr lang="en-US" altLang="zh-CN" sz="2000" b="1" dirty="0"/>
              <a:t>15</a:t>
            </a:r>
            <a:r>
              <a:rPr lang="zh-CN" altLang="en-US" sz="2000" b="1" dirty="0"/>
              <a:t>，</a:t>
            </a:r>
            <a:r>
              <a:rPr lang="en-US" altLang="zh-CN" sz="2000" b="1" dirty="0"/>
              <a:t>17</a:t>
            </a:r>
            <a:r>
              <a:rPr lang="zh-CN" altLang="en-US" sz="2000" b="1" dirty="0"/>
              <a:t>，</a:t>
            </a:r>
            <a:r>
              <a:rPr lang="en-US" altLang="zh-CN" sz="2000" b="1" dirty="0"/>
              <a:t>19</a:t>
            </a:r>
            <a:r>
              <a:rPr lang="zh-CN" altLang="en-US" sz="2000" b="1" dirty="0"/>
              <a:t>，</a:t>
            </a:r>
            <a:r>
              <a:rPr lang="en-US" altLang="zh-CN" sz="2000" b="1" dirty="0"/>
              <a:t>21</a:t>
            </a:r>
            <a:r>
              <a:rPr lang="zh-CN" altLang="en-US" sz="2000" b="1" dirty="0"/>
              <a:t>）</a:t>
            </a:r>
            <a:endParaRPr lang="en-US" altLang="zh-CN" sz="2000" b="1" dirty="0"/>
          </a:p>
          <a:p>
            <a:pPr lvl="2">
              <a:lnSpc>
                <a:spcPts val="3100"/>
              </a:lnSpc>
            </a:pPr>
            <a:r>
              <a:rPr lang="zh-CN" altLang="en-US" sz="2000" b="1" dirty="0"/>
              <a:t>英文字母表（</a:t>
            </a:r>
            <a:r>
              <a:rPr lang="en-US" altLang="zh-CN" sz="2000" b="1" dirty="0"/>
              <a:t>A, B, C, D, E,…, Z </a:t>
            </a:r>
            <a:r>
              <a:rPr lang="zh-CN" altLang="en-US" sz="2000" b="1" dirty="0"/>
              <a:t>）</a:t>
            </a:r>
          </a:p>
        </p:txBody>
      </p:sp>
      <p:sp>
        <p:nvSpPr>
          <p:cNvPr id="4" name="日期占位符 3"/>
          <p:cNvSpPr>
            <a:spLocks noGrp="1"/>
          </p:cNvSpPr>
          <p:nvPr>
            <p:ph type="dt" sz="half" idx="10"/>
          </p:nvPr>
        </p:nvSpPr>
        <p:spPr/>
        <p:txBody>
          <a:bodyPr/>
          <a:lstStyle/>
          <a:p>
            <a:fld id="{82C260F3-2F15-4643-BD88-DA7D2CC1FAEE}" type="datetime1">
              <a:rPr lang="zh-CN" altLang="en-US" b="1">
                <a:solidFill>
                  <a:srgbClr val="F79646">
                    <a:lumMod val="75000"/>
                  </a:srgbClr>
                </a:solidFill>
              </a:rPr>
              <a:t>2025/11/27</a:t>
            </a:fld>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t>20</a:t>
            </a:fld>
            <a:endParaRPr lang="zh-CN" altLang="en-US" b="1" dirty="0">
              <a:solidFill>
                <a:srgbClr val="F79646">
                  <a:lumMod val="75000"/>
                </a:srgbClr>
              </a:solidFill>
            </a:endParaRPr>
          </a:p>
        </p:txBody>
      </p:sp>
      <p:cxnSp>
        <p:nvCxnSpPr>
          <p:cNvPr id="12" name="直接连接符 11"/>
          <p:cNvCxnSpPr/>
          <p:nvPr/>
        </p:nvCxnSpPr>
        <p:spPr>
          <a:xfrm>
            <a:off x="1981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27848" y="4581128"/>
            <a:ext cx="5791200" cy="4191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panose="020B0604020202090204" pitchFamily="34" charset="0"/>
                <a:ea typeface="宋体" pitchFamily="2" charset="-122"/>
              </a:rPr>
              <a:t>13.2</a:t>
            </a:r>
            <a:r>
              <a:rPr kumimoji="1" lang="en-US" altLang="zh-CN" sz="3200" b="1" dirty="0">
                <a:latin typeface="Arial" panose="020B0604020202090204" pitchFamily="34" charset="0"/>
                <a:ea typeface="宋体" pitchFamily="2" charset="-122"/>
                <a:cs typeface="+mn-cs"/>
              </a:rPr>
              <a:t>  </a:t>
            </a:r>
            <a:r>
              <a:rPr kumimoji="1" lang="zh-CN" altLang="en-US" sz="3200" b="1" dirty="0">
                <a:latin typeface="Arial" panose="020B0604020202090204" pitchFamily="34" charset="0"/>
                <a:ea typeface="宋体" pitchFamily="2" charset="-122"/>
                <a:cs typeface="+mn-cs"/>
              </a:rPr>
              <a:t>线性表概念及基本操作</a:t>
            </a:r>
          </a:p>
        </p:txBody>
      </p:sp>
      <p:sp>
        <p:nvSpPr>
          <p:cNvPr id="3" name="内容占位符 2"/>
          <p:cNvSpPr>
            <a:spLocks noGrp="1"/>
          </p:cNvSpPr>
          <p:nvPr>
            <p:ph idx="1"/>
          </p:nvPr>
        </p:nvSpPr>
        <p:spPr>
          <a:xfrm>
            <a:off x="990600" y="1371600"/>
            <a:ext cx="9785920" cy="5105400"/>
          </a:xfrm>
        </p:spPr>
        <p:txBody>
          <a:bodyPr>
            <a:normAutofit/>
          </a:bodyPr>
          <a:lstStyle/>
          <a:p>
            <a:pPr marL="342900" lvl="1" indent="-342900">
              <a:lnSpc>
                <a:spcPts val="2900"/>
              </a:lnSpc>
              <a:buFont typeface="Arial" panose="020B0604020202090204" pitchFamily="34" charset="0"/>
              <a:buChar char="•"/>
            </a:pPr>
            <a:r>
              <a:rPr lang="zh-CN" altLang="en-US" b="1" dirty="0"/>
              <a:t>线性表的逻辑特征 </a:t>
            </a:r>
            <a:r>
              <a:rPr lang="en-US" altLang="zh-CN" sz="2400" b="1" dirty="0"/>
              <a:t>L =</a:t>
            </a:r>
            <a:r>
              <a:rPr lang="zh-CN" altLang="en-US" sz="2400" b="1" dirty="0"/>
              <a:t>（</a:t>
            </a:r>
            <a:r>
              <a:rPr lang="en-US" altLang="zh-CN" sz="2400" b="1" dirty="0"/>
              <a:t>a</a:t>
            </a:r>
            <a:r>
              <a:rPr lang="en-US" altLang="zh-CN" sz="2400" b="1" baseline="-25000" dirty="0"/>
              <a:t>1</a:t>
            </a:r>
            <a:r>
              <a:rPr lang="en-US" altLang="zh-CN" sz="2400" b="1" dirty="0"/>
              <a:t>, a</a:t>
            </a:r>
            <a:r>
              <a:rPr lang="en-US" altLang="zh-CN" sz="2400" b="1" baseline="-25000" dirty="0"/>
              <a:t>2</a:t>
            </a:r>
            <a:r>
              <a:rPr lang="en-US" altLang="zh-CN" sz="2400" b="1" dirty="0"/>
              <a:t>, a</a:t>
            </a:r>
            <a:r>
              <a:rPr lang="en-US" altLang="zh-CN" sz="2400" b="1" baseline="-25000" dirty="0"/>
              <a:t>3</a:t>
            </a:r>
            <a:r>
              <a:rPr lang="en-US" altLang="zh-CN" sz="2400" b="1" dirty="0"/>
              <a:t>, …,a</a:t>
            </a:r>
            <a:r>
              <a:rPr lang="en-US" altLang="zh-CN" sz="2400" b="1" baseline="-25000" dirty="0"/>
              <a:t>i-1</a:t>
            </a:r>
            <a:r>
              <a:rPr lang="en-US" altLang="zh-CN" sz="2400" b="1" dirty="0"/>
              <a:t>, </a:t>
            </a:r>
            <a:r>
              <a:rPr lang="en-US" altLang="zh-CN" sz="2400" b="1" dirty="0" err="1"/>
              <a:t>a</a:t>
            </a:r>
            <a:r>
              <a:rPr lang="en-US" altLang="zh-CN" sz="2400" b="1" baseline="-25000" dirty="0" err="1"/>
              <a:t>i</a:t>
            </a:r>
            <a:r>
              <a:rPr lang="en-US" altLang="zh-CN" sz="2400" b="1" dirty="0"/>
              <a:t>, a</a:t>
            </a:r>
            <a:r>
              <a:rPr lang="en-US" altLang="zh-CN" sz="2400" b="1" baseline="-25000" dirty="0"/>
              <a:t>i+1</a:t>
            </a:r>
            <a:r>
              <a:rPr lang="en-US" altLang="zh-CN" sz="2400" b="1" dirty="0"/>
              <a:t>,…, a</a:t>
            </a:r>
            <a:r>
              <a:rPr lang="en-US" altLang="zh-CN" sz="2400" b="1" baseline="-25000" dirty="0"/>
              <a:t>n</a:t>
            </a:r>
            <a:r>
              <a:rPr lang="en-US" altLang="zh-CN" sz="2400" b="1" dirty="0"/>
              <a:t> </a:t>
            </a:r>
            <a:r>
              <a:rPr lang="zh-CN" altLang="en-US" sz="2400" b="1" dirty="0"/>
              <a:t>）</a:t>
            </a:r>
            <a:endParaRPr lang="zh-CN" altLang="en-US" sz="2000" b="1" dirty="0"/>
          </a:p>
          <a:p>
            <a:pPr lvl="1">
              <a:lnSpc>
                <a:spcPts val="2900"/>
              </a:lnSpc>
            </a:pPr>
            <a:r>
              <a:rPr lang="zh-CN" altLang="en-US" sz="2400" b="1" dirty="0">
                <a:solidFill>
                  <a:srgbClr val="FF0000"/>
                </a:solidFill>
              </a:rPr>
              <a:t>有限性</a:t>
            </a:r>
            <a:r>
              <a:rPr lang="zh-CN" altLang="en-US" sz="2400" b="1" dirty="0"/>
              <a:t>：</a:t>
            </a:r>
            <a:endParaRPr lang="en-US" altLang="zh-CN" sz="2400" b="1" dirty="0"/>
          </a:p>
          <a:p>
            <a:pPr lvl="2">
              <a:lnSpc>
                <a:spcPts val="2900"/>
              </a:lnSpc>
            </a:pPr>
            <a:r>
              <a:rPr lang="zh-CN" altLang="en-US" sz="2000" b="1" dirty="0"/>
              <a:t>线性表中数据元素的个数是有穷的。</a:t>
            </a:r>
            <a:endParaRPr lang="en-US" altLang="zh-CN" sz="2000" b="1" dirty="0"/>
          </a:p>
          <a:p>
            <a:pPr lvl="1">
              <a:lnSpc>
                <a:spcPts val="2900"/>
              </a:lnSpc>
            </a:pPr>
            <a:r>
              <a:rPr lang="zh-CN" altLang="en-US" sz="2400" b="1" dirty="0">
                <a:solidFill>
                  <a:srgbClr val="FF0000"/>
                </a:solidFill>
              </a:rPr>
              <a:t>相同性</a:t>
            </a:r>
            <a:r>
              <a:rPr lang="zh-CN" altLang="en-US" sz="2400" b="1" dirty="0"/>
              <a:t>：</a:t>
            </a:r>
            <a:endParaRPr lang="en-US" altLang="zh-CN" sz="2400" b="1" dirty="0"/>
          </a:p>
          <a:p>
            <a:pPr lvl="2">
              <a:lnSpc>
                <a:spcPts val="2900"/>
              </a:lnSpc>
            </a:pPr>
            <a:r>
              <a:rPr lang="en-US" altLang="zh-CN" sz="2000" b="1" dirty="0" err="1"/>
              <a:t>a</a:t>
            </a:r>
            <a:r>
              <a:rPr lang="en-US" altLang="zh-CN" sz="2000" b="1" baseline="-25000" dirty="0" err="1"/>
              <a:t>i</a:t>
            </a:r>
            <a:r>
              <a:rPr lang="zh-CN" altLang="en-US" sz="2000" b="1" dirty="0"/>
              <a:t>为线性表中的元素，元素类型相同。 </a:t>
            </a:r>
            <a:endParaRPr lang="en-US" altLang="zh-CN" sz="2000" b="1" dirty="0"/>
          </a:p>
          <a:p>
            <a:pPr lvl="1">
              <a:lnSpc>
                <a:spcPts val="2900"/>
              </a:lnSpc>
            </a:pPr>
            <a:r>
              <a:rPr lang="zh-CN" altLang="en-US" sz="2400" b="1" dirty="0">
                <a:solidFill>
                  <a:srgbClr val="FF0000"/>
                </a:solidFill>
              </a:rPr>
              <a:t>相继性</a:t>
            </a:r>
            <a:r>
              <a:rPr lang="zh-CN" altLang="en-US" sz="2400" b="1" dirty="0"/>
              <a:t>：</a:t>
            </a:r>
            <a:endParaRPr lang="en-US" altLang="zh-CN" sz="2400" b="1" dirty="0"/>
          </a:p>
          <a:p>
            <a:pPr lvl="2">
              <a:lnSpc>
                <a:spcPts val="2900"/>
              </a:lnSpc>
            </a:pPr>
            <a:r>
              <a:rPr lang="en-US" altLang="zh-CN" sz="2000" b="1" dirty="0"/>
              <a:t>a</a:t>
            </a:r>
            <a:r>
              <a:rPr lang="en-US" altLang="zh-CN" sz="2000" b="1" baseline="-25000" dirty="0"/>
              <a:t>1</a:t>
            </a:r>
            <a:r>
              <a:rPr lang="zh-CN" altLang="en-US" sz="2000" b="1" dirty="0"/>
              <a:t>为表中</a:t>
            </a:r>
            <a:r>
              <a:rPr lang="zh-CN" altLang="en-US" sz="2000" b="1" dirty="0">
                <a:solidFill>
                  <a:srgbClr val="FF0000"/>
                </a:solidFill>
              </a:rPr>
              <a:t>第一个</a:t>
            </a:r>
            <a:r>
              <a:rPr lang="zh-CN" altLang="en-US" sz="2000" b="1" dirty="0"/>
              <a:t>元素，无</a:t>
            </a:r>
            <a:r>
              <a:rPr lang="zh-CN" altLang="en-US" sz="2000" b="1" dirty="0">
                <a:solidFill>
                  <a:srgbClr val="FF0000"/>
                </a:solidFill>
              </a:rPr>
              <a:t>前驱</a:t>
            </a:r>
            <a:r>
              <a:rPr lang="zh-CN" altLang="en-US" sz="2000" b="1" dirty="0"/>
              <a:t>元素；</a:t>
            </a:r>
            <a:r>
              <a:rPr lang="en-US" altLang="zh-CN" sz="2000" b="1" dirty="0"/>
              <a:t>a</a:t>
            </a:r>
            <a:r>
              <a:rPr lang="en-US" altLang="zh-CN" sz="2000" b="1" baseline="-25000" dirty="0"/>
              <a:t>n</a:t>
            </a:r>
            <a:r>
              <a:rPr lang="zh-CN" altLang="en-US" sz="2000" b="1" dirty="0"/>
              <a:t>为表中</a:t>
            </a:r>
            <a:r>
              <a:rPr lang="zh-CN" altLang="en-US" sz="2000" b="1" dirty="0">
                <a:solidFill>
                  <a:srgbClr val="FF0000"/>
                </a:solidFill>
              </a:rPr>
              <a:t>最后一个</a:t>
            </a:r>
            <a:r>
              <a:rPr lang="zh-CN" altLang="en-US" sz="2000" b="1" dirty="0"/>
              <a:t> 元素，无</a:t>
            </a:r>
            <a:r>
              <a:rPr lang="zh-CN" altLang="en-US" sz="2000" b="1" dirty="0">
                <a:solidFill>
                  <a:srgbClr val="FF0000"/>
                </a:solidFill>
              </a:rPr>
              <a:t>后继</a:t>
            </a:r>
            <a:r>
              <a:rPr lang="zh-CN" altLang="en-US" sz="2000" b="1" dirty="0"/>
              <a:t>元素； </a:t>
            </a:r>
            <a:endParaRPr lang="en-US" altLang="zh-CN" sz="2000" b="1" dirty="0"/>
          </a:p>
          <a:p>
            <a:pPr lvl="2">
              <a:lnSpc>
                <a:spcPts val="2900"/>
              </a:lnSpc>
            </a:pPr>
            <a:r>
              <a:rPr lang="zh-CN" altLang="en-US" sz="2000" b="1" dirty="0"/>
              <a:t>对于</a:t>
            </a:r>
            <a:r>
              <a:rPr lang="en-US" altLang="zh-CN" sz="2000" b="1" dirty="0"/>
              <a:t>…a</a:t>
            </a:r>
            <a:r>
              <a:rPr lang="en-US" altLang="zh-CN" sz="2000" b="1" baseline="-25000" dirty="0"/>
              <a:t>i-1</a:t>
            </a:r>
            <a:r>
              <a:rPr lang="en-US" altLang="zh-CN" sz="2000" b="1" dirty="0"/>
              <a:t>,a</a:t>
            </a:r>
            <a:r>
              <a:rPr lang="en-US" altLang="zh-CN" sz="2000" b="1" baseline="-25000" dirty="0"/>
              <a:t>i</a:t>
            </a:r>
            <a:r>
              <a:rPr lang="en-US" altLang="zh-CN" sz="2000" b="1" dirty="0"/>
              <a:t>,a</a:t>
            </a:r>
            <a:r>
              <a:rPr lang="en-US" altLang="zh-CN" sz="2000" b="1" baseline="-25000" dirty="0"/>
              <a:t>i+1</a:t>
            </a:r>
            <a:r>
              <a:rPr lang="en-US" altLang="zh-CN" sz="2000" b="1" dirty="0"/>
              <a:t>…(1&lt;</a:t>
            </a:r>
            <a:r>
              <a:rPr lang="en-US" altLang="zh-CN" sz="2000" b="1" dirty="0" err="1"/>
              <a:t>i</a:t>
            </a:r>
            <a:r>
              <a:rPr lang="en-US" altLang="zh-CN" sz="2000" b="1" dirty="0"/>
              <a:t>&lt;n)</a:t>
            </a:r>
            <a:r>
              <a:rPr lang="zh-CN" altLang="en-US" sz="2000" b="1" dirty="0"/>
              <a:t>，称</a:t>
            </a:r>
            <a:r>
              <a:rPr lang="en-US" altLang="zh-CN" sz="2000" b="1" dirty="0"/>
              <a:t>a</a:t>
            </a:r>
            <a:r>
              <a:rPr lang="en-US" altLang="zh-CN" sz="2000" b="1" baseline="-25000" dirty="0"/>
              <a:t>i-1</a:t>
            </a:r>
            <a:r>
              <a:rPr lang="zh-CN" altLang="en-US" sz="2000" b="1" dirty="0"/>
              <a:t>为</a:t>
            </a:r>
            <a:r>
              <a:rPr lang="en-US" altLang="zh-CN" sz="2000" b="1" dirty="0" err="1"/>
              <a:t>a</a:t>
            </a:r>
            <a:r>
              <a:rPr lang="en-US" altLang="zh-CN" sz="2000" b="1" baseline="-25000" dirty="0" err="1"/>
              <a:t>i</a:t>
            </a:r>
            <a:r>
              <a:rPr lang="zh-CN" altLang="en-US" sz="2000" b="1" dirty="0"/>
              <a:t>的</a:t>
            </a:r>
            <a:r>
              <a:rPr lang="zh-CN" altLang="en-US" sz="2000" b="1" dirty="0">
                <a:solidFill>
                  <a:srgbClr val="FF0000"/>
                </a:solidFill>
              </a:rPr>
              <a:t>直接前驱</a:t>
            </a:r>
            <a:r>
              <a:rPr lang="zh-CN" altLang="en-US" sz="2000" b="1" dirty="0"/>
              <a:t>，</a:t>
            </a:r>
            <a:r>
              <a:rPr lang="en-US" altLang="zh-CN" sz="2000" b="1" dirty="0"/>
              <a:t>a</a:t>
            </a:r>
            <a:r>
              <a:rPr lang="en-US" altLang="zh-CN" sz="2000" b="1" baseline="-25000" dirty="0"/>
              <a:t>i+1</a:t>
            </a:r>
            <a:r>
              <a:rPr lang="en-US" altLang="zh-CN" sz="2000" b="1" dirty="0"/>
              <a:t> </a:t>
            </a:r>
            <a:r>
              <a:rPr lang="zh-CN" altLang="en-US" sz="2000" b="1" dirty="0"/>
              <a:t>为</a:t>
            </a:r>
            <a:r>
              <a:rPr lang="en-US" altLang="zh-CN" sz="2000" b="1" dirty="0" err="1"/>
              <a:t>a</a:t>
            </a:r>
            <a:r>
              <a:rPr lang="en-US" altLang="zh-CN" sz="2000" b="1" baseline="-25000" dirty="0" err="1"/>
              <a:t>i</a:t>
            </a:r>
            <a:r>
              <a:rPr lang="zh-CN" altLang="en-US" sz="2000" b="1" dirty="0"/>
              <a:t>的</a:t>
            </a:r>
            <a:r>
              <a:rPr lang="zh-CN" altLang="en-US" sz="2000" b="1" dirty="0">
                <a:solidFill>
                  <a:srgbClr val="FF0000"/>
                </a:solidFill>
              </a:rPr>
              <a:t>直接后继</a:t>
            </a:r>
            <a:r>
              <a:rPr lang="zh-CN" altLang="en-US" sz="2000" b="1" dirty="0"/>
              <a:t>；</a:t>
            </a:r>
            <a:endParaRPr lang="en-US" altLang="zh-CN" sz="2000" b="1" dirty="0"/>
          </a:p>
          <a:p>
            <a:pPr lvl="2">
              <a:lnSpc>
                <a:spcPts val="2900"/>
              </a:lnSpc>
            </a:pPr>
            <a:r>
              <a:rPr lang="zh-CN" altLang="en-US" sz="2000" b="1" dirty="0"/>
              <a:t>在线性表中，除第一个元素和最后一个元素之外，其它元素都有且仅有一个直接前驱，有且仅有一个直接后继；</a:t>
            </a:r>
            <a:endParaRPr lang="en-US" altLang="zh-CN" sz="2000" b="1" dirty="0"/>
          </a:p>
          <a:p>
            <a:pPr lvl="2">
              <a:lnSpc>
                <a:spcPts val="2900"/>
              </a:lnSpc>
            </a:pPr>
            <a:r>
              <a:rPr lang="zh-CN" altLang="en-US" sz="2000" b="1" dirty="0"/>
              <a:t>中间不能有缺项。</a:t>
            </a:r>
            <a:endParaRPr lang="en-US" altLang="zh-CN" sz="2000" b="1" dirty="0"/>
          </a:p>
        </p:txBody>
      </p:sp>
      <p:sp>
        <p:nvSpPr>
          <p:cNvPr id="4" name="日期占位符 3"/>
          <p:cNvSpPr>
            <a:spLocks noGrp="1"/>
          </p:cNvSpPr>
          <p:nvPr>
            <p:ph type="dt" sz="half" idx="10"/>
          </p:nvPr>
        </p:nvSpPr>
        <p:spPr/>
        <p:txBody>
          <a:bodyPr/>
          <a:lstStyle/>
          <a:p>
            <a:fld id="{82C260F3-2F15-4643-BD88-DA7D2CC1FAEE}" type="datetime1">
              <a:rPr lang="zh-CN" altLang="en-US" b="1">
                <a:solidFill>
                  <a:srgbClr val="F79646">
                    <a:lumMod val="75000"/>
                  </a:srgbClr>
                </a:solidFill>
              </a:rPr>
              <a:t>2025/11/27</a:t>
            </a:fld>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t>21</a:t>
            </a:fld>
            <a:endParaRPr lang="zh-CN" altLang="en-US" b="1" dirty="0">
              <a:solidFill>
                <a:srgbClr val="F79646">
                  <a:lumMod val="75000"/>
                </a:srgbClr>
              </a:solidFill>
            </a:endParaRPr>
          </a:p>
        </p:txBody>
      </p:sp>
      <p:cxnSp>
        <p:nvCxnSpPr>
          <p:cNvPr id="12" name="直接连接符 11"/>
          <p:cNvCxnSpPr/>
          <p:nvPr/>
        </p:nvCxnSpPr>
        <p:spPr>
          <a:xfrm>
            <a:off x="1981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panose="020B0604020202090204" pitchFamily="34" charset="0"/>
                <a:ea typeface="宋体" pitchFamily="2" charset="-122"/>
                <a:cs typeface="+mn-cs"/>
              </a:rPr>
              <a:t>13.2 </a:t>
            </a:r>
            <a:r>
              <a:rPr kumimoji="1" lang="zh-CN" altLang="en-US" sz="3200" b="1" dirty="0">
                <a:latin typeface="Arial" panose="020B0604020202090204" pitchFamily="34" charset="0"/>
                <a:ea typeface="宋体" pitchFamily="2" charset="-122"/>
                <a:cs typeface="+mn-cs"/>
              </a:rPr>
              <a:t>线性表概念及基本操作</a:t>
            </a:r>
          </a:p>
        </p:txBody>
      </p:sp>
      <p:sp>
        <p:nvSpPr>
          <p:cNvPr id="4" name="日期占位符 3"/>
          <p:cNvSpPr>
            <a:spLocks noGrp="1"/>
          </p:cNvSpPr>
          <p:nvPr>
            <p:ph type="dt" sz="half" idx="10"/>
          </p:nvPr>
        </p:nvSpPr>
        <p:spPr/>
        <p:txBody>
          <a:bodyPr/>
          <a:lstStyle/>
          <a:p>
            <a:fld id="{58E92E56-AF91-4A47-8C1F-4674F9CFBDAB}" type="datetime1">
              <a:rPr lang="zh-CN" altLang="en-US" b="1" smtClean="0">
                <a:solidFill>
                  <a:srgbClr val="F79646">
                    <a:lumMod val="75000"/>
                  </a:srgbClr>
                </a:solidFill>
              </a:rPr>
              <a:t>2025/11/27</a:t>
            </a:fld>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t>22</a:t>
            </a:fld>
            <a:endParaRPr lang="zh-CN" altLang="en-US" b="1" dirty="0">
              <a:solidFill>
                <a:srgbClr val="F79646">
                  <a:lumMod val="75000"/>
                </a:srgbClr>
              </a:solidFill>
            </a:endParaRPr>
          </a:p>
        </p:txBody>
      </p:sp>
      <p:cxnSp>
        <p:nvCxnSpPr>
          <p:cNvPr id="12" name="直接连接符 11"/>
          <p:cNvCxnSpPr/>
          <p:nvPr/>
        </p:nvCxnSpPr>
        <p:spPr>
          <a:xfrm>
            <a:off x="1981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 Box 3"/>
          <p:cNvSpPr txBox="1">
            <a:spLocks noChangeArrowheads="1"/>
          </p:cNvSpPr>
          <p:nvPr/>
        </p:nvSpPr>
        <p:spPr bwMode="auto">
          <a:xfrm>
            <a:off x="2783632" y="1609324"/>
            <a:ext cx="5187936" cy="10178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defRPr kumimoji="1" sz="2400" b="1">
                <a:solidFill>
                  <a:schemeClr val="tx1"/>
                </a:solidFill>
                <a:latin typeface="Times New Roman" panose="02020503050405090304" pitchFamily="18" charset="0"/>
                <a:ea typeface="宋体" pitchFamily="2" charset="-122"/>
              </a:defRPr>
            </a:lvl1pPr>
            <a:lvl2pPr marL="742950" indent="-285750">
              <a:defRPr kumimoji="1" sz="2400" b="1">
                <a:solidFill>
                  <a:schemeClr val="tx1"/>
                </a:solidFill>
                <a:latin typeface="Times New Roman" panose="02020503050405090304" pitchFamily="18" charset="0"/>
                <a:ea typeface="宋体" pitchFamily="2" charset="-122"/>
              </a:defRPr>
            </a:lvl2pPr>
            <a:lvl3pPr marL="1143000" indent="-228600">
              <a:defRPr kumimoji="1" sz="2400" b="1">
                <a:solidFill>
                  <a:schemeClr val="tx1"/>
                </a:solidFill>
                <a:latin typeface="Times New Roman" panose="02020503050405090304" pitchFamily="18" charset="0"/>
                <a:ea typeface="宋体" pitchFamily="2" charset="-122"/>
              </a:defRPr>
            </a:lvl3pPr>
            <a:lvl4pPr marL="1600200" indent="-228600">
              <a:defRPr kumimoji="1" sz="2400" b="1">
                <a:solidFill>
                  <a:schemeClr val="tx1"/>
                </a:solidFill>
                <a:latin typeface="Times New Roman" panose="02020503050405090304" pitchFamily="18" charset="0"/>
                <a:ea typeface="宋体" pitchFamily="2" charset="-122"/>
              </a:defRPr>
            </a:lvl4pPr>
            <a:lvl5pPr marL="2057400" indent="-228600">
              <a:defRPr kumimoji="1" sz="2400" b="1">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503050405090304" pitchFamily="18" charset="0"/>
                <a:ea typeface="宋体" pitchFamily="2" charset="-122"/>
              </a:defRPr>
            </a:lvl9pPr>
          </a:lstStyle>
          <a:p>
            <a:pPr eaLnBrk="1" hangingPunct="1"/>
            <a:r>
              <a:rPr lang="zh-CN" altLang="en-US" sz="2000" dirty="0"/>
              <a:t>线性表  </a:t>
            </a:r>
            <a:r>
              <a:rPr lang="en-US" altLang="zh-CN" sz="2000" dirty="0"/>
              <a:t>LIST = ( D ,  R)</a:t>
            </a:r>
          </a:p>
          <a:p>
            <a:pPr eaLnBrk="1" hangingPunct="1"/>
            <a:r>
              <a:rPr lang="en-US" altLang="zh-CN" sz="2000" dirty="0"/>
              <a:t>D = { </a:t>
            </a:r>
            <a:r>
              <a:rPr lang="en-US" altLang="zh-CN" sz="2000" dirty="0" err="1"/>
              <a:t>a</a:t>
            </a:r>
            <a:r>
              <a:rPr lang="en-US" altLang="zh-CN" sz="2000" baseline="-25000" dirty="0" err="1"/>
              <a:t>i</a:t>
            </a:r>
            <a:r>
              <a:rPr lang="en-US" altLang="zh-CN" sz="2000" dirty="0"/>
              <a:t> | </a:t>
            </a:r>
            <a:r>
              <a:rPr lang="en-US" altLang="zh-CN" sz="2000" dirty="0" err="1"/>
              <a:t>a</a:t>
            </a:r>
            <a:r>
              <a:rPr lang="en-US" altLang="zh-CN" sz="2000" baseline="-25000" dirty="0" err="1"/>
              <a:t>i</a:t>
            </a:r>
            <a:r>
              <a:rPr lang="en-US" altLang="zh-CN" sz="2000" dirty="0"/>
              <a:t> ∈</a:t>
            </a:r>
            <a:r>
              <a:rPr lang="en-US" altLang="zh-CN" sz="2000" dirty="0" err="1"/>
              <a:t>Elementset</a:t>
            </a:r>
            <a:r>
              <a:rPr lang="en-US" altLang="zh-CN" sz="2000" dirty="0"/>
              <a:t> , </a:t>
            </a:r>
            <a:r>
              <a:rPr lang="en-US" altLang="zh-CN" sz="2000" dirty="0" err="1"/>
              <a:t>i</a:t>
            </a:r>
            <a:r>
              <a:rPr lang="en-US" altLang="zh-CN" sz="2000" dirty="0"/>
              <a:t> = 1, 2, …, n, n ≥ 0 }</a:t>
            </a:r>
          </a:p>
          <a:p>
            <a:pPr eaLnBrk="1" hangingPunct="1"/>
            <a:r>
              <a:rPr lang="en-US" altLang="zh-CN" sz="2000" dirty="0"/>
              <a:t>R = { &lt;a</a:t>
            </a:r>
            <a:r>
              <a:rPr lang="en-US" altLang="zh-CN" sz="2000" baseline="-25000" dirty="0"/>
              <a:t>i-1</a:t>
            </a:r>
            <a:r>
              <a:rPr lang="en-US" altLang="zh-CN" sz="2000" dirty="0"/>
              <a:t>, </a:t>
            </a:r>
            <a:r>
              <a:rPr lang="en-US" altLang="zh-CN" sz="2000" dirty="0" err="1"/>
              <a:t>a</a:t>
            </a:r>
            <a:r>
              <a:rPr lang="en-US" altLang="zh-CN" sz="2000" baseline="-25000" dirty="0" err="1"/>
              <a:t>i</a:t>
            </a:r>
            <a:r>
              <a:rPr lang="en-US" altLang="zh-CN" sz="2000" dirty="0"/>
              <a:t>&gt; | a</a:t>
            </a:r>
            <a:r>
              <a:rPr lang="en-US" altLang="zh-CN" sz="2000" baseline="-25000" dirty="0"/>
              <a:t>i-1</a:t>
            </a:r>
            <a:r>
              <a:rPr lang="en-US" altLang="zh-CN" sz="2000" dirty="0"/>
              <a:t>, </a:t>
            </a:r>
            <a:r>
              <a:rPr lang="en-US" altLang="zh-CN" sz="2000" dirty="0" err="1"/>
              <a:t>a</a:t>
            </a:r>
            <a:r>
              <a:rPr lang="en-US" altLang="zh-CN" sz="2000" baseline="-25000" dirty="0" err="1"/>
              <a:t>i</a:t>
            </a:r>
            <a:r>
              <a:rPr lang="en-US" altLang="zh-CN" sz="2000" dirty="0"/>
              <a:t> ∈ D ,  </a:t>
            </a:r>
            <a:r>
              <a:rPr lang="en-US" altLang="zh-CN" sz="2000" dirty="0" err="1"/>
              <a:t>i</a:t>
            </a:r>
            <a:r>
              <a:rPr lang="en-US" altLang="zh-CN" sz="2000" dirty="0"/>
              <a:t> = 2 , … , n }</a:t>
            </a:r>
          </a:p>
        </p:txBody>
      </p:sp>
      <p:sp>
        <p:nvSpPr>
          <p:cNvPr id="14" name="Text Box 4"/>
          <p:cNvSpPr txBox="1">
            <a:spLocks noChangeArrowheads="1"/>
          </p:cNvSpPr>
          <p:nvPr/>
        </p:nvSpPr>
        <p:spPr bwMode="auto">
          <a:xfrm>
            <a:off x="1376362" y="3011487"/>
            <a:ext cx="9977438" cy="31815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a:defRPr kumimoji="1" sz="2400" b="1">
                <a:solidFill>
                  <a:schemeClr val="tx1"/>
                </a:solidFill>
                <a:latin typeface="Times New Roman" panose="02020503050405090304" pitchFamily="18" charset="0"/>
                <a:ea typeface="宋体" pitchFamily="2" charset="-122"/>
              </a:defRPr>
            </a:lvl1pPr>
            <a:lvl2pPr marL="742950" indent="-285750">
              <a:defRPr kumimoji="1" sz="2400" b="1">
                <a:solidFill>
                  <a:schemeClr val="tx1"/>
                </a:solidFill>
                <a:latin typeface="Times New Roman" panose="02020503050405090304" pitchFamily="18" charset="0"/>
                <a:ea typeface="宋体" pitchFamily="2" charset="-122"/>
              </a:defRPr>
            </a:lvl2pPr>
            <a:lvl3pPr marL="1143000" indent="-228600">
              <a:defRPr kumimoji="1" sz="2400" b="1">
                <a:solidFill>
                  <a:schemeClr val="tx1"/>
                </a:solidFill>
                <a:latin typeface="Times New Roman" panose="02020503050405090304" pitchFamily="18" charset="0"/>
                <a:ea typeface="宋体" pitchFamily="2" charset="-122"/>
              </a:defRPr>
            </a:lvl3pPr>
            <a:lvl4pPr marL="1600200" indent="-228600">
              <a:defRPr kumimoji="1" sz="2400" b="1">
                <a:solidFill>
                  <a:schemeClr val="tx1"/>
                </a:solidFill>
                <a:latin typeface="Times New Roman" panose="02020503050405090304" pitchFamily="18" charset="0"/>
                <a:ea typeface="宋体" pitchFamily="2" charset="-122"/>
              </a:defRPr>
            </a:lvl4pPr>
            <a:lvl5pPr marL="2057400" indent="-228600">
              <a:defRPr kumimoji="1" sz="2400" b="1">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503050405090304" pitchFamily="18" charset="0"/>
                <a:ea typeface="宋体" pitchFamily="2" charset="-122"/>
              </a:defRPr>
            </a:lvl9pPr>
          </a:lstStyle>
          <a:p>
            <a:pPr eaLnBrk="1" hangingPunct="1">
              <a:lnSpc>
                <a:spcPct val="110000"/>
              </a:lnSpc>
            </a:pPr>
            <a:r>
              <a:rPr lang="en-US" altLang="zh-CN" dirty="0">
                <a:solidFill>
                  <a:srgbClr val="0000CC"/>
                </a:solidFill>
              </a:rPr>
              <a:t> </a:t>
            </a:r>
            <a:r>
              <a:rPr lang="zh-CN" altLang="en-US" sz="2000" dirty="0">
                <a:solidFill>
                  <a:srgbClr val="0000CC"/>
                </a:solidFill>
              </a:rPr>
              <a:t>操作：</a:t>
            </a:r>
            <a:r>
              <a:rPr lang="zh-CN" altLang="en-US" sz="2000" dirty="0"/>
              <a:t>设</a:t>
            </a:r>
            <a:r>
              <a:rPr lang="en-US" altLang="zh-CN" sz="2000" dirty="0"/>
              <a:t>L</a:t>
            </a:r>
            <a:r>
              <a:rPr lang="zh-CN" altLang="en-US" sz="2000" dirty="0"/>
              <a:t>的型为</a:t>
            </a:r>
            <a:r>
              <a:rPr lang="en-US" altLang="zh-CN" sz="2000" dirty="0"/>
              <a:t>LIST</a:t>
            </a:r>
            <a:r>
              <a:rPr lang="zh-CN" altLang="en-US" sz="2000" dirty="0"/>
              <a:t>线性表实例，</a:t>
            </a:r>
            <a:r>
              <a:rPr lang="en-US" altLang="zh-CN" sz="2000" dirty="0"/>
              <a:t>e</a:t>
            </a:r>
            <a:r>
              <a:rPr lang="zh-CN" altLang="en-US" sz="2000" dirty="0"/>
              <a:t> 的型为</a:t>
            </a:r>
            <a:r>
              <a:rPr lang="en-US" altLang="zh-CN" sz="2000" dirty="0" err="1"/>
              <a:t>ElementType</a:t>
            </a:r>
            <a:r>
              <a:rPr lang="zh-CN" altLang="en-US" sz="2000" dirty="0"/>
              <a:t>的元素实例，</a:t>
            </a:r>
            <a:r>
              <a:rPr lang="en-US" altLang="zh-CN" sz="2000" dirty="0"/>
              <a:t>p </a:t>
            </a:r>
            <a:r>
              <a:rPr lang="zh-CN" altLang="en-US" sz="2000" dirty="0"/>
              <a:t>为位置变量。所有操作描述为（</a:t>
            </a:r>
            <a:r>
              <a:rPr lang="zh-CN" altLang="en-US" sz="2000" dirty="0">
                <a:solidFill>
                  <a:srgbClr val="C00000"/>
                </a:solidFill>
              </a:rPr>
              <a:t>这里我们用</a:t>
            </a:r>
            <a:r>
              <a:rPr lang="en-US" altLang="zh-CN" sz="2000" dirty="0">
                <a:solidFill>
                  <a:srgbClr val="C00000"/>
                </a:solidFill>
              </a:rPr>
              <a:t>&amp;</a:t>
            </a:r>
            <a:r>
              <a:rPr lang="zh-CN" altLang="en-US" sz="2000" dirty="0">
                <a:solidFill>
                  <a:srgbClr val="C00000"/>
                </a:solidFill>
              </a:rPr>
              <a:t>代表该参数为地址传递，比如用数组来传递</a:t>
            </a:r>
            <a:r>
              <a:rPr lang="zh-CN" altLang="en-US" sz="2000" dirty="0"/>
              <a:t>）：</a:t>
            </a:r>
          </a:p>
          <a:p>
            <a:pPr eaLnBrk="1" hangingPunct="1">
              <a:lnSpc>
                <a:spcPct val="110000"/>
              </a:lnSpc>
            </a:pPr>
            <a:r>
              <a:rPr lang="zh-CN" altLang="en-US" sz="2000" dirty="0"/>
              <a:t>               ①  </a:t>
            </a:r>
            <a:r>
              <a:rPr lang="en-US" altLang="zh-CN" sz="2000" dirty="0" err="1"/>
              <a:t>ListInsert</a:t>
            </a:r>
            <a:r>
              <a:rPr lang="en-US" altLang="zh-CN" sz="2000" dirty="0"/>
              <a:t>(&amp;L, p, e)</a:t>
            </a:r>
            <a:r>
              <a:rPr lang="zh-CN" altLang="en-US" sz="2000" dirty="0"/>
              <a:t>；  插入</a:t>
            </a:r>
            <a:endParaRPr lang="en-US" altLang="zh-CN" sz="2000" dirty="0"/>
          </a:p>
          <a:p>
            <a:pPr eaLnBrk="1" hangingPunct="1">
              <a:lnSpc>
                <a:spcPct val="110000"/>
              </a:lnSpc>
            </a:pPr>
            <a:r>
              <a:rPr lang="en-US" altLang="zh-CN" sz="2000" dirty="0"/>
              <a:t>               ②  </a:t>
            </a:r>
            <a:r>
              <a:rPr lang="en-US" altLang="zh-CN" sz="2000" dirty="0" err="1"/>
              <a:t>LocateElem</a:t>
            </a:r>
            <a:r>
              <a:rPr lang="en-US" altLang="zh-CN" sz="2000" dirty="0"/>
              <a:t>(L,</a:t>
            </a:r>
            <a:r>
              <a:rPr lang="zh-CN" altLang="en-US" sz="2000" dirty="0"/>
              <a:t> </a:t>
            </a:r>
            <a:r>
              <a:rPr lang="en-US" altLang="zh-CN" sz="2000" dirty="0"/>
              <a:t>e, Compare())</a:t>
            </a:r>
            <a:r>
              <a:rPr lang="zh-CN" altLang="en-US" sz="2000" dirty="0"/>
              <a:t>；查找</a:t>
            </a:r>
            <a:endParaRPr lang="en-US" altLang="zh-CN" sz="2000" dirty="0"/>
          </a:p>
          <a:p>
            <a:pPr eaLnBrk="1" hangingPunct="1">
              <a:lnSpc>
                <a:spcPct val="110000"/>
              </a:lnSpc>
            </a:pPr>
            <a:r>
              <a:rPr lang="en-US" altLang="zh-CN" sz="2000" dirty="0"/>
              <a:t>               ③  </a:t>
            </a:r>
            <a:r>
              <a:rPr lang="en-US" altLang="zh-CN" sz="2000" dirty="0" err="1"/>
              <a:t>GetElem</a:t>
            </a:r>
            <a:r>
              <a:rPr lang="en-US" altLang="zh-CN" sz="2000" dirty="0"/>
              <a:t>( L,</a:t>
            </a:r>
            <a:r>
              <a:rPr lang="zh-CN" altLang="en-US" sz="2000" dirty="0"/>
              <a:t> </a:t>
            </a:r>
            <a:r>
              <a:rPr lang="en-US" altLang="zh-CN" sz="2000" dirty="0"/>
              <a:t>p,</a:t>
            </a:r>
            <a:r>
              <a:rPr lang="zh-CN" altLang="en-US" sz="2000" dirty="0"/>
              <a:t> </a:t>
            </a:r>
            <a:r>
              <a:rPr lang="en-US" altLang="zh-CN" sz="2000" dirty="0"/>
              <a:t>&amp;e)</a:t>
            </a:r>
            <a:r>
              <a:rPr lang="zh-CN" altLang="en-US" sz="2000" dirty="0"/>
              <a:t>； 访问</a:t>
            </a:r>
            <a:endParaRPr lang="en-US" altLang="zh-CN" sz="2000" dirty="0"/>
          </a:p>
          <a:p>
            <a:pPr eaLnBrk="1" hangingPunct="1">
              <a:lnSpc>
                <a:spcPct val="110000"/>
              </a:lnSpc>
            </a:pPr>
            <a:r>
              <a:rPr lang="en-US" altLang="zh-CN" sz="2000" dirty="0"/>
              <a:t>               ④  </a:t>
            </a:r>
            <a:r>
              <a:rPr lang="en-US" altLang="zh-CN" sz="2000" dirty="0" err="1"/>
              <a:t>ListDelete</a:t>
            </a:r>
            <a:r>
              <a:rPr lang="en-US" altLang="zh-CN" sz="2000" dirty="0"/>
              <a:t>(&amp;L,</a:t>
            </a:r>
            <a:r>
              <a:rPr lang="zh-CN" altLang="en-US" sz="2000" dirty="0"/>
              <a:t> </a:t>
            </a:r>
            <a:r>
              <a:rPr lang="en-US" altLang="zh-CN" sz="2000" dirty="0"/>
              <a:t>p,</a:t>
            </a:r>
            <a:r>
              <a:rPr lang="zh-CN" altLang="en-US" sz="2000" dirty="0"/>
              <a:t> </a:t>
            </a:r>
            <a:r>
              <a:rPr lang="en-US" altLang="zh-CN" sz="2000" dirty="0"/>
              <a:t>&amp;e)</a:t>
            </a:r>
            <a:r>
              <a:rPr lang="zh-CN" altLang="en-US" sz="2000" dirty="0"/>
              <a:t>； 删除</a:t>
            </a:r>
            <a:endParaRPr lang="en-US" altLang="zh-CN" sz="2000" dirty="0"/>
          </a:p>
          <a:p>
            <a:pPr eaLnBrk="1" hangingPunct="1">
              <a:lnSpc>
                <a:spcPct val="110000"/>
              </a:lnSpc>
            </a:pPr>
            <a:r>
              <a:rPr lang="en-US" altLang="zh-CN" sz="2000" dirty="0"/>
              <a:t>               ⑤  </a:t>
            </a:r>
            <a:r>
              <a:rPr lang="en-US" altLang="zh-CN" sz="2000" dirty="0" err="1"/>
              <a:t>PriorElem</a:t>
            </a:r>
            <a:r>
              <a:rPr lang="en-US" altLang="zh-CN" sz="2000" dirty="0"/>
              <a:t>( L,</a:t>
            </a:r>
            <a:r>
              <a:rPr lang="zh-CN" altLang="en-US" sz="2000" dirty="0"/>
              <a:t> </a:t>
            </a:r>
            <a:r>
              <a:rPr lang="en-US" altLang="zh-CN" sz="2000" dirty="0" err="1"/>
              <a:t>cur_e</a:t>
            </a:r>
            <a:r>
              <a:rPr lang="en-US" altLang="zh-CN" sz="2000" dirty="0"/>
              <a:t>,</a:t>
            </a:r>
            <a:r>
              <a:rPr lang="zh-CN" altLang="en-US" sz="2000" dirty="0"/>
              <a:t> </a:t>
            </a:r>
            <a:r>
              <a:rPr lang="en-US" altLang="zh-CN" sz="2000" dirty="0"/>
              <a:t>&amp;</a:t>
            </a:r>
            <a:r>
              <a:rPr lang="en-US" altLang="zh-CN" sz="2000" dirty="0" err="1"/>
              <a:t>pre.e</a:t>
            </a:r>
            <a:r>
              <a:rPr lang="en-US" altLang="zh-CN" sz="2000" dirty="0"/>
              <a:t>),  </a:t>
            </a:r>
            <a:r>
              <a:rPr lang="en-US" altLang="zh-CN" sz="2000" dirty="0" err="1"/>
              <a:t>NextElem</a:t>
            </a:r>
            <a:r>
              <a:rPr lang="en-US" altLang="zh-CN" sz="2000" dirty="0"/>
              <a:t>( L,</a:t>
            </a:r>
            <a:r>
              <a:rPr lang="zh-CN" altLang="en-US" sz="2000" dirty="0"/>
              <a:t> </a:t>
            </a:r>
            <a:r>
              <a:rPr lang="en-US" altLang="zh-CN" sz="2000" dirty="0" err="1"/>
              <a:t>cur_e</a:t>
            </a:r>
            <a:r>
              <a:rPr lang="en-US" altLang="zh-CN" sz="2000" dirty="0"/>
              <a:t>,</a:t>
            </a:r>
            <a:r>
              <a:rPr lang="zh-CN" altLang="en-US" sz="2000" dirty="0"/>
              <a:t> </a:t>
            </a:r>
            <a:r>
              <a:rPr lang="en-US" altLang="zh-CN" sz="2000" dirty="0"/>
              <a:t>&amp;</a:t>
            </a:r>
            <a:r>
              <a:rPr lang="en-US" altLang="zh-CN" sz="2000" dirty="0" err="1"/>
              <a:t>next_e</a:t>
            </a:r>
            <a:r>
              <a:rPr lang="en-US" altLang="zh-CN" sz="2000" dirty="0"/>
              <a:t>)</a:t>
            </a:r>
            <a:r>
              <a:rPr lang="zh-CN" altLang="en-US" sz="2000" dirty="0"/>
              <a:t>；前驱</a:t>
            </a:r>
            <a:r>
              <a:rPr lang="en-US" altLang="zh-CN" sz="2000" dirty="0"/>
              <a:t>/</a:t>
            </a:r>
            <a:r>
              <a:rPr lang="zh-CN" altLang="en-US" sz="2000" dirty="0"/>
              <a:t>后继节点</a:t>
            </a:r>
            <a:endParaRPr lang="en-US" altLang="zh-CN" sz="2000" dirty="0"/>
          </a:p>
          <a:p>
            <a:pPr eaLnBrk="1" hangingPunct="1">
              <a:lnSpc>
                <a:spcPct val="110000"/>
              </a:lnSpc>
            </a:pPr>
            <a:r>
              <a:rPr lang="en-US" altLang="zh-CN" sz="2000" dirty="0"/>
              <a:t>               ⑥  </a:t>
            </a:r>
            <a:r>
              <a:rPr lang="en-US" altLang="zh-CN" sz="2000" dirty="0" err="1"/>
              <a:t>ClearList</a:t>
            </a:r>
            <a:r>
              <a:rPr lang="en-US" altLang="zh-CN" sz="2000" dirty="0"/>
              <a:t>(&amp;L)</a:t>
            </a:r>
            <a:r>
              <a:rPr lang="zh-CN" altLang="en-US" sz="2000" dirty="0"/>
              <a:t>；清空表</a:t>
            </a:r>
            <a:endParaRPr lang="en-US" altLang="zh-CN" sz="2000" dirty="0"/>
          </a:p>
          <a:p>
            <a:pPr eaLnBrk="1" hangingPunct="1">
              <a:lnSpc>
                <a:spcPct val="110000"/>
              </a:lnSpc>
            </a:pPr>
            <a:r>
              <a:rPr lang="en-US" altLang="zh-CN" sz="2000" dirty="0"/>
              <a:t>               ⑦  </a:t>
            </a:r>
            <a:r>
              <a:rPr lang="en-US" altLang="zh-CN" sz="2000" dirty="0" err="1"/>
              <a:t>ListrFirst</a:t>
            </a:r>
            <a:r>
              <a:rPr lang="en-US" altLang="zh-CN" sz="2000" dirty="0"/>
              <a:t>( L) </a:t>
            </a:r>
            <a:r>
              <a:rPr lang="zh-CN" altLang="en-US" sz="2000" dirty="0"/>
              <a:t>；</a:t>
            </a:r>
            <a:r>
              <a:rPr lang="en-US" altLang="zh-CN" sz="2000" dirty="0"/>
              <a:t>   ⑧</a:t>
            </a:r>
            <a:r>
              <a:rPr lang="en-US" altLang="zh-CN" sz="2000" dirty="0" err="1"/>
              <a:t>ListEnd</a:t>
            </a:r>
            <a:r>
              <a:rPr lang="en-US" altLang="zh-CN" sz="2000" dirty="0"/>
              <a:t>(L)</a:t>
            </a:r>
            <a:r>
              <a:rPr lang="zh-CN" altLang="en-US" sz="2000" dirty="0"/>
              <a:t>；</a:t>
            </a:r>
            <a:r>
              <a:rPr lang="en-US" altLang="zh-CN" sz="2000" dirty="0"/>
              <a:t> …..</a:t>
            </a:r>
          </a:p>
        </p:txBody>
      </p:sp>
      <p:sp>
        <p:nvSpPr>
          <p:cNvPr id="15" name="Text Box 5"/>
          <p:cNvSpPr txBox="1">
            <a:spLocks noChangeArrowheads="1"/>
          </p:cNvSpPr>
          <p:nvPr/>
        </p:nvSpPr>
        <p:spPr bwMode="auto">
          <a:xfrm>
            <a:off x="1376362" y="1609324"/>
            <a:ext cx="1689100"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defRPr kumimoji="1" sz="2400" b="1">
                <a:solidFill>
                  <a:schemeClr val="tx1"/>
                </a:solidFill>
                <a:latin typeface="Times New Roman" panose="02020503050405090304" pitchFamily="18" charset="0"/>
                <a:ea typeface="宋体" pitchFamily="2" charset="-122"/>
              </a:defRPr>
            </a:lvl1pPr>
            <a:lvl2pPr marL="742950" indent="-285750">
              <a:defRPr kumimoji="1" sz="2400" b="1">
                <a:solidFill>
                  <a:schemeClr val="tx1"/>
                </a:solidFill>
                <a:latin typeface="Times New Roman" panose="02020503050405090304" pitchFamily="18" charset="0"/>
                <a:ea typeface="宋体" pitchFamily="2" charset="-122"/>
              </a:defRPr>
            </a:lvl2pPr>
            <a:lvl3pPr marL="1143000" indent="-228600">
              <a:defRPr kumimoji="1" sz="2400" b="1">
                <a:solidFill>
                  <a:schemeClr val="tx1"/>
                </a:solidFill>
                <a:latin typeface="Times New Roman" panose="02020503050405090304" pitchFamily="18" charset="0"/>
                <a:ea typeface="宋体" pitchFamily="2" charset="-122"/>
              </a:defRPr>
            </a:lvl3pPr>
            <a:lvl4pPr marL="1600200" indent="-228600">
              <a:defRPr kumimoji="1" sz="2400" b="1">
                <a:solidFill>
                  <a:schemeClr val="tx1"/>
                </a:solidFill>
                <a:latin typeface="Times New Roman" panose="02020503050405090304" pitchFamily="18" charset="0"/>
                <a:ea typeface="宋体" pitchFamily="2" charset="-122"/>
              </a:defRPr>
            </a:lvl4pPr>
            <a:lvl5pPr marL="2057400" indent="-228600">
              <a:defRPr kumimoji="1" sz="2400" b="1">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503050405090304" pitchFamily="18" charset="0"/>
                <a:ea typeface="宋体" pitchFamily="2" charset="-122"/>
              </a:defRPr>
            </a:lvl9pPr>
          </a:lstStyle>
          <a:p>
            <a:pPr eaLnBrk="1" hangingPunct="1"/>
            <a:r>
              <a:rPr lang="zh-CN" altLang="en-US" sz="2000" dirty="0">
                <a:solidFill>
                  <a:srgbClr val="0000CC"/>
                </a:solidFill>
              </a:rPr>
              <a:t>数学模型：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0-#ppt_w/2"/>
                                          </p:val>
                                        </p:tav>
                                        <p:tav tm="100000">
                                          <p:val>
                                            <p:strVal val="#ppt_x"/>
                                          </p:val>
                                        </p:tav>
                                      </p:tavLst>
                                    </p:anim>
                                    <p:anim calcmode="lin" valueType="num">
                                      <p:cBhvr additive="base">
                                        <p:cTn id="8" dur="500" fill="hold"/>
                                        <p:tgtEl>
                                          <p:spTgt spid="13"/>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3" presetClass="entr" presetSubtype="16" fill="hold" grpId="0" nodeType="afterEffect">
                                  <p:stCondLst>
                                    <p:cond delay="0"/>
                                  </p:stCondLst>
                                  <p:childTnLst>
                                    <p:set>
                                      <p:cBhvr>
                                        <p:cTn id="11" dur="1" fill="hold">
                                          <p:stCondLst>
                                            <p:cond delay="0"/>
                                          </p:stCondLst>
                                        </p:cTn>
                                        <p:tgtEl>
                                          <p:spTgt spid="15"/>
                                        </p:tgtEl>
                                        <p:attrNameLst>
                                          <p:attrName>style.visibility</p:attrName>
                                        </p:attrNameLst>
                                      </p:cBhvr>
                                      <p:to>
                                        <p:strVal val="visible"/>
                                      </p:to>
                                    </p:set>
                                    <p:anim calcmode="lin" valueType="num">
                                      <p:cBhvr>
                                        <p:cTn id="12" dur="500" fill="hold"/>
                                        <p:tgtEl>
                                          <p:spTgt spid="15"/>
                                        </p:tgtEl>
                                        <p:attrNameLst>
                                          <p:attrName>ppt_w</p:attrName>
                                        </p:attrNameLst>
                                      </p:cBhvr>
                                      <p:tavLst>
                                        <p:tav tm="0">
                                          <p:val>
                                            <p:fltVal val="0"/>
                                          </p:val>
                                        </p:tav>
                                        <p:tav tm="100000">
                                          <p:val>
                                            <p:strVal val="#ppt_w"/>
                                          </p:val>
                                        </p:tav>
                                      </p:tavLst>
                                    </p:anim>
                                    <p:anim calcmode="lin" valueType="num">
                                      <p:cBhvr>
                                        <p:cTn id="13" dur="500" fill="hold"/>
                                        <p:tgtEl>
                                          <p:spTgt spid="15"/>
                                        </p:tgtEl>
                                        <p:attrNameLst>
                                          <p:attrName>ppt_h</p:attrName>
                                        </p:attrNameLst>
                                      </p:cBhvr>
                                      <p:tavLst>
                                        <p:tav tm="0">
                                          <p:val>
                                            <p:fltVal val="0"/>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14">
                                            <p:txEl>
                                              <p:pRg st="0" end="0"/>
                                            </p:txEl>
                                          </p:spTgt>
                                        </p:tgtEl>
                                        <p:attrNameLst>
                                          <p:attrName>style.visibility</p:attrName>
                                        </p:attrNameLst>
                                      </p:cBhvr>
                                      <p:to>
                                        <p:strVal val="visible"/>
                                      </p:to>
                                    </p:set>
                                    <p:anim calcmode="lin" valueType="num">
                                      <p:cBhvr additive="base">
                                        <p:cTn id="18" dur="500" fill="hold"/>
                                        <p:tgtEl>
                                          <p:spTgt spid="14">
                                            <p:txEl>
                                              <p:pRg st="0" end="0"/>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14">
                                            <p:txEl>
                                              <p:pRg st="0" end="0"/>
                                            </p:txEl>
                                          </p:spTgt>
                                        </p:tgtEl>
                                        <p:attrNameLst>
                                          <p:attrName>ppt_y</p:attrName>
                                        </p:attrNameLst>
                                      </p:cBhvr>
                                      <p:tavLst>
                                        <p:tav tm="0">
                                          <p:val>
                                            <p:strVal val="1+#ppt_h/2"/>
                                          </p:val>
                                        </p:tav>
                                        <p:tav tm="100000">
                                          <p:val>
                                            <p:strVal val="#ppt_y"/>
                                          </p:val>
                                        </p:tav>
                                      </p:tavLst>
                                    </p:anim>
                                  </p:childTnLst>
                                </p:cTn>
                              </p:par>
                            </p:childTnLst>
                          </p:cTn>
                        </p:par>
                        <p:par>
                          <p:cTn id="20" fill="hold">
                            <p:stCondLst>
                              <p:cond delay="500"/>
                            </p:stCondLst>
                            <p:childTnLst>
                              <p:par>
                                <p:cTn id="21" presetID="2" presetClass="entr" presetSubtype="4" fill="hold" grpId="0" nodeType="afterEffect">
                                  <p:stCondLst>
                                    <p:cond delay="0"/>
                                  </p:stCondLst>
                                  <p:childTnLst>
                                    <p:set>
                                      <p:cBhvr>
                                        <p:cTn id="22" dur="1" fill="hold">
                                          <p:stCondLst>
                                            <p:cond delay="0"/>
                                          </p:stCondLst>
                                        </p:cTn>
                                        <p:tgtEl>
                                          <p:spTgt spid="14">
                                            <p:txEl>
                                              <p:pRg st="1" end="1"/>
                                            </p:txEl>
                                          </p:spTgt>
                                        </p:tgtEl>
                                        <p:attrNameLst>
                                          <p:attrName>style.visibility</p:attrName>
                                        </p:attrNameLst>
                                      </p:cBhvr>
                                      <p:to>
                                        <p:strVal val="visible"/>
                                      </p:to>
                                    </p:set>
                                    <p:anim calcmode="lin" valueType="num">
                                      <p:cBhvr additive="base">
                                        <p:cTn id="23" dur="500" fill="hold"/>
                                        <p:tgtEl>
                                          <p:spTgt spid="14">
                                            <p:txEl>
                                              <p:pRg st="1" end="1"/>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4">
                                            <p:txEl>
                                              <p:pRg st="1" end="1"/>
                                            </p:txEl>
                                          </p:spTgt>
                                        </p:tgtEl>
                                        <p:attrNameLst>
                                          <p:attrName>ppt_y</p:attrName>
                                        </p:attrNameLst>
                                      </p:cBhvr>
                                      <p:tavLst>
                                        <p:tav tm="0">
                                          <p:val>
                                            <p:strVal val="1+#ppt_h/2"/>
                                          </p:val>
                                        </p:tav>
                                        <p:tav tm="100000">
                                          <p:val>
                                            <p:strVal val="#ppt_y"/>
                                          </p:val>
                                        </p:tav>
                                      </p:tavLst>
                                    </p:anim>
                                  </p:childTnLst>
                                </p:cTn>
                              </p:par>
                            </p:childTnLst>
                          </p:cTn>
                        </p:par>
                        <p:par>
                          <p:cTn id="25" fill="hold">
                            <p:stCondLst>
                              <p:cond delay="1000"/>
                            </p:stCondLst>
                            <p:childTnLst>
                              <p:par>
                                <p:cTn id="26" presetID="2" presetClass="entr" presetSubtype="4" fill="hold" grpId="0" nodeType="afterEffect">
                                  <p:stCondLst>
                                    <p:cond delay="0"/>
                                  </p:stCondLst>
                                  <p:childTnLst>
                                    <p:set>
                                      <p:cBhvr>
                                        <p:cTn id="27" dur="1" fill="hold">
                                          <p:stCondLst>
                                            <p:cond delay="0"/>
                                          </p:stCondLst>
                                        </p:cTn>
                                        <p:tgtEl>
                                          <p:spTgt spid="14">
                                            <p:txEl>
                                              <p:pRg st="2" end="2"/>
                                            </p:txEl>
                                          </p:spTgt>
                                        </p:tgtEl>
                                        <p:attrNameLst>
                                          <p:attrName>style.visibility</p:attrName>
                                        </p:attrNameLst>
                                      </p:cBhvr>
                                      <p:to>
                                        <p:strVal val="visible"/>
                                      </p:to>
                                    </p:set>
                                    <p:anim calcmode="lin" valueType="num">
                                      <p:cBhvr additive="base">
                                        <p:cTn id="28" dur="500" fill="hold"/>
                                        <p:tgtEl>
                                          <p:spTgt spid="14">
                                            <p:txEl>
                                              <p:pRg st="2" end="2"/>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14">
                                            <p:txEl>
                                              <p:pRg st="2" end="2"/>
                                            </p:txEl>
                                          </p:spTgt>
                                        </p:tgtEl>
                                        <p:attrNameLst>
                                          <p:attrName>ppt_y</p:attrName>
                                        </p:attrNameLst>
                                      </p:cBhvr>
                                      <p:tavLst>
                                        <p:tav tm="0">
                                          <p:val>
                                            <p:strVal val="1+#ppt_h/2"/>
                                          </p:val>
                                        </p:tav>
                                        <p:tav tm="100000">
                                          <p:val>
                                            <p:strVal val="#ppt_y"/>
                                          </p:val>
                                        </p:tav>
                                      </p:tavLst>
                                    </p:anim>
                                  </p:childTnLst>
                                </p:cTn>
                              </p:par>
                            </p:childTnLst>
                          </p:cTn>
                        </p:par>
                        <p:par>
                          <p:cTn id="30" fill="hold">
                            <p:stCondLst>
                              <p:cond delay="1500"/>
                            </p:stCondLst>
                            <p:childTnLst>
                              <p:par>
                                <p:cTn id="31" presetID="2" presetClass="entr" presetSubtype="4" fill="hold" grpId="0" nodeType="afterEffect">
                                  <p:stCondLst>
                                    <p:cond delay="0"/>
                                  </p:stCondLst>
                                  <p:childTnLst>
                                    <p:set>
                                      <p:cBhvr>
                                        <p:cTn id="32" dur="1" fill="hold">
                                          <p:stCondLst>
                                            <p:cond delay="0"/>
                                          </p:stCondLst>
                                        </p:cTn>
                                        <p:tgtEl>
                                          <p:spTgt spid="14">
                                            <p:txEl>
                                              <p:pRg st="3" end="3"/>
                                            </p:txEl>
                                          </p:spTgt>
                                        </p:tgtEl>
                                        <p:attrNameLst>
                                          <p:attrName>style.visibility</p:attrName>
                                        </p:attrNameLst>
                                      </p:cBhvr>
                                      <p:to>
                                        <p:strVal val="visible"/>
                                      </p:to>
                                    </p:set>
                                    <p:anim calcmode="lin" valueType="num">
                                      <p:cBhvr additive="base">
                                        <p:cTn id="33" dur="500" fill="hold"/>
                                        <p:tgtEl>
                                          <p:spTgt spid="14">
                                            <p:txEl>
                                              <p:pRg st="3" end="3"/>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14">
                                            <p:txEl>
                                              <p:pRg st="3" end="3"/>
                                            </p:txEl>
                                          </p:spTgt>
                                        </p:tgtEl>
                                        <p:attrNameLst>
                                          <p:attrName>ppt_y</p:attrName>
                                        </p:attrNameLst>
                                      </p:cBhvr>
                                      <p:tavLst>
                                        <p:tav tm="0">
                                          <p:val>
                                            <p:strVal val="1+#ppt_h/2"/>
                                          </p:val>
                                        </p:tav>
                                        <p:tav tm="100000">
                                          <p:val>
                                            <p:strVal val="#ppt_y"/>
                                          </p:val>
                                        </p:tav>
                                      </p:tavLst>
                                    </p:anim>
                                  </p:childTnLst>
                                </p:cTn>
                              </p:par>
                            </p:childTnLst>
                          </p:cTn>
                        </p:par>
                        <p:par>
                          <p:cTn id="35" fill="hold">
                            <p:stCondLst>
                              <p:cond delay="2000"/>
                            </p:stCondLst>
                            <p:childTnLst>
                              <p:par>
                                <p:cTn id="36" presetID="2" presetClass="entr" presetSubtype="4" fill="hold" grpId="0" nodeType="afterEffect">
                                  <p:stCondLst>
                                    <p:cond delay="0"/>
                                  </p:stCondLst>
                                  <p:childTnLst>
                                    <p:set>
                                      <p:cBhvr>
                                        <p:cTn id="37" dur="1" fill="hold">
                                          <p:stCondLst>
                                            <p:cond delay="0"/>
                                          </p:stCondLst>
                                        </p:cTn>
                                        <p:tgtEl>
                                          <p:spTgt spid="14">
                                            <p:txEl>
                                              <p:pRg st="4" end="4"/>
                                            </p:txEl>
                                          </p:spTgt>
                                        </p:tgtEl>
                                        <p:attrNameLst>
                                          <p:attrName>style.visibility</p:attrName>
                                        </p:attrNameLst>
                                      </p:cBhvr>
                                      <p:to>
                                        <p:strVal val="visible"/>
                                      </p:to>
                                    </p:set>
                                    <p:anim calcmode="lin" valueType="num">
                                      <p:cBhvr additive="base">
                                        <p:cTn id="38" dur="500" fill="hold"/>
                                        <p:tgtEl>
                                          <p:spTgt spid="14">
                                            <p:txEl>
                                              <p:pRg st="4" end="4"/>
                                            </p:txEl>
                                          </p:spTgt>
                                        </p:tgtEl>
                                        <p:attrNameLst>
                                          <p:attrName>ppt_x</p:attrName>
                                        </p:attrNameLst>
                                      </p:cBhvr>
                                      <p:tavLst>
                                        <p:tav tm="0">
                                          <p:val>
                                            <p:strVal val="#ppt_x"/>
                                          </p:val>
                                        </p:tav>
                                        <p:tav tm="100000">
                                          <p:val>
                                            <p:strVal val="#ppt_x"/>
                                          </p:val>
                                        </p:tav>
                                      </p:tavLst>
                                    </p:anim>
                                    <p:anim calcmode="lin" valueType="num">
                                      <p:cBhvr additive="base">
                                        <p:cTn id="39" dur="500" fill="hold"/>
                                        <p:tgtEl>
                                          <p:spTgt spid="14">
                                            <p:txEl>
                                              <p:pRg st="4" end="4"/>
                                            </p:txEl>
                                          </p:spTgt>
                                        </p:tgtEl>
                                        <p:attrNameLst>
                                          <p:attrName>ppt_y</p:attrName>
                                        </p:attrNameLst>
                                      </p:cBhvr>
                                      <p:tavLst>
                                        <p:tav tm="0">
                                          <p:val>
                                            <p:strVal val="1+#ppt_h/2"/>
                                          </p:val>
                                        </p:tav>
                                        <p:tav tm="100000">
                                          <p:val>
                                            <p:strVal val="#ppt_y"/>
                                          </p:val>
                                        </p:tav>
                                      </p:tavLst>
                                    </p:anim>
                                  </p:childTnLst>
                                </p:cTn>
                              </p:par>
                            </p:childTnLst>
                          </p:cTn>
                        </p:par>
                        <p:par>
                          <p:cTn id="40" fill="hold">
                            <p:stCondLst>
                              <p:cond delay="2500"/>
                            </p:stCondLst>
                            <p:childTnLst>
                              <p:par>
                                <p:cTn id="41" presetID="2" presetClass="entr" presetSubtype="4" fill="hold" grpId="0" nodeType="afterEffect">
                                  <p:stCondLst>
                                    <p:cond delay="0"/>
                                  </p:stCondLst>
                                  <p:childTnLst>
                                    <p:set>
                                      <p:cBhvr>
                                        <p:cTn id="42" dur="1" fill="hold">
                                          <p:stCondLst>
                                            <p:cond delay="0"/>
                                          </p:stCondLst>
                                        </p:cTn>
                                        <p:tgtEl>
                                          <p:spTgt spid="14">
                                            <p:txEl>
                                              <p:pRg st="5" end="5"/>
                                            </p:txEl>
                                          </p:spTgt>
                                        </p:tgtEl>
                                        <p:attrNameLst>
                                          <p:attrName>style.visibility</p:attrName>
                                        </p:attrNameLst>
                                      </p:cBhvr>
                                      <p:to>
                                        <p:strVal val="visible"/>
                                      </p:to>
                                    </p:set>
                                    <p:anim calcmode="lin" valueType="num">
                                      <p:cBhvr additive="base">
                                        <p:cTn id="43" dur="500" fill="hold"/>
                                        <p:tgtEl>
                                          <p:spTgt spid="14">
                                            <p:txEl>
                                              <p:pRg st="5" end="5"/>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4">
                                            <p:txEl>
                                              <p:pRg st="5" end="5"/>
                                            </p:txEl>
                                          </p:spTgt>
                                        </p:tgtEl>
                                        <p:attrNameLst>
                                          <p:attrName>ppt_y</p:attrName>
                                        </p:attrNameLst>
                                      </p:cBhvr>
                                      <p:tavLst>
                                        <p:tav tm="0">
                                          <p:val>
                                            <p:strVal val="1+#ppt_h/2"/>
                                          </p:val>
                                        </p:tav>
                                        <p:tav tm="100000">
                                          <p:val>
                                            <p:strVal val="#ppt_y"/>
                                          </p:val>
                                        </p:tav>
                                      </p:tavLst>
                                    </p:anim>
                                  </p:childTnLst>
                                </p:cTn>
                              </p:par>
                            </p:childTnLst>
                          </p:cTn>
                        </p:par>
                        <p:par>
                          <p:cTn id="45" fill="hold">
                            <p:stCondLst>
                              <p:cond delay="3000"/>
                            </p:stCondLst>
                            <p:childTnLst>
                              <p:par>
                                <p:cTn id="46" presetID="2" presetClass="entr" presetSubtype="4" fill="hold" grpId="0" nodeType="afterEffect">
                                  <p:stCondLst>
                                    <p:cond delay="0"/>
                                  </p:stCondLst>
                                  <p:childTnLst>
                                    <p:set>
                                      <p:cBhvr>
                                        <p:cTn id="47" dur="1" fill="hold">
                                          <p:stCondLst>
                                            <p:cond delay="0"/>
                                          </p:stCondLst>
                                        </p:cTn>
                                        <p:tgtEl>
                                          <p:spTgt spid="14">
                                            <p:txEl>
                                              <p:pRg st="6" end="6"/>
                                            </p:txEl>
                                          </p:spTgt>
                                        </p:tgtEl>
                                        <p:attrNameLst>
                                          <p:attrName>style.visibility</p:attrName>
                                        </p:attrNameLst>
                                      </p:cBhvr>
                                      <p:to>
                                        <p:strVal val="visible"/>
                                      </p:to>
                                    </p:set>
                                    <p:anim calcmode="lin" valueType="num">
                                      <p:cBhvr additive="base">
                                        <p:cTn id="48" dur="500" fill="hold"/>
                                        <p:tgtEl>
                                          <p:spTgt spid="14">
                                            <p:txEl>
                                              <p:pRg st="6" end="6"/>
                                            </p:txEl>
                                          </p:spTgt>
                                        </p:tgtEl>
                                        <p:attrNameLst>
                                          <p:attrName>ppt_x</p:attrName>
                                        </p:attrNameLst>
                                      </p:cBhvr>
                                      <p:tavLst>
                                        <p:tav tm="0">
                                          <p:val>
                                            <p:strVal val="#ppt_x"/>
                                          </p:val>
                                        </p:tav>
                                        <p:tav tm="100000">
                                          <p:val>
                                            <p:strVal val="#ppt_x"/>
                                          </p:val>
                                        </p:tav>
                                      </p:tavLst>
                                    </p:anim>
                                    <p:anim calcmode="lin" valueType="num">
                                      <p:cBhvr additive="base">
                                        <p:cTn id="49" dur="500" fill="hold"/>
                                        <p:tgtEl>
                                          <p:spTgt spid="14">
                                            <p:txEl>
                                              <p:pRg st="6" end="6"/>
                                            </p:txEl>
                                          </p:spTgt>
                                        </p:tgtEl>
                                        <p:attrNameLst>
                                          <p:attrName>ppt_y</p:attrName>
                                        </p:attrNameLst>
                                      </p:cBhvr>
                                      <p:tavLst>
                                        <p:tav tm="0">
                                          <p:val>
                                            <p:strVal val="1+#ppt_h/2"/>
                                          </p:val>
                                        </p:tav>
                                        <p:tav tm="100000">
                                          <p:val>
                                            <p:strVal val="#ppt_y"/>
                                          </p:val>
                                        </p:tav>
                                      </p:tavLst>
                                    </p:anim>
                                  </p:childTnLst>
                                </p:cTn>
                              </p:par>
                            </p:childTnLst>
                          </p:cTn>
                        </p:par>
                        <p:par>
                          <p:cTn id="50" fill="hold">
                            <p:stCondLst>
                              <p:cond delay="3500"/>
                            </p:stCondLst>
                            <p:childTnLst>
                              <p:par>
                                <p:cTn id="51" presetID="2" presetClass="entr" presetSubtype="4" fill="hold" grpId="0" nodeType="afterEffect">
                                  <p:stCondLst>
                                    <p:cond delay="0"/>
                                  </p:stCondLst>
                                  <p:childTnLst>
                                    <p:set>
                                      <p:cBhvr>
                                        <p:cTn id="52" dur="1" fill="hold">
                                          <p:stCondLst>
                                            <p:cond delay="0"/>
                                          </p:stCondLst>
                                        </p:cTn>
                                        <p:tgtEl>
                                          <p:spTgt spid="14">
                                            <p:txEl>
                                              <p:pRg st="7" end="7"/>
                                            </p:txEl>
                                          </p:spTgt>
                                        </p:tgtEl>
                                        <p:attrNameLst>
                                          <p:attrName>style.visibility</p:attrName>
                                        </p:attrNameLst>
                                      </p:cBhvr>
                                      <p:to>
                                        <p:strVal val="visible"/>
                                      </p:to>
                                    </p:set>
                                    <p:anim calcmode="lin" valueType="num">
                                      <p:cBhvr additive="base">
                                        <p:cTn id="53" dur="500" fill="hold"/>
                                        <p:tgtEl>
                                          <p:spTgt spid="14">
                                            <p:txEl>
                                              <p:pRg st="7" end="7"/>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14">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utoUpdateAnimBg="0"/>
      <p:bldP spid="14" grpId="0" uiExpand="1" build="p" autoUpdateAnimBg="0"/>
      <p:bldP spid="15" grpId="0"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panose="020B0604020202090204" pitchFamily="34" charset="0"/>
                <a:ea typeface="宋体" pitchFamily="2" charset="-122"/>
              </a:rPr>
              <a:t>13.2</a:t>
            </a:r>
            <a:r>
              <a:rPr kumimoji="1" lang="en-US" altLang="zh-CN" sz="3200" b="1" dirty="0">
                <a:latin typeface="Arial" panose="020B0604020202090204" pitchFamily="34" charset="0"/>
                <a:ea typeface="宋体" pitchFamily="2" charset="-122"/>
                <a:cs typeface="+mn-cs"/>
              </a:rPr>
              <a:t>  </a:t>
            </a:r>
            <a:r>
              <a:rPr kumimoji="1" lang="zh-CN" altLang="en-US" sz="3200" b="1" dirty="0">
                <a:latin typeface="Arial" panose="020B0604020202090204" pitchFamily="34" charset="0"/>
                <a:ea typeface="宋体" pitchFamily="2" charset="-122"/>
                <a:cs typeface="+mn-cs"/>
              </a:rPr>
              <a:t>线性表概念及基本操作</a:t>
            </a:r>
          </a:p>
        </p:txBody>
      </p:sp>
      <p:sp>
        <p:nvSpPr>
          <p:cNvPr id="3" name="内容占位符 2"/>
          <p:cNvSpPr>
            <a:spLocks noGrp="1"/>
          </p:cNvSpPr>
          <p:nvPr>
            <p:ph idx="1"/>
          </p:nvPr>
        </p:nvSpPr>
        <p:spPr>
          <a:xfrm>
            <a:off x="1343472" y="1776760"/>
            <a:ext cx="9649072" cy="5105400"/>
          </a:xfrm>
        </p:spPr>
        <p:txBody>
          <a:bodyPr>
            <a:normAutofit/>
          </a:bodyPr>
          <a:lstStyle/>
          <a:p>
            <a:pPr marL="342900" lvl="1" indent="-342900">
              <a:lnSpc>
                <a:spcPts val="3600"/>
              </a:lnSpc>
              <a:buFont typeface="Arial" panose="020B0604020202090204" pitchFamily="34" charset="0"/>
              <a:buChar char="•"/>
            </a:pPr>
            <a:r>
              <a:rPr lang="zh-CN" altLang="en-US" sz="3200" b="1" dirty="0">
                <a:solidFill>
                  <a:srgbClr val="FF0000"/>
                </a:solidFill>
              </a:rPr>
              <a:t>定义在线性表的操作（算法）说明</a:t>
            </a:r>
          </a:p>
          <a:p>
            <a:pPr marL="742950" lvl="2" indent="-342900">
              <a:lnSpc>
                <a:spcPts val="3600"/>
              </a:lnSpc>
            </a:pPr>
            <a:r>
              <a:rPr kumimoji="1" lang="zh-CN" altLang="en-US" sz="2800" b="1" dirty="0">
                <a:solidFill>
                  <a:srgbClr val="0000FF"/>
                </a:solidFill>
                <a:latin typeface="宋体" pitchFamily="2" charset="-122"/>
              </a:rPr>
              <a:t>上面列出的操作，只是线性表的一些常用的基本操作；</a:t>
            </a:r>
          </a:p>
          <a:p>
            <a:pPr marL="742950" lvl="2" indent="-342900">
              <a:lnSpc>
                <a:spcPts val="3600"/>
              </a:lnSpc>
            </a:pPr>
            <a:r>
              <a:rPr kumimoji="1" lang="zh-CN" altLang="en-US" sz="2800" b="1" dirty="0">
                <a:solidFill>
                  <a:srgbClr val="0000FF"/>
                </a:solidFill>
                <a:latin typeface="宋体" pitchFamily="2" charset="-122"/>
              </a:rPr>
              <a:t>不同的应用，基本操作可能是不同的；</a:t>
            </a:r>
          </a:p>
          <a:p>
            <a:pPr marL="742950" lvl="2" indent="-342900">
              <a:lnSpc>
                <a:spcPts val="3600"/>
              </a:lnSpc>
            </a:pPr>
            <a:r>
              <a:rPr kumimoji="1" lang="zh-CN" altLang="en-US" sz="2800" b="1" dirty="0">
                <a:solidFill>
                  <a:srgbClr val="0000FF"/>
                </a:solidFill>
                <a:latin typeface="宋体" pitchFamily="2" charset="-122"/>
              </a:rPr>
              <a:t>线性表的复杂操作可通过基本操作实现。</a:t>
            </a:r>
          </a:p>
          <a:p>
            <a:pPr lvl="1">
              <a:lnSpc>
                <a:spcPts val="2900"/>
              </a:lnSpc>
            </a:pPr>
            <a:endParaRPr lang="en-US" altLang="zh-CN" sz="2400" b="1" dirty="0"/>
          </a:p>
        </p:txBody>
      </p:sp>
      <p:sp>
        <p:nvSpPr>
          <p:cNvPr id="4" name="日期占位符 3"/>
          <p:cNvSpPr>
            <a:spLocks noGrp="1"/>
          </p:cNvSpPr>
          <p:nvPr>
            <p:ph type="dt" sz="half" idx="10"/>
          </p:nvPr>
        </p:nvSpPr>
        <p:spPr/>
        <p:txBody>
          <a:bodyPr/>
          <a:lstStyle/>
          <a:p>
            <a:fld id="{82C260F3-2F15-4643-BD88-DA7D2CC1FAEE}" type="datetime1">
              <a:rPr lang="zh-CN" altLang="en-US" b="1">
                <a:solidFill>
                  <a:srgbClr val="F79646">
                    <a:lumMod val="75000"/>
                  </a:srgbClr>
                </a:solidFill>
              </a:rPr>
              <a:t>2025/11/27</a:t>
            </a:fld>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t>23</a:t>
            </a:fld>
            <a:endParaRPr lang="zh-CN" altLang="en-US" b="1" dirty="0">
              <a:solidFill>
                <a:srgbClr val="F79646">
                  <a:lumMod val="75000"/>
                </a:srgbClr>
              </a:solidFill>
            </a:endParaRPr>
          </a:p>
        </p:txBody>
      </p:sp>
      <p:cxnSp>
        <p:nvCxnSpPr>
          <p:cNvPr id="12" name="直接连接符 11"/>
          <p:cNvCxnSpPr/>
          <p:nvPr/>
        </p:nvCxnSpPr>
        <p:spPr>
          <a:xfrm>
            <a:off x="2222497"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panose="020B0604020202090204" pitchFamily="34" charset="0"/>
                <a:ea typeface="宋体" pitchFamily="2" charset="-122"/>
                <a:cs typeface="+mn-cs"/>
              </a:rPr>
              <a:t>13.2   </a:t>
            </a:r>
            <a:r>
              <a:rPr kumimoji="1" lang="zh-CN" altLang="en-US" sz="3200" b="1" dirty="0">
                <a:latin typeface="Arial" panose="020B0604020202090204" pitchFamily="34" charset="0"/>
                <a:ea typeface="宋体" pitchFamily="2" charset="-122"/>
                <a:cs typeface="+mn-cs"/>
              </a:rPr>
              <a:t>线性表概念及基本操作</a:t>
            </a:r>
          </a:p>
        </p:txBody>
      </p:sp>
      <p:sp>
        <p:nvSpPr>
          <p:cNvPr id="4" name="日期占位符 3"/>
          <p:cNvSpPr>
            <a:spLocks noGrp="1"/>
          </p:cNvSpPr>
          <p:nvPr>
            <p:ph type="dt" sz="half" idx="10"/>
          </p:nvPr>
        </p:nvSpPr>
        <p:spPr/>
        <p:txBody>
          <a:bodyPr/>
          <a:lstStyle/>
          <a:p>
            <a:fld id="{2CAE2458-EBCC-4017-B6A6-644213DA9F42}" type="datetime1">
              <a:rPr lang="zh-CN" altLang="en-US" b="1" smtClean="0">
                <a:solidFill>
                  <a:srgbClr val="F79646">
                    <a:lumMod val="75000"/>
                  </a:srgbClr>
                </a:solidFill>
              </a:rPr>
              <a:t>2025/11/27</a:t>
            </a:fld>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t>24</a:t>
            </a:fld>
            <a:endParaRPr lang="zh-CN" altLang="en-US" b="1" dirty="0">
              <a:solidFill>
                <a:srgbClr val="F79646">
                  <a:lumMod val="75000"/>
                </a:srgbClr>
              </a:solidFill>
            </a:endParaRPr>
          </a:p>
        </p:txBody>
      </p:sp>
      <p:cxnSp>
        <p:nvCxnSpPr>
          <p:cNvPr id="12" name="直接连接符 11"/>
          <p:cNvCxnSpPr/>
          <p:nvPr/>
        </p:nvCxnSpPr>
        <p:spPr>
          <a:xfrm>
            <a:off x="1981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 Box 3"/>
          <p:cNvSpPr txBox="1">
            <a:spLocks noChangeArrowheads="1"/>
          </p:cNvSpPr>
          <p:nvPr/>
        </p:nvSpPr>
        <p:spPr bwMode="auto">
          <a:xfrm>
            <a:off x="1127448" y="1501990"/>
            <a:ext cx="10369152" cy="5011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a:defRPr kumimoji="1" sz="2400" b="1">
                <a:solidFill>
                  <a:schemeClr val="tx1"/>
                </a:solidFill>
                <a:latin typeface="Times New Roman" panose="02020503050405090304" pitchFamily="18" charset="0"/>
                <a:ea typeface="宋体" pitchFamily="2" charset="-122"/>
              </a:defRPr>
            </a:lvl1pPr>
            <a:lvl2pPr marL="742950" indent="-285750">
              <a:defRPr kumimoji="1" sz="2400" b="1">
                <a:solidFill>
                  <a:schemeClr val="tx1"/>
                </a:solidFill>
                <a:latin typeface="Times New Roman" panose="02020503050405090304" pitchFamily="18" charset="0"/>
                <a:ea typeface="宋体" pitchFamily="2" charset="-122"/>
              </a:defRPr>
            </a:lvl2pPr>
            <a:lvl3pPr marL="1143000" indent="-228600">
              <a:defRPr kumimoji="1" sz="2400" b="1">
                <a:solidFill>
                  <a:schemeClr val="tx1"/>
                </a:solidFill>
                <a:latin typeface="Times New Roman" panose="02020503050405090304" pitchFamily="18" charset="0"/>
                <a:ea typeface="宋体" pitchFamily="2" charset="-122"/>
              </a:defRPr>
            </a:lvl3pPr>
            <a:lvl4pPr marL="1600200" indent="-228600">
              <a:defRPr kumimoji="1" sz="2400" b="1">
                <a:solidFill>
                  <a:schemeClr val="tx1"/>
                </a:solidFill>
                <a:latin typeface="Times New Roman" panose="02020503050405090304" pitchFamily="18" charset="0"/>
                <a:ea typeface="宋体" pitchFamily="2" charset="-122"/>
              </a:defRPr>
            </a:lvl4pPr>
            <a:lvl5pPr marL="2057400" indent="-228600">
              <a:defRPr kumimoji="1" sz="2400" b="1">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503050405090304" pitchFamily="18" charset="0"/>
                <a:ea typeface="宋体" pitchFamily="2" charset="-122"/>
              </a:defRPr>
            </a:lvl9pPr>
          </a:lstStyle>
          <a:p>
            <a:pPr eaLnBrk="1" hangingPunct="1">
              <a:lnSpc>
                <a:spcPct val="120000"/>
              </a:lnSpc>
            </a:pPr>
            <a:r>
              <a:rPr lang="en-US" altLang="zh-CN" dirty="0">
                <a:solidFill>
                  <a:srgbClr val="0000CC"/>
                </a:solidFill>
              </a:rPr>
              <a:t>【</a:t>
            </a:r>
            <a:r>
              <a:rPr lang="zh-CN" altLang="en-US" dirty="0">
                <a:solidFill>
                  <a:srgbClr val="0000CC"/>
                </a:solidFill>
              </a:rPr>
              <a:t>例</a:t>
            </a:r>
            <a:r>
              <a:rPr lang="en-US" altLang="zh-CN" dirty="0">
                <a:solidFill>
                  <a:srgbClr val="0000CC"/>
                </a:solidFill>
              </a:rPr>
              <a:t>2-1】</a:t>
            </a:r>
            <a:r>
              <a:rPr lang="zh-CN" altLang="en-US" dirty="0"/>
              <a:t>设计函数 </a:t>
            </a:r>
            <a:r>
              <a:rPr lang="en-US" altLang="zh-CN" dirty="0" err="1"/>
              <a:t>Deleval</a:t>
            </a:r>
            <a:r>
              <a:rPr lang="zh-CN" altLang="en-US" dirty="0"/>
              <a:t>（</a:t>
            </a:r>
            <a:r>
              <a:rPr lang="en-US" altLang="zh-CN" dirty="0"/>
              <a:t>LIST  </a:t>
            </a:r>
            <a:r>
              <a:rPr lang="zh-CN" altLang="en-US" dirty="0"/>
              <a:t>* </a:t>
            </a:r>
            <a:r>
              <a:rPr lang="en-US" altLang="zh-CN" dirty="0"/>
              <a:t>L, </a:t>
            </a:r>
            <a:r>
              <a:rPr lang="en-US" altLang="zh-CN" dirty="0" err="1"/>
              <a:t>ElementType</a:t>
            </a:r>
            <a:r>
              <a:rPr lang="en-US" altLang="zh-CN" dirty="0"/>
              <a:t>  d) </a:t>
            </a:r>
            <a:r>
              <a:rPr lang="zh-CN" altLang="en-US" dirty="0"/>
              <a:t>的</a:t>
            </a:r>
            <a:r>
              <a:rPr lang="zh-CN" altLang="en-US" dirty="0">
                <a:solidFill>
                  <a:srgbClr val="C00000"/>
                </a:solidFill>
              </a:rPr>
              <a:t>算法</a:t>
            </a:r>
            <a:r>
              <a:rPr lang="zh-CN" altLang="en-US" dirty="0"/>
              <a:t>，其功能为删除 </a:t>
            </a:r>
            <a:r>
              <a:rPr lang="en-US" altLang="zh-CN" dirty="0"/>
              <a:t>L </a:t>
            </a:r>
            <a:r>
              <a:rPr lang="zh-CN" altLang="en-US" dirty="0"/>
              <a:t>中所有值为  </a:t>
            </a:r>
            <a:r>
              <a:rPr lang="en-US" altLang="zh-CN" dirty="0"/>
              <a:t>d  </a:t>
            </a:r>
            <a:r>
              <a:rPr lang="zh-CN" altLang="en-US" dirty="0"/>
              <a:t>的元素 </a:t>
            </a:r>
            <a:r>
              <a:rPr lang="en-US" altLang="zh-CN" dirty="0">
                <a:solidFill>
                  <a:srgbClr val="C00000"/>
                </a:solidFill>
              </a:rPr>
              <a:t>(</a:t>
            </a:r>
            <a:r>
              <a:rPr lang="zh-CN" altLang="en-US" dirty="0">
                <a:solidFill>
                  <a:srgbClr val="C00000"/>
                </a:solidFill>
              </a:rPr>
              <a:t>可以将以下抽象的表述看成伪代码）</a:t>
            </a:r>
            <a:r>
              <a:rPr lang="zh-CN" altLang="en-US" sz="2000" dirty="0"/>
              <a:t>         </a:t>
            </a:r>
            <a:endParaRPr lang="en-US" altLang="zh-CN" sz="2000" dirty="0"/>
          </a:p>
          <a:p>
            <a:pPr eaLnBrk="1" hangingPunct="1">
              <a:lnSpc>
                <a:spcPct val="120000"/>
              </a:lnSpc>
            </a:pPr>
            <a:r>
              <a:rPr lang="en-US" altLang="zh-CN" sz="2000" dirty="0"/>
              <a:t>           </a:t>
            </a:r>
            <a:r>
              <a:rPr lang="zh-CN" altLang="en-US" sz="2000" dirty="0"/>
              <a:t> </a:t>
            </a:r>
            <a:r>
              <a:rPr lang="en-US" altLang="zh-CN" sz="2000" dirty="0"/>
              <a:t>void </a:t>
            </a:r>
            <a:r>
              <a:rPr lang="en-US" altLang="zh-CN" sz="2000" dirty="0" err="1"/>
              <a:t>Deleval</a:t>
            </a:r>
            <a:r>
              <a:rPr lang="en-US" altLang="zh-CN" sz="2000" dirty="0"/>
              <a:t>( LIST  </a:t>
            </a:r>
            <a:r>
              <a:rPr lang="zh-CN" altLang="en-US" sz="2000" dirty="0"/>
              <a:t>*</a:t>
            </a:r>
            <a:r>
              <a:rPr lang="en-US" altLang="zh-CN" sz="2000" dirty="0"/>
              <a:t>L,  </a:t>
            </a:r>
            <a:r>
              <a:rPr lang="en-US" altLang="zh-CN" sz="2000" dirty="0" err="1"/>
              <a:t>ElementType</a:t>
            </a:r>
            <a:r>
              <a:rPr lang="en-US" altLang="zh-CN" sz="2000" dirty="0"/>
              <a:t>  d )</a:t>
            </a:r>
          </a:p>
          <a:p>
            <a:pPr eaLnBrk="1" hangingPunct="1">
              <a:lnSpc>
                <a:spcPct val="120000"/>
              </a:lnSpc>
            </a:pPr>
            <a:r>
              <a:rPr lang="en-US" altLang="zh-CN" sz="2000" dirty="0"/>
              <a:t>            {  Position  p ;</a:t>
            </a:r>
          </a:p>
          <a:p>
            <a:pPr eaLnBrk="1" hangingPunct="1">
              <a:lnSpc>
                <a:spcPct val="120000"/>
              </a:lnSpc>
            </a:pPr>
            <a:r>
              <a:rPr lang="en-US" altLang="zh-CN" sz="2000" dirty="0"/>
              <a:t>                p = </a:t>
            </a:r>
            <a:r>
              <a:rPr lang="en-US" altLang="zh-CN" sz="2000" dirty="0" err="1"/>
              <a:t>ListFirst</a:t>
            </a:r>
            <a:r>
              <a:rPr lang="en-US" altLang="zh-CN" sz="2000" dirty="0"/>
              <a:t>( L ) ;</a:t>
            </a:r>
          </a:p>
          <a:p>
            <a:pPr eaLnBrk="1" hangingPunct="1">
              <a:lnSpc>
                <a:spcPct val="120000"/>
              </a:lnSpc>
            </a:pPr>
            <a:r>
              <a:rPr lang="en-US" altLang="zh-CN" sz="2000" dirty="0"/>
              <a:t>                while ( p  != </a:t>
            </a:r>
            <a:r>
              <a:rPr lang="en-US" altLang="zh-CN" sz="2000" dirty="0" err="1"/>
              <a:t>ListEnd</a:t>
            </a:r>
            <a:r>
              <a:rPr lang="en-US" altLang="zh-CN" sz="2000" dirty="0"/>
              <a:t>( L ) )</a:t>
            </a:r>
          </a:p>
          <a:p>
            <a:pPr eaLnBrk="1" hangingPunct="1">
              <a:lnSpc>
                <a:spcPct val="120000"/>
              </a:lnSpc>
            </a:pPr>
            <a:r>
              <a:rPr lang="en-US" altLang="zh-CN" sz="2000" dirty="0"/>
              <a:t>                       { </a:t>
            </a:r>
            <a:r>
              <a:rPr lang="zh-CN" altLang="en-US" sz="2000" dirty="0"/>
              <a:t>   </a:t>
            </a:r>
            <a:r>
              <a:rPr lang="en-US" altLang="zh-CN" sz="2000" dirty="0" err="1"/>
              <a:t>GetElem</a:t>
            </a:r>
            <a:r>
              <a:rPr lang="en-US" altLang="zh-CN" sz="2000" dirty="0"/>
              <a:t>(L,</a:t>
            </a:r>
            <a:r>
              <a:rPr lang="zh-CN" altLang="en-US" sz="2000" dirty="0"/>
              <a:t> </a:t>
            </a:r>
            <a:r>
              <a:rPr lang="en-US" altLang="zh-CN" sz="2000" dirty="0"/>
              <a:t>p,</a:t>
            </a:r>
            <a:r>
              <a:rPr lang="zh-CN" altLang="en-US" sz="2000" dirty="0"/>
              <a:t> </a:t>
            </a:r>
            <a:r>
              <a:rPr lang="en-US" altLang="zh-CN" sz="2000" dirty="0"/>
              <a:t>&amp;e)</a:t>
            </a:r>
          </a:p>
          <a:p>
            <a:pPr eaLnBrk="1" hangingPunct="1">
              <a:lnSpc>
                <a:spcPct val="120000"/>
              </a:lnSpc>
            </a:pPr>
            <a:r>
              <a:rPr lang="zh-CN" altLang="en-US" sz="2000" dirty="0"/>
              <a:t>                           </a:t>
            </a:r>
            <a:r>
              <a:rPr lang="en-US" altLang="zh-CN" sz="2000" dirty="0"/>
              <a:t> if ( compare( e,</a:t>
            </a:r>
            <a:r>
              <a:rPr lang="zh-CN" altLang="en-US" sz="2000" dirty="0"/>
              <a:t> </a:t>
            </a:r>
            <a:r>
              <a:rPr lang="en-US" altLang="zh-CN" sz="2000" dirty="0"/>
              <a:t>d ) )</a:t>
            </a:r>
          </a:p>
          <a:p>
            <a:pPr eaLnBrk="1" hangingPunct="1">
              <a:lnSpc>
                <a:spcPct val="120000"/>
              </a:lnSpc>
            </a:pPr>
            <a:r>
              <a:rPr lang="en-US" altLang="zh-CN" sz="2000" dirty="0"/>
              <a:t>                               </a:t>
            </a:r>
            <a:r>
              <a:rPr lang="en-US" altLang="zh-CN" sz="2000" dirty="0" err="1"/>
              <a:t>ListDelete</a:t>
            </a:r>
            <a:r>
              <a:rPr lang="en-US" altLang="zh-CN" sz="2000" dirty="0"/>
              <a:t>(L,</a:t>
            </a:r>
            <a:r>
              <a:rPr lang="zh-CN" altLang="en-US" sz="2000" dirty="0"/>
              <a:t> </a:t>
            </a:r>
            <a:r>
              <a:rPr lang="en-US" altLang="zh-CN" sz="2000" dirty="0"/>
              <a:t>p, &amp;e ) ;</a:t>
            </a:r>
          </a:p>
          <a:p>
            <a:pPr eaLnBrk="1" hangingPunct="1">
              <a:lnSpc>
                <a:spcPct val="120000"/>
              </a:lnSpc>
            </a:pPr>
            <a:r>
              <a:rPr lang="en-US" altLang="zh-CN" sz="2000" dirty="0"/>
              <a:t>                           else</a:t>
            </a:r>
          </a:p>
          <a:p>
            <a:pPr eaLnBrk="1" hangingPunct="1">
              <a:lnSpc>
                <a:spcPct val="120000"/>
              </a:lnSpc>
            </a:pPr>
            <a:r>
              <a:rPr lang="en-US" altLang="zh-CN" sz="2000" dirty="0"/>
              <a:t>                               </a:t>
            </a:r>
            <a:r>
              <a:rPr lang="en-US" altLang="zh-CN" sz="2000" dirty="0" err="1"/>
              <a:t>NextList</a:t>
            </a:r>
            <a:r>
              <a:rPr lang="en-US" altLang="zh-CN" sz="2000" dirty="0"/>
              <a:t>( L,</a:t>
            </a:r>
            <a:r>
              <a:rPr lang="zh-CN" altLang="en-US" sz="2000" dirty="0"/>
              <a:t> </a:t>
            </a:r>
            <a:r>
              <a:rPr lang="en-US" altLang="zh-CN" sz="2000" dirty="0"/>
              <a:t>p,</a:t>
            </a:r>
            <a:r>
              <a:rPr lang="zh-CN" altLang="en-US" sz="2000" dirty="0"/>
              <a:t> </a:t>
            </a:r>
            <a:r>
              <a:rPr lang="en-US" altLang="zh-CN" sz="2000" dirty="0"/>
              <a:t>&amp;p) ;</a:t>
            </a:r>
          </a:p>
          <a:p>
            <a:pPr eaLnBrk="1" hangingPunct="1">
              <a:lnSpc>
                <a:spcPct val="120000"/>
              </a:lnSpc>
            </a:pPr>
            <a:r>
              <a:rPr lang="en-US" altLang="zh-CN" sz="2000" dirty="0"/>
              <a:t>                       }</a:t>
            </a:r>
          </a:p>
          <a:p>
            <a:pPr eaLnBrk="1" hangingPunct="1">
              <a:lnSpc>
                <a:spcPct val="120000"/>
              </a:lnSpc>
            </a:pPr>
            <a:r>
              <a:rPr lang="en-US" altLang="zh-CN" sz="2000" dirty="0"/>
              <a:t>             }</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panose="020B0604020202090204" pitchFamily="34" charset="0"/>
                <a:ea typeface="宋体" pitchFamily="2" charset="-122"/>
                <a:cs typeface="+mn-cs"/>
              </a:rPr>
              <a:t>13.3  </a:t>
            </a:r>
            <a:r>
              <a:rPr kumimoji="1" lang="zh-CN" altLang="en-US" sz="3200" b="1" dirty="0">
                <a:latin typeface="Arial" panose="020B0604020202090204" pitchFamily="34" charset="0"/>
                <a:ea typeface="宋体" pitchFamily="2" charset="-122"/>
                <a:cs typeface="+mn-cs"/>
              </a:rPr>
              <a:t>栈的定义和基本操作</a:t>
            </a:r>
          </a:p>
        </p:txBody>
      </p:sp>
      <p:sp>
        <p:nvSpPr>
          <p:cNvPr id="3" name="内容占位符 2"/>
          <p:cNvSpPr>
            <a:spLocks noGrp="1"/>
          </p:cNvSpPr>
          <p:nvPr>
            <p:ph idx="1"/>
          </p:nvPr>
        </p:nvSpPr>
        <p:spPr>
          <a:xfrm>
            <a:off x="1981200" y="1295400"/>
            <a:ext cx="8229600" cy="5105400"/>
          </a:xfrm>
        </p:spPr>
        <p:txBody>
          <a:bodyPr>
            <a:normAutofit/>
          </a:bodyPr>
          <a:lstStyle/>
          <a:p>
            <a:pPr>
              <a:lnSpc>
                <a:spcPts val="3100"/>
              </a:lnSpc>
            </a:pPr>
            <a:r>
              <a:rPr lang="zh-CN" altLang="en-US" b="1" dirty="0"/>
              <a:t>栈的定义</a:t>
            </a:r>
            <a:endParaRPr lang="en-US" altLang="zh-CN" b="1" dirty="0"/>
          </a:p>
          <a:p>
            <a:pPr lvl="1">
              <a:lnSpc>
                <a:spcPts val="3100"/>
              </a:lnSpc>
            </a:pPr>
            <a:r>
              <a:rPr lang="zh-CN" altLang="en-US" b="1" dirty="0">
                <a:solidFill>
                  <a:srgbClr val="FF0000"/>
                </a:solidFill>
              </a:rPr>
              <a:t>栈</a:t>
            </a:r>
            <a:r>
              <a:rPr lang="en-US" altLang="zh-CN" b="1" dirty="0">
                <a:solidFill>
                  <a:srgbClr val="FF0000"/>
                </a:solidFill>
              </a:rPr>
              <a:t>(Stack)</a:t>
            </a:r>
            <a:r>
              <a:rPr lang="zh-CN" altLang="en-US" b="1" dirty="0"/>
              <a:t>是一种特殊的</a:t>
            </a:r>
            <a:r>
              <a:rPr lang="zh-CN" altLang="en-US" b="1" dirty="0">
                <a:solidFill>
                  <a:srgbClr val="FF0000"/>
                </a:solidFill>
              </a:rPr>
              <a:t>线性表</a:t>
            </a:r>
            <a:r>
              <a:rPr lang="zh-CN" altLang="en-US" b="1" dirty="0"/>
              <a:t>，其</a:t>
            </a:r>
            <a:r>
              <a:rPr lang="zh-CN" altLang="en-US" b="1" dirty="0">
                <a:solidFill>
                  <a:srgbClr val="1B06BA"/>
                </a:solidFill>
              </a:rPr>
              <a:t>插入和删除操作均在表的一端</a:t>
            </a:r>
            <a:r>
              <a:rPr lang="zh-CN" altLang="en-US" b="1" dirty="0"/>
              <a:t>进行，是一种运算受限的线性表。</a:t>
            </a:r>
          </a:p>
          <a:p>
            <a:pPr lvl="1">
              <a:lnSpc>
                <a:spcPts val="3100"/>
              </a:lnSpc>
            </a:pPr>
            <a:endParaRPr lang="zh-CN" altLang="en-US" b="1" dirty="0"/>
          </a:p>
        </p:txBody>
      </p:sp>
      <p:sp>
        <p:nvSpPr>
          <p:cNvPr id="4" name="日期占位符 3"/>
          <p:cNvSpPr>
            <a:spLocks noGrp="1"/>
          </p:cNvSpPr>
          <p:nvPr>
            <p:ph type="dt" sz="half" idx="10"/>
          </p:nvPr>
        </p:nvSpPr>
        <p:spPr/>
        <p:txBody>
          <a:bodyPr/>
          <a:lstStyle/>
          <a:p>
            <a:fld id="{E4B164A1-37CD-4048-A877-5431F9B370E9}" type="datetime1">
              <a:rPr lang="zh-CN" altLang="en-US" b="1" smtClean="0">
                <a:solidFill>
                  <a:srgbClr val="F79646">
                    <a:lumMod val="75000"/>
                  </a:srgbClr>
                </a:solidFill>
              </a:rPr>
              <a:t>2025/11/27</a:t>
            </a:fld>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t>25</a:t>
            </a:fld>
            <a:endParaRPr lang="zh-CN" altLang="en-US" b="1" dirty="0">
              <a:solidFill>
                <a:srgbClr val="F79646">
                  <a:lumMod val="75000"/>
                </a:srgbClr>
              </a:solidFill>
            </a:endParaRPr>
          </a:p>
        </p:txBody>
      </p:sp>
      <p:cxnSp>
        <p:nvCxnSpPr>
          <p:cNvPr id="12" name="直接连接符 11"/>
          <p:cNvCxnSpPr/>
          <p:nvPr/>
        </p:nvCxnSpPr>
        <p:spPr>
          <a:xfrm>
            <a:off x="1981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图片 4"/>
          <p:cNvPicPr>
            <a:picLocks noChangeAspect="1"/>
          </p:cNvPicPr>
          <p:nvPr/>
        </p:nvPicPr>
        <p:blipFill>
          <a:blip r:embed="rId3"/>
          <a:stretch>
            <a:fillRect/>
          </a:stretch>
        </p:blipFill>
        <p:spPr>
          <a:xfrm>
            <a:off x="2471564" y="3216205"/>
            <a:ext cx="3025620" cy="2402626"/>
          </a:xfrm>
          <a:prstGeom prst="rect">
            <a:avLst/>
          </a:prstGeom>
        </p:spPr>
      </p:pic>
      <p:pic>
        <p:nvPicPr>
          <p:cNvPr id="7" name="图片 6"/>
          <p:cNvPicPr>
            <a:picLocks noChangeAspect="1"/>
          </p:cNvPicPr>
          <p:nvPr/>
        </p:nvPicPr>
        <p:blipFill>
          <a:blip r:embed="rId4"/>
          <a:stretch>
            <a:fillRect/>
          </a:stretch>
        </p:blipFill>
        <p:spPr>
          <a:xfrm>
            <a:off x="6502644" y="3118476"/>
            <a:ext cx="2822428" cy="259808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panose="020B0604020202090204" pitchFamily="34" charset="0"/>
                <a:ea typeface="宋体" pitchFamily="2" charset="-122"/>
                <a:cs typeface="+mn-cs"/>
              </a:rPr>
              <a:t>13.3  </a:t>
            </a:r>
            <a:r>
              <a:rPr kumimoji="1" lang="zh-CN" altLang="en-US" sz="3200" b="1" dirty="0">
                <a:latin typeface="Arial" panose="020B0604020202090204" pitchFamily="34" charset="0"/>
                <a:ea typeface="宋体" pitchFamily="2" charset="-122"/>
                <a:cs typeface="+mn-cs"/>
              </a:rPr>
              <a:t>栈的定义和基本操作</a:t>
            </a:r>
          </a:p>
        </p:txBody>
      </p:sp>
      <p:sp>
        <p:nvSpPr>
          <p:cNvPr id="3" name="内容占位符 2"/>
          <p:cNvSpPr>
            <a:spLocks noGrp="1"/>
          </p:cNvSpPr>
          <p:nvPr>
            <p:ph idx="1"/>
          </p:nvPr>
        </p:nvSpPr>
        <p:spPr>
          <a:xfrm>
            <a:off x="1981200" y="1295400"/>
            <a:ext cx="8229600" cy="5105400"/>
          </a:xfrm>
        </p:spPr>
        <p:txBody>
          <a:bodyPr>
            <a:normAutofit/>
          </a:bodyPr>
          <a:lstStyle/>
          <a:p>
            <a:pPr marL="0" indent="0">
              <a:lnSpc>
                <a:spcPts val="3100"/>
              </a:lnSpc>
              <a:buNone/>
            </a:pPr>
            <a:endParaRPr lang="en-US" altLang="zh-CN" b="1" dirty="0"/>
          </a:p>
          <a:p>
            <a:pPr>
              <a:lnSpc>
                <a:spcPts val="3100"/>
              </a:lnSpc>
            </a:pPr>
            <a:endParaRPr lang="en-US" altLang="zh-CN" b="1" dirty="0"/>
          </a:p>
          <a:p>
            <a:pPr>
              <a:lnSpc>
                <a:spcPts val="3100"/>
              </a:lnSpc>
            </a:pPr>
            <a:endParaRPr lang="en-US" altLang="zh-CN" b="1" dirty="0"/>
          </a:p>
          <a:p>
            <a:pPr>
              <a:lnSpc>
                <a:spcPts val="3100"/>
              </a:lnSpc>
            </a:pPr>
            <a:endParaRPr lang="en-US" altLang="zh-CN" b="1" dirty="0"/>
          </a:p>
          <a:p>
            <a:pPr>
              <a:lnSpc>
                <a:spcPts val="3100"/>
              </a:lnSpc>
            </a:pPr>
            <a:endParaRPr lang="en-US" altLang="zh-CN" b="1" dirty="0"/>
          </a:p>
          <a:p>
            <a:pPr>
              <a:lnSpc>
                <a:spcPts val="3100"/>
              </a:lnSpc>
            </a:pPr>
            <a:endParaRPr lang="en-US" altLang="zh-CN" b="1" dirty="0"/>
          </a:p>
          <a:p>
            <a:pPr>
              <a:lnSpc>
                <a:spcPts val="3100"/>
              </a:lnSpc>
            </a:pPr>
            <a:endParaRPr lang="en-US" altLang="zh-CN" b="1" dirty="0"/>
          </a:p>
          <a:p>
            <a:pPr>
              <a:lnSpc>
                <a:spcPts val="3100"/>
              </a:lnSpc>
            </a:pPr>
            <a:endParaRPr lang="en-US" altLang="zh-CN" b="1" dirty="0"/>
          </a:p>
          <a:p>
            <a:pPr marL="0" indent="0">
              <a:lnSpc>
                <a:spcPts val="3100"/>
              </a:lnSpc>
              <a:buNone/>
            </a:pPr>
            <a:endParaRPr lang="en-US" altLang="zh-CN" b="1" dirty="0"/>
          </a:p>
          <a:p>
            <a:pPr lvl="1">
              <a:lnSpc>
                <a:spcPts val="3100"/>
              </a:lnSpc>
            </a:pPr>
            <a:endParaRPr lang="zh-CN" altLang="en-US" b="1" dirty="0"/>
          </a:p>
        </p:txBody>
      </p:sp>
      <p:sp>
        <p:nvSpPr>
          <p:cNvPr id="4" name="日期占位符 3"/>
          <p:cNvSpPr>
            <a:spLocks noGrp="1"/>
          </p:cNvSpPr>
          <p:nvPr>
            <p:ph type="dt" sz="half" idx="10"/>
          </p:nvPr>
        </p:nvSpPr>
        <p:spPr/>
        <p:txBody>
          <a:bodyPr/>
          <a:lstStyle/>
          <a:p>
            <a:fld id="{C8C33B59-847B-4071-87A8-EA0E1B37333A}" type="datetime1">
              <a:rPr lang="zh-CN" altLang="en-US" b="1" smtClean="0">
                <a:solidFill>
                  <a:srgbClr val="F79646">
                    <a:lumMod val="75000"/>
                  </a:srgbClr>
                </a:solidFill>
              </a:rPr>
              <a:t>2025/11/27</a:t>
            </a:fld>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t>26</a:t>
            </a:fld>
            <a:endParaRPr lang="zh-CN" altLang="en-US" b="1" dirty="0">
              <a:solidFill>
                <a:srgbClr val="F79646">
                  <a:lumMod val="75000"/>
                </a:srgbClr>
              </a:solidFill>
            </a:endParaRPr>
          </a:p>
        </p:txBody>
      </p:sp>
      <p:cxnSp>
        <p:nvCxnSpPr>
          <p:cNvPr id="12" name="直接连接符 11"/>
          <p:cNvCxnSpPr/>
          <p:nvPr/>
        </p:nvCxnSpPr>
        <p:spPr>
          <a:xfrm>
            <a:off x="1981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3" name="Group 33"/>
          <p:cNvGraphicFramePr>
            <a:graphicFrameLocks noGrp="1"/>
          </p:cNvGraphicFramePr>
          <p:nvPr/>
        </p:nvGraphicFramePr>
        <p:xfrm>
          <a:off x="7951053" y="2704399"/>
          <a:ext cx="1312505" cy="2634240"/>
        </p:xfrm>
        <a:graphic>
          <a:graphicData uri="http://schemas.openxmlformats.org/drawingml/2006/table">
            <a:tbl>
              <a:tblPr/>
              <a:tblGrid>
                <a:gridCol w="1312505">
                  <a:extLst>
                    <a:ext uri="{9D8B030D-6E8A-4147-A177-3AD203B41FA5}">
                      <a16:colId xmlns:a16="http://schemas.microsoft.com/office/drawing/2014/main" val="20000"/>
                    </a:ext>
                  </a:extLst>
                </a:gridCol>
              </a:tblGrid>
              <a:tr h="180795">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anose="05020102010507070707" pitchFamily="18" charset="2"/>
                        <a:buNone/>
                      </a:pPr>
                      <a:endParaRPr kumimoji="0" lang="en-US" altLang="zh-CN" sz="2400" b="0" i="0" u="none" strike="noStrike" cap="none" normalizeH="0" baseline="-25000">
                        <a:ln>
                          <a:noFill/>
                        </a:ln>
                        <a:solidFill>
                          <a:schemeClr val="tx1"/>
                        </a:solidFill>
                        <a:effectLst/>
                        <a:latin typeface="Constantia" pitchFamily="18" charset="0"/>
                        <a:ea typeface="宋体" pitchFamily="2" charset="-122"/>
                      </a:endParaRPr>
                    </a:p>
                  </a:txBody>
                  <a:tcPr marL="90000" marR="90000" marT="46800" marB="46800" anchor="ctr" anchorCtr="1"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cap="fla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46118">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anose="05020102010507070707" pitchFamily="18" charset="2"/>
                        <a:buNone/>
                      </a:pPr>
                      <a:r>
                        <a:rPr kumimoji="0" lang="en-US" altLang="zh-CN" sz="2400" b="0" i="0" u="none" strike="noStrike" cap="none" normalizeH="0" baseline="0">
                          <a:ln>
                            <a:noFill/>
                          </a:ln>
                          <a:solidFill>
                            <a:schemeClr val="tx1"/>
                          </a:solidFill>
                          <a:effectLst/>
                          <a:latin typeface="Constantia" pitchFamily="18" charset="0"/>
                          <a:ea typeface="宋体" pitchFamily="2" charset="-122"/>
                        </a:rPr>
                        <a:t>a</a:t>
                      </a:r>
                      <a:r>
                        <a:rPr kumimoji="0" lang="en-US" altLang="zh-CN" sz="2400" b="0" i="0" u="none" strike="noStrike" cap="none" normalizeH="0" baseline="-25000">
                          <a:ln>
                            <a:noFill/>
                          </a:ln>
                          <a:solidFill>
                            <a:schemeClr val="tx1"/>
                          </a:solidFill>
                          <a:effectLst/>
                          <a:latin typeface="Constantia" pitchFamily="18" charset="0"/>
                          <a:ea typeface="宋体" pitchFamily="2" charset="-122"/>
                        </a:rPr>
                        <a:t>n</a:t>
                      </a:r>
                    </a:p>
                  </a:txBody>
                  <a:tcPr marL="90000" marR="90000" marT="46800" marB="46800" anchor="ctr" anchorCtr="1"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73880">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anose="05020102010507070707" pitchFamily="18" charset="2"/>
                        <a:buNone/>
                      </a:pPr>
                      <a:r>
                        <a:rPr kumimoji="0" lang="en-US" altLang="zh-CN" sz="2400" b="0" i="0" u="none" strike="noStrike" cap="none" normalizeH="0" baseline="0">
                          <a:ln>
                            <a:noFill/>
                          </a:ln>
                          <a:solidFill>
                            <a:schemeClr val="tx1"/>
                          </a:solidFill>
                          <a:effectLst/>
                          <a:latin typeface="Constantia" pitchFamily="18" charset="0"/>
                          <a:ea typeface="宋体" pitchFamily="2" charset="-122"/>
                        </a:rPr>
                        <a:t>…</a:t>
                      </a:r>
                    </a:p>
                  </a:txBody>
                  <a:tcPr marL="90000" marR="90000" marT="46800" marB="46800" anchor="ctr" anchorCtr="1"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74731">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anose="05020102010507070707" pitchFamily="18" charset="2"/>
                        <a:buNone/>
                      </a:pPr>
                      <a:r>
                        <a:rPr kumimoji="0" lang="en-US" altLang="zh-CN" sz="2400" b="0" i="0" u="none" strike="noStrike" cap="none" normalizeH="0" baseline="0">
                          <a:ln>
                            <a:noFill/>
                          </a:ln>
                          <a:solidFill>
                            <a:schemeClr val="tx1"/>
                          </a:solidFill>
                          <a:effectLst/>
                          <a:latin typeface="Constantia" pitchFamily="18" charset="0"/>
                          <a:ea typeface="宋体" pitchFamily="2" charset="-122"/>
                        </a:rPr>
                        <a:t>…</a:t>
                      </a:r>
                    </a:p>
                  </a:txBody>
                  <a:tcPr marL="90000" marR="90000" marT="46800" marB="46800" anchor="ctr" anchorCtr="1"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73880">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anose="05020102010507070707" pitchFamily="18" charset="2"/>
                        <a:buNone/>
                      </a:pPr>
                      <a:r>
                        <a:rPr kumimoji="0" lang="en-US" altLang="zh-CN" sz="2400" b="0" i="0" u="none" strike="noStrike" cap="none" normalizeH="0" baseline="0">
                          <a:ln>
                            <a:noFill/>
                          </a:ln>
                          <a:solidFill>
                            <a:schemeClr val="tx1"/>
                          </a:solidFill>
                          <a:effectLst/>
                          <a:latin typeface="Constantia" pitchFamily="18" charset="0"/>
                          <a:ea typeface="宋体" pitchFamily="2" charset="-122"/>
                        </a:rPr>
                        <a:t>a</a:t>
                      </a:r>
                      <a:r>
                        <a:rPr kumimoji="0" lang="en-US" altLang="zh-CN" sz="2400" b="0" i="0" u="none" strike="noStrike" cap="none" normalizeH="0" baseline="-25000">
                          <a:ln>
                            <a:noFill/>
                          </a:ln>
                          <a:solidFill>
                            <a:schemeClr val="tx1"/>
                          </a:solidFill>
                          <a:effectLst/>
                          <a:latin typeface="Constantia" pitchFamily="18" charset="0"/>
                          <a:ea typeface="宋体" pitchFamily="2" charset="-122"/>
                        </a:rPr>
                        <a:t>2</a:t>
                      </a:r>
                    </a:p>
                  </a:txBody>
                  <a:tcPr marL="90000" marR="90000" marT="46800" marB="46800" anchor="ctr" anchorCtr="1"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74731">
                <a:tc>
                  <a:txBody>
                    <a:bodyPr/>
                    <a:lstStyle>
                      <a:lvl1pPr marL="0" algn="l" defTabSz="914400" rtl="0" eaLnBrk="1" latinLnBrk="0" hangingPunct="1">
                        <a:defRPr sz="1800" kern="1200">
                          <a:solidFill>
                            <a:schemeClr val="tx1"/>
                          </a:solidFill>
                          <a:latin typeface="Constantia"/>
                          <a:ea typeface="宋体"/>
                        </a:defRPr>
                      </a:lvl1pPr>
                      <a:lvl2pPr marL="457200" algn="l" defTabSz="914400" rtl="0" eaLnBrk="1" latinLnBrk="0" hangingPunct="1">
                        <a:defRPr sz="1800" kern="1200">
                          <a:solidFill>
                            <a:schemeClr val="tx1"/>
                          </a:solidFill>
                          <a:latin typeface="Constantia"/>
                          <a:ea typeface="宋体"/>
                        </a:defRPr>
                      </a:lvl2pPr>
                      <a:lvl3pPr marL="914400" algn="l" defTabSz="914400" rtl="0" eaLnBrk="1" latinLnBrk="0" hangingPunct="1">
                        <a:defRPr sz="1800" kern="1200">
                          <a:solidFill>
                            <a:schemeClr val="tx1"/>
                          </a:solidFill>
                          <a:latin typeface="Constantia"/>
                          <a:ea typeface="宋体"/>
                        </a:defRPr>
                      </a:lvl3pPr>
                      <a:lvl4pPr marL="1371600" algn="l" defTabSz="914400" rtl="0" eaLnBrk="1" latinLnBrk="0" hangingPunct="1">
                        <a:defRPr sz="1800" kern="1200">
                          <a:solidFill>
                            <a:schemeClr val="tx1"/>
                          </a:solidFill>
                          <a:latin typeface="Constantia"/>
                          <a:ea typeface="宋体"/>
                        </a:defRPr>
                      </a:lvl4pPr>
                      <a:lvl5pPr marL="1828800" algn="l" defTabSz="914400" rtl="0" eaLnBrk="1" latinLnBrk="0" hangingPunct="1">
                        <a:defRPr sz="1800" kern="1200">
                          <a:solidFill>
                            <a:schemeClr val="tx1"/>
                          </a:solidFill>
                          <a:latin typeface="Constantia"/>
                          <a:ea typeface="宋体"/>
                        </a:defRPr>
                      </a:lvl5pPr>
                      <a:lvl6pPr marL="2286000" algn="l" defTabSz="914400" rtl="0" eaLnBrk="1" latinLnBrk="0" hangingPunct="1">
                        <a:defRPr sz="1800" kern="1200">
                          <a:solidFill>
                            <a:schemeClr val="tx1"/>
                          </a:solidFill>
                          <a:latin typeface="Constantia"/>
                          <a:ea typeface="宋体"/>
                        </a:defRPr>
                      </a:lvl6pPr>
                      <a:lvl7pPr marL="2743200" algn="l" defTabSz="914400" rtl="0" eaLnBrk="1" latinLnBrk="0" hangingPunct="1">
                        <a:defRPr sz="1800" kern="1200">
                          <a:solidFill>
                            <a:schemeClr val="tx1"/>
                          </a:solidFill>
                          <a:latin typeface="Constantia"/>
                          <a:ea typeface="宋体"/>
                        </a:defRPr>
                      </a:lvl7pPr>
                      <a:lvl8pPr marL="3200400" algn="l" defTabSz="914400" rtl="0" eaLnBrk="1" latinLnBrk="0" hangingPunct="1">
                        <a:defRPr sz="1800" kern="1200">
                          <a:solidFill>
                            <a:schemeClr val="tx1"/>
                          </a:solidFill>
                          <a:latin typeface="Constantia"/>
                          <a:ea typeface="宋体"/>
                        </a:defRPr>
                      </a:lvl8pPr>
                      <a:lvl9pPr marL="3657600" algn="l" defTabSz="914400" rtl="0" eaLnBrk="1" latinLnBrk="0" hangingPunct="1">
                        <a:defRPr sz="1800" kern="1200">
                          <a:solidFill>
                            <a:schemeClr val="tx1"/>
                          </a:solidFill>
                          <a:latin typeface="Constantia"/>
                          <a:ea typeface="宋体"/>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anose="05020102010507070707" pitchFamily="18" charset="2"/>
                        <a:buNone/>
                      </a:pPr>
                      <a:r>
                        <a:rPr kumimoji="0" lang="en-US" altLang="zh-CN" sz="2400" b="0" i="0" u="none" strike="noStrike" cap="none" normalizeH="0" baseline="0">
                          <a:ln>
                            <a:noFill/>
                          </a:ln>
                          <a:solidFill>
                            <a:schemeClr val="tx1"/>
                          </a:solidFill>
                          <a:effectLst/>
                          <a:latin typeface="Constantia" pitchFamily="18" charset="0"/>
                          <a:ea typeface="宋体" pitchFamily="2" charset="-122"/>
                        </a:rPr>
                        <a:t>a</a:t>
                      </a:r>
                      <a:r>
                        <a:rPr kumimoji="0" lang="en-US" altLang="zh-CN" sz="2400" b="0" i="0" u="none" strike="noStrike" cap="none" normalizeH="0" baseline="-25000">
                          <a:ln>
                            <a:noFill/>
                          </a:ln>
                          <a:solidFill>
                            <a:schemeClr val="tx1"/>
                          </a:solidFill>
                          <a:effectLst/>
                          <a:latin typeface="Constantia" pitchFamily="18" charset="0"/>
                          <a:ea typeface="宋体" pitchFamily="2" charset="-122"/>
                        </a:rPr>
                        <a:t>1</a:t>
                      </a:r>
                    </a:p>
                  </a:txBody>
                  <a:tcPr marL="90000" marR="90000" marT="46800" marB="46800" anchor="ctr" anchorCtr="1"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14" name="AutoShape 35"/>
          <p:cNvSpPr>
            <a:spLocks noChangeArrowheads="1"/>
          </p:cNvSpPr>
          <p:nvPr/>
        </p:nvSpPr>
        <p:spPr bwMode="auto">
          <a:xfrm>
            <a:off x="9640152" y="5115313"/>
            <a:ext cx="775930" cy="77401"/>
          </a:xfrm>
          <a:prstGeom prst="leftArrow">
            <a:avLst>
              <a:gd name="adj1" fmla="val 50000"/>
              <a:gd name="adj2" fmla="val 162087"/>
            </a:avLst>
          </a:prstGeom>
          <a:solidFill>
            <a:srgbClr val="009DD9"/>
          </a:solidFill>
          <a:ln w="9525" algn="ctr">
            <a:solidFill>
              <a:srgbClr val="00CCFF"/>
            </a:solidFill>
            <a:miter lim="800000"/>
          </a:ln>
        </p:spPr>
        <p:txBody>
          <a:bodyPr wrap="none" anchor="ctr"/>
          <a:lstStyle/>
          <a:p>
            <a:pPr fontAlgn="base">
              <a:lnSpc>
                <a:spcPct val="140000"/>
              </a:lnSpc>
              <a:spcBef>
                <a:spcPct val="20000"/>
              </a:spcBef>
              <a:spcAft>
                <a:spcPct val="0"/>
              </a:spcAft>
              <a:buClr>
                <a:srgbClr val="FFFF00"/>
              </a:buClr>
              <a:buSzPct val="95000"/>
              <a:buFont typeface="Wingdings" panose="05000000000000000000" pitchFamily="2" charset="2"/>
              <a:buChar char="Ø"/>
              <a:defRPr/>
            </a:pPr>
            <a:endParaRPr lang="zh-CN" altLang="en-US" sz="2400" b="1" kern="0">
              <a:solidFill>
                <a:srgbClr val="0000FF"/>
              </a:solidFill>
              <a:latin typeface="Constantia" pitchFamily="18" charset="0"/>
            </a:endParaRPr>
          </a:p>
        </p:txBody>
      </p:sp>
      <p:sp>
        <p:nvSpPr>
          <p:cNvPr id="15" name="Text Box 36"/>
          <p:cNvSpPr txBox="1">
            <a:spLocks noChangeArrowheads="1"/>
          </p:cNvSpPr>
          <p:nvPr/>
        </p:nvSpPr>
        <p:spPr bwMode="auto">
          <a:xfrm>
            <a:off x="10719924" y="4876801"/>
            <a:ext cx="848684" cy="461665"/>
          </a:xfrm>
          <a:prstGeom prst="rect">
            <a:avLst/>
          </a:prstGeom>
          <a:noFill/>
          <a:ln w="38100" cmpd="dbl" algn="ctr">
            <a:solidFill>
              <a:srgbClr val="808000"/>
            </a:solidFill>
            <a:miter lim="800000"/>
          </a:ln>
        </p:spPr>
        <p:txBody>
          <a:bodyPr wrap="square">
            <a:spAutoFit/>
          </a:bodyPr>
          <a:lstStyle/>
          <a:p>
            <a:pPr fontAlgn="base">
              <a:spcBef>
                <a:spcPct val="25000"/>
              </a:spcBef>
              <a:spcAft>
                <a:spcPct val="0"/>
              </a:spcAft>
            </a:pPr>
            <a:r>
              <a:rPr kumimoji="1" lang="zh-CN" altLang="en-US" sz="2400" b="1">
                <a:solidFill>
                  <a:srgbClr val="0707F9"/>
                </a:solidFill>
                <a:latin typeface="Times New Roman" panose="02020503050405090304" pitchFamily="18" charset="0"/>
              </a:rPr>
              <a:t>栈底</a:t>
            </a:r>
          </a:p>
        </p:txBody>
      </p:sp>
      <p:sp>
        <p:nvSpPr>
          <p:cNvPr id="16" name="AutoShape 37"/>
          <p:cNvSpPr>
            <a:spLocks noChangeArrowheads="1"/>
          </p:cNvSpPr>
          <p:nvPr/>
        </p:nvSpPr>
        <p:spPr bwMode="auto">
          <a:xfrm>
            <a:off x="9640152" y="3099188"/>
            <a:ext cx="775930" cy="77401"/>
          </a:xfrm>
          <a:prstGeom prst="leftArrow">
            <a:avLst>
              <a:gd name="adj1" fmla="val 50000"/>
              <a:gd name="adj2" fmla="val 162087"/>
            </a:avLst>
          </a:prstGeom>
          <a:solidFill>
            <a:srgbClr val="009DD9"/>
          </a:solidFill>
          <a:ln w="9525" algn="ctr">
            <a:solidFill>
              <a:srgbClr val="00CCFF"/>
            </a:solidFill>
            <a:miter lim="800000"/>
          </a:ln>
        </p:spPr>
        <p:txBody>
          <a:bodyPr wrap="none" anchor="ctr"/>
          <a:lstStyle/>
          <a:p>
            <a:pPr fontAlgn="base">
              <a:lnSpc>
                <a:spcPct val="140000"/>
              </a:lnSpc>
              <a:spcBef>
                <a:spcPct val="20000"/>
              </a:spcBef>
              <a:spcAft>
                <a:spcPct val="0"/>
              </a:spcAft>
              <a:buClr>
                <a:srgbClr val="FFFF00"/>
              </a:buClr>
              <a:buSzPct val="95000"/>
              <a:buFont typeface="Wingdings" panose="05000000000000000000" pitchFamily="2" charset="2"/>
              <a:buChar char="Ø"/>
              <a:defRPr/>
            </a:pPr>
            <a:endParaRPr lang="zh-CN" altLang="en-US" sz="2400" b="1" kern="0">
              <a:solidFill>
                <a:srgbClr val="0000FF"/>
              </a:solidFill>
              <a:latin typeface="Constantia" pitchFamily="18" charset="0"/>
            </a:endParaRPr>
          </a:p>
        </p:txBody>
      </p:sp>
      <p:sp>
        <p:nvSpPr>
          <p:cNvPr id="17" name="Text Box 38"/>
          <p:cNvSpPr txBox="1">
            <a:spLocks noChangeArrowheads="1"/>
          </p:cNvSpPr>
          <p:nvPr/>
        </p:nvSpPr>
        <p:spPr bwMode="auto">
          <a:xfrm>
            <a:off x="10734811" y="3049588"/>
            <a:ext cx="833796" cy="461665"/>
          </a:xfrm>
          <a:prstGeom prst="rect">
            <a:avLst/>
          </a:prstGeom>
          <a:noFill/>
          <a:ln w="38100" cmpd="dbl" algn="ctr">
            <a:solidFill>
              <a:srgbClr val="808000"/>
            </a:solidFill>
            <a:miter lim="800000"/>
          </a:ln>
        </p:spPr>
        <p:txBody>
          <a:bodyPr wrap="square">
            <a:spAutoFit/>
          </a:bodyPr>
          <a:lstStyle/>
          <a:p>
            <a:pPr fontAlgn="base">
              <a:spcBef>
                <a:spcPct val="25000"/>
              </a:spcBef>
              <a:spcAft>
                <a:spcPct val="0"/>
              </a:spcAft>
            </a:pPr>
            <a:r>
              <a:rPr kumimoji="1" lang="zh-CN" altLang="en-US" sz="2400" b="1">
                <a:solidFill>
                  <a:srgbClr val="0707F9"/>
                </a:solidFill>
                <a:latin typeface="Times New Roman" panose="02020503050405090304" pitchFamily="18" charset="0"/>
              </a:rPr>
              <a:t>栈顶</a:t>
            </a:r>
          </a:p>
        </p:txBody>
      </p:sp>
      <p:sp>
        <p:nvSpPr>
          <p:cNvPr id="18" name="Line 40"/>
          <p:cNvSpPr>
            <a:spLocks noChangeShapeType="1"/>
          </p:cNvSpPr>
          <p:nvPr/>
        </p:nvSpPr>
        <p:spPr bwMode="auto">
          <a:xfrm flipH="1">
            <a:off x="8764553" y="2067385"/>
            <a:ext cx="357717" cy="385303"/>
          </a:xfrm>
          <a:prstGeom prst="line">
            <a:avLst/>
          </a:prstGeom>
          <a:noFill/>
          <a:ln w="63500">
            <a:solidFill>
              <a:srgbClr val="009DD9"/>
            </a:solidFill>
            <a:round/>
            <a:tailEnd type="triangle" w="med" len="med"/>
          </a:ln>
        </p:spPr>
        <p:txBody>
          <a:bodyPr/>
          <a:lstStyle/>
          <a:p>
            <a:pPr fontAlgn="base">
              <a:lnSpc>
                <a:spcPct val="140000"/>
              </a:lnSpc>
              <a:spcBef>
                <a:spcPct val="20000"/>
              </a:spcBef>
              <a:spcAft>
                <a:spcPct val="0"/>
              </a:spcAft>
              <a:buClr>
                <a:srgbClr val="FFFF00"/>
              </a:buClr>
              <a:buSzPct val="95000"/>
              <a:buFont typeface="Wingdings" panose="05000000000000000000" pitchFamily="2" charset="2"/>
              <a:buChar char="Ø"/>
              <a:defRPr/>
            </a:pPr>
            <a:endParaRPr lang="zh-CN" altLang="en-US" sz="2400" b="1" kern="0">
              <a:solidFill>
                <a:srgbClr val="0000FF"/>
              </a:solidFill>
              <a:latin typeface="Constantia" pitchFamily="18" charset="0"/>
            </a:endParaRPr>
          </a:p>
        </p:txBody>
      </p:sp>
      <p:sp>
        <p:nvSpPr>
          <p:cNvPr id="19" name="Text Box 41"/>
          <p:cNvSpPr txBox="1">
            <a:spLocks noChangeArrowheads="1"/>
          </p:cNvSpPr>
          <p:nvPr/>
        </p:nvSpPr>
        <p:spPr bwMode="auto">
          <a:xfrm>
            <a:off x="9509533" y="1662113"/>
            <a:ext cx="835112" cy="461665"/>
          </a:xfrm>
          <a:prstGeom prst="rect">
            <a:avLst/>
          </a:prstGeom>
          <a:noFill/>
          <a:ln w="38100" cmpd="dbl" algn="ctr">
            <a:solidFill>
              <a:srgbClr val="808000"/>
            </a:solidFill>
            <a:miter lim="800000"/>
          </a:ln>
        </p:spPr>
        <p:txBody>
          <a:bodyPr wrap="square">
            <a:spAutoFit/>
          </a:bodyPr>
          <a:lstStyle/>
          <a:p>
            <a:pPr fontAlgn="base">
              <a:spcBef>
                <a:spcPct val="25000"/>
              </a:spcBef>
              <a:spcAft>
                <a:spcPct val="0"/>
              </a:spcAft>
            </a:pPr>
            <a:r>
              <a:rPr kumimoji="1" lang="zh-CN" altLang="en-US" sz="2400" b="1">
                <a:solidFill>
                  <a:srgbClr val="0707F9"/>
                </a:solidFill>
                <a:latin typeface="Times New Roman" panose="02020503050405090304" pitchFamily="18" charset="0"/>
              </a:rPr>
              <a:t>入栈</a:t>
            </a:r>
          </a:p>
        </p:txBody>
      </p:sp>
      <p:sp>
        <p:nvSpPr>
          <p:cNvPr id="20" name="Line 42"/>
          <p:cNvSpPr>
            <a:spLocks noChangeShapeType="1"/>
          </p:cNvSpPr>
          <p:nvPr/>
        </p:nvSpPr>
        <p:spPr bwMode="auto">
          <a:xfrm flipH="1" flipV="1">
            <a:off x="7897778" y="2031434"/>
            <a:ext cx="357717" cy="424429"/>
          </a:xfrm>
          <a:prstGeom prst="line">
            <a:avLst/>
          </a:prstGeom>
          <a:noFill/>
          <a:ln w="63500">
            <a:solidFill>
              <a:srgbClr val="009DD9"/>
            </a:solidFill>
            <a:round/>
            <a:tailEnd type="triangle" w="med" len="med"/>
          </a:ln>
        </p:spPr>
        <p:txBody>
          <a:bodyPr/>
          <a:lstStyle/>
          <a:p>
            <a:pPr fontAlgn="base">
              <a:lnSpc>
                <a:spcPct val="140000"/>
              </a:lnSpc>
              <a:spcBef>
                <a:spcPct val="20000"/>
              </a:spcBef>
              <a:spcAft>
                <a:spcPct val="0"/>
              </a:spcAft>
              <a:buClr>
                <a:srgbClr val="FFFF00"/>
              </a:buClr>
              <a:buSzPct val="95000"/>
              <a:buFont typeface="Wingdings" panose="05000000000000000000" pitchFamily="2" charset="2"/>
              <a:buChar char="Ø"/>
              <a:defRPr/>
            </a:pPr>
            <a:endParaRPr lang="zh-CN" altLang="en-US" sz="2400" b="1" kern="0">
              <a:solidFill>
                <a:srgbClr val="0000FF"/>
              </a:solidFill>
              <a:latin typeface="Constantia" pitchFamily="18" charset="0"/>
            </a:endParaRPr>
          </a:p>
        </p:txBody>
      </p:sp>
      <p:sp>
        <p:nvSpPr>
          <p:cNvPr id="21" name="Text Box 43"/>
          <p:cNvSpPr txBox="1">
            <a:spLocks noChangeArrowheads="1"/>
          </p:cNvSpPr>
          <p:nvPr/>
        </p:nvSpPr>
        <p:spPr bwMode="auto">
          <a:xfrm>
            <a:off x="6837857" y="1733551"/>
            <a:ext cx="804863" cy="461665"/>
          </a:xfrm>
          <a:prstGeom prst="rect">
            <a:avLst/>
          </a:prstGeom>
          <a:noFill/>
          <a:ln w="38100" cmpd="dbl" algn="ctr">
            <a:solidFill>
              <a:srgbClr val="808000"/>
            </a:solidFill>
            <a:miter lim="800000"/>
          </a:ln>
        </p:spPr>
        <p:txBody>
          <a:bodyPr wrap="square">
            <a:spAutoFit/>
          </a:bodyPr>
          <a:lstStyle/>
          <a:p>
            <a:pPr fontAlgn="base">
              <a:spcBef>
                <a:spcPct val="25000"/>
              </a:spcBef>
              <a:spcAft>
                <a:spcPct val="0"/>
              </a:spcAft>
            </a:pPr>
            <a:r>
              <a:rPr kumimoji="1" lang="zh-CN" altLang="en-US" sz="2400" b="1">
                <a:solidFill>
                  <a:srgbClr val="0707F9"/>
                </a:solidFill>
                <a:latin typeface="Times New Roman" panose="02020503050405090304" pitchFamily="18" charset="0"/>
              </a:rPr>
              <a:t>出栈</a:t>
            </a:r>
          </a:p>
        </p:txBody>
      </p:sp>
      <p:sp>
        <p:nvSpPr>
          <p:cNvPr id="5" name="矩形 4"/>
          <p:cNvSpPr/>
          <p:nvPr/>
        </p:nvSpPr>
        <p:spPr>
          <a:xfrm>
            <a:off x="609328" y="2704845"/>
            <a:ext cx="5702696" cy="2834174"/>
          </a:xfrm>
          <a:prstGeom prst="rect">
            <a:avLst/>
          </a:prstGeom>
        </p:spPr>
        <p:txBody>
          <a:bodyPr wrap="square">
            <a:spAutoFit/>
          </a:bodyPr>
          <a:lstStyle/>
          <a:p>
            <a:pPr lvl="1">
              <a:lnSpc>
                <a:spcPts val="3100"/>
              </a:lnSpc>
            </a:pPr>
            <a:r>
              <a:rPr lang="zh-CN" altLang="en-US" b="1" dirty="0"/>
              <a:t>栈的相关术语</a:t>
            </a:r>
            <a:r>
              <a:rPr lang="en-US" altLang="zh-CN" b="1" dirty="0"/>
              <a:t>:</a:t>
            </a:r>
          </a:p>
          <a:p>
            <a:pPr lvl="1">
              <a:lnSpc>
                <a:spcPts val="3100"/>
              </a:lnSpc>
            </a:pPr>
            <a:r>
              <a:rPr lang="zh-CN" altLang="en-US" b="1" dirty="0">
                <a:solidFill>
                  <a:srgbClr val="FF0000"/>
                </a:solidFill>
              </a:rPr>
              <a:t>栈顶</a:t>
            </a:r>
            <a:r>
              <a:rPr lang="en-US" altLang="zh-CN" b="1" dirty="0">
                <a:solidFill>
                  <a:srgbClr val="FF0000"/>
                </a:solidFill>
              </a:rPr>
              <a:t>(top)</a:t>
            </a:r>
            <a:r>
              <a:rPr lang="zh-CN" altLang="en-US" b="1" dirty="0"/>
              <a:t>是栈中允许插入和删除的一端</a:t>
            </a:r>
          </a:p>
          <a:p>
            <a:pPr lvl="1">
              <a:lnSpc>
                <a:spcPts val="3100"/>
              </a:lnSpc>
            </a:pPr>
            <a:r>
              <a:rPr lang="zh-CN" altLang="en-US" b="1" dirty="0">
                <a:solidFill>
                  <a:srgbClr val="FF0000"/>
                </a:solidFill>
              </a:rPr>
              <a:t>栈底</a:t>
            </a:r>
            <a:r>
              <a:rPr lang="en-US" altLang="zh-CN" b="1" dirty="0">
                <a:solidFill>
                  <a:srgbClr val="FF0000"/>
                </a:solidFill>
              </a:rPr>
              <a:t>(bottom)</a:t>
            </a:r>
            <a:r>
              <a:rPr lang="zh-CN" altLang="en-US" b="1" dirty="0"/>
              <a:t>是栈顶的另一端</a:t>
            </a:r>
            <a:endParaRPr lang="en-US" altLang="zh-CN" b="1" dirty="0"/>
          </a:p>
          <a:p>
            <a:pPr lvl="1">
              <a:lnSpc>
                <a:spcPts val="3100"/>
              </a:lnSpc>
            </a:pPr>
            <a:endParaRPr lang="en-US" altLang="zh-CN" b="1" dirty="0"/>
          </a:p>
          <a:p>
            <a:pPr lvl="1">
              <a:lnSpc>
                <a:spcPts val="3100"/>
              </a:lnSpc>
            </a:pPr>
            <a:r>
              <a:rPr lang="zh-CN" altLang="en-US" b="1" dirty="0">
                <a:solidFill>
                  <a:srgbClr val="FF0000"/>
                </a:solidFill>
              </a:rPr>
              <a:t>后进先出</a:t>
            </a:r>
            <a:r>
              <a:rPr lang="en-US" altLang="zh-CN" b="1" dirty="0"/>
              <a:t>(Last In First Out</a:t>
            </a:r>
            <a:r>
              <a:rPr lang="zh-CN" altLang="en-US" b="1" dirty="0"/>
              <a:t>，简称</a:t>
            </a:r>
            <a:r>
              <a:rPr lang="en-US" altLang="zh-CN" b="1" dirty="0"/>
              <a:t>LIFO)</a:t>
            </a:r>
            <a:r>
              <a:rPr lang="zh-CN" altLang="en-US" b="1" dirty="0"/>
              <a:t>。又称栈为后进先出表</a:t>
            </a:r>
            <a:r>
              <a:rPr lang="en-US" altLang="zh-CN" b="1" dirty="0"/>
              <a:t>(</a:t>
            </a:r>
            <a:r>
              <a:rPr lang="zh-CN" altLang="en-US" b="1" dirty="0"/>
              <a:t>简称</a:t>
            </a:r>
            <a:r>
              <a:rPr lang="en-US" altLang="zh-CN" b="1" dirty="0"/>
              <a:t>LIFO</a:t>
            </a:r>
            <a:r>
              <a:rPr lang="zh-CN" altLang="en-US" b="1" dirty="0"/>
              <a:t>结构</a:t>
            </a:r>
            <a:r>
              <a:rPr lang="en-US" altLang="zh-CN" b="1" dirty="0"/>
              <a:t>)</a:t>
            </a:r>
            <a:r>
              <a:rPr lang="zh-CN" altLang="en-US" b="1" dirty="0"/>
              <a:t> </a:t>
            </a:r>
            <a:endParaRPr lang="en-US" altLang="zh-CN" b="1" dirty="0"/>
          </a:p>
          <a:p>
            <a:pPr lvl="1">
              <a:lnSpc>
                <a:spcPts val="3100"/>
              </a:lnSpc>
            </a:pPr>
            <a:endParaRPr lang="zh-CN" altLang="en-US" b="1" dirty="0"/>
          </a:p>
        </p:txBody>
      </p:sp>
      <p:sp>
        <p:nvSpPr>
          <p:cNvPr id="22" name="文本框 21"/>
          <p:cNvSpPr txBox="1"/>
          <p:nvPr/>
        </p:nvSpPr>
        <p:spPr>
          <a:xfrm>
            <a:off x="573140" y="1471098"/>
            <a:ext cx="6096000" cy="843693"/>
          </a:xfrm>
          <a:prstGeom prst="rect">
            <a:avLst/>
          </a:prstGeom>
          <a:noFill/>
        </p:spPr>
        <p:txBody>
          <a:bodyPr wrap="square">
            <a:spAutoFit/>
          </a:bodyPr>
          <a:lstStyle/>
          <a:p>
            <a:pPr lvl="1">
              <a:lnSpc>
                <a:spcPts val="3100"/>
              </a:lnSpc>
            </a:pPr>
            <a:r>
              <a:rPr lang="zh-CN" altLang="en-US" b="1" dirty="0">
                <a:solidFill>
                  <a:srgbClr val="FF0000"/>
                </a:solidFill>
              </a:rPr>
              <a:t>栈</a:t>
            </a:r>
            <a:r>
              <a:rPr lang="en-US" altLang="zh-CN" b="1" dirty="0">
                <a:solidFill>
                  <a:srgbClr val="FF0000"/>
                </a:solidFill>
              </a:rPr>
              <a:t>(Stack)</a:t>
            </a:r>
            <a:r>
              <a:rPr lang="zh-CN" altLang="en-US" b="1" dirty="0"/>
              <a:t>是一种特殊的</a:t>
            </a:r>
            <a:r>
              <a:rPr lang="zh-CN" altLang="en-US" b="1" dirty="0">
                <a:solidFill>
                  <a:srgbClr val="FF0000"/>
                </a:solidFill>
              </a:rPr>
              <a:t>线性表</a:t>
            </a:r>
            <a:r>
              <a:rPr lang="zh-CN" altLang="en-US" b="1" dirty="0"/>
              <a:t>，其</a:t>
            </a:r>
            <a:r>
              <a:rPr lang="zh-CN" altLang="en-US" b="1" dirty="0">
                <a:solidFill>
                  <a:srgbClr val="1B06BA"/>
                </a:solidFill>
              </a:rPr>
              <a:t>插入和删除操作均在表的一端</a:t>
            </a:r>
            <a:r>
              <a:rPr lang="zh-CN" altLang="en-US" b="1" dirty="0"/>
              <a:t>进行，是一种运算受限的线性表。</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P spid="17" grpId="0" animBg="1"/>
      <p:bldP spid="18" grpId="0" animBg="1"/>
      <p:bldP spid="19" grpId="0" animBg="1"/>
      <p:bldP spid="20" grpId="0" animBg="1"/>
      <p:bldP spid="21"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panose="020B0604020202090204" pitchFamily="34" charset="0"/>
                <a:ea typeface="宋体" pitchFamily="2" charset="-122"/>
                <a:cs typeface="+mn-cs"/>
              </a:rPr>
              <a:t>13.3  </a:t>
            </a:r>
            <a:r>
              <a:rPr kumimoji="1" lang="zh-CN" altLang="en-US" sz="3200" b="1" dirty="0">
                <a:latin typeface="Arial" panose="020B0604020202090204" pitchFamily="34" charset="0"/>
                <a:ea typeface="宋体" pitchFamily="2" charset="-122"/>
                <a:cs typeface="+mn-cs"/>
              </a:rPr>
              <a:t>栈的定义和基本操作</a:t>
            </a:r>
          </a:p>
        </p:txBody>
      </p:sp>
      <p:sp>
        <p:nvSpPr>
          <p:cNvPr id="3" name="内容占位符 2"/>
          <p:cNvSpPr>
            <a:spLocks noGrp="1"/>
          </p:cNvSpPr>
          <p:nvPr>
            <p:ph idx="1"/>
          </p:nvPr>
        </p:nvSpPr>
        <p:spPr>
          <a:xfrm>
            <a:off x="2014860" y="1246188"/>
            <a:ext cx="8229600" cy="5105400"/>
          </a:xfrm>
        </p:spPr>
        <p:txBody>
          <a:bodyPr>
            <a:normAutofit/>
          </a:bodyPr>
          <a:lstStyle/>
          <a:p>
            <a:pPr>
              <a:lnSpc>
                <a:spcPts val="3100"/>
              </a:lnSpc>
            </a:pPr>
            <a:r>
              <a:rPr lang="zh-CN" altLang="en-US" b="1" dirty="0"/>
              <a:t>抽象数据类型</a:t>
            </a:r>
            <a:r>
              <a:rPr lang="en-US" altLang="zh-CN" b="1" dirty="0"/>
              <a:t>:</a:t>
            </a:r>
            <a:r>
              <a:rPr lang="zh-CN" altLang="en-US" b="1" dirty="0"/>
              <a:t> 栈</a:t>
            </a:r>
            <a:endParaRPr lang="en-US" altLang="zh-CN" b="1" dirty="0"/>
          </a:p>
          <a:p>
            <a:pPr>
              <a:lnSpc>
                <a:spcPts val="3100"/>
              </a:lnSpc>
            </a:pPr>
            <a:endParaRPr lang="en-US" altLang="zh-CN" b="1" dirty="0"/>
          </a:p>
          <a:p>
            <a:pPr>
              <a:lnSpc>
                <a:spcPts val="3100"/>
              </a:lnSpc>
            </a:pPr>
            <a:endParaRPr lang="en-US" altLang="zh-CN" b="1" dirty="0"/>
          </a:p>
          <a:p>
            <a:pPr>
              <a:lnSpc>
                <a:spcPts val="3100"/>
              </a:lnSpc>
            </a:pPr>
            <a:endParaRPr lang="en-US" altLang="zh-CN" b="1" dirty="0"/>
          </a:p>
          <a:p>
            <a:pPr>
              <a:lnSpc>
                <a:spcPts val="3100"/>
              </a:lnSpc>
            </a:pPr>
            <a:endParaRPr lang="en-US" altLang="zh-CN" b="1" dirty="0"/>
          </a:p>
          <a:p>
            <a:pPr>
              <a:lnSpc>
                <a:spcPts val="3100"/>
              </a:lnSpc>
            </a:pPr>
            <a:endParaRPr lang="en-US" altLang="zh-CN" b="1" dirty="0"/>
          </a:p>
          <a:p>
            <a:pPr>
              <a:lnSpc>
                <a:spcPts val="3100"/>
              </a:lnSpc>
            </a:pPr>
            <a:endParaRPr lang="en-US" altLang="zh-CN" b="1" dirty="0"/>
          </a:p>
          <a:p>
            <a:pPr>
              <a:lnSpc>
                <a:spcPts val="3100"/>
              </a:lnSpc>
            </a:pPr>
            <a:endParaRPr lang="en-US" altLang="zh-CN" b="1" dirty="0"/>
          </a:p>
          <a:p>
            <a:pPr lvl="1">
              <a:lnSpc>
                <a:spcPts val="3100"/>
              </a:lnSpc>
            </a:pPr>
            <a:endParaRPr lang="zh-CN" altLang="en-US" b="1" dirty="0"/>
          </a:p>
        </p:txBody>
      </p:sp>
      <p:sp>
        <p:nvSpPr>
          <p:cNvPr id="4" name="日期占位符 3"/>
          <p:cNvSpPr>
            <a:spLocks noGrp="1"/>
          </p:cNvSpPr>
          <p:nvPr>
            <p:ph type="dt" sz="half" idx="10"/>
          </p:nvPr>
        </p:nvSpPr>
        <p:spPr/>
        <p:txBody>
          <a:bodyPr/>
          <a:lstStyle/>
          <a:p>
            <a:fld id="{82C260F3-2F15-4643-BD88-DA7D2CC1FAEE}" type="datetime1">
              <a:rPr lang="zh-CN" altLang="en-US" b="1">
                <a:solidFill>
                  <a:srgbClr val="F79646">
                    <a:lumMod val="75000"/>
                  </a:srgbClr>
                </a:solidFill>
              </a:rPr>
              <a:t>2025/11/27</a:t>
            </a:fld>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t>27</a:t>
            </a:fld>
            <a:endParaRPr lang="zh-CN" altLang="en-US" b="1" dirty="0">
              <a:solidFill>
                <a:srgbClr val="F79646">
                  <a:lumMod val="75000"/>
                </a:srgbClr>
              </a:solidFill>
            </a:endParaRPr>
          </a:p>
        </p:txBody>
      </p:sp>
      <p:cxnSp>
        <p:nvCxnSpPr>
          <p:cNvPr id="12" name="直接连接符 11"/>
          <p:cNvCxnSpPr/>
          <p:nvPr/>
        </p:nvCxnSpPr>
        <p:spPr>
          <a:xfrm>
            <a:off x="1981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Text Box 3"/>
          <p:cNvSpPr txBox="1">
            <a:spLocks noChangeArrowheads="1"/>
          </p:cNvSpPr>
          <p:nvPr/>
        </p:nvSpPr>
        <p:spPr bwMode="auto">
          <a:xfrm>
            <a:off x="2133601" y="1782763"/>
            <a:ext cx="3221037" cy="3681412"/>
          </a:xfrm>
          <a:prstGeom prst="rect">
            <a:avLst/>
          </a:prstGeom>
          <a:noFill/>
          <a:ln w="9525">
            <a:noFill/>
            <a:miter lim="800000"/>
          </a:ln>
        </p:spPr>
        <p:txBody>
          <a:bodyPr>
            <a:spAutoFit/>
          </a:bodyPr>
          <a:lstStyle/>
          <a:p>
            <a:pPr eaLnBrk="0" fontAlgn="base" hangingPunct="0">
              <a:lnSpc>
                <a:spcPct val="120000"/>
              </a:lnSpc>
              <a:spcBef>
                <a:spcPct val="0"/>
              </a:spcBef>
              <a:spcAft>
                <a:spcPct val="0"/>
              </a:spcAft>
            </a:pPr>
            <a:r>
              <a:rPr kumimoji="1" lang="zh-CN" altLang="en-US" sz="2800" b="1" dirty="0">
                <a:solidFill>
                  <a:srgbClr val="0000FF"/>
                </a:solidFill>
                <a:latin typeface="Times New Roman" panose="02020503050405090304" pitchFamily="18" charset="0"/>
              </a:rPr>
              <a:t>   </a:t>
            </a:r>
            <a:r>
              <a:rPr kumimoji="1" lang="en-US" altLang="zh-CN" sz="2800" b="1" dirty="0">
                <a:solidFill>
                  <a:srgbClr val="0000FF"/>
                </a:solidFill>
                <a:latin typeface="Times New Roman" panose="02020503050405090304" pitchFamily="18" charset="0"/>
              </a:rPr>
              <a:t>ADT Stack {</a:t>
            </a:r>
          </a:p>
          <a:p>
            <a:pPr eaLnBrk="0" fontAlgn="base" hangingPunct="0">
              <a:lnSpc>
                <a:spcPct val="120000"/>
              </a:lnSpc>
              <a:spcBef>
                <a:spcPct val="0"/>
              </a:spcBef>
              <a:spcAft>
                <a:spcPct val="0"/>
              </a:spcAft>
            </a:pPr>
            <a:endParaRPr kumimoji="1" lang="en-US" altLang="zh-CN" sz="2800" b="1" dirty="0">
              <a:solidFill>
                <a:srgbClr val="0000FF"/>
              </a:solidFill>
              <a:latin typeface="Times New Roman" panose="02020503050405090304" pitchFamily="18" charset="0"/>
            </a:endParaRPr>
          </a:p>
          <a:p>
            <a:pPr eaLnBrk="0" fontAlgn="base" hangingPunct="0">
              <a:lnSpc>
                <a:spcPct val="120000"/>
              </a:lnSpc>
              <a:spcBef>
                <a:spcPct val="0"/>
              </a:spcBef>
              <a:spcAft>
                <a:spcPct val="0"/>
              </a:spcAft>
            </a:pPr>
            <a:r>
              <a:rPr kumimoji="1" lang="en-US" altLang="zh-CN" sz="2800" b="1" dirty="0">
                <a:solidFill>
                  <a:srgbClr val="0000FF"/>
                </a:solidFill>
                <a:latin typeface="Times New Roman" panose="02020503050405090304" pitchFamily="18" charset="0"/>
              </a:rPr>
              <a:t>      </a:t>
            </a:r>
            <a:r>
              <a:rPr kumimoji="1" lang="zh-CN" altLang="en-US" sz="2800" b="1" dirty="0">
                <a:solidFill>
                  <a:srgbClr val="0000FF"/>
                </a:solidFill>
                <a:latin typeface="Times New Roman" panose="02020503050405090304" pitchFamily="18" charset="0"/>
              </a:rPr>
              <a:t>数据对象：</a:t>
            </a:r>
          </a:p>
          <a:p>
            <a:pPr eaLnBrk="0" fontAlgn="base" hangingPunct="0">
              <a:lnSpc>
                <a:spcPct val="120000"/>
              </a:lnSpc>
              <a:spcBef>
                <a:spcPct val="0"/>
              </a:spcBef>
              <a:spcAft>
                <a:spcPct val="0"/>
              </a:spcAft>
            </a:pPr>
            <a:endParaRPr kumimoji="1" lang="zh-CN" altLang="en-US" sz="2800" b="1" dirty="0">
              <a:solidFill>
                <a:srgbClr val="0000FF"/>
              </a:solidFill>
              <a:latin typeface="Times New Roman" panose="02020503050405090304" pitchFamily="18" charset="0"/>
            </a:endParaRPr>
          </a:p>
          <a:p>
            <a:pPr eaLnBrk="0" fontAlgn="base" hangingPunct="0">
              <a:lnSpc>
                <a:spcPct val="120000"/>
              </a:lnSpc>
              <a:spcBef>
                <a:spcPct val="0"/>
              </a:spcBef>
              <a:spcAft>
                <a:spcPct val="0"/>
              </a:spcAft>
            </a:pPr>
            <a:r>
              <a:rPr kumimoji="1" lang="zh-CN" altLang="en-US" sz="2800" b="1" dirty="0">
                <a:solidFill>
                  <a:srgbClr val="0000FF"/>
                </a:solidFill>
                <a:latin typeface="Times New Roman" panose="02020503050405090304" pitchFamily="18" charset="0"/>
              </a:rPr>
              <a:t>      数据关系：</a:t>
            </a:r>
          </a:p>
          <a:p>
            <a:pPr eaLnBrk="0" fontAlgn="base" hangingPunct="0">
              <a:lnSpc>
                <a:spcPct val="120000"/>
              </a:lnSpc>
              <a:spcBef>
                <a:spcPct val="0"/>
              </a:spcBef>
              <a:spcAft>
                <a:spcPct val="0"/>
              </a:spcAft>
            </a:pPr>
            <a:endParaRPr kumimoji="1" lang="zh-CN" altLang="en-US" sz="2800" b="1" dirty="0">
              <a:solidFill>
                <a:srgbClr val="0000FF"/>
              </a:solidFill>
              <a:latin typeface="Times New Roman" panose="02020503050405090304" pitchFamily="18" charset="0"/>
            </a:endParaRPr>
          </a:p>
          <a:p>
            <a:pPr eaLnBrk="0" fontAlgn="base" hangingPunct="0">
              <a:lnSpc>
                <a:spcPct val="120000"/>
              </a:lnSpc>
              <a:spcBef>
                <a:spcPct val="0"/>
              </a:spcBef>
              <a:spcAft>
                <a:spcPct val="0"/>
              </a:spcAft>
            </a:pPr>
            <a:r>
              <a:rPr kumimoji="1" lang="zh-CN" altLang="en-US" sz="2800" b="1" dirty="0">
                <a:solidFill>
                  <a:srgbClr val="0000FF"/>
                </a:solidFill>
                <a:latin typeface="Times New Roman" panose="02020503050405090304" pitchFamily="18" charset="0"/>
              </a:rPr>
              <a:t>         </a:t>
            </a:r>
          </a:p>
        </p:txBody>
      </p:sp>
      <p:sp>
        <p:nvSpPr>
          <p:cNvPr id="24" name="Text Box 5">
            <a:hlinkClick r:id="" action="ppaction://hlinkshowjump?jump=nextslide"/>
          </p:cNvPr>
          <p:cNvSpPr txBox="1">
            <a:spLocks noChangeArrowheads="1"/>
          </p:cNvSpPr>
          <p:nvPr/>
        </p:nvSpPr>
        <p:spPr bwMode="auto">
          <a:xfrm>
            <a:off x="2690812" y="4737100"/>
            <a:ext cx="1970088" cy="604838"/>
          </a:xfrm>
          <a:prstGeom prst="rect">
            <a:avLst/>
          </a:prstGeom>
          <a:noFill/>
          <a:ln w="9525" algn="ctr">
            <a:noFill/>
            <a:miter lim="800000"/>
          </a:ln>
        </p:spPr>
        <p:txBody>
          <a:bodyPr wrap="none">
            <a:spAutoFit/>
          </a:bodyPr>
          <a:lstStyle/>
          <a:p>
            <a:pPr eaLnBrk="0" fontAlgn="base" hangingPunct="0">
              <a:lnSpc>
                <a:spcPct val="120000"/>
              </a:lnSpc>
              <a:spcBef>
                <a:spcPct val="0"/>
              </a:spcBef>
              <a:spcAft>
                <a:spcPct val="0"/>
              </a:spcAft>
            </a:pPr>
            <a:r>
              <a:rPr kumimoji="1" lang="zh-CN" altLang="en-US" sz="2800" b="1" dirty="0">
                <a:solidFill>
                  <a:srgbClr val="0000FF"/>
                </a:solidFill>
                <a:latin typeface="Times New Roman" panose="02020503050405090304" pitchFamily="18" charset="0"/>
              </a:rPr>
              <a:t>基本操作：</a:t>
            </a:r>
          </a:p>
        </p:txBody>
      </p:sp>
      <p:sp>
        <p:nvSpPr>
          <p:cNvPr id="25" name="Text Box 6"/>
          <p:cNvSpPr txBox="1">
            <a:spLocks noChangeArrowheads="1"/>
          </p:cNvSpPr>
          <p:nvPr/>
        </p:nvSpPr>
        <p:spPr bwMode="auto">
          <a:xfrm>
            <a:off x="2546351" y="5643564"/>
            <a:ext cx="2192337" cy="604837"/>
          </a:xfrm>
          <a:prstGeom prst="rect">
            <a:avLst/>
          </a:prstGeom>
          <a:noFill/>
          <a:ln w="9525" algn="ctr">
            <a:noFill/>
            <a:miter lim="800000"/>
          </a:ln>
        </p:spPr>
        <p:txBody>
          <a:bodyPr wrap="none">
            <a:spAutoFit/>
          </a:bodyPr>
          <a:lstStyle/>
          <a:p>
            <a:pPr eaLnBrk="0" fontAlgn="base" hangingPunct="0">
              <a:lnSpc>
                <a:spcPct val="120000"/>
              </a:lnSpc>
              <a:spcBef>
                <a:spcPct val="0"/>
              </a:spcBef>
              <a:spcAft>
                <a:spcPct val="0"/>
              </a:spcAft>
            </a:pPr>
            <a:r>
              <a:rPr kumimoji="1" lang="zh-CN" altLang="en-US" sz="2800" b="1" dirty="0">
                <a:solidFill>
                  <a:srgbClr val="0000FF"/>
                </a:solidFill>
                <a:latin typeface="Times New Roman" panose="02020503050405090304" pitchFamily="18" charset="0"/>
                <a:ea typeface="楷体_GB2312" pitchFamily="49" charset="-122"/>
              </a:rPr>
              <a:t> </a:t>
            </a:r>
            <a:r>
              <a:rPr kumimoji="1" lang="en-US" altLang="zh-CN" sz="2800" b="1" dirty="0">
                <a:solidFill>
                  <a:srgbClr val="0000FF"/>
                </a:solidFill>
                <a:latin typeface="Times New Roman" panose="02020503050405090304" pitchFamily="18" charset="0"/>
                <a:ea typeface="楷体_GB2312" pitchFamily="49" charset="-122"/>
              </a:rPr>
              <a:t>} ADT Stack</a:t>
            </a:r>
          </a:p>
        </p:txBody>
      </p:sp>
      <p:sp>
        <p:nvSpPr>
          <p:cNvPr id="26" name="Text Box 8"/>
          <p:cNvSpPr txBox="1">
            <a:spLocks noChangeArrowheads="1"/>
          </p:cNvSpPr>
          <p:nvPr/>
        </p:nvSpPr>
        <p:spPr bwMode="auto">
          <a:xfrm>
            <a:off x="4419600" y="3798888"/>
            <a:ext cx="5746750" cy="1117600"/>
          </a:xfrm>
          <a:prstGeom prst="rect">
            <a:avLst/>
          </a:prstGeom>
          <a:noFill/>
          <a:ln w="9525">
            <a:noFill/>
            <a:miter lim="800000"/>
          </a:ln>
        </p:spPr>
        <p:txBody>
          <a:bodyPr wrap="none">
            <a:spAutoFit/>
          </a:bodyPr>
          <a:lstStyle/>
          <a:p>
            <a:pPr eaLnBrk="0" fontAlgn="base" hangingPunct="0">
              <a:lnSpc>
                <a:spcPct val="120000"/>
              </a:lnSpc>
              <a:spcBef>
                <a:spcPct val="0"/>
              </a:spcBef>
              <a:spcAft>
                <a:spcPct val="0"/>
              </a:spcAft>
            </a:pPr>
            <a:r>
              <a:rPr kumimoji="1" lang="en-US" altLang="zh-CN" sz="2800" b="1" dirty="0">
                <a:solidFill>
                  <a:srgbClr val="000000"/>
                </a:solidFill>
                <a:latin typeface="Times New Roman" panose="02020503050405090304" pitchFamily="18" charset="0"/>
                <a:ea typeface="楷体_GB2312" pitchFamily="49" charset="-122"/>
              </a:rPr>
              <a:t>R1</a:t>
            </a:r>
            <a:r>
              <a:rPr kumimoji="1" lang="zh-CN" altLang="en-US" sz="2800" b="1" dirty="0">
                <a:solidFill>
                  <a:srgbClr val="000000"/>
                </a:solidFill>
                <a:latin typeface="Times New Roman" panose="02020503050405090304" pitchFamily="18" charset="0"/>
                <a:ea typeface="楷体_GB2312" pitchFamily="49" charset="-122"/>
              </a:rPr>
              <a:t>＝</a:t>
            </a:r>
            <a:r>
              <a:rPr kumimoji="1" lang="en-US" altLang="zh-CN" sz="2800" b="1" dirty="0">
                <a:solidFill>
                  <a:srgbClr val="000000"/>
                </a:solidFill>
                <a:latin typeface="Times New Roman" panose="02020503050405090304" pitchFamily="18" charset="0"/>
                <a:ea typeface="楷体_GB2312" pitchFamily="49" charset="-122"/>
              </a:rPr>
              <a:t>{ &lt;a</a:t>
            </a:r>
            <a:r>
              <a:rPr kumimoji="1" lang="en-US" altLang="zh-CN" sz="2800" b="1" baseline="-25000" dirty="0">
                <a:solidFill>
                  <a:srgbClr val="000000"/>
                </a:solidFill>
                <a:latin typeface="Times New Roman" panose="02020503050405090304" pitchFamily="18" charset="0"/>
                <a:ea typeface="楷体_GB2312" pitchFamily="49" charset="-122"/>
              </a:rPr>
              <a:t>i-1</a:t>
            </a:r>
            <a:r>
              <a:rPr kumimoji="1" lang="en-US" altLang="zh-CN" sz="2800" b="1" dirty="0">
                <a:solidFill>
                  <a:srgbClr val="000000"/>
                </a:solidFill>
                <a:latin typeface="Times New Roman" panose="02020503050405090304" pitchFamily="18" charset="0"/>
                <a:ea typeface="楷体_GB2312" pitchFamily="49" charset="-122"/>
              </a:rPr>
              <a:t>, a</a:t>
            </a:r>
            <a:r>
              <a:rPr kumimoji="1" lang="en-US" altLang="zh-CN" sz="2800" b="1" baseline="-25000" dirty="0">
                <a:solidFill>
                  <a:srgbClr val="000000"/>
                </a:solidFill>
                <a:latin typeface="Times New Roman" panose="02020503050405090304" pitchFamily="18" charset="0"/>
                <a:ea typeface="楷体_GB2312" pitchFamily="49" charset="-122"/>
              </a:rPr>
              <a:t>i</a:t>
            </a:r>
            <a:r>
              <a:rPr kumimoji="1" lang="en-US" altLang="zh-CN" sz="2800" b="1" dirty="0">
                <a:solidFill>
                  <a:srgbClr val="000000"/>
                </a:solidFill>
                <a:latin typeface="Times New Roman" panose="02020503050405090304" pitchFamily="18" charset="0"/>
                <a:ea typeface="楷体_GB2312" pitchFamily="49" charset="-122"/>
              </a:rPr>
              <a:t> &gt;| a</a:t>
            </a:r>
            <a:r>
              <a:rPr kumimoji="1" lang="en-US" altLang="zh-CN" sz="2800" b="1" baseline="-25000" dirty="0">
                <a:solidFill>
                  <a:srgbClr val="000000"/>
                </a:solidFill>
                <a:latin typeface="Times New Roman" panose="02020503050405090304" pitchFamily="18" charset="0"/>
                <a:ea typeface="楷体_GB2312" pitchFamily="49" charset="-122"/>
              </a:rPr>
              <a:t>i-1</a:t>
            </a:r>
            <a:r>
              <a:rPr kumimoji="1" lang="en-US" altLang="zh-CN" sz="2800" b="1" dirty="0">
                <a:solidFill>
                  <a:srgbClr val="000000"/>
                </a:solidFill>
                <a:latin typeface="Times New Roman" panose="02020503050405090304" pitchFamily="18" charset="0"/>
                <a:ea typeface="楷体_GB2312" pitchFamily="49" charset="-122"/>
              </a:rPr>
              <a:t>, </a:t>
            </a:r>
            <a:r>
              <a:rPr kumimoji="1" lang="en-US" altLang="zh-CN" sz="2800" b="1" dirty="0" err="1">
                <a:solidFill>
                  <a:srgbClr val="000000"/>
                </a:solidFill>
                <a:latin typeface="Times New Roman" panose="02020503050405090304" pitchFamily="18" charset="0"/>
                <a:ea typeface="楷体_GB2312" pitchFamily="49" charset="-122"/>
              </a:rPr>
              <a:t>a</a:t>
            </a:r>
            <a:r>
              <a:rPr kumimoji="1" lang="en-US" altLang="zh-CN" sz="2800" b="1" baseline="-25000" dirty="0" err="1">
                <a:solidFill>
                  <a:srgbClr val="000000"/>
                </a:solidFill>
                <a:latin typeface="Times New Roman" panose="02020503050405090304" pitchFamily="18" charset="0"/>
                <a:ea typeface="楷体_GB2312" pitchFamily="49" charset="-122"/>
              </a:rPr>
              <a:t>i</a:t>
            </a:r>
            <a:r>
              <a:rPr kumimoji="1" lang="en-US" altLang="zh-CN" sz="2800" b="1" dirty="0" err="1">
                <a:solidFill>
                  <a:srgbClr val="000000"/>
                </a:solidFill>
                <a:latin typeface="Times New Roman" panose="02020503050405090304" pitchFamily="18" charset="0"/>
                <a:ea typeface="楷体_GB2312" pitchFamily="49" charset="-122"/>
              </a:rPr>
              <a:t>∈D</a:t>
            </a:r>
            <a:r>
              <a:rPr kumimoji="1" lang="en-US" altLang="zh-CN" sz="2800" b="1" dirty="0">
                <a:solidFill>
                  <a:srgbClr val="000000"/>
                </a:solidFill>
                <a:latin typeface="Times New Roman" panose="02020503050405090304" pitchFamily="18" charset="0"/>
                <a:ea typeface="楷体_GB2312" pitchFamily="49" charset="-122"/>
              </a:rPr>
              <a:t>, </a:t>
            </a:r>
            <a:r>
              <a:rPr kumimoji="1" lang="en-US" altLang="zh-CN" sz="2800" b="1" dirty="0" err="1">
                <a:solidFill>
                  <a:srgbClr val="000000"/>
                </a:solidFill>
                <a:latin typeface="Times New Roman" panose="02020503050405090304" pitchFamily="18" charset="0"/>
                <a:ea typeface="楷体_GB2312" pitchFamily="49" charset="-122"/>
              </a:rPr>
              <a:t>i</a:t>
            </a:r>
            <a:r>
              <a:rPr kumimoji="1" lang="en-US" altLang="zh-CN" sz="2800" b="1" dirty="0">
                <a:solidFill>
                  <a:srgbClr val="000000"/>
                </a:solidFill>
                <a:latin typeface="Times New Roman" panose="02020503050405090304" pitchFamily="18" charset="0"/>
                <a:ea typeface="楷体_GB2312" pitchFamily="49" charset="-122"/>
              </a:rPr>
              <a:t>=2,...,n }</a:t>
            </a:r>
          </a:p>
          <a:p>
            <a:pPr eaLnBrk="0" fontAlgn="base" hangingPunct="0">
              <a:lnSpc>
                <a:spcPct val="120000"/>
              </a:lnSpc>
              <a:spcBef>
                <a:spcPct val="0"/>
              </a:spcBef>
              <a:spcAft>
                <a:spcPct val="0"/>
              </a:spcAft>
            </a:pPr>
            <a:r>
              <a:rPr kumimoji="1" lang="zh-CN" altLang="en-US" sz="2800" b="1" dirty="0">
                <a:solidFill>
                  <a:srgbClr val="000000"/>
                </a:solidFill>
                <a:latin typeface="Times New Roman" panose="02020503050405090304" pitchFamily="18" charset="0"/>
                <a:ea typeface="楷体_GB2312" pitchFamily="49" charset="-122"/>
              </a:rPr>
              <a:t>约定</a:t>
            </a:r>
            <a:r>
              <a:rPr kumimoji="1" lang="en-US" altLang="zh-CN" sz="2800" b="1" dirty="0">
                <a:solidFill>
                  <a:srgbClr val="000000"/>
                </a:solidFill>
                <a:latin typeface="Times New Roman" panose="02020503050405090304" pitchFamily="18" charset="0"/>
                <a:ea typeface="楷体_GB2312" pitchFamily="49" charset="-122"/>
              </a:rPr>
              <a:t>a</a:t>
            </a:r>
            <a:r>
              <a:rPr kumimoji="1" lang="en-US" altLang="zh-CN" sz="2800" b="1" baseline="-25000" dirty="0">
                <a:solidFill>
                  <a:srgbClr val="000000"/>
                </a:solidFill>
                <a:latin typeface="Times New Roman" panose="02020503050405090304" pitchFamily="18" charset="0"/>
                <a:ea typeface="楷体_GB2312" pitchFamily="49" charset="-122"/>
              </a:rPr>
              <a:t>n</a:t>
            </a:r>
            <a:r>
              <a:rPr kumimoji="1" lang="en-US" altLang="zh-CN" sz="2800" b="1" dirty="0">
                <a:solidFill>
                  <a:srgbClr val="000000"/>
                </a:solidFill>
                <a:latin typeface="Times New Roman" panose="02020503050405090304" pitchFamily="18" charset="0"/>
                <a:ea typeface="楷体_GB2312" pitchFamily="49" charset="-122"/>
              </a:rPr>
              <a:t> </a:t>
            </a:r>
            <a:r>
              <a:rPr kumimoji="1" lang="zh-CN" altLang="en-US" sz="2800" b="1" dirty="0">
                <a:solidFill>
                  <a:srgbClr val="000000"/>
                </a:solidFill>
                <a:latin typeface="Times New Roman" panose="02020503050405090304" pitchFamily="18" charset="0"/>
                <a:ea typeface="楷体_GB2312" pitchFamily="49" charset="-122"/>
              </a:rPr>
              <a:t>端为栈顶，</a:t>
            </a:r>
            <a:r>
              <a:rPr kumimoji="1" lang="en-US" altLang="zh-CN" sz="2800" b="1" dirty="0">
                <a:solidFill>
                  <a:srgbClr val="000000"/>
                </a:solidFill>
                <a:latin typeface="Times New Roman" panose="02020503050405090304" pitchFamily="18" charset="0"/>
                <a:ea typeface="楷体_GB2312" pitchFamily="49" charset="-122"/>
              </a:rPr>
              <a:t>a</a:t>
            </a:r>
            <a:r>
              <a:rPr kumimoji="1" lang="en-US" altLang="zh-CN" sz="2800" b="1" baseline="-25000" dirty="0">
                <a:solidFill>
                  <a:srgbClr val="000000"/>
                </a:solidFill>
                <a:latin typeface="Times New Roman" panose="02020503050405090304" pitchFamily="18" charset="0"/>
                <a:ea typeface="楷体_GB2312" pitchFamily="49" charset="-122"/>
              </a:rPr>
              <a:t>1 </a:t>
            </a:r>
            <a:r>
              <a:rPr kumimoji="1" lang="zh-CN" altLang="en-US" sz="2800" b="1" dirty="0">
                <a:solidFill>
                  <a:srgbClr val="000000"/>
                </a:solidFill>
                <a:latin typeface="Times New Roman" panose="02020503050405090304" pitchFamily="18" charset="0"/>
                <a:ea typeface="楷体_GB2312" pitchFamily="49" charset="-122"/>
              </a:rPr>
              <a:t>端为栈底。  </a:t>
            </a:r>
          </a:p>
        </p:txBody>
      </p:sp>
      <p:sp>
        <p:nvSpPr>
          <p:cNvPr id="27" name="Text Box 9"/>
          <p:cNvSpPr txBox="1">
            <a:spLocks noChangeArrowheads="1"/>
          </p:cNvSpPr>
          <p:nvPr/>
        </p:nvSpPr>
        <p:spPr bwMode="auto">
          <a:xfrm>
            <a:off x="4419600" y="2790825"/>
            <a:ext cx="6248400" cy="604838"/>
          </a:xfrm>
          <a:prstGeom prst="rect">
            <a:avLst/>
          </a:prstGeom>
          <a:noFill/>
          <a:ln w="9525">
            <a:noFill/>
            <a:miter lim="800000"/>
          </a:ln>
        </p:spPr>
        <p:txBody>
          <a:bodyPr wrap="none">
            <a:spAutoFit/>
          </a:bodyPr>
          <a:lstStyle/>
          <a:p>
            <a:pPr eaLnBrk="0" fontAlgn="base" hangingPunct="0">
              <a:lnSpc>
                <a:spcPct val="120000"/>
              </a:lnSpc>
              <a:spcBef>
                <a:spcPct val="0"/>
              </a:spcBef>
              <a:spcAft>
                <a:spcPct val="0"/>
              </a:spcAft>
            </a:pPr>
            <a:r>
              <a:rPr kumimoji="1" lang="en-US" altLang="zh-CN" sz="2800" b="1" dirty="0">
                <a:solidFill>
                  <a:srgbClr val="000000"/>
                </a:solidFill>
                <a:latin typeface="Times New Roman" panose="02020503050405090304" pitchFamily="18" charset="0"/>
                <a:ea typeface="楷体_GB2312" pitchFamily="49" charset="-122"/>
              </a:rPr>
              <a:t>D</a:t>
            </a:r>
            <a:r>
              <a:rPr kumimoji="1" lang="zh-CN" altLang="en-US" sz="2800" b="1" dirty="0">
                <a:solidFill>
                  <a:srgbClr val="000000"/>
                </a:solidFill>
                <a:latin typeface="Times New Roman" panose="02020503050405090304" pitchFamily="18" charset="0"/>
                <a:ea typeface="楷体_GB2312" pitchFamily="49" charset="-122"/>
              </a:rPr>
              <a:t>＝</a:t>
            </a:r>
            <a:r>
              <a:rPr kumimoji="1" lang="en-US" altLang="zh-CN" sz="2800" b="1" dirty="0">
                <a:solidFill>
                  <a:srgbClr val="000000"/>
                </a:solidFill>
                <a:latin typeface="Times New Roman" panose="02020503050405090304" pitchFamily="18" charset="0"/>
                <a:ea typeface="楷体_GB2312" pitchFamily="49" charset="-122"/>
              </a:rPr>
              <a:t>{ </a:t>
            </a:r>
            <a:r>
              <a:rPr kumimoji="1" lang="en-US" altLang="zh-CN" sz="2800" b="1" dirty="0" err="1">
                <a:solidFill>
                  <a:srgbClr val="000000"/>
                </a:solidFill>
                <a:latin typeface="Times New Roman" panose="02020503050405090304" pitchFamily="18" charset="0"/>
                <a:ea typeface="楷体_GB2312" pitchFamily="49" charset="-122"/>
              </a:rPr>
              <a:t>a</a:t>
            </a:r>
            <a:r>
              <a:rPr kumimoji="1" lang="en-US" altLang="zh-CN" sz="2800" b="1" baseline="-25000" dirty="0" err="1">
                <a:solidFill>
                  <a:srgbClr val="000000"/>
                </a:solidFill>
                <a:latin typeface="Times New Roman" panose="02020503050405090304" pitchFamily="18" charset="0"/>
                <a:ea typeface="楷体_GB2312" pitchFamily="49" charset="-122"/>
              </a:rPr>
              <a:t>i</a:t>
            </a:r>
            <a:r>
              <a:rPr kumimoji="1" lang="en-US" altLang="zh-CN" sz="2800" b="1" dirty="0">
                <a:solidFill>
                  <a:srgbClr val="000000"/>
                </a:solidFill>
                <a:latin typeface="Times New Roman" panose="02020503050405090304" pitchFamily="18" charset="0"/>
                <a:ea typeface="楷体_GB2312" pitchFamily="49" charset="-122"/>
              </a:rPr>
              <a:t> | </a:t>
            </a:r>
            <a:r>
              <a:rPr kumimoji="1" lang="en-US" altLang="zh-CN" sz="2800" b="1" dirty="0" err="1">
                <a:solidFill>
                  <a:srgbClr val="000000"/>
                </a:solidFill>
                <a:latin typeface="Times New Roman" panose="02020503050405090304" pitchFamily="18" charset="0"/>
                <a:ea typeface="楷体_GB2312" pitchFamily="49" charset="-122"/>
              </a:rPr>
              <a:t>a</a:t>
            </a:r>
            <a:r>
              <a:rPr kumimoji="1" lang="en-US" altLang="zh-CN" sz="2800" b="1" baseline="-25000" dirty="0" err="1">
                <a:solidFill>
                  <a:srgbClr val="000000"/>
                </a:solidFill>
                <a:latin typeface="Times New Roman" panose="02020503050405090304" pitchFamily="18" charset="0"/>
                <a:ea typeface="楷体_GB2312" pitchFamily="49" charset="-122"/>
              </a:rPr>
              <a:t>i</a:t>
            </a:r>
            <a:r>
              <a:rPr kumimoji="1" lang="en-US" altLang="zh-CN" sz="2800" b="1" baseline="-25000" dirty="0">
                <a:solidFill>
                  <a:srgbClr val="000000"/>
                </a:solidFill>
                <a:latin typeface="Times New Roman" panose="02020503050405090304" pitchFamily="18" charset="0"/>
                <a:ea typeface="楷体_GB2312" pitchFamily="49" charset="-122"/>
              </a:rPr>
              <a:t> </a:t>
            </a:r>
            <a:r>
              <a:rPr kumimoji="1" lang="en-US" altLang="zh-CN" sz="2800" b="1" dirty="0">
                <a:solidFill>
                  <a:srgbClr val="000000"/>
                </a:solidFill>
                <a:latin typeface="Times New Roman" panose="02020503050405090304" pitchFamily="18" charset="0"/>
                <a:ea typeface="楷体_GB2312" pitchFamily="49" charset="-122"/>
              </a:rPr>
              <a:t>∈</a:t>
            </a:r>
            <a:r>
              <a:rPr kumimoji="1" lang="en-US" altLang="zh-CN" sz="2800" b="1" dirty="0" err="1">
                <a:solidFill>
                  <a:srgbClr val="000000"/>
                </a:solidFill>
                <a:latin typeface="Times New Roman" panose="02020503050405090304" pitchFamily="18" charset="0"/>
                <a:ea typeface="楷体_GB2312" pitchFamily="49" charset="-122"/>
              </a:rPr>
              <a:t>ElemSet</a:t>
            </a:r>
            <a:r>
              <a:rPr kumimoji="1" lang="en-US" altLang="zh-CN" sz="2800" b="1" dirty="0">
                <a:solidFill>
                  <a:srgbClr val="000000"/>
                </a:solidFill>
                <a:latin typeface="Times New Roman" panose="02020503050405090304" pitchFamily="18" charset="0"/>
                <a:ea typeface="楷体_GB2312" pitchFamily="49" charset="-122"/>
              </a:rPr>
              <a:t>, </a:t>
            </a:r>
            <a:r>
              <a:rPr kumimoji="1" lang="en-US" altLang="zh-CN" sz="2800" b="1" dirty="0" err="1">
                <a:solidFill>
                  <a:srgbClr val="000000"/>
                </a:solidFill>
                <a:latin typeface="Times New Roman" panose="02020503050405090304" pitchFamily="18" charset="0"/>
                <a:ea typeface="楷体_GB2312" pitchFamily="49" charset="-122"/>
              </a:rPr>
              <a:t>i</a:t>
            </a:r>
            <a:r>
              <a:rPr kumimoji="1" lang="en-US" altLang="zh-CN" sz="2800" b="1" dirty="0">
                <a:solidFill>
                  <a:srgbClr val="000000"/>
                </a:solidFill>
                <a:latin typeface="Times New Roman" panose="02020503050405090304" pitchFamily="18" charset="0"/>
                <a:ea typeface="楷体_GB2312" pitchFamily="49" charset="-122"/>
              </a:rPr>
              <a:t>=1,2,...,n,  n≥0 }</a:t>
            </a:r>
            <a:endParaRPr kumimoji="1" lang="zh-CN" altLang="en-US" sz="2800" b="1" dirty="0">
              <a:solidFill>
                <a:srgbClr val="000000"/>
              </a:solidFill>
              <a:latin typeface="Times New Roman" panose="02020503050405090304" pitchFamily="18" charset="0"/>
              <a:ea typeface="楷体_GB2312" pitchFamily="49" charset="-122"/>
            </a:endParaRPr>
          </a:p>
        </p:txBody>
      </p:sp>
      <p:sp>
        <p:nvSpPr>
          <p:cNvPr id="28" name="Rectangle 10">
            <a:hlinkClick r:id="rId3" action="ppaction://hlinksldjump"/>
          </p:cNvPr>
          <p:cNvSpPr>
            <a:spLocks noChangeArrowheads="1"/>
          </p:cNvSpPr>
          <p:nvPr/>
        </p:nvSpPr>
        <p:spPr bwMode="auto">
          <a:xfrm>
            <a:off x="4493581" y="4899028"/>
            <a:ext cx="1800225" cy="519112"/>
          </a:xfrm>
          <a:prstGeom prst="rect">
            <a:avLst/>
          </a:prstGeom>
          <a:solidFill>
            <a:srgbClr val="DBF5F9"/>
          </a:solidFill>
          <a:ln w="9525" algn="ctr">
            <a:solidFill>
              <a:srgbClr val="000000"/>
            </a:solidFill>
            <a:miter lim="800000"/>
          </a:ln>
        </p:spPr>
        <p:txBody>
          <a:bodyPr anchor="ctr"/>
          <a:lstStyle/>
          <a:p>
            <a:pPr algn="ctr" fontAlgn="base">
              <a:spcBef>
                <a:spcPct val="0"/>
              </a:spcBef>
              <a:spcAft>
                <a:spcPct val="0"/>
              </a:spcAft>
              <a:defRPr/>
            </a:pPr>
            <a:r>
              <a:rPr kumimoji="1" lang="zh-CN" altLang="en-US" sz="3600" b="1" u="sng" kern="0" dirty="0">
                <a:solidFill>
                  <a:srgbClr val="FF3300"/>
                </a:solidFill>
                <a:latin typeface="Times New Roman" panose="02020503050405090304" pitchFamily="18" charset="0"/>
                <a:ea typeface="楷体_GB2312" pitchFamily="49" charset="-122"/>
              </a:rPr>
              <a:t>见下页</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6">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panose="020B0604020202090204" pitchFamily="34" charset="0"/>
                <a:ea typeface="宋体" pitchFamily="2" charset="-122"/>
                <a:cs typeface="+mn-cs"/>
              </a:rPr>
              <a:t>13.3  </a:t>
            </a:r>
            <a:r>
              <a:rPr kumimoji="1" lang="zh-CN" altLang="en-US" sz="3200" b="1" dirty="0">
                <a:latin typeface="Arial" panose="020B0604020202090204" pitchFamily="34" charset="0"/>
                <a:ea typeface="宋体" pitchFamily="2" charset="-122"/>
                <a:cs typeface="+mn-cs"/>
              </a:rPr>
              <a:t>栈的定义和基本操作</a:t>
            </a:r>
          </a:p>
        </p:txBody>
      </p:sp>
      <p:sp>
        <p:nvSpPr>
          <p:cNvPr id="3" name="内容占位符 2"/>
          <p:cNvSpPr>
            <a:spLocks noGrp="1"/>
          </p:cNvSpPr>
          <p:nvPr>
            <p:ph idx="1"/>
          </p:nvPr>
        </p:nvSpPr>
        <p:spPr>
          <a:xfrm>
            <a:off x="1981200" y="1295400"/>
            <a:ext cx="8229600" cy="5105400"/>
          </a:xfrm>
        </p:spPr>
        <p:txBody>
          <a:bodyPr>
            <a:normAutofit/>
          </a:bodyPr>
          <a:lstStyle/>
          <a:p>
            <a:pPr>
              <a:lnSpc>
                <a:spcPts val="3100"/>
              </a:lnSpc>
            </a:pPr>
            <a:r>
              <a:rPr lang="zh-CN" altLang="en-US" b="1" dirty="0"/>
              <a:t>栈的基本操作</a:t>
            </a:r>
            <a:endParaRPr lang="en-US" altLang="zh-CN" b="1" dirty="0"/>
          </a:p>
          <a:p>
            <a:pPr>
              <a:lnSpc>
                <a:spcPts val="3100"/>
              </a:lnSpc>
            </a:pPr>
            <a:endParaRPr lang="en-US" altLang="zh-CN" b="1" dirty="0"/>
          </a:p>
          <a:p>
            <a:pPr>
              <a:lnSpc>
                <a:spcPts val="3100"/>
              </a:lnSpc>
            </a:pPr>
            <a:endParaRPr lang="en-US" altLang="zh-CN" b="1" dirty="0"/>
          </a:p>
          <a:p>
            <a:pPr>
              <a:lnSpc>
                <a:spcPts val="3100"/>
              </a:lnSpc>
            </a:pPr>
            <a:endParaRPr lang="en-US" altLang="zh-CN" b="1" dirty="0"/>
          </a:p>
          <a:p>
            <a:pPr>
              <a:lnSpc>
                <a:spcPts val="3100"/>
              </a:lnSpc>
            </a:pPr>
            <a:endParaRPr lang="en-US" altLang="zh-CN" b="1" dirty="0"/>
          </a:p>
          <a:p>
            <a:pPr>
              <a:lnSpc>
                <a:spcPts val="3100"/>
              </a:lnSpc>
            </a:pPr>
            <a:endParaRPr lang="en-US" altLang="zh-CN" b="1" dirty="0"/>
          </a:p>
          <a:p>
            <a:pPr>
              <a:lnSpc>
                <a:spcPts val="3100"/>
              </a:lnSpc>
            </a:pPr>
            <a:endParaRPr lang="en-US" altLang="zh-CN" b="1" dirty="0"/>
          </a:p>
          <a:p>
            <a:pPr>
              <a:lnSpc>
                <a:spcPts val="3100"/>
              </a:lnSpc>
            </a:pPr>
            <a:endParaRPr lang="en-US" altLang="zh-CN" b="1" dirty="0"/>
          </a:p>
          <a:p>
            <a:pPr lvl="1">
              <a:lnSpc>
                <a:spcPts val="3100"/>
              </a:lnSpc>
            </a:pPr>
            <a:endParaRPr lang="zh-CN" altLang="en-US" b="1" dirty="0"/>
          </a:p>
        </p:txBody>
      </p:sp>
      <p:sp>
        <p:nvSpPr>
          <p:cNvPr id="4" name="日期占位符 3"/>
          <p:cNvSpPr>
            <a:spLocks noGrp="1"/>
          </p:cNvSpPr>
          <p:nvPr>
            <p:ph type="dt" sz="half" idx="10"/>
          </p:nvPr>
        </p:nvSpPr>
        <p:spPr/>
        <p:txBody>
          <a:bodyPr/>
          <a:lstStyle/>
          <a:p>
            <a:fld id="{1BDC6A0A-8EFE-49CA-8D31-3B6C1685EECD}" type="datetime1">
              <a:rPr lang="zh-CN" altLang="en-US" b="1" smtClean="0">
                <a:solidFill>
                  <a:srgbClr val="F79646">
                    <a:lumMod val="75000"/>
                  </a:srgbClr>
                </a:solidFill>
              </a:rPr>
              <a:t>2025/11/27</a:t>
            </a:fld>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t>28</a:t>
            </a:fld>
            <a:endParaRPr lang="zh-CN" altLang="en-US" b="1" dirty="0">
              <a:solidFill>
                <a:srgbClr val="F79646">
                  <a:lumMod val="75000"/>
                </a:srgbClr>
              </a:solidFill>
            </a:endParaRPr>
          </a:p>
        </p:txBody>
      </p:sp>
      <p:cxnSp>
        <p:nvCxnSpPr>
          <p:cNvPr id="12" name="直接连接符 11"/>
          <p:cNvCxnSpPr/>
          <p:nvPr/>
        </p:nvCxnSpPr>
        <p:spPr>
          <a:xfrm>
            <a:off x="1981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Text Box 2">
            <a:hlinkClick r:id="" action="ppaction://hlinkshowjump?jump=nextslide"/>
          </p:cNvPr>
          <p:cNvSpPr txBox="1">
            <a:spLocks noChangeArrowheads="1"/>
          </p:cNvSpPr>
          <p:nvPr/>
        </p:nvSpPr>
        <p:spPr bwMode="auto">
          <a:xfrm>
            <a:off x="2822802" y="1807334"/>
            <a:ext cx="6667500" cy="519113"/>
          </a:xfrm>
          <a:prstGeom prst="rect">
            <a:avLst/>
          </a:prstGeom>
          <a:noFill/>
          <a:ln w="9525">
            <a:noFill/>
            <a:miter lim="800000"/>
          </a:ln>
        </p:spPr>
        <p:txBody>
          <a:bodyPr>
            <a:spAutoFit/>
          </a:bodyPr>
          <a:lstStyle/>
          <a:p>
            <a:pPr fontAlgn="base">
              <a:spcBef>
                <a:spcPct val="50000"/>
              </a:spcBef>
              <a:spcAft>
                <a:spcPct val="0"/>
              </a:spcAft>
            </a:pPr>
            <a:r>
              <a:rPr kumimoji="1" lang="en-US" altLang="zh-CN" sz="2800" b="1" dirty="0" err="1">
                <a:solidFill>
                  <a:srgbClr val="0000FF"/>
                </a:solidFill>
                <a:latin typeface="+mj-lt"/>
              </a:rPr>
              <a:t>InitStack</a:t>
            </a:r>
            <a:r>
              <a:rPr kumimoji="1" lang="en-US" altLang="zh-CN" sz="2800" b="1" dirty="0">
                <a:solidFill>
                  <a:srgbClr val="0000FF"/>
                </a:solidFill>
                <a:latin typeface="+mj-lt"/>
              </a:rPr>
              <a:t>(&amp;S)                      </a:t>
            </a:r>
            <a:r>
              <a:rPr kumimoji="1" lang="en-US" altLang="zh-CN" sz="2800" b="1" dirty="0">
                <a:solidFill>
                  <a:srgbClr val="000000"/>
                </a:solidFill>
                <a:latin typeface="+mj-lt"/>
              </a:rPr>
              <a:t>//</a:t>
            </a:r>
            <a:r>
              <a:rPr kumimoji="1" lang="zh-CN" altLang="en-US" sz="2800" b="1" dirty="0">
                <a:solidFill>
                  <a:srgbClr val="000000"/>
                </a:solidFill>
                <a:latin typeface="+mj-lt"/>
              </a:rPr>
              <a:t>初始化栈</a:t>
            </a:r>
          </a:p>
        </p:txBody>
      </p:sp>
      <p:sp>
        <p:nvSpPr>
          <p:cNvPr id="19" name="Text Box 3">
            <a:hlinkClick r:id="" action="ppaction://hlinkshowjump?jump=nextslide"/>
          </p:cNvPr>
          <p:cNvSpPr txBox="1">
            <a:spLocks noChangeArrowheads="1"/>
          </p:cNvSpPr>
          <p:nvPr/>
        </p:nvSpPr>
        <p:spPr bwMode="auto">
          <a:xfrm>
            <a:off x="2822575" y="2312035"/>
            <a:ext cx="6304280" cy="521970"/>
          </a:xfrm>
          <a:prstGeom prst="rect">
            <a:avLst/>
          </a:prstGeom>
          <a:noFill/>
          <a:ln w="9525">
            <a:noFill/>
            <a:miter lim="800000"/>
          </a:ln>
        </p:spPr>
        <p:txBody>
          <a:bodyPr wrap="square">
            <a:spAutoFit/>
          </a:bodyPr>
          <a:lstStyle/>
          <a:p>
            <a:pPr fontAlgn="base">
              <a:spcBef>
                <a:spcPct val="50000"/>
              </a:spcBef>
              <a:spcAft>
                <a:spcPct val="0"/>
              </a:spcAft>
            </a:pPr>
            <a:r>
              <a:rPr kumimoji="1" lang="en-US" altLang="zh-CN" sz="2800" b="1" dirty="0" err="1">
                <a:solidFill>
                  <a:srgbClr val="0000FF"/>
                </a:solidFill>
                <a:latin typeface="+mj-lt"/>
              </a:rPr>
              <a:t>DestroyStack</a:t>
            </a:r>
            <a:r>
              <a:rPr kumimoji="1" lang="en-US" altLang="zh-CN" sz="2800" b="1" dirty="0">
                <a:solidFill>
                  <a:srgbClr val="0000FF"/>
                </a:solidFill>
                <a:latin typeface="+mj-lt"/>
              </a:rPr>
              <a:t>(&amp;S)               </a:t>
            </a:r>
            <a:r>
              <a:rPr kumimoji="1" lang="en-US" altLang="zh-CN" sz="2800" b="1" dirty="0">
                <a:solidFill>
                  <a:srgbClr val="000000"/>
                </a:solidFill>
                <a:latin typeface="+mj-lt"/>
              </a:rPr>
              <a:t>//</a:t>
            </a:r>
            <a:r>
              <a:rPr kumimoji="1" lang="zh-CN" altLang="en-US" sz="2800" b="1" dirty="0">
                <a:solidFill>
                  <a:srgbClr val="000000"/>
                </a:solidFill>
                <a:latin typeface="+mj-lt"/>
              </a:rPr>
              <a:t>销毁栈</a:t>
            </a:r>
          </a:p>
        </p:txBody>
      </p:sp>
      <p:sp>
        <p:nvSpPr>
          <p:cNvPr id="21" name="Text Box 5">
            <a:hlinkClick r:id="rId3" action="ppaction://hlinksldjump"/>
          </p:cNvPr>
          <p:cNvSpPr txBox="1">
            <a:spLocks noChangeArrowheads="1"/>
          </p:cNvSpPr>
          <p:nvPr/>
        </p:nvSpPr>
        <p:spPr bwMode="auto">
          <a:xfrm>
            <a:off x="2818130" y="4753610"/>
            <a:ext cx="6361430" cy="521970"/>
          </a:xfrm>
          <a:prstGeom prst="rect">
            <a:avLst/>
          </a:prstGeom>
          <a:noFill/>
          <a:ln w="9525">
            <a:noFill/>
            <a:miter lim="800000"/>
          </a:ln>
        </p:spPr>
        <p:txBody>
          <a:bodyPr wrap="square">
            <a:spAutoFit/>
          </a:bodyPr>
          <a:lstStyle/>
          <a:p>
            <a:pPr fontAlgn="base">
              <a:spcBef>
                <a:spcPct val="0"/>
              </a:spcBef>
              <a:spcAft>
                <a:spcPct val="0"/>
              </a:spcAft>
            </a:pPr>
            <a:r>
              <a:rPr kumimoji="1" lang="en-US" altLang="zh-CN" sz="2800" b="1" dirty="0" err="1">
                <a:solidFill>
                  <a:srgbClr val="0000FF"/>
                </a:solidFill>
                <a:latin typeface="+mj-lt"/>
              </a:rPr>
              <a:t>StackEmpty</a:t>
            </a:r>
            <a:r>
              <a:rPr kumimoji="1" lang="en-US" altLang="zh-CN" sz="2800" b="1" dirty="0">
                <a:solidFill>
                  <a:srgbClr val="0000FF"/>
                </a:solidFill>
                <a:latin typeface="+mj-lt"/>
              </a:rPr>
              <a:t>(&amp;S)                    </a:t>
            </a:r>
            <a:r>
              <a:rPr kumimoji="1" lang="en-US" altLang="zh-CN" sz="2800" b="1" dirty="0">
                <a:solidFill>
                  <a:srgbClr val="000000"/>
                </a:solidFill>
                <a:latin typeface="+mj-lt"/>
              </a:rPr>
              <a:t>//</a:t>
            </a:r>
            <a:r>
              <a:rPr kumimoji="1" lang="zh-CN" altLang="en-US" sz="2800" b="1" dirty="0">
                <a:solidFill>
                  <a:srgbClr val="000000"/>
                </a:solidFill>
                <a:latin typeface="+mj-lt"/>
              </a:rPr>
              <a:t>判栈空</a:t>
            </a:r>
          </a:p>
        </p:txBody>
      </p:sp>
      <p:sp>
        <p:nvSpPr>
          <p:cNvPr id="22" name="Text Box 6">
            <a:hlinkClick r:id="rId4" action="ppaction://hlinksldjump"/>
          </p:cNvPr>
          <p:cNvSpPr txBox="1">
            <a:spLocks noChangeArrowheads="1"/>
          </p:cNvSpPr>
          <p:nvPr/>
        </p:nvSpPr>
        <p:spPr bwMode="auto">
          <a:xfrm>
            <a:off x="2798445" y="5168265"/>
            <a:ext cx="7406640" cy="521970"/>
          </a:xfrm>
          <a:prstGeom prst="rect">
            <a:avLst/>
          </a:prstGeom>
          <a:noFill/>
          <a:ln w="9525">
            <a:noFill/>
            <a:miter lim="800000"/>
          </a:ln>
        </p:spPr>
        <p:txBody>
          <a:bodyPr wrap="square">
            <a:spAutoFit/>
          </a:bodyPr>
          <a:lstStyle/>
          <a:p>
            <a:pPr fontAlgn="base">
              <a:spcBef>
                <a:spcPct val="0"/>
              </a:spcBef>
              <a:spcAft>
                <a:spcPct val="0"/>
              </a:spcAft>
            </a:pPr>
            <a:r>
              <a:rPr kumimoji="1" lang="en-US" altLang="zh-CN" sz="2800" b="1" dirty="0" err="1">
                <a:solidFill>
                  <a:srgbClr val="0000FF"/>
                </a:solidFill>
                <a:latin typeface="+mj-lt"/>
              </a:rPr>
              <a:t>StackLength</a:t>
            </a:r>
            <a:r>
              <a:rPr kumimoji="1" lang="en-US" altLang="zh-CN" sz="2800" b="1" dirty="0">
                <a:solidFill>
                  <a:srgbClr val="0000FF"/>
                </a:solidFill>
                <a:latin typeface="+mj-lt"/>
              </a:rPr>
              <a:t>(&amp;S)                   </a:t>
            </a:r>
            <a:r>
              <a:rPr kumimoji="1" lang="en-US" altLang="zh-CN" sz="2800" b="1" dirty="0">
                <a:solidFill>
                  <a:srgbClr val="000000"/>
                </a:solidFill>
                <a:latin typeface="+mj-lt"/>
              </a:rPr>
              <a:t>//</a:t>
            </a:r>
            <a:r>
              <a:rPr kumimoji="1" lang="zh-CN" altLang="en-US" sz="2800" b="1" dirty="0">
                <a:solidFill>
                  <a:srgbClr val="000000"/>
                </a:solidFill>
                <a:latin typeface="+mj-lt"/>
              </a:rPr>
              <a:t>求栈长度</a:t>
            </a:r>
          </a:p>
        </p:txBody>
      </p:sp>
      <p:sp>
        <p:nvSpPr>
          <p:cNvPr id="29" name="Text Box 7">
            <a:hlinkClick r:id="rId4" action="ppaction://hlinksldjump"/>
          </p:cNvPr>
          <p:cNvSpPr txBox="1">
            <a:spLocks noChangeArrowheads="1"/>
          </p:cNvSpPr>
          <p:nvPr/>
        </p:nvSpPr>
        <p:spPr bwMode="auto">
          <a:xfrm>
            <a:off x="2798445" y="3950335"/>
            <a:ext cx="7406640" cy="521970"/>
          </a:xfrm>
          <a:prstGeom prst="rect">
            <a:avLst/>
          </a:prstGeom>
          <a:noFill/>
          <a:ln w="9525">
            <a:noFill/>
            <a:miter lim="800000"/>
          </a:ln>
        </p:spPr>
        <p:txBody>
          <a:bodyPr wrap="square">
            <a:spAutoFit/>
          </a:bodyPr>
          <a:lstStyle/>
          <a:p>
            <a:pPr fontAlgn="base">
              <a:spcBef>
                <a:spcPct val="0"/>
              </a:spcBef>
              <a:spcAft>
                <a:spcPct val="0"/>
              </a:spcAft>
            </a:pPr>
            <a:r>
              <a:rPr kumimoji="1" lang="en-US" altLang="zh-CN" sz="2800" b="1" dirty="0" err="1">
                <a:solidFill>
                  <a:srgbClr val="0000FF"/>
                </a:solidFill>
                <a:latin typeface="+mj-lt"/>
              </a:rPr>
              <a:t>GetTop</a:t>
            </a:r>
            <a:r>
              <a:rPr kumimoji="1" lang="en-US" altLang="zh-CN" sz="2800" b="1" dirty="0">
                <a:solidFill>
                  <a:srgbClr val="0000FF"/>
                </a:solidFill>
                <a:latin typeface="+mj-lt"/>
              </a:rPr>
              <a:t>(&amp;S, &amp;e)                     </a:t>
            </a:r>
            <a:r>
              <a:rPr kumimoji="1" lang="en-US" altLang="zh-CN" sz="2800" b="1" dirty="0">
                <a:solidFill>
                  <a:srgbClr val="000000"/>
                </a:solidFill>
                <a:latin typeface="+mj-lt"/>
              </a:rPr>
              <a:t>//</a:t>
            </a:r>
            <a:r>
              <a:rPr kumimoji="1" lang="zh-CN" altLang="en-US" sz="2800" b="1" dirty="0">
                <a:solidFill>
                  <a:srgbClr val="000000"/>
                </a:solidFill>
                <a:latin typeface="+mj-lt"/>
              </a:rPr>
              <a:t>取栈顶元素</a:t>
            </a:r>
          </a:p>
        </p:txBody>
      </p:sp>
      <p:sp>
        <p:nvSpPr>
          <p:cNvPr id="30" name="Text Box 8">
            <a:hlinkClick r:id="rId4" action="ppaction://hlinksldjump"/>
          </p:cNvPr>
          <p:cNvSpPr txBox="1">
            <a:spLocks noChangeArrowheads="1"/>
          </p:cNvSpPr>
          <p:nvPr/>
        </p:nvSpPr>
        <p:spPr bwMode="auto">
          <a:xfrm>
            <a:off x="2779133" y="2975662"/>
            <a:ext cx="5580063" cy="519112"/>
          </a:xfrm>
          <a:prstGeom prst="rect">
            <a:avLst/>
          </a:prstGeom>
          <a:noFill/>
          <a:ln w="9525">
            <a:noFill/>
            <a:miter lim="800000"/>
          </a:ln>
        </p:spPr>
        <p:txBody>
          <a:bodyPr>
            <a:spAutoFit/>
          </a:bodyPr>
          <a:lstStyle/>
          <a:p>
            <a:pPr fontAlgn="base">
              <a:spcBef>
                <a:spcPct val="0"/>
              </a:spcBef>
              <a:spcAft>
                <a:spcPct val="0"/>
              </a:spcAft>
            </a:pPr>
            <a:r>
              <a:rPr kumimoji="1" lang="en-US" altLang="zh-CN" sz="2800" b="1">
                <a:solidFill>
                  <a:srgbClr val="0000FF"/>
                </a:solidFill>
                <a:latin typeface="+mj-lt"/>
              </a:rPr>
              <a:t>Push(&amp;S, e)                         </a:t>
            </a:r>
            <a:r>
              <a:rPr kumimoji="1" lang="en-US" altLang="zh-CN" sz="2800" b="1">
                <a:solidFill>
                  <a:srgbClr val="000000"/>
                </a:solidFill>
                <a:latin typeface="+mj-lt"/>
              </a:rPr>
              <a:t>//</a:t>
            </a:r>
            <a:r>
              <a:rPr kumimoji="1" lang="zh-CN" altLang="en-US" sz="2800" b="1">
                <a:solidFill>
                  <a:srgbClr val="000000"/>
                </a:solidFill>
                <a:latin typeface="+mj-lt"/>
              </a:rPr>
              <a:t>入栈</a:t>
            </a:r>
          </a:p>
        </p:txBody>
      </p:sp>
      <p:sp>
        <p:nvSpPr>
          <p:cNvPr id="31" name="Text Box 9">
            <a:hlinkClick r:id="rId5" action="ppaction://hlinksldjump"/>
          </p:cNvPr>
          <p:cNvSpPr txBox="1">
            <a:spLocks noChangeArrowheads="1"/>
          </p:cNvSpPr>
          <p:nvPr/>
        </p:nvSpPr>
        <p:spPr bwMode="auto">
          <a:xfrm>
            <a:off x="2824376" y="3402246"/>
            <a:ext cx="5489575" cy="519113"/>
          </a:xfrm>
          <a:prstGeom prst="rect">
            <a:avLst/>
          </a:prstGeom>
          <a:noFill/>
          <a:ln w="9525">
            <a:noFill/>
            <a:miter lim="800000"/>
          </a:ln>
        </p:spPr>
        <p:txBody>
          <a:bodyPr>
            <a:spAutoFit/>
          </a:bodyPr>
          <a:lstStyle/>
          <a:p>
            <a:pPr fontAlgn="base">
              <a:spcBef>
                <a:spcPct val="0"/>
              </a:spcBef>
              <a:spcAft>
                <a:spcPct val="0"/>
              </a:spcAft>
            </a:pPr>
            <a:r>
              <a:rPr kumimoji="1" lang="en-US" altLang="zh-CN" sz="2800" b="1" dirty="0">
                <a:solidFill>
                  <a:srgbClr val="0000FF"/>
                </a:solidFill>
                <a:latin typeface="+mj-lt"/>
              </a:rPr>
              <a:t>Pop(&amp;S, &amp;e)                       </a:t>
            </a:r>
            <a:r>
              <a:rPr kumimoji="1" lang="en-US" altLang="zh-CN" sz="2800" b="1" dirty="0">
                <a:solidFill>
                  <a:srgbClr val="000000"/>
                </a:solidFill>
                <a:latin typeface="+mj-lt"/>
              </a:rPr>
              <a:t>//</a:t>
            </a:r>
            <a:r>
              <a:rPr kumimoji="1" lang="zh-CN" altLang="en-US" sz="2800" b="1" dirty="0">
                <a:solidFill>
                  <a:srgbClr val="000000"/>
                </a:solidFill>
                <a:latin typeface="+mj-lt"/>
              </a:rPr>
              <a:t>出栈</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panose="020B0604020202090204" pitchFamily="34" charset="0"/>
                <a:ea typeface="宋体" pitchFamily="2" charset="-122"/>
                <a:cs typeface="+mn-cs"/>
              </a:rPr>
              <a:t>13.4  </a:t>
            </a:r>
            <a:r>
              <a:rPr kumimoji="1" lang="zh-CN" altLang="en-US" sz="3200" b="1" dirty="0">
                <a:latin typeface="Arial" panose="020B0604020202090204" pitchFamily="34" charset="0"/>
                <a:ea typeface="宋体" pitchFamily="2" charset="-122"/>
                <a:cs typeface="+mn-cs"/>
              </a:rPr>
              <a:t>栈的表示和实现</a:t>
            </a:r>
          </a:p>
        </p:txBody>
      </p:sp>
      <p:sp>
        <p:nvSpPr>
          <p:cNvPr id="3" name="内容占位符 2"/>
          <p:cNvSpPr>
            <a:spLocks noGrp="1"/>
          </p:cNvSpPr>
          <p:nvPr>
            <p:ph idx="1"/>
          </p:nvPr>
        </p:nvSpPr>
        <p:spPr>
          <a:xfrm>
            <a:off x="1952969" y="1470819"/>
            <a:ext cx="8229600" cy="5105400"/>
          </a:xfrm>
        </p:spPr>
        <p:txBody>
          <a:bodyPr>
            <a:normAutofit/>
          </a:bodyPr>
          <a:lstStyle/>
          <a:p>
            <a:pPr>
              <a:lnSpc>
                <a:spcPts val="3100"/>
              </a:lnSpc>
            </a:pPr>
            <a:r>
              <a:rPr lang="zh-CN" altLang="en-US" b="1" dirty="0"/>
              <a:t>思考：</a:t>
            </a:r>
            <a:endParaRPr lang="en-US" altLang="zh-CN" b="1" dirty="0"/>
          </a:p>
          <a:p>
            <a:pPr marL="457200" lvl="1" indent="0">
              <a:lnSpc>
                <a:spcPts val="3100"/>
              </a:lnSpc>
              <a:buNone/>
            </a:pPr>
            <a:endParaRPr lang="en-US" altLang="zh-CN" b="1" dirty="0"/>
          </a:p>
          <a:p>
            <a:pPr>
              <a:lnSpc>
                <a:spcPts val="3100"/>
              </a:lnSpc>
            </a:pPr>
            <a:endParaRPr lang="en-US" altLang="zh-CN" b="1" dirty="0"/>
          </a:p>
          <a:p>
            <a:pPr>
              <a:lnSpc>
                <a:spcPts val="3100"/>
              </a:lnSpc>
            </a:pPr>
            <a:endParaRPr lang="en-US" altLang="zh-CN" b="1" dirty="0"/>
          </a:p>
          <a:p>
            <a:pPr>
              <a:lnSpc>
                <a:spcPts val="3100"/>
              </a:lnSpc>
            </a:pPr>
            <a:endParaRPr lang="en-US" altLang="zh-CN" b="1" dirty="0"/>
          </a:p>
          <a:p>
            <a:pPr>
              <a:lnSpc>
                <a:spcPts val="3100"/>
              </a:lnSpc>
            </a:pPr>
            <a:endParaRPr lang="en-US" altLang="zh-CN" b="1" dirty="0"/>
          </a:p>
          <a:p>
            <a:pPr>
              <a:lnSpc>
                <a:spcPts val="3100"/>
              </a:lnSpc>
            </a:pPr>
            <a:endParaRPr lang="en-US" altLang="zh-CN" b="1" dirty="0"/>
          </a:p>
          <a:p>
            <a:pPr>
              <a:lnSpc>
                <a:spcPts val="3100"/>
              </a:lnSpc>
            </a:pPr>
            <a:endParaRPr lang="en-US" altLang="zh-CN" b="1" dirty="0"/>
          </a:p>
          <a:p>
            <a:pPr lvl="1">
              <a:lnSpc>
                <a:spcPts val="3100"/>
              </a:lnSpc>
            </a:pPr>
            <a:endParaRPr lang="zh-CN" altLang="en-US" b="1" dirty="0"/>
          </a:p>
        </p:txBody>
      </p:sp>
      <p:sp>
        <p:nvSpPr>
          <p:cNvPr id="4" name="日期占位符 3"/>
          <p:cNvSpPr>
            <a:spLocks noGrp="1"/>
          </p:cNvSpPr>
          <p:nvPr>
            <p:ph type="dt" sz="half" idx="10"/>
          </p:nvPr>
        </p:nvSpPr>
        <p:spPr/>
        <p:txBody>
          <a:bodyPr/>
          <a:lstStyle/>
          <a:p>
            <a:fld id="{53F0B9C0-2389-41A2-B123-BCAF01BCDBCE}" type="datetime1">
              <a:rPr lang="zh-CN" altLang="en-US" b="1" smtClean="0">
                <a:solidFill>
                  <a:srgbClr val="F79646">
                    <a:lumMod val="75000"/>
                  </a:srgbClr>
                </a:solidFill>
              </a:rPr>
              <a:t>2025/11/27</a:t>
            </a:fld>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t>29</a:t>
            </a:fld>
            <a:endParaRPr lang="zh-CN" altLang="en-US" b="1" dirty="0">
              <a:solidFill>
                <a:srgbClr val="F79646">
                  <a:lumMod val="75000"/>
                </a:srgbClr>
              </a:solidFill>
            </a:endParaRPr>
          </a:p>
        </p:txBody>
      </p:sp>
      <p:cxnSp>
        <p:nvCxnSpPr>
          <p:cNvPr id="12" name="直接连接符 11"/>
          <p:cNvCxnSpPr/>
          <p:nvPr/>
        </p:nvCxnSpPr>
        <p:spPr>
          <a:xfrm>
            <a:off x="1981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云形标注 4"/>
          <p:cNvSpPr/>
          <p:nvPr/>
        </p:nvSpPr>
        <p:spPr>
          <a:xfrm>
            <a:off x="2318035" y="1967139"/>
            <a:ext cx="5994692" cy="1536678"/>
          </a:xfrm>
          <a:prstGeom prst="cloudCallout">
            <a:avLst>
              <a:gd name="adj1" fmla="val -44848"/>
              <a:gd name="adj2" fmla="val 10554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dirty="0"/>
              <a:t>栈有几种实现方式（存储结构</a:t>
            </a:r>
            <a:r>
              <a:rPr lang="en-US" altLang="zh-CN" sz="2800" dirty="0"/>
              <a:t>/</a:t>
            </a:r>
            <a:r>
              <a:rPr lang="zh-CN" altLang="en-US" sz="2800" dirty="0"/>
              <a:t>物理结构）？</a:t>
            </a:r>
          </a:p>
        </p:txBody>
      </p:sp>
      <p:sp>
        <p:nvSpPr>
          <p:cNvPr id="7" name="文本框 6"/>
          <p:cNvSpPr txBox="1"/>
          <p:nvPr/>
        </p:nvSpPr>
        <p:spPr>
          <a:xfrm>
            <a:off x="5050295" y="3862223"/>
            <a:ext cx="5264583" cy="1474058"/>
          </a:xfrm>
          <a:prstGeom prst="rect">
            <a:avLst/>
          </a:prstGeom>
          <a:noFill/>
        </p:spPr>
        <p:txBody>
          <a:bodyPr wrap="none" rtlCol="0">
            <a:spAutoFit/>
          </a:bodyPr>
          <a:lstStyle/>
          <a:p>
            <a:pPr>
              <a:lnSpc>
                <a:spcPct val="150000"/>
              </a:lnSpc>
            </a:pPr>
            <a:r>
              <a:rPr lang="zh-CN" altLang="en-US" sz="3200" b="1" dirty="0"/>
              <a:t>顺序存储</a:t>
            </a:r>
            <a:r>
              <a:rPr lang="en-US" altLang="zh-CN" sz="3200" b="1" dirty="0"/>
              <a:t>-</a:t>
            </a:r>
            <a:r>
              <a:rPr lang="zh-CN" altLang="en-US" sz="3200" b="1" dirty="0"/>
              <a:t>顺序栈</a:t>
            </a:r>
            <a:endParaRPr lang="en-US" altLang="zh-CN" sz="3200" b="1" dirty="0"/>
          </a:p>
          <a:p>
            <a:pPr>
              <a:lnSpc>
                <a:spcPct val="150000"/>
              </a:lnSpc>
            </a:pPr>
            <a:r>
              <a:rPr lang="zh-CN" altLang="en-US" sz="3200" b="1" dirty="0">
                <a:solidFill>
                  <a:srgbClr val="C00000"/>
                </a:solidFill>
              </a:rPr>
              <a:t>链式存储</a:t>
            </a:r>
            <a:r>
              <a:rPr lang="en-US" altLang="zh-CN" sz="3200" b="1" dirty="0">
                <a:solidFill>
                  <a:srgbClr val="C00000"/>
                </a:solidFill>
              </a:rPr>
              <a:t>-</a:t>
            </a:r>
            <a:r>
              <a:rPr lang="zh-CN" altLang="en-US" sz="3200" b="1" dirty="0">
                <a:solidFill>
                  <a:srgbClr val="C00000"/>
                </a:solidFill>
              </a:rPr>
              <a:t>链栈（后续课程）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p:cNvSpPr txBox="1"/>
          <p:nvPr/>
        </p:nvSpPr>
        <p:spPr>
          <a:xfrm>
            <a:off x="2052955" y="1979295"/>
            <a:ext cx="7096760" cy="4399915"/>
          </a:xfrm>
          <a:prstGeom prst="rect">
            <a:avLst/>
          </a:prstGeom>
          <a:noFill/>
        </p:spPr>
        <p:txBody>
          <a:bodyPr wrap="square">
            <a:spAutoFit/>
          </a:bodyPr>
          <a:lstStyle/>
          <a:p>
            <a:pPr algn="just"/>
            <a:r>
              <a:rPr lang="en-US" altLang="zh-CN" sz="2000" kern="100" dirty="0">
                <a:effectLst/>
                <a:latin typeface="DengXian" panose="02010600030101010101" pitchFamily="2" charset="-122"/>
                <a:ea typeface="DengXian" panose="02010600030101010101" pitchFamily="2" charset="-122"/>
                <a:cs typeface="Times New Roman" panose="02020503050405090304" pitchFamily="18" charset="0"/>
              </a:rPr>
              <a:t>#include &lt;</a:t>
            </a:r>
            <a:r>
              <a:rPr lang="en-US" altLang="zh-CN" sz="2000" kern="100" dirty="0" err="1">
                <a:effectLst/>
                <a:latin typeface="DengXian" panose="02010600030101010101" pitchFamily="2" charset="-122"/>
                <a:ea typeface="DengXian" panose="02010600030101010101" pitchFamily="2" charset="-122"/>
                <a:cs typeface="Times New Roman" panose="02020503050405090304" pitchFamily="18" charset="0"/>
              </a:rPr>
              <a:t>stdio.h</a:t>
            </a:r>
            <a:r>
              <a:rPr lang="en-US" altLang="zh-CN" sz="2000" kern="100" dirty="0">
                <a:effectLst/>
                <a:latin typeface="DengXian" panose="02010600030101010101" pitchFamily="2" charset="-122"/>
                <a:ea typeface="DengXian" panose="02010600030101010101" pitchFamily="2" charset="-122"/>
                <a:cs typeface="Times New Roman" panose="02020503050405090304" pitchFamily="18" charset="0"/>
              </a:rPr>
              <a:t>&gt;</a:t>
            </a:r>
            <a:endParaRPr lang="zh-CN" altLang="zh-CN" sz="2000" kern="100" dirty="0">
              <a:effectLst/>
              <a:latin typeface="DengXian" panose="02010600030101010101" pitchFamily="2" charset="-122"/>
              <a:ea typeface="DengXian" panose="02010600030101010101" pitchFamily="2" charset="-122"/>
              <a:cs typeface="Times New Roman" panose="02020503050405090304" pitchFamily="18" charset="0"/>
            </a:endParaRPr>
          </a:p>
          <a:p>
            <a:pPr algn="just"/>
            <a:r>
              <a:rPr lang="en-US" altLang="zh-CN" sz="2000" kern="100" dirty="0">
                <a:effectLst/>
                <a:latin typeface="DengXian" panose="02010600030101010101" pitchFamily="2" charset="-122"/>
                <a:ea typeface="DengXian" panose="02010600030101010101" pitchFamily="2" charset="-122"/>
                <a:cs typeface="Times New Roman" panose="02020503050405090304" pitchFamily="18" charset="0"/>
              </a:rPr>
              <a:t>#include &lt;</a:t>
            </a:r>
            <a:r>
              <a:rPr lang="en-US" altLang="zh-CN" sz="2000" kern="100" dirty="0" err="1">
                <a:effectLst/>
                <a:latin typeface="DengXian" panose="02010600030101010101" pitchFamily="2" charset="-122"/>
                <a:ea typeface="DengXian" panose="02010600030101010101" pitchFamily="2" charset="-122"/>
                <a:cs typeface="Times New Roman" panose="02020503050405090304" pitchFamily="18" charset="0"/>
              </a:rPr>
              <a:t>stdlib.h</a:t>
            </a:r>
            <a:r>
              <a:rPr lang="en-US" altLang="zh-CN" sz="2000" kern="100" dirty="0">
                <a:effectLst/>
                <a:latin typeface="DengXian" panose="02010600030101010101" pitchFamily="2" charset="-122"/>
                <a:ea typeface="DengXian" panose="02010600030101010101" pitchFamily="2" charset="-122"/>
                <a:cs typeface="Times New Roman" panose="02020503050405090304" pitchFamily="18" charset="0"/>
              </a:rPr>
              <a:t>&gt;</a:t>
            </a:r>
            <a:endParaRPr lang="zh-CN" altLang="zh-CN" sz="2000" kern="100" dirty="0">
              <a:effectLst/>
              <a:latin typeface="DengXian" panose="02010600030101010101" pitchFamily="2" charset="-122"/>
              <a:ea typeface="DengXian" panose="02010600030101010101" pitchFamily="2" charset="-122"/>
              <a:cs typeface="Times New Roman" panose="02020503050405090304" pitchFamily="18" charset="0"/>
            </a:endParaRPr>
          </a:p>
          <a:p>
            <a:pPr algn="just"/>
            <a:r>
              <a:rPr lang="en-US" altLang="zh-CN" sz="2000" kern="100" dirty="0">
                <a:effectLst/>
                <a:latin typeface="DengXian" panose="02010600030101010101" pitchFamily="2" charset="-122"/>
                <a:ea typeface="DengXian" panose="02010600030101010101" pitchFamily="2" charset="-122"/>
                <a:cs typeface="Times New Roman" panose="02020503050405090304" pitchFamily="18" charset="0"/>
              </a:rPr>
              <a:t> </a:t>
            </a:r>
            <a:endParaRPr lang="zh-CN" altLang="zh-CN" sz="2000" kern="100" dirty="0">
              <a:effectLst/>
              <a:latin typeface="DengXian" panose="02010600030101010101" pitchFamily="2" charset="-122"/>
              <a:ea typeface="DengXian" panose="02010600030101010101" pitchFamily="2" charset="-122"/>
              <a:cs typeface="Times New Roman" panose="02020503050405090304" pitchFamily="18" charset="0"/>
            </a:endParaRPr>
          </a:p>
          <a:p>
            <a:pPr algn="just"/>
            <a:r>
              <a:rPr lang="en-US" altLang="zh-CN" kern="100" dirty="0">
                <a:latin typeface="DengXian" panose="02010600030101010101" pitchFamily="2" charset="-122"/>
                <a:ea typeface="DengXian" panose="02010600030101010101" pitchFamily="2" charset="-122"/>
                <a:cs typeface="Times New Roman" panose="02020503050405090304" pitchFamily="18" charset="0"/>
              </a:rPr>
              <a:t>#</a:t>
            </a:r>
            <a:r>
              <a:rPr lang="en-US" altLang="zh-CN" sz="2000" kern="100" dirty="0">
                <a:effectLst/>
                <a:latin typeface="DengXian" panose="02010600030101010101" pitchFamily="2" charset="-122"/>
                <a:ea typeface="DengXian" panose="02010600030101010101" pitchFamily="2" charset="-122"/>
                <a:cs typeface="Times New Roman" panose="02020503050405090304" pitchFamily="18" charset="0"/>
              </a:rPr>
              <a:t>define MAXSIZE 100</a:t>
            </a:r>
          </a:p>
          <a:p>
            <a:pPr algn="just"/>
            <a:endParaRPr lang="en-US" altLang="zh-CN" sz="2000" kern="100" dirty="0">
              <a:effectLst/>
              <a:latin typeface="DengXian" panose="02010600030101010101" pitchFamily="2" charset="-122"/>
              <a:ea typeface="DengXian" panose="02010600030101010101" pitchFamily="2" charset="-122"/>
              <a:cs typeface="Times New Roman" panose="02020503050405090304" pitchFamily="18" charset="0"/>
            </a:endParaRPr>
          </a:p>
          <a:p>
            <a:pPr algn="just"/>
            <a:r>
              <a:rPr lang="en-US" altLang="zh-CN" sz="2000" kern="100" dirty="0">
                <a:effectLst/>
                <a:latin typeface="DengXian" panose="02010600030101010101" pitchFamily="2" charset="-122"/>
                <a:ea typeface="DengXian" panose="02010600030101010101" pitchFamily="2" charset="-122"/>
                <a:cs typeface="Times New Roman" panose="02020503050405090304" pitchFamily="18" charset="0"/>
              </a:rPr>
              <a:t>// </a:t>
            </a:r>
            <a:r>
              <a:rPr lang="zh-CN" altLang="zh-CN" sz="2000" kern="100" dirty="0">
                <a:effectLst/>
                <a:latin typeface="DengXian" panose="02010600030101010101" pitchFamily="2" charset="-122"/>
                <a:ea typeface="DengXian" panose="02010600030101010101" pitchFamily="2" charset="-122"/>
                <a:cs typeface="Times New Roman" panose="02020503050405090304" pitchFamily="18" charset="0"/>
              </a:rPr>
              <a:t>假设数据类型为</a:t>
            </a:r>
            <a:r>
              <a:rPr lang="en-US" altLang="zh-CN" sz="2000" kern="100" dirty="0">
                <a:effectLst/>
                <a:latin typeface="DengXian" panose="02010600030101010101" pitchFamily="2" charset="-122"/>
                <a:ea typeface="DengXian" panose="02010600030101010101" pitchFamily="2" charset="-122"/>
                <a:cs typeface="Times New Roman" panose="02020503050405090304" pitchFamily="18" charset="0"/>
              </a:rPr>
              <a:t> int</a:t>
            </a:r>
            <a:endParaRPr lang="zh-CN" altLang="zh-CN" sz="2000" kern="100" dirty="0">
              <a:effectLst/>
              <a:latin typeface="DengXian" panose="02010600030101010101" pitchFamily="2" charset="-122"/>
              <a:ea typeface="DengXian" panose="02010600030101010101" pitchFamily="2" charset="-122"/>
              <a:cs typeface="Times New Roman" panose="02020503050405090304" pitchFamily="18" charset="0"/>
            </a:endParaRPr>
          </a:p>
          <a:p>
            <a:pPr algn="just"/>
            <a:r>
              <a:rPr lang="en-US" altLang="zh-CN" sz="2000" kern="100" dirty="0">
                <a:effectLst/>
                <a:latin typeface="DengXian" panose="02010600030101010101" pitchFamily="2" charset="-122"/>
                <a:ea typeface="DengXian" panose="02010600030101010101" pitchFamily="2" charset="-122"/>
                <a:cs typeface="Times New Roman" panose="02020503050405090304" pitchFamily="18" charset="0"/>
              </a:rPr>
              <a:t>typedef int </a:t>
            </a:r>
            <a:r>
              <a:rPr lang="en-US" altLang="zh-CN" sz="2000" kern="100" dirty="0" err="1">
                <a:effectLst/>
                <a:latin typeface="DengXian" panose="02010600030101010101" pitchFamily="2" charset="-122"/>
                <a:ea typeface="DengXian" panose="02010600030101010101" pitchFamily="2" charset="-122"/>
                <a:cs typeface="Times New Roman" panose="02020503050405090304" pitchFamily="18" charset="0"/>
              </a:rPr>
              <a:t>DataType</a:t>
            </a:r>
            <a:r>
              <a:rPr lang="en-US" altLang="zh-CN" sz="2000" kern="100" dirty="0">
                <a:effectLst/>
                <a:latin typeface="DengXian" panose="02010600030101010101" pitchFamily="2" charset="-122"/>
                <a:ea typeface="DengXian" panose="02010600030101010101" pitchFamily="2" charset="-122"/>
                <a:cs typeface="Times New Roman" panose="02020503050405090304" pitchFamily="18" charset="0"/>
              </a:rPr>
              <a:t>;</a:t>
            </a:r>
            <a:endParaRPr lang="zh-CN" altLang="zh-CN" sz="2000" kern="100" dirty="0">
              <a:effectLst/>
              <a:latin typeface="DengXian" panose="02010600030101010101" pitchFamily="2" charset="-122"/>
              <a:ea typeface="DengXian" panose="02010600030101010101" pitchFamily="2" charset="-122"/>
              <a:cs typeface="Times New Roman" panose="02020503050405090304" pitchFamily="18" charset="0"/>
            </a:endParaRPr>
          </a:p>
          <a:p>
            <a:pPr algn="just"/>
            <a:r>
              <a:rPr lang="en-US" altLang="zh-CN" sz="2000" kern="100" dirty="0">
                <a:effectLst/>
                <a:latin typeface="DengXian" panose="02010600030101010101" pitchFamily="2" charset="-122"/>
                <a:ea typeface="DengXian" panose="02010600030101010101" pitchFamily="2" charset="-122"/>
                <a:cs typeface="Times New Roman" panose="02020503050405090304" pitchFamily="18" charset="0"/>
              </a:rPr>
              <a:t> </a:t>
            </a:r>
            <a:endParaRPr lang="zh-CN" altLang="zh-CN" sz="2000" kern="100" dirty="0">
              <a:effectLst/>
              <a:latin typeface="DengXian" panose="02010600030101010101" pitchFamily="2" charset="-122"/>
              <a:ea typeface="DengXian" panose="02010600030101010101" pitchFamily="2" charset="-122"/>
              <a:cs typeface="Times New Roman" panose="02020503050405090304" pitchFamily="18" charset="0"/>
            </a:endParaRPr>
          </a:p>
          <a:p>
            <a:pPr algn="just"/>
            <a:r>
              <a:rPr lang="en-US" altLang="zh-CN" sz="2000" kern="100" dirty="0">
                <a:effectLst/>
                <a:latin typeface="DengXian" panose="02010600030101010101" pitchFamily="2" charset="-122"/>
                <a:ea typeface="DengXian" panose="02010600030101010101" pitchFamily="2" charset="-122"/>
                <a:cs typeface="Times New Roman" panose="02020503050405090304" pitchFamily="18" charset="0"/>
              </a:rPr>
              <a:t>// </a:t>
            </a:r>
            <a:r>
              <a:rPr lang="zh-CN" altLang="zh-CN" sz="2000" kern="100" dirty="0">
                <a:effectLst/>
                <a:latin typeface="DengXian" panose="02010600030101010101" pitchFamily="2" charset="-122"/>
                <a:ea typeface="DengXian" panose="02010600030101010101" pitchFamily="2" charset="-122"/>
                <a:cs typeface="Times New Roman" panose="02020503050405090304" pitchFamily="18" charset="0"/>
              </a:rPr>
              <a:t>栈的结构体定义</a:t>
            </a:r>
          </a:p>
          <a:p>
            <a:pPr algn="just"/>
            <a:r>
              <a:rPr lang="en-US" altLang="zh-CN" sz="2000" kern="100" dirty="0">
                <a:effectLst/>
                <a:latin typeface="DengXian" panose="02010600030101010101" pitchFamily="2" charset="-122"/>
                <a:ea typeface="DengXian" panose="02010600030101010101" pitchFamily="2" charset="-122"/>
                <a:cs typeface="Times New Roman" panose="02020503050405090304" pitchFamily="18" charset="0"/>
              </a:rPr>
              <a:t>typedef struct {</a:t>
            </a:r>
            <a:endParaRPr lang="zh-CN" altLang="zh-CN" sz="2000" kern="100" dirty="0">
              <a:effectLst/>
              <a:latin typeface="DengXian" panose="02010600030101010101" pitchFamily="2" charset="-122"/>
              <a:ea typeface="DengXian" panose="02010600030101010101" pitchFamily="2" charset="-122"/>
              <a:cs typeface="Times New Roman" panose="02020503050405090304" pitchFamily="18" charset="0"/>
            </a:endParaRPr>
          </a:p>
          <a:p>
            <a:pPr algn="just"/>
            <a:r>
              <a:rPr lang="en-US" altLang="zh-CN" sz="2000" kern="100" dirty="0">
                <a:effectLst/>
                <a:latin typeface="DengXian" panose="02010600030101010101" pitchFamily="2" charset="-122"/>
                <a:ea typeface="DengXian" panose="02010600030101010101" pitchFamily="2" charset="-122"/>
                <a:cs typeface="Times New Roman" panose="02020503050405090304" pitchFamily="18" charset="0"/>
              </a:rPr>
              <a:t>    </a:t>
            </a:r>
            <a:r>
              <a:rPr lang="en-US" altLang="zh-CN" sz="2000" kern="100" dirty="0" err="1">
                <a:effectLst/>
                <a:latin typeface="DengXian" panose="02010600030101010101" pitchFamily="2" charset="-122"/>
                <a:ea typeface="DengXian" panose="02010600030101010101" pitchFamily="2" charset="-122"/>
                <a:cs typeface="Times New Roman" panose="02020503050405090304" pitchFamily="18" charset="0"/>
              </a:rPr>
              <a:t>DataType</a:t>
            </a:r>
            <a:r>
              <a:rPr lang="en-US" altLang="zh-CN" sz="2000" kern="100" dirty="0">
                <a:effectLst/>
                <a:latin typeface="DengXian" panose="02010600030101010101" pitchFamily="2" charset="-122"/>
                <a:ea typeface="DengXian" panose="02010600030101010101" pitchFamily="2" charset="-122"/>
                <a:cs typeface="Times New Roman" panose="02020503050405090304" pitchFamily="18" charset="0"/>
              </a:rPr>
              <a:t> data[MAXSIZE]; 	// </a:t>
            </a:r>
            <a:r>
              <a:rPr lang="zh-CN" altLang="zh-CN" sz="2000" kern="100" dirty="0">
                <a:effectLst/>
                <a:latin typeface="DengXian" panose="02010600030101010101" pitchFamily="2" charset="-122"/>
                <a:ea typeface="DengXian" panose="02010600030101010101" pitchFamily="2" charset="-122"/>
                <a:cs typeface="Times New Roman" panose="02020503050405090304" pitchFamily="18" charset="0"/>
              </a:rPr>
              <a:t>存储数据的数组</a:t>
            </a:r>
          </a:p>
          <a:p>
            <a:pPr algn="just"/>
            <a:r>
              <a:rPr lang="en-US" altLang="zh-CN" sz="2000" kern="100" dirty="0">
                <a:effectLst/>
                <a:latin typeface="DengXian" panose="02010600030101010101" pitchFamily="2" charset="-122"/>
                <a:ea typeface="DengXian" panose="02010600030101010101" pitchFamily="2" charset="-122"/>
                <a:cs typeface="Times New Roman" panose="02020503050405090304" pitchFamily="18" charset="0"/>
              </a:rPr>
              <a:t>    int top;        			// </a:t>
            </a:r>
            <a:r>
              <a:rPr lang="zh-CN" altLang="zh-CN" sz="2000" kern="100" dirty="0">
                <a:effectLst/>
                <a:latin typeface="DengXian" panose="02010600030101010101" pitchFamily="2" charset="-122"/>
                <a:ea typeface="DengXian" panose="02010600030101010101" pitchFamily="2" charset="-122"/>
                <a:cs typeface="Times New Roman" panose="02020503050405090304" pitchFamily="18" charset="0"/>
              </a:rPr>
              <a:t>栈顶指针</a:t>
            </a:r>
          </a:p>
          <a:p>
            <a:pPr algn="just"/>
            <a:r>
              <a:rPr lang="en-US" altLang="zh-CN" sz="2000" kern="100" dirty="0">
                <a:effectLst/>
                <a:latin typeface="DengXian" panose="02010600030101010101" pitchFamily="2" charset="-122"/>
                <a:ea typeface="DengXian" panose="02010600030101010101" pitchFamily="2" charset="-122"/>
                <a:cs typeface="Times New Roman" panose="02020503050405090304" pitchFamily="18" charset="0"/>
              </a:rPr>
              <a:t>    int </a:t>
            </a:r>
            <a:r>
              <a:rPr lang="en-US" altLang="zh-CN" sz="2000" kern="100" dirty="0" err="1">
                <a:effectLst/>
                <a:latin typeface="DengXian" panose="02010600030101010101" pitchFamily="2" charset="-122"/>
                <a:ea typeface="DengXian" panose="02010600030101010101" pitchFamily="2" charset="-122"/>
                <a:cs typeface="Times New Roman" panose="02020503050405090304" pitchFamily="18" charset="0"/>
              </a:rPr>
              <a:t>maxSize</a:t>
            </a:r>
            <a:r>
              <a:rPr lang="en-US" altLang="zh-CN" sz="2000" kern="100" dirty="0">
                <a:effectLst/>
                <a:latin typeface="DengXian" panose="02010600030101010101" pitchFamily="2" charset="-122"/>
                <a:ea typeface="DengXian" panose="02010600030101010101" pitchFamily="2" charset="-122"/>
                <a:cs typeface="Times New Roman" panose="02020503050405090304" pitchFamily="18" charset="0"/>
              </a:rPr>
              <a:t>;    		// </a:t>
            </a:r>
            <a:r>
              <a:rPr lang="zh-CN" altLang="zh-CN" sz="2000" kern="100" dirty="0">
                <a:effectLst/>
                <a:latin typeface="DengXian" panose="02010600030101010101" pitchFamily="2" charset="-122"/>
                <a:ea typeface="DengXian" panose="02010600030101010101" pitchFamily="2" charset="-122"/>
                <a:cs typeface="Times New Roman" panose="02020503050405090304" pitchFamily="18" charset="0"/>
              </a:rPr>
              <a:t>栈的最大容量</a:t>
            </a:r>
          </a:p>
          <a:p>
            <a:pPr algn="just"/>
            <a:r>
              <a:rPr lang="en-US" altLang="zh-CN" sz="2000" kern="100" dirty="0">
                <a:effectLst/>
                <a:latin typeface="DengXian" panose="02010600030101010101" pitchFamily="2" charset="-122"/>
                <a:ea typeface="DengXian" panose="02010600030101010101" pitchFamily="2" charset="-122"/>
                <a:cs typeface="Times New Roman" panose="02020503050405090304" pitchFamily="18" charset="0"/>
              </a:rPr>
              <a:t>} </a:t>
            </a:r>
            <a:r>
              <a:rPr lang="en-US" altLang="zh-CN" sz="2000" kern="100" dirty="0" err="1">
                <a:effectLst/>
                <a:latin typeface="DengXian" panose="02010600030101010101" pitchFamily="2" charset="-122"/>
                <a:ea typeface="DengXian" panose="02010600030101010101" pitchFamily="2" charset="-122"/>
                <a:cs typeface="Times New Roman" panose="02020503050405090304" pitchFamily="18" charset="0"/>
              </a:rPr>
              <a:t>SqStack</a:t>
            </a:r>
            <a:r>
              <a:rPr lang="en-US" altLang="zh-CN" sz="2000" kern="100" dirty="0">
                <a:effectLst/>
                <a:latin typeface="DengXian" panose="02010600030101010101" pitchFamily="2" charset="-122"/>
                <a:ea typeface="DengXian" panose="02010600030101010101" pitchFamily="2" charset="-122"/>
                <a:cs typeface="Times New Roman" panose="02020503050405090304" pitchFamily="18" charset="0"/>
              </a:rPr>
              <a:t>;</a:t>
            </a:r>
            <a:endParaRPr lang="zh-CN" altLang="zh-CN" sz="2000" kern="100" dirty="0">
              <a:effectLst/>
              <a:latin typeface="DengXian" panose="02010600030101010101" pitchFamily="2" charset="-122"/>
              <a:ea typeface="DengXian" panose="02010600030101010101" pitchFamily="2" charset="-122"/>
              <a:cs typeface="Times New Roman" panose="02020503050405090304" pitchFamily="18" charset="0"/>
            </a:endParaRPr>
          </a:p>
        </p:txBody>
      </p:sp>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panose="020B0604020202090204" pitchFamily="34" charset="0"/>
                <a:ea typeface="宋体" pitchFamily="2" charset="-122"/>
                <a:cs typeface="+mn-cs"/>
              </a:rPr>
              <a:t>13.4  </a:t>
            </a:r>
            <a:r>
              <a:rPr kumimoji="1" lang="zh-CN" altLang="en-US" sz="3200" b="1" dirty="0">
                <a:latin typeface="Arial" panose="020B0604020202090204" pitchFamily="34" charset="0"/>
                <a:ea typeface="宋体" pitchFamily="2" charset="-122"/>
                <a:cs typeface="+mn-cs"/>
              </a:rPr>
              <a:t>栈的表示和实现</a:t>
            </a:r>
          </a:p>
        </p:txBody>
      </p:sp>
      <p:sp>
        <p:nvSpPr>
          <p:cNvPr id="3" name="内容占位符 2"/>
          <p:cNvSpPr>
            <a:spLocks noGrp="1"/>
          </p:cNvSpPr>
          <p:nvPr>
            <p:ph idx="1"/>
          </p:nvPr>
        </p:nvSpPr>
        <p:spPr>
          <a:xfrm>
            <a:off x="1752600" y="1415834"/>
            <a:ext cx="8229600" cy="581458"/>
          </a:xfrm>
        </p:spPr>
        <p:txBody>
          <a:bodyPr>
            <a:normAutofit/>
          </a:bodyPr>
          <a:lstStyle/>
          <a:p>
            <a:pPr>
              <a:lnSpc>
                <a:spcPts val="3100"/>
              </a:lnSpc>
            </a:pPr>
            <a:r>
              <a:rPr lang="zh-CN" altLang="en-US" b="1" dirty="0"/>
              <a:t>顺序栈的</a:t>
            </a:r>
            <a:r>
              <a:rPr lang="en-US" altLang="zh-CN" b="1" dirty="0"/>
              <a:t>C</a:t>
            </a:r>
            <a:r>
              <a:rPr lang="zh-CN" altLang="en-US" b="1" dirty="0"/>
              <a:t>语言实现</a:t>
            </a:r>
          </a:p>
        </p:txBody>
      </p:sp>
      <p:sp>
        <p:nvSpPr>
          <p:cNvPr id="4" name="日期占位符 3"/>
          <p:cNvSpPr>
            <a:spLocks noGrp="1"/>
          </p:cNvSpPr>
          <p:nvPr>
            <p:ph type="dt" sz="half" idx="10"/>
          </p:nvPr>
        </p:nvSpPr>
        <p:spPr/>
        <p:txBody>
          <a:bodyPr/>
          <a:lstStyle/>
          <a:p>
            <a:fld id="{8CDD14D5-AE49-4765-9A89-B81CF3B00D66}" type="datetime1">
              <a:rPr lang="zh-CN" altLang="en-US" b="1" smtClean="0">
                <a:solidFill>
                  <a:srgbClr val="F79646">
                    <a:lumMod val="75000"/>
                  </a:srgbClr>
                </a:solidFill>
              </a:rPr>
              <a:t>2025/11/27</a:t>
            </a:fld>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t>30</a:t>
            </a:fld>
            <a:endParaRPr lang="zh-CN" altLang="en-US" b="1" dirty="0">
              <a:solidFill>
                <a:srgbClr val="F79646">
                  <a:lumMod val="75000"/>
                </a:srgbClr>
              </a:solidFill>
            </a:endParaRPr>
          </a:p>
        </p:txBody>
      </p:sp>
      <p:cxnSp>
        <p:nvCxnSpPr>
          <p:cNvPr id="12" name="直接连接符 11"/>
          <p:cNvCxnSpPr/>
          <p:nvPr/>
        </p:nvCxnSpPr>
        <p:spPr>
          <a:xfrm>
            <a:off x="1981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63" name="图片 62"/>
          <p:cNvPicPr>
            <a:picLocks noChangeAspect="1"/>
          </p:cNvPicPr>
          <p:nvPr/>
        </p:nvPicPr>
        <p:blipFill>
          <a:blip r:embed="rId3"/>
          <a:stretch>
            <a:fillRect/>
          </a:stretch>
        </p:blipFill>
        <p:spPr>
          <a:xfrm>
            <a:off x="8409637" y="2286000"/>
            <a:ext cx="3172763" cy="3366654"/>
          </a:xfrm>
          <a:prstGeom prst="rect">
            <a:avLst/>
          </a:prstGeom>
        </p:spPr>
      </p:pic>
      <p:grpSp>
        <p:nvGrpSpPr>
          <p:cNvPr id="64" name="组合 63"/>
          <p:cNvGrpSpPr/>
          <p:nvPr/>
        </p:nvGrpSpPr>
        <p:grpSpPr>
          <a:xfrm>
            <a:off x="7703812" y="3764654"/>
            <a:ext cx="768452" cy="400110"/>
            <a:chOff x="6766703" y="4172988"/>
            <a:chExt cx="839235" cy="432424"/>
          </a:xfrm>
        </p:grpSpPr>
        <p:sp>
          <p:nvSpPr>
            <p:cNvPr id="65" name="文本框 64"/>
            <p:cNvSpPr txBox="1"/>
            <p:nvPr/>
          </p:nvSpPr>
          <p:spPr>
            <a:xfrm>
              <a:off x="6766703" y="4172988"/>
              <a:ext cx="590322" cy="432424"/>
            </a:xfrm>
            <a:prstGeom prst="rect">
              <a:avLst/>
            </a:prstGeom>
            <a:noFill/>
          </p:spPr>
          <p:txBody>
            <a:bodyPr wrap="none" rtlCol="0">
              <a:spAutoFit/>
            </a:bodyPr>
            <a:lstStyle/>
            <a:p>
              <a:r>
                <a:rPr lang="en-US" altLang="zh-CN" b="1" dirty="0">
                  <a:latin typeface="Times New Roman" panose="02020503050405090304" pitchFamily="18" charset="0"/>
                  <a:cs typeface="Times New Roman" panose="02020503050405090304" pitchFamily="18" charset="0"/>
                </a:rPr>
                <a:t>top</a:t>
              </a:r>
              <a:endParaRPr lang="zh-CN" altLang="en-US" b="1" dirty="0">
                <a:latin typeface="Times New Roman" panose="02020503050405090304" pitchFamily="18" charset="0"/>
                <a:cs typeface="Times New Roman" panose="02020503050405090304" pitchFamily="18" charset="0"/>
              </a:endParaRPr>
            </a:p>
          </p:txBody>
        </p:sp>
        <p:cxnSp>
          <p:nvCxnSpPr>
            <p:cNvPr id="66" name="直接箭头连接符 65"/>
            <p:cNvCxnSpPr/>
            <p:nvPr/>
          </p:nvCxnSpPr>
          <p:spPr>
            <a:xfrm>
              <a:off x="7270767" y="4399218"/>
              <a:ext cx="335171" cy="1662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Text Box 3"/>
          <p:cNvSpPr txBox="1">
            <a:spLocks noChangeArrowheads="1"/>
          </p:cNvSpPr>
          <p:nvPr/>
        </p:nvSpPr>
        <p:spPr bwMode="auto">
          <a:xfrm>
            <a:off x="1742726" y="1388010"/>
            <a:ext cx="5629507" cy="4422749"/>
          </a:xfrm>
          <a:prstGeom prst="rect">
            <a:avLst/>
          </a:prstGeom>
          <a:solidFill>
            <a:srgbClr val="FFFFFF"/>
          </a:solidFill>
          <a:ln w="25400" cap="flat" cmpd="sng" algn="ctr">
            <a:noFill/>
            <a:prstDash val="solid"/>
          </a:ln>
          <a:effectLst/>
        </p:spPr>
        <p:txBody>
          <a:bodyPr wrap="square">
            <a:spAutoFit/>
          </a:bodyPr>
          <a:lstStyle/>
          <a:p>
            <a:pPr fontAlgn="base">
              <a:lnSpc>
                <a:spcPct val="140000"/>
              </a:lnSpc>
              <a:spcBef>
                <a:spcPct val="20000"/>
              </a:spcBef>
              <a:spcAft>
                <a:spcPct val="0"/>
              </a:spcAft>
              <a:buClr>
                <a:srgbClr val="FFFF00"/>
              </a:buClr>
              <a:buSzPct val="95000"/>
              <a:defRPr/>
            </a:pPr>
            <a:r>
              <a:rPr lang="zh-CN" altLang="en-US" sz="2000" b="1" kern="0" dirty="0">
                <a:solidFill>
                  <a:srgbClr val="000000"/>
                </a:solidFill>
                <a:latin typeface="Constantia"/>
                <a:ea typeface="宋体"/>
              </a:rPr>
              <a:t>(1)置空</a:t>
            </a:r>
            <a:r>
              <a:rPr lang="en-US" altLang="zh-CN" sz="2000" b="1" kern="0" dirty="0">
                <a:solidFill>
                  <a:srgbClr val="000000"/>
                </a:solidFill>
                <a:latin typeface="Constantia"/>
                <a:ea typeface="宋体"/>
              </a:rPr>
              <a:t>(</a:t>
            </a:r>
            <a:r>
              <a:rPr lang="zh-CN" altLang="en-US" sz="2000" b="1" kern="0" dirty="0">
                <a:solidFill>
                  <a:srgbClr val="000000"/>
                </a:solidFill>
                <a:latin typeface="Constantia"/>
                <a:ea typeface="宋体"/>
              </a:rPr>
              <a:t>初始化</a:t>
            </a:r>
            <a:r>
              <a:rPr lang="en-US" altLang="zh-CN" sz="2000" b="1" kern="0" dirty="0">
                <a:solidFill>
                  <a:srgbClr val="000000"/>
                </a:solidFill>
                <a:latin typeface="Constantia"/>
                <a:ea typeface="宋体"/>
              </a:rPr>
              <a:t>)</a:t>
            </a:r>
            <a:r>
              <a:rPr lang="zh-CN" altLang="en-US" sz="2000" b="1" kern="0" dirty="0">
                <a:solidFill>
                  <a:srgbClr val="000000"/>
                </a:solidFill>
                <a:latin typeface="Constantia"/>
                <a:ea typeface="宋体"/>
              </a:rPr>
              <a:t>栈</a:t>
            </a:r>
          </a:p>
          <a:p>
            <a:pPr fontAlgn="base">
              <a:lnSpc>
                <a:spcPct val="140000"/>
              </a:lnSpc>
              <a:spcBef>
                <a:spcPct val="20000"/>
              </a:spcBef>
              <a:spcAft>
                <a:spcPct val="0"/>
              </a:spcAft>
              <a:buClr>
                <a:srgbClr val="FFFF00"/>
              </a:buClr>
              <a:buSzPct val="95000"/>
              <a:defRPr/>
            </a:pPr>
            <a:r>
              <a:rPr lang="zh-CN" altLang="en-US" sz="2000" b="1" kern="0" dirty="0">
                <a:solidFill>
                  <a:srgbClr val="000000"/>
                </a:solidFill>
                <a:latin typeface="Constantia"/>
                <a:ea typeface="宋体"/>
              </a:rPr>
              <a:t>   </a:t>
            </a:r>
            <a:endParaRPr lang="en-US" altLang="zh-CN" sz="2000" b="1" kern="0" dirty="0">
              <a:solidFill>
                <a:srgbClr val="000000"/>
              </a:solidFill>
              <a:latin typeface="Constantia"/>
              <a:ea typeface="宋体"/>
            </a:endParaRPr>
          </a:p>
          <a:p>
            <a:pPr fontAlgn="base">
              <a:lnSpc>
                <a:spcPct val="140000"/>
              </a:lnSpc>
              <a:spcBef>
                <a:spcPct val="20000"/>
              </a:spcBef>
              <a:spcAft>
                <a:spcPct val="0"/>
              </a:spcAft>
              <a:buClr>
                <a:srgbClr val="FFFF00"/>
              </a:buClr>
              <a:buSzPct val="95000"/>
              <a:defRPr/>
            </a:pPr>
            <a:endParaRPr lang="en-US" altLang="zh-CN" b="1" kern="0" dirty="0">
              <a:solidFill>
                <a:srgbClr val="000000"/>
              </a:solidFill>
              <a:latin typeface="Constantia"/>
              <a:ea typeface="宋体"/>
            </a:endParaRPr>
          </a:p>
          <a:p>
            <a:pPr fontAlgn="base">
              <a:lnSpc>
                <a:spcPct val="140000"/>
              </a:lnSpc>
              <a:spcBef>
                <a:spcPct val="20000"/>
              </a:spcBef>
              <a:spcAft>
                <a:spcPct val="0"/>
              </a:spcAft>
              <a:buClr>
                <a:srgbClr val="FFFF00"/>
              </a:buClr>
              <a:buSzPct val="95000"/>
              <a:defRPr/>
            </a:pPr>
            <a:endParaRPr lang="en-US" altLang="zh-CN" sz="2000" b="1" kern="0" dirty="0">
              <a:solidFill>
                <a:srgbClr val="000000"/>
              </a:solidFill>
              <a:latin typeface="Constantia"/>
              <a:ea typeface="宋体"/>
            </a:endParaRPr>
          </a:p>
          <a:p>
            <a:pPr fontAlgn="base">
              <a:lnSpc>
                <a:spcPct val="140000"/>
              </a:lnSpc>
              <a:spcBef>
                <a:spcPct val="20000"/>
              </a:spcBef>
              <a:spcAft>
                <a:spcPct val="0"/>
              </a:spcAft>
              <a:buClr>
                <a:srgbClr val="FFFF00"/>
              </a:buClr>
              <a:buSzPct val="95000"/>
              <a:defRPr/>
            </a:pPr>
            <a:r>
              <a:rPr lang="en-US" altLang="zh-CN" sz="2000" b="1" kern="0" dirty="0">
                <a:solidFill>
                  <a:srgbClr val="000000"/>
                </a:solidFill>
                <a:latin typeface="Constantia"/>
                <a:ea typeface="宋体"/>
              </a:rPr>
              <a:t>(2)</a:t>
            </a:r>
            <a:r>
              <a:rPr lang="zh-CN" altLang="en-US" b="1" kern="0" dirty="0">
                <a:solidFill>
                  <a:srgbClr val="000000"/>
                </a:solidFill>
                <a:latin typeface="Constantia"/>
                <a:ea typeface="宋体"/>
              </a:rPr>
              <a:t>判断</a:t>
            </a:r>
            <a:r>
              <a:rPr lang="zh-CN" altLang="en-US" sz="2000" b="1" kern="0" dirty="0">
                <a:solidFill>
                  <a:srgbClr val="000000"/>
                </a:solidFill>
                <a:latin typeface="Constantia"/>
                <a:ea typeface="宋体"/>
              </a:rPr>
              <a:t>栈空</a:t>
            </a:r>
          </a:p>
          <a:p>
            <a:pPr fontAlgn="base">
              <a:lnSpc>
                <a:spcPct val="140000"/>
              </a:lnSpc>
              <a:spcBef>
                <a:spcPct val="20000"/>
              </a:spcBef>
              <a:spcAft>
                <a:spcPct val="0"/>
              </a:spcAft>
              <a:buClr>
                <a:srgbClr val="FFFF00"/>
              </a:buClr>
              <a:buSzPct val="95000"/>
              <a:defRPr/>
            </a:pPr>
            <a:endParaRPr lang="en-US" altLang="zh-CN" sz="2000" b="1" kern="0" dirty="0">
              <a:solidFill>
                <a:srgbClr val="000000"/>
              </a:solidFill>
              <a:latin typeface="Constantia"/>
              <a:ea typeface="宋体"/>
            </a:endParaRPr>
          </a:p>
          <a:p>
            <a:pPr fontAlgn="base">
              <a:lnSpc>
                <a:spcPct val="140000"/>
              </a:lnSpc>
              <a:spcBef>
                <a:spcPct val="20000"/>
              </a:spcBef>
              <a:spcAft>
                <a:spcPct val="0"/>
              </a:spcAft>
              <a:buClr>
                <a:srgbClr val="FFFF00"/>
              </a:buClr>
              <a:buSzPct val="95000"/>
              <a:defRPr/>
            </a:pPr>
            <a:endParaRPr lang="en-US" altLang="zh-CN" b="1" kern="0" dirty="0">
              <a:solidFill>
                <a:srgbClr val="000000"/>
              </a:solidFill>
              <a:latin typeface="Constantia"/>
              <a:ea typeface="宋体"/>
            </a:endParaRPr>
          </a:p>
          <a:p>
            <a:pPr fontAlgn="base">
              <a:lnSpc>
                <a:spcPct val="140000"/>
              </a:lnSpc>
              <a:spcBef>
                <a:spcPct val="20000"/>
              </a:spcBef>
              <a:spcAft>
                <a:spcPct val="0"/>
              </a:spcAft>
              <a:buClr>
                <a:srgbClr val="FFFF00"/>
              </a:buClr>
              <a:buSzPct val="95000"/>
              <a:defRPr/>
            </a:pPr>
            <a:r>
              <a:rPr lang="en-US" altLang="zh-CN" sz="2000" b="1" kern="0" dirty="0">
                <a:solidFill>
                  <a:srgbClr val="000000"/>
                </a:solidFill>
                <a:latin typeface="Constantia"/>
                <a:ea typeface="宋体"/>
              </a:rPr>
              <a:t>(3)</a:t>
            </a:r>
            <a:r>
              <a:rPr lang="zh-CN" altLang="en-US" sz="2000" b="1" kern="0" dirty="0">
                <a:solidFill>
                  <a:srgbClr val="000000"/>
                </a:solidFill>
                <a:latin typeface="Constantia"/>
                <a:ea typeface="宋体"/>
              </a:rPr>
              <a:t>判断栈满</a:t>
            </a:r>
          </a:p>
          <a:p>
            <a:pPr fontAlgn="base">
              <a:lnSpc>
                <a:spcPct val="140000"/>
              </a:lnSpc>
              <a:spcBef>
                <a:spcPct val="20000"/>
              </a:spcBef>
              <a:spcAft>
                <a:spcPct val="0"/>
              </a:spcAft>
              <a:buClr>
                <a:srgbClr val="FFFF00"/>
              </a:buClr>
              <a:buSzPct val="95000"/>
              <a:defRPr/>
            </a:pPr>
            <a:r>
              <a:rPr lang="zh-CN" altLang="en-US" sz="2000" b="1" kern="0" dirty="0">
                <a:solidFill>
                  <a:srgbClr val="000000"/>
                </a:solidFill>
                <a:latin typeface="Constantia"/>
                <a:ea typeface="宋体"/>
              </a:rPr>
              <a:t> </a:t>
            </a:r>
            <a:endParaRPr lang="en-US" altLang="zh-CN" sz="2000" b="1" kern="0" dirty="0">
              <a:solidFill>
                <a:srgbClr val="000000"/>
              </a:solidFill>
              <a:latin typeface="Constantia"/>
              <a:ea typeface="宋体"/>
            </a:endParaRPr>
          </a:p>
        </p:txBody>
      </p:sp>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panose="020B0604020202090204" pitchFamily="34" charset="0"/>
                <a:ea typeface="宋体" pitchFamily="2" charset="-122"/>
                <a:cs typeface="+mn-cs"/>
              </a:rPr>
              <a:t>13.4  </a:t>
            </a:r>
            <a:r>
              <a:rPr kumimoji="1" lang="zh-CN" altLang="en-US" sz="3200" b="1" dirty="0">
                <a:latin typeface="Arial" panose="020B0604020202090204" pitchFamily="34" charset="0"/>
                <a:ea typeface="宋体" pitchFamily="2" charset="-122"/>
                <a:cs typeface="+mn-cs"/>
              </a:rPr>
              <a:t>栈的表示和实现</a:t>
            </a:r>
          </a:p>
        </p:txBody>
      </p:sp>
      <p:sp>
        <p:nvSpPr>
          <p:cNvPr id="4" name="日期占位符 3"/>
          <p:cNvSpPr>
            <a:spLocks noGrp="1"/>
          </p:cNvSpPr>
          <p:nvPr>
            <p:ph type="dt" sz="half" idx="10"/>
          </p:nvPr>
        </p:nvSpPr>
        <p:spPr/>
        <p:txBody>
          <a:bodyPr/>
          <a:lstStyle/>
          <a:p>
            <a:fld id="{11C812DC-1B28-40F8-B76E-7AD59EE3B972}" type="datetime1">
              <a:rPr lang="zh-CN" altLang="en-US" b="1" smtClean="0">
                <a:solidFill>
                  <a:srgbClr val="F79646">
                    <a:lumMod val="75000"/>
                  </a:srgbClr>
                </a:solidFill>
              </a:rPr>
              <a:t>2025/11/27</a:t>
            </a:fld>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t>31</a:t>
            </a:fld>
            <a:endParaRPr lang="zh-CN" altLang="en-US" b="1" dirty="0">
              <a:solidFill>
                <a:srgbClr val="F79646">
                  <a:lumMod val="75000"/>
                </a:srgbClr>
              </a:solidFill>
            </a:endParaRPr>
          </a:p>
        </p:txBody>
      </p:sp>
      <p:cxnSp>
        <p:nvCxnSpPr>
          <p:cNvPr id="12" name="直接连接符 11"/>
          <p:cNvCxnSpPr/>
          <p:nvPr/>
        </p:nvCxnSpPr>
        <p:spPr>
          <a:xfrm>
            <a:off x="1981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图片 4"/>
          <p:cNvPicPr>
            <a:picLocks noChangeAspect="1"/>
          </p:cNvPicPr>
          <p:nvPr/>
        </p:nvPicPr>
        <p:blipFill>
          <a:blip r:embed="rId3"/>
          <a:stretch>
            <a:fillRect/>
          </a:stretch>
        </p:blipFill>
        <p:spPr>
          <a:xfrm>
            <a:off x="7673340" y="2489201"/>
            <a:ext cx="3429000" cy="3638550"/>
          </a:xfrm>
          <a:prstGeom prst="rect">
            <a:avLst/>
          </a:prstGeom>
        </p:spPr>
      </p:pic>
      <p:grpSp>
        <p:nvGrpSpPr>
          <p:cNvPr id="40" name="组合 39"/>
          <p:cNvGrpSpPr/>
          <p:nvPr/>
        </p:nvGrpSpPr>
        <p:grpSpPr>
          <a:xfrm>
            <a:off x="6893751" y="5774294"/>
            <a:ext cx="839235" cy="400110"/>
            <a:chOff x="6766703" y="4172988"/>
            <a:chExt cx="839235" cy="400110"/>
          </a:xfrm>
        </p:grpSpPr>
        <p:sp>
          <p:nvSpPr>
            <p:cNvPr id="7" name="文本框 6"/>
            <p:cNvSpPr txBox="1"/>
            <p:nvPr/>
          </p:nvSpPr>
          <p:spPr>
            <a:xfrm>
              <a:off x="6766703" y="4172988"/>
              <a:ext cx="540533" cy="400110"/>
            </a:xfrm>
            <a:prstGeom prst="rect">
              <a:avLst/>
            </a:prstGeom>
            <a:noFill/>
          </p:spPr>
          <p:txBody>
            <a:bodyPr wrap="none" rtlCol="0">
              <a:spAutoFit/>
            </a:bodyPr>
            <a:lstStyle/>
            <a:p>
              <a:r>
                <a:rPr lang="en-US" altLang="zh-CN" b="1" dirty="0">
                  <a:latin typeface="Times New Roman" panose="02020503050405090304" pitchFamily="18" charset="0"/>
                  <a:cs typeface="Times New Roman" panose="02020503050405090304" pitchFamily="18" charset="0"/>
                </a:rPr>
                <a:t>top</a:t>
              </a:r>
              <a:endParaRPr lang="zh-CN" altLang="en-US" b="1" dirty="0">
                <a:latin typeface="Times New Roman" panose="02020503050405090304" pitchFamily="18" charset="0"/>
                <a:cs typeface="Times New Roman" panose="02020503050405090304" pitchFamily="18" charset="0"/>
              </a:endParaRPr>
            </a:p>
          </p:txBody>
        </p:sp>
        <p:cxnSp>
          <p:nvCxnSpPr>
            <p:cNvPr id="13" name="直接箭头连接符 12"/>
            <p:cNvCxnSpPr/>
            <p:nvPr/>
          </p:nvCxnSpPr>
          <p:spPr>
            <a:xfrm>
              <a:off x="7270767" y="4399218"/>
              <a:ext cx="335171" cy="1662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8" name="文本框 7"/>
          <p:cNvSpPr txBox="1"/>
          <p:nvPr/>
        </p:nvSpPr>
        <p:spPr>
          <a:xfrm>
            <a:off x="7758567" y="5887622"/>
            <a:ext cx="387512" cy="338554"/>
          </a:xfrm>
          <a:prstGeom prst="rect">
            <a:avLst/>
          </a:prstGeom>
          <a:noFill/>
        </p:spPr>
        <p:txBody>
          <a:bodyPr wrap="square" rtlCol="0">
            <a:spAutoFit/>
          </a:bodyPr>
          <a:lstStyle/>
          <a:p>
            <a:r>
              <a:rPr lang="en-US" altLang="zh-CN" sz="1600" b="1" dirty="0">
                <a:latin typeface="Times New Roman" panose="02020503050405090304" pitchFamily="18" charset="0"/>
                <a:cs typeface="Times New Roman" panose="02020503050405090304" pitchFamily="18" charset="0"/>
              </a:rPr>
              <a:t>-1</a:t>
            </a:r>
            <a:endParaRPr lang="zh-CN" altLang="en-US" sz="1600" b="1" dirty="0">
              <a:latin typeface="Times New Roman" panose="02020503050405090304" pitchFamily="18" charset="0"/>
              <a:cs typeface="Times New Roman" panose="02020503050405090304" pitchFamily="18" charset="0"/>
            </a:endParaRPr>
          </a:p>
        </p:txBody>
      </p:sp>
      <p:pic>
        <p:nvPicPr>
          <p:cNvPr id="14" name="图片 13"/>
          <p:cNvPicPr>
            <a:picLocks noChangeAspect="1"/>
          </p:cNvPicPr>
          <p:nvPr/>
        </p:nvPicPr>
        <p:blipFill>
          <a:blip r:embed="rId4"/>
          <a:stretch>
            <a:fillRect/>
          </a:stretch>
        </p:blipFill>
        <p:spPr>
          <a:xfrm>
            <a:off x="8247423" y="4080674"/>
            <a:ext cx="3227109" cy="959411"/>
          </a:xfrm>
          <a:prstGeom prst="rect">
            <a:avLst/>
          </a:prstGeom>
        </p:spPr>
      </p:pic>
      <p:pic>
        <p:nvPicPr>
          <p:cNvPr id="15" name="图片 14"/>
          <p:cNvPicPr>
            <a:picLocks noChangeAspect="1"/>
          </p:cNvPicPr>
          <p:nvPr/>
        </p:nvPicPr>
        <p:blipFill>
          <a:blip r:embed="rId4"/>
          <a:stretch>
            <a:fillRect/>
          </a:stretch>
        </p:blipFill>
        <p:spPr>
          <a:xfrm>
            <a:off x="8250797" y="4920731"/>
            <a:ext cx="3223736" cy="958408"/>
          </a:xfrm>
          <a:prstGeom prst="rect">
            <a:avLst/>
          </a:prstGeom>
        </p:spPr>
      </p:pic>
      <p:pic>
        <p:nvPicPr>
          <p:cNvPr id="18" name="图片 17"/>
          <p:cNvPicPr>
            <a:picLocks noChangeAspect="1"/>
          </p:cNvPicPr>
          <p:nvPr/>
        </p:nvPicPr>
        <p:blipFill>
          <a:blip r:embed="rId5"/>
          <a:stretch>
            <a:fillRect/>
          </a:stretch>
        </p:blipFill>
        <p:spPr>
          <a:xfrm>
            <a:off x="1882328" y="3820066"/>
            <a:ext cx="2773512" cy="1145337"/>
          </a:xfrm>
          <a:prstGeom prst="rect">
            <a:avLst/>
          </a:prstGeom>
        </p:spPr>
      </p:pic>
      <p:pic>
        <p:nvPicPr>
          <p:cNvPr id="19" name="图片 18"/>
          <p:cNvPicPr>
            <a:picLocks noChangeAspect="1"/>
          </p:cNvPicPr>
          <p:nvPr/>
        </p:nvPicPr>
        <p:blipFill>
          <a:blip r:embed="rId6"/>
          <a:stretch>
            <a:fillRect/>
          </a:stretch>
        </p:blipFill>
        <p:spPr>
          <a:xfrm>
            <a:off x="1972940" y="5396499"/>
            <a:ext cx="3474988" cy="1101825"/>
          </a:xfrm>
          <a:prstGeom prst="rect">
            <a:avLst/>
          </a:prstGeom>
        </p:spPr>
      </p:pic>
      <p:pic>
        <p:nvPicPr>
          <p:cNvPr id="11" name="图片 10"/>
          <p:cNvPicPr>
            <a:picLocks noChangeAspect="1"/>
          </p:cNvPicPr>
          <p:nvPr/>
        </p:nvPicPr>
        <p:blipFill>
          <a:blip r:embed="rId7"/>
          <a:stretch>
            <a:fillRect/>
          </a:stretch>
        </p:blipFill>
        <p:spPr>
          <a:xfrm>
            <a:off x="1742726" y="1940606"/>
            <a:ext cx="4000500" cy="1270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nodeType="clickEffect">
                                  <p:stCondLst>
                                    <p:cond delay="0"/>
                                  </p:stCondLst>
                                  <p:childTnLst>
                                    <p:animMotion origin="layout" path="M 2.08333E-7 -4.81481E-6 L -0.00078 -0.43865 " pathEditMode="relative" rAng="0" ptsTypes="AA">
                                      <p:cBhvr>
                                        <p:cTn id="6" dur="2000" fill="hold"/>
                                        <p:tgtEl>
                                          <p:spTgt spid="40"/>
                                        </p:tgtEl>
                                        <p:attrNameLst>
                                          <p:attrName>ppt_x</p:attrName>
                                          <p:attrName>ppt_y</p:attrName>
                                        </p:attrNameLst>
                                      </p:cBhvr>
                                      <p:rCtr x="-39" y="-21944"/>
                                    </p:animMotion>
                                  </p:childTnLst>
                                </p:cTn>
                              </p:par>
                              <p:par>
                                <p:cTn id="7" presetID="1" presetClass="exit" presetSubtype="0" fill="hold" nodeType="withEffect">
                                  <p:stCondLst>
                                    <p:cond delay="0"/>
                                  </p:stCondLst>
                                  <p:childTnLst>
                                    <p:set>
                                      <p:cBhvr>
                                        <p:cTn id="8" dur="1" fill="hold">
                                          <p:stCondLst>
                                            <p:cond delay="0"/>
                                          </p:stCondLst>
                                        </p:cTn>
                                        <p:tgtEl>
                                          <p:spTgt spid="15"/>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1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图片 36"/>
          <p:cNvPicPr>
            <a:picLocks noChangeAspect="1"/>
          </p:cNvPicPr>
          <p:nvPr/>
        </p:nvPicPr>
        <p:blipFill>
          <a:blip r:embed="rId3"/>
          <a:stretch>
            <a:fillRect/>
          </a:stretch>
        </p:blipFill>
        <p:spPr>
          <a:xfrm>
            <a:off x="7756466" y="2136905"/>
            <a:ext cx="3429000" cy="3638550"/>
          </a:xfrm>
          <a:prstGeom prst="rect">
            <a:avLst/>
          </a:prstGeom>
        </p:spPr>
      </p:pic>
      <p:grpSp>
        <p:nvGrpSpPr>
          <p:cNvPr id="38" name="组合 37"/>
          <p:cNvGrpSpPr/>
          <p:nvPr/>
        </p:nvGrpSpPr>
        <p:grpSpPr>
          <a:xfrm>
            <a:off x="6976877" y="3729253"/>
            <a:ext cx="839235" cy="400110"/>
            <a:chOff x="6766703" y="4172988"/>
            <a:chExt cx="839235" cy="400110"/>
          </a:xfrm>
        </p:grpSpPr>
        <p:sp>
          <p:nvSpPr>
            <p:cNvPr id="39" name="文本框 38"/>
            <p:cNvSpPr txBox="1"/>
            <p:nvPr/>
          </p:nvSpPr>
          <p:spPr>
            <a:xfrm>
              <a:off x="6766703" y="4172988"/>
              <a:ext cx="540533" cy="400110"/>
            </a:xfrm>
            <a:prstGeom prst="rect">
              <a:avLst/>
            </a:prstGeom>
            <a:noFill/>
          </p:spPr>
          <p:txBody>
            <a:bodyPr wrap="none" rtlCol="0">
              <a:spAutoFit/>
            </a:bodyPr>
            <a:lstStyle/>
            <a:p>
              <a:r>
                <a:rPr lang="en-US" altLang="zh-CN" b="1" dirty="0">
                  <a:latin typeface="Times New Roman" panose="02020503050405090304" pitchFamily="18" charset="0"/>
                  <a:cs typeface="Times New Roman" panose="02020503050405090304" pitchFamily="18" charset="0"/>
                </a:rPr>
                <a:t>top</a:t>
              </a:r>
              <a:endParaRPr lang="zh-CN" altLang="en-US" b="1" dirty="0">
                <a:latin typeface="Times New Roman" panose="02020503050405090304" pitchFamily="18" charset="0"/>
                <a:cs typeface="Times New Roman" panose="02020503050405090304" pitchFamily="18" charset="0"/>
              </a:endParaRPr>
            </a:p>
          </p:txBody>
        </p:sp>
        <p:cxnSp>
          <p:nvCxnSpPr>
            <p:cNvPr id="40" name="直接箭头连接符 39"/>
            <p:cNvCxnSpPr/>
            <p:nvPr/>
          </p:nvCxnSpPr>
          <p:spPr>
            <a:xfrm>
              <a:off x="7270767" y="4399218"/>
              <a:ext cx="335171" cy="1662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panose="020B0604020202090204" pitchFamily="34" charset="0"/>
                <a:ea typeface="宋体" pitchFamily="2" charset="-122"/>
                <a:cs typeface="+mn-cs"/>
              </a:rPr>
              <a:t>13.4  </a:t>
            </a:r>
            <a:r>
              <a:rPr kumimoji="1" lang="zh-CN" altLang="en-US" sz="3200" b="1" dirty="0">
                <a:latin typeface="Arial" panose="020B0604020202090204" pitchFamily="34" charset="0"/>
                <a:ea typeface="宋体" pitchFamily="2" charset="-122"/>
                <a:cs typeface="+mn-cs"/>
              </a:rPr>
              <a:t>栈的表示和实现</a:t>
            </a:r>
          </a:p>
        </p:txBody>
      </p:sp>
      <p:sp>
        <p:nvSpPr>
          <p:cNvPr id="4" name="日期占位符 3"/>
          <p:cNvSpPr>
            <a:spLocks noGrp="1"/>
          </p:cNvSpPr>
          <p:nvPr>
            <p:ph type="dt" sz="half" idx="10"/>
          </p:nvPr>
        </p:nvSpPr>
        <p:spPr/>
        <p:txBody>
          <a:bodyPr/>
          <a:lstStyle/>
          <a:p>
            <a:fld id="{24A4A1E6-5C73-4B6B-9272-DAE894364669}" type="datetime1">
              <a:rPr lang="zh-CN" altLang="en-US" b="1" smtClean="0">
                <a:solidFill>
                  <a:srgbClr val="F79646">
                    <a:lumMod val="75000"/>
                  </a:srgbClr>
                </a:solidFill>
              </a:rPr>
              <a:t>2025/11/27</a:t>
            </a:fld>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t>32</a:t>
            </a:fld>
            <a:endParaRPr lang="zh-CN" altLang="en-US" b="1" dirty="0">
              <a:solidFill>
                <a:srgbClr val="F79646">
                  <a:lumMod val="75000"/>
                </a:srgbClr>
              </a:solidFill>
            </a:endParaRPr>
          </a:p>
        </p:txBody>
      </p:sp>
      <p:cxnSp>
        <p:nvCxnSpPr>
          <p:cNvPr id="12" name="直接连接符 11"/>
          <p:cNvCxnSpPr/>
          <p:nvPr/>
        </p:nvCxnSpPr>
        <p:spPr>
          <a:xfrm>
            <a:off x="1981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1426050" y="5746189"/>
            <a:ext cx="8229600" cy="40011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zh-CN" altLang="en-US" dirty="0"/>
              <a:t>入（进）栈操作：栈不满时，栈顶指针先加</a:t>
            </a:r>
            <a:r>
              <a:rPr lang="en-US" altLang="zh-CN" dirty="0"/>
              <a:t>1</a:t>
            </a:r>
            <a:r>
              <a:rPr lang="zh-CN" altLang="en-US" dirty="0"/>
              <a:t>，再送值到栈顶元素。</a:t>
            </a:r>
          </a:p>
        </p:txBody>
      </p:sp>
      <p:sp>
        <p:nvSpPr>
          <p:cNvPr id="17" name="矩形 16"/>
          <p:cNvSpPr/>
          <p:nvPr/>
        </p:nvSpPr>
        <p:spPr>
          <a:xfrm>
            <a:off x="9089770" y="3434425"/>
            <a:ext cx="300082" cy="369332"/>
          </a:xfrm>
          <a:prstGeom prst="rect">
            <a:avLst/>
          </a:prstGeom>
        </p:spPr>
        <p:txBody>
          <a:bodyPr wrap="none">
            <a:spAutoFit/>
          </a:bodyPr>
          <a:lstStyle/>
          <a:p>
            <a:r>
              <a:rPr lang="en-US" altLang="zh-CN" b="1" kern="0" dirty="0">
                <a:solidFill>
                  <a:srgbClr val="FF3300"/>
                </a:solidFill>
                <a:latin typeface="Times New Roman" panose="02020503050405090304" pitchFamily="18" charset="0"/>
                <a:ea typeface="宋体"/>
              </a:rPr>
              <a:t>x</a:t>
            </a:r>
            <a:endParaRPr lang="zh-CN" altLang="en-US" dirty="0"/>
          </a:p>
        </p:txBody>
      </p:sp>
      <p:pic>
        <p:nvPicPr>
          <p:cNvPr id="5" name="图片 4"/>
          <p:cNvPicPr>
            <a:picLocks noChangeAspect="1"/>
          </p:cNvPicPr>
          <p:nvPr/>
        </p:nvPicPr>
        <p:blipFill>
          <a:blip r:embed="rId4"/>
          <a:stretch>
            <a:fillRect/>
          </a:stretch>
        </p:blipFill>
        <p:spPr>
          <a:xfrm>
            <a:off x="1250107" y="2058177"/>
            <a:ext cx="5112753" cy="3307312"/>
          </a:xfrm>
          <a:prstGeom prst="rect">
            <a:avLst/>
          </a:prstGeom>
        </p:spPr>
      </p:pic>
      <p:sp>
        <p:nvSpPr>
          <p:cNvPr id="16" name="文本框 15"/>
          <p:cNvSpPr txBox="1"/>
          <p:nvPr/>
        </p:nvSpPr>
        <p:spPr>
          <a:xfrm>
            <a:off x="1436932" y="1517675"/>
            <a:ext cx="6100996" cy="472502"/>
          </a:xfrm>
          <a:prstGeom prst="rect">
            <a:avLst/>
          </a:prstGeom>
          <a:noFill/>
        </p:spPr>
        <p:txBody>
          <a:bodyPr wrap="square">
            <a:spAutoFit/>
          </a:bodyPr>
          <a:lstStyle/>
          <a:p>
            <a:pPr fontAlgn="base">
              <a:lnSpc>
                <a:spcPct val="140000"/>
              </a:lnSpc>
              <a:spcBef>
                <a:spcPct val="30000"/>
              </a:spcBef>
              <a:spcAft>
                <a:spcPct val="0"/>
              </a:spcAft>
              <a:buClr>
                <a:srgbClr val="FFFF00"/>
              </a:buClr>
              <a:buSzPct val="95000"/>
              <a:defRPr/>
            </a:pPr>
            <a:r>
              <a:rPr lang="zh-CN" altLang="en-US" sz="2000" b="1" kern="0" dirty="0">
                <a:solidFill>
                  <a:srgbClr val="000000"/>
                </a:solidFill>
                <a:latin typeface="Times New Roman" panose="02020503050405090304" pitchFamily="18" charset="0"/>
                <a:ea typeface="宋体"/>
              </a:rPr>
              <a:t>4 ) 入栈操作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nodeType="clickEffect">
                                  <p:stCondLst>
                                    <p:cond delay="0"/>
                                  </p:stCondLst>
                                  <p:childTnLst>
                                    <p:animMotion origin="layout" path="M -0.00065 3.33333E-6 L -0.00117 -0.05301 " pathEditMode="relative" rAng="0" ptsTypes="AA">
                                      <p:cBhvr>
                                        <p:cTn id="6" dur="2000" fill="hold"/>
                                        <p:tgtEl>
                                          <p:spTgt spid="38"/>
                                        </p:tgtEl>
                                        <p:attrNameLst>
                                          <p:attrName>ppt_x</p:attrName>
                                          <p:attrName>ppt_y</p:attrName>
                                        </p:attrNameLst>
                                      </p:cBhvr>
                                      <p:rCtr x="-26" y="-2662"/>
                                    </p:animMotion>
                                  </p:childTnLst>
                                </p:cTn>
                              </p:par>
                            </p:childTnLst>
                          </p:cTn>
                        </p:par>
                      </p:childTnLst>
                    </p:cTn>
                  </p:par>
                  <p:par>
                    <p:cTn id="7" fill="hold">
                      <p:stCondLst>
                        <p:cond delay="indefinite"/>
                      </p:stCondLst>
                      <p:childTnLst>
                        <p:par>
                          <p:cTn id="8" fill="hold">
                            <p:stCondLst>
                              <p:cond delay="0"/>
                            </p:stCondLst>
                            <p:childTnLst>
                              <p:par>
                                <p:cTn id="9" presetID="2" presetClass="entr" presetSubtype="1"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500" fill="hold"/>
                                        <p:tgtEl>
                                          <p:spTgt spid="17"/>
                                        </p:tgtEl>
                                        <p:attrNameLst>
                                          <p:attrName>ppt_x</p:attrName>
                                        </p:attrNameLst>
                                      </p:cBhvr>
                                      <p:tavLst>
                                        <p:tav tm="0">
                                          <p:val>
                                            <p:strVal val="#ppt_x"/>
                                          </p:val>
                                        </p:tav>
                                        <p:tav tm="100000">
                                          <p:val>
                                            <p:strVal val="#ppt_x"/>
                                          </p:val>
                                        </p:tav>
                                      </p:tavLst>
                                    </p:anim>
                                    <p:anim calcmode="lin" valueType="num">
                                      <p:cBhvr additive="base">
                                        <p:cTn id="12" dur="500" fill="hold"/>
                                        <p:tgtEl>
                                          <p:spTgt spid="17"/>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Text Box 118"/>
          <p:cNvSpPr txBox="1">
            <a:spLocks noChangeArrowheads="1"/>
          </p:cNvSpPr>
          <p:nvPr/>
        </p:nvSpPr>
        <p:spPr bwMode="auto">
          <a:xfrm>
            <a:off x="1528935" y="1357196"/>
            <a:ext cx="5510442" cy="576248"/>
          </a:xfrm>
          <a:prstGeom prst="rect">
            <a:avLst/>
          </a:prstGeom>
          <a:solidFill>
            <a:srgbClr val="FFFFFF"/>
          </a:solidFill>
          <a:ln w="25400" cap="flat" cmpd="sng" algn="ctr">
            <a:noFill/>
            <a:prstDash val="solid"/>
          </a:ln>
          <a:effectLst/>
        </p:spPr>
        <p:txBody>
          <a:bodyPr wrap="square">
            <a:spAutoFit/>
          </a:bodyPr>
          <a:lstStyle/>
          <a:p>
            <a:pPr fontAlgn="base">
              <a:lnSpc>
                <a:spcPct val="150000"/>
              </a:lnSpc>
              <a:spcBef>
                <a:spcPct val="10000"/>
              </a:spcBef>
              <a:spcAft>
                <a:spcPct val="0"/>
              </a:spcAft>
              <a:buClr>
                <a:srgbClr val="FFFF00"/>
              </a:buClr>
              <a:buSzPct val="95000"/>
              <a:defRPr/>
            </a:pPr>
            <a:r>
              <a:rPr lang="zh-CN" altLang="en-US" sz="2400" b="1" kern="0" dirty="0">
                <a:solidFill>
                  <a:srgbClr val="000000"/>
                </a:solidFill>
                <a:latin typeface="Times New Roman" panose="02020503050405090304" pitchFamily="18" charset="0"/>
                <a:ea typeface="宋体"/>
              </a:rPr>
              <a:t>5）出栈操作</a:t>
            </a:r>
          </a:p>
        </p:txBody>
      </p:sp>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kumimoji="1" lang="en-US" altLang="zh-CN" sz="3200" b="1" dirty="0">
                <a:latin typeface="Arial" panose="020B0604020202090204" pitchFamily="34" charset="0"/>
                <a:ea typeface="宋体" pitchFamily="2" charset="-122"/>
                <a:cs typeface="+mn-cs"/>
              </a:rPr>
              <a:t>13.4  </a:t>
            </a:r>
            <a:r>
              <a:rPr kumimoji="1" lang="zh-CN" altLang="en-US" sz="3200" b="1" dirty="0">
                <a:latin typeface="Arial" panose="020B0604020202090204" pitchFamily="34" charset="0"/>
                <a:ea typeface="宋体" pitchFamily="2" charset="-122"/>
                <a:cs typeface="+mn-cs"/>
              </a:rPr>
              <a:t>栈的表示和实现</a:t>
            </a:r>
          </a:p>
        </p:txBody>
      </p:sp>
      <p:sp>
        <p:nvSpPr>
          <p:cNvPr id="4" name="日期占位符 3"/>
          <p:cNvSpPr>
            <a:spLocks noGrp="1"/>
          </p:cNvSpPr>
          <p:nvPr>
            <p:ph type="dt" sz="half" idx="10"/>
          </p:nvPr>
        </p:nvSpPr>
        <p:spPr/>
        <p:txBody>
          <a:bodyPr/>
          <a:lstStyle/>
          <a:p>
            <a:fld id="{8324F5FF-43C0-4928-B5C5-4C0EE4ECCB75}" type="datetime1">
              <a:rPr lang="zh-CN" altLang="en-US" b="1" smtClean="0">
                <a:solidFill>
                  <a:srgbClr val="F79646">
                    <a:lumMod val="75000"/>
                  </a:srgbClr>
                </a:solidFill>
              </a:rPr>
              <a:t>2025/11/27</a:t>
            </a:fld>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t>33</a:t>
            </a:fld>
            <a:endParaRPr lang="zh-CN" altLang="en-US" b="1" dirty="0">
              <a:solidFill>
                <a:srgbClr val="F79646">
                  <a:lumMod val="75000"/>
                </a:srgbClr>
              </a:solidFill>
            </a:endParaRPr>
          </a:p>
        </p:txBody>
      </p:sp>
      <p:cxnSp>
        <p:nvCxnSpPr>
          <p:cNvPr id="12" name="直接连接符 11"/>
          <p:cNvCxnSpPr/>
          <p:nvPr/>
        </p:nvCxnSpPr>
        <p:spPr>
          <a:xfrm>
            <a:off x="1981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2927648" y="6164605"/>
            <a:ext cx="6682811" cy="40011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zh-CN" altLang="en-US" dirty="0"/>
              <a:t>出栈操作：栈非空时，先取栈顶元素值，再将栈顶指针减</a:t>
            </a:r>
            <a:r>
              <a:rPr lang="en-US" altLang="zh-CN" dirty="0"/>
              <a:t>1.</a:t>
            </a:r>
          </a:p>
        </p:txBody>
      </p:sp>
      <p:pic>
        <p:nvPicPr>
          <p:cNvPr id="30" name="图片 29"/>
          <p:cNvPicPr>
            <a:picLocks noChangeAspect="1"/>
          </p:cNvPicPr>
          <p:nvPr/>
        </p:nvPicPr>
        <p:blipFill>
          <a:blip r:embed="rId3"/>
          <a:stretch>
            <a:fillRect/>
          </a:stretch>
        </p:blipFill>
        <p:spPr>
          <a:xfrm>
            <a:off x="8072351" y="2024493"/>
            <a:ext cx="3429000" cy="3638550"/>
          </a:xfrm>
          <a:prstGeom prst="rect">
            <a:avLst/>
          </a:prstGeom>
        </p:spPr>
      </p:pic>
      <p:grpSp>
        <p:nvGrpSpPr>
          <p:cNvPr id="31" name="组合 30"/>
          <p:cNvGrpSpPr/>
          <p:nvPr/>
        </p:nvGrpSpPr>
        <p:grpSpPr>
          <a:xfrm>
            <a:off x="7292762" y="3616841"/>
            <a:ext cx="839235" cy="400110"/>
            <a:chOff x="6766703" y="4172988"/>
            <a:chExt cx="839235" cy="400110"/>
          </a:xfrm>
        </p:grpSpPr>
        <p:sp>
          <p:nvSpPr>
            <p:cNvPr id="32" name="文本框 31"/>
            <p:cNvSpPr txBox="1"/>
            <p:nvPr/>
          </p:nvSpPr>
          <p:spPr>
            <a:xfrm>
              <a:off x="6766703" y="4172988"/>
              <a:ext cx="540533" cy="400110"/>
            </a:xfrm>
            <a:prstGeom prst="rect">
              <a:avLst/>
            </a:prstGeom>
            <a:noFill/>
          </p:spPr>
          <p:txBody>
            <a:bodyPr wrap="none" rtlCol="0">
              <a:spAutoFit/>
            </a:bodyPr>
            <a:lstStyle/>
            <a:p>
              <a:r>
                <a:rPr lang="en-US" altLang="zh-CN" b="1" dirty="0">
                  <a:latin typeface="Times New Roman" panose="02020503050405090304" pitchFamily="18" charset="0"/>
                  <a:cs typeface="Times New Roman" panose="02020503050405090304" pitchFamily="18" charset="0"/>
                </a:rPr>
                <a:t>top</a:t>
              </a:r>
              <a:endParaRPr lang="zh-CN" altLang="en-US" b="1" dirty="0">
                <a:latin typeface="Times New Roman" panose="02020503050405090304" pitchFamily="18" charset="0"/>
                <a:cs typeface="Times New Roman" panose="02020503050405090304" pitchFamily="18" charset="0"/>
              </a:endParaRPr>
            </a:p>
          </p:txBody>
        </p:sp>
        <p:cxnSp>
          <p:nvCxnSpPr>
            <p:cNvPr id="33" name="直接箭头连接符 32"/>
            <p:cNvCxnSpPr/>
            <p:nvPr/>
          </p:nvCxnSpPr>
          <p:spPr>
            <a:xfrm>
              <a:off x="7270767" y="4399218"/>
              <a:ext cx="335171" cy="1662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pic>
        <p:nvPicPr>
          <p:cNvPr id="3" name="图片 2"/>
          <p:cNvPicPr>
            <a:picLocks noChangeAspect="1"/>
          </p:cNvPicPr>
          <p:nvPr/>
        </p:nvPicPr>
        <p:blipFill>
          <a:blip r:embed="rId4"/>
          <a:stretch>
            <a:fillRect/>
          </a:stretch>
        </p:blipFill>
        <p:spPr>
          <a:xfrm>
            <a:off x="1507325" y="2093439"/>
            <a:ext cx="5380934" cy="340736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nodeType="clickEffect">
                                  <p:stCondLst>
                                    <p:cond delay="0"/>
                                  </p:stCondLst>
                                  <p:childTnLst>
                                    <p:animMotion origin="layout" path="M -2.08333E-6 -1.48148E-6 L -0.00117 0.06412 " pathEditMode="relative" rAng="0" ptsTypes="AA">
                                      <p:cBhvr>
                                        <p:cTn id="6" dur="2000" fill="hold"/>
                                        <p:tgtEl>
                                          <p:spTgt spid="31"/>
                                        </p:tgtEl>
                                        <p:attrNameLst>
                                          <p:attrName>ppt_x</p:attrName>
                                          <p:attrName>ppt_y</p:attrName>
                                        </p:attrNameLst>
                                      </p:cBhvr>
                                      <p:rCtr x="-65" y="319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fontAlgn="base">
              <a:lnSpc>
                <a:spcPct val="150000"/>
              </a:lnSpc>
              <a:spcBef>
                <a:spcPct val="5000"/>
              </a:spcBef>
              <a:spcAft>
                <a:spcPct val="5000"/>
              </a:spcAft>
            </a:pPr>
            <a:r>
              <a:rPr lang="zh-CN" altLang="en-US" sz="3200" b="1" dirty="0"/>
              <a:t>小结</a:t>
            </a:r>
            <a:endParaRPr kumimoji="1" lang="zh-CN" altLang="en-US" sz="3200" b="1" dirty="0">
              <a:latin typeface="Arial" panose="020B0604020202090204" pitchFamily="34" charset="0"/>
              <a:ea typeface="宋体" pitchFamily="2" charset="-122"/>
              <a:cs typeface="+mn-cs"/>
            </a:endParaRPr>
          </a:p>
        </p:txBody>
      </p:sp>
      <p:sp>
        <p:nvSpPr>
          <p:cNvPr id="3" name="内容占位符 2"/>
          <p:cNvSpPr>
            <a:spLocks noGrp="1"/>
          </p:cNvSpPr>
          <p:nvPr>
            <p:ph idx="1"/>
          </p:nvPr>
        </p:nvSpPr>
        <p:spPr>
          <a:xfrm>
            <a:off x="1604626" y="1454944"/>
            <a:ext cx="9531934" cy="5105400"/>
          </a:xfrm>
        </p:spPr>
        <p:txBody>
          <a:bodyPr>
            <a:normAutofit/>
          </a:bodyPr>
          <a:lstStyle/>
          <a:p>
            <a:pPr lvl="1">
              <a:lnSpc>
                <a:spcPct val="150000"/>
              </a:lnSpc>
            </a:pPr>
            <a:r>
              <a:rPr lang="zh-CN" altLang="en-US" b="1" dirty="0"/>
              <a:t>数据结构基础概念</a:t>
            </a:r>
            <a:endParaRPr lang="en-US" altLang="zh-CN" b="1" dirty="0"/>
          </a:p>
          <a:p>
            <a:pPr lvl="1">
              <a:lnSpc>
                <a:spcPct val="150000"/>
              </a:lnSpc>
            </a:pPr>
            <a:r>
              <a:rPr lang="zh-CN" altLang="en-US" b="1" dirty="0"/>
              <a:t>栈的概念和基本操作</a:t>
            </a:r>
            <a:endParaRPr lang="en-US" altLang="zh-CN" b="1" dirty="0"/>
          </a:p>
          <a:p>
            <a:pPr lvl="1">
              <a:lnSpc>
                <a:spcPct val="150000"/>
              </a:lnSpc>
            </a:pPr>
            <a:r>
              <a:rPr lang="zh-CN" altLang="en-US" b="1" dirty="0"/>
              <a:t>出栈和入栈都只能在栈顶进行</a:t>
            </a:r>
            <a:endParaRPr lang="en-US" altLang="zh-CN" b="1" dirty="0"/>
          </a:p>
          <a:p>
            <a:pPr lvl="1">
              <a:lnSpc>
                <a:spcPct val="150000"/>
              </a:lnSpc>
            </a:pPr>
            <a:r>
              <a:rPr lang="zh-CN" altLang="en-US" b="1" dirty="0"/>
              <a:t>设立栈顶指针</a:t>
            </a:r>
            <a:r>
              <a:rPr lang="en-US" altLang="zh-CN" b="1" dirty="0"/>
              <a:t>top</a:t>
            </a:r>
            <a:r>
              <a:rPr lang="zh-CN" altLang="en-US" b="1" dirty="0"/>
              <a:t>，既可以指向栈顶元素的位置，也可以指向栈顶元素的下一个位置，但是在实现具体操作的时候要保持一致</a:t>
            </a:r>
            <a:endParaRPr lang="en-US" altLang="zh-CN" b="1" dirty="0"/>
          </a:p>
          <a:p>
            <a:pPr marL="457200" lvl="1" indent="0">
              <a:lnSpc>
                <a:spcPts val="3100"/>
              </a:lnSpc>
              <a:buNone/>
            </a:pPr>
            <a:endParaRPr lang="en-US" altLang="zh-CN" b="1" dirty="0"/>
          </a:p>
          <a:p>
            <a:pPr marL="457200" lvl="1" indent="0">
              <a:lnSpc>
                <a:spcPts val="3100"/>
              </a:lnSpc>
              <a:buNone/>
            </a:pPr>
            <a:endParaRPr lang="en-US" altLang="zh-CN" b="1" dirty="0"/>
          </a:p>
          <a:p>
            <a:pPr>
              <a:lnSpc>
                <a:spcPts val="3100"/>
              </a:lnSpc>
            </a:pPr>
            <a:endParaRPr lang="en-US" altLang="zh-CN" b="1" dirty="0"/>
          </a:p>
          <a:p>
            <a:pPr>
              <a:lnSpc>
                <a:spcPts val="3100"/>
              </a:lnSpc>
            </a:pPr>
            <a:endParaRPr lang="en-US" altLang="zh-CN" b="1" dirty="0"/>
          </a:p>
          <a:p>
            <a:pPr>
              <a:lnSpc>
                <a:spcPts val="3100"/>
              </a:lnSpc>
            </a:pPr>
            <a:endParaRPr lang="en-US" altLang="zh-CN" b="1" dirty="0"/>
          </a:p>
          <a:p>
            <a:pPr>
              <a:lnSpc>
                <a:spcPts val="3100"/>
              </a:lnSpc>
            </a:pPr>
            <a:endParaRPr lang="en-US" altLang="zh-CN" b="1" dirty="0"/>
          </a:p>
          <a:p>
            <a:pPr>
              <a:lnSpc>
                <a:spcPts val="3100"/>
              </a:lnSpc>
            </a:pPr>
            <a:endParaRPr lang="en-US" altLang="zh-CN" b="1" dirty="0"/>
          </a:p>
          <a:p>
            <a:pPr>
              <a:lnSpc>
                <a:spcPts val="3100"/>
              </a:lnSpc>
            </a:pPr>
            <a:endParaRPr lang="en-US" altLang="zh-CN" b="1" dirty="0"/>
          </a:p>
          <a:p>
            <a:pPr lvl="1">
              <a:lnSpc>
                <a:spcPts val="3100"/>
              </a:lnSpc>
            </a:pPr>
            <a:endParaRPr lang="zh-CN" altLang="en-US" b="1" dirty="0"/>
          </a:p>
        </p:txBody>
      </p:sp>
      <p:sp>
        <p:nvSpPr>
          <p:cNvPr id="4" name="日期占位符 3"/>
          <p:cNvSpPr>
            <a:spLocks noGrp="1"/>
          </p:cNvSpPr>
          <p:nvPr>
            <p:ph type="dt" sz="half" idx="10"/>
          </p:nvPr>
        </p:nvSpPr>
        <p:spPr/>
        <p:txBody>
          <a:bodyPr/>
          <a:lstStyle/>
          <a:p>
            <a:fld id="{157B8EF0-D2BD-4AD2-9AF4-65983F44A1B6}" type="datetime1">
              <a:rPr lang="zh-CN" altLang="en-US" b="1" smtClean="0">
                <a:solidFill>
                  <a:srgbClr val="F79646">
                    <a:lumMod val="75000"/>
                  </a:srgbClr>
                </a:solidFill>
              </a:rPr>
              <a:t>2025/11/27</a:t>
            </a:fld>
            <a:endParaRPr lang="zh-CN" altLang="en-US" b="1" dirty="0">
              <a:solidFill>
                <a:srgbClr val="F79646">
                  <a:lumMod val="75000"/>
                </a:srgbClr>
              </a:solidFill>
            </a:endParaRPr>
          </a:p>
        </p:txBody>
      </p:sp>
      <p:sp>
        <p:nvSpPr>
          <p:cNvPr id="6" name="灯片编号占位符 5"/>
          <p:cNvSpPr>
            <a:spLocks noGrp="1"/>
          </p:cNvSpPr>
          <p:nvPr>
            <p:ph type="sldNum" sz="quarter" idx="12"/>
          </p:nvPr>
        </p:nvSpPr>
        <p:spPr/>
        <p:txBody>
          <a:bodyPr/>
          <a:lstStyle/>
          <a:p>
            <a:fld id="{0063EC4C-CFD8-4F45-A0A2-30028C1F73DB}" type="slidenum">
              <a:rPr lang="zh-CN" altLang="en-US" b="1">
                <a:solidFill>
                  <a:srgbClr val="F79646">
                    <a:lumMod val="75000"/>
                  </a:srgbClr>
                </a:solidFill>
              </a:rPr>
              <a:t>34</a:t>
            </a:fld>
            <a:endParaRPr lang="zh-CN" altLang="en-US" b="1" dirty="0">
              <a:solidFill>
                <a:srgbClr val="F79646">
                  <a:lumMod val="75000"/>
                </a:srgbClr>
              </a:solidFill>
            </a:endParaRPr>
          </a:p>
        </p:txBody>
      </p:sp>
      <p:cxnSp>
        <p:nvCxnSpPr>
          <p:cNvPr id="12" name="直接连接符 11"/>
          <p:cNvCxnSpPr/>
          <p:nvPr/>
        </p:nvCxnSpPr>
        <p:spPr>
          <a:xfrm>
            <a:off x="1981200" y="63246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YWViZDVlNWFlNTk1MTUzYzczMzM2ZDA3NTNlNGExYzUifQ=="/>
</p:tagLst>
</file>

<file path=ppt/theme/theme1.xml><?xml version="1.0" encoding="utf-8"?>
<a:theme xmlns:a="http://schemas.openxmlformats.org/drawingml/2006/main" name="自定义设计方案">
  <a:themeElements>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自定义设计方案">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zh-CN" sz="2000" b="1" i="0" u="none" strike="noStrike" cap="none" normalizeH="0" baseline="0" smtClean="0">
            <a:ln>
              <a:noFill/>
            </a:ln>
            <a:solidFill>
              <a:schemeClr val="tx1"/>
            </a:solidFill>
            <a:effectLst/>
            <a:latin typeface="Arial" panose="020B0604020202090204"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zh-CN" sz="2000" b="1" i="0" u="none" strike="noStrike" cap="none" normalizeH="0" baseline="0" smtClean="0">
            <a:ln>
              <a:noFill/>
            </a:ln>
            <a:solidFill>
              <a:schemeClr val="tx1"/>
            </a:solidFill>
            <a:effectLst/>
            <a:latin typeface="Arial" panose="020B0604020202090204" pitchFamily="34" charset="0"/>
            <a:ea typeface="宋体" pitchFamily="2" charset="-122"/>
          </a:defRPr>
        </a:defPPr>
      </a:lstStyle>
    </a:lnDef>
  </a:objectDefaults>
  <a:extraClrSchemeLst>
    <a:extraClrScheme>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设计模板">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3921</Words>
  <Application>Microsoft Macintosh PowerPoint</Application>
  <PresentationFormat>宽屏</PresentationFormat>
  <Paragraphs>571</Paragraphs>
  <Slides>34</Slides>
  <Notes>31</Notes>
  <HiddenSlides>0</HiddenSlides>
  <MMClips>0</MMClips>
  <ScaleCrop>false</ScaleCrop>
  <HeadingPairs>
    <vt:vector size="6" baseType="variant">
      <vt:variant>
        <vt:lpstr>已用的字体</vt:lpstr>
      </vt:variant>
      <vt:variant>
        <vt:i4>14</vt:i4>
      </vt:variant>
      <vt:variant>
        <vt:lpstr>主题</vt:lpstr>
      </vt:variant>
      <vt:variant>
        <vt:i4>2</vt:i4>
      </vt:variant>
      <vt:variant>
        <vt:lpstr>幻灯片标题</vt:lpstr>
      </vt:variant>
      <vt:variant>
        <vt:i4>34</vt:i4>
      </vt:variant>
    </vt:vector>
  </HeadingPairs>
  <TitlesOfParts>
    <vt:vector size="50" baseType="lpstr">
      <vt:lpstr>DengXian</vt:lpstr>
      <vt:lpstr>黑体</vt:lpstr>
      <vt:lpstr>华文楷体</vt:lpstr>
      <vt:lpstr>隶书</vt:lpstr>
      <vt:lpstr>宋体</vt:lpstr>
      <vt:lpstr>Microsoft YaHei Light</vt:lpstr>
      <vt:lpstr>Arial</vt:lpstr>
      <vt:lpstr>Calibri</vt:lpstr>
      <vt:lpstr>Calibri Light</vt:lpstr>
      <vt:lpstr>Constantia</vt:lpstr>
      <vt:lpstr>Symbol</vt:lpstr>
      <vt:lpstr>Times New Roman</vt:lpstr>
      <vt:lpstr>Wingdings</vt:lpstr>
      <vt:lpstr>Wingdings 2</vt:lpstr>
      <vt:lpstr>自定义设计方案</vt:lpstr>
      <vt:lpstr>默认设计模板</vt:lpstr>
      <vt:lpstr>PowerPoint 演示文稿</vt:lpstr>
      <vt:lpstr>《程序设计思维与实践》课程内容结构</vt:lpstr>
      <vt:lpstr>学习内容</vt:lpstr>
      <vt:lpstr>13.1   基本概念和术语</vt:lpstr>
      <vt:lpstr>13.1   基本概念和术语</vt:lpstr>
      <vt:lpstr>13.1   基本概念和术语</vt:lpstr>
      <vt:lpstr>13.1   基本概念和术语</vt:lpstr>
      <vt:lpstr>13.1   基本概念和术语</vt:lpstr>
      <vt:lpstr>13.1   基本概念和术语</vt:lpstr>
      <vt:lpstr>13.1   基本概念和术语</vt:lpstr>
      <vt:lpstr>PowerPoint 演示文稿</vt:lpstr>
      <vt:lpstr>PowerPoint 演示文稿</vt:lpstr>
      <vt:lpstr>13.1   基本概念和术语</vt:lpstr>
      <vt:lpstr>13.1   基本概念和术语</vt:lpstr>
      <vt:lpstr>13.1   基本概念和术语</vt:lpstr>
      <vt:lpstr>13.1   基本概念和术语</vt:lpstr>
      <vt:lpstr>13.1   基本概念和术语</vt:lpstr>
      <vt:lpstr>13.1   基本概念和术语</vt:lpstr>
      <vt:lpstr>13.1   基本概念和术语</vt:lpstr>
      <vt:lpstr>13.2  线性表概念及基本操作</vt:lpstr>
      <vt:lpstr>13.2  线性表概念及基本操作</vt:lpstr>
      <vt:lpstr>13.2 线性表概念及基本操作</vt:lpstr>
      <vt:lpstr>13.2  线性表概念及基本操作</vt:lpstr>
      <vt:lpstr>13.2   线性表概念及基本操作</vt:lpstr>
      <vt:lpstr>13.3  栈的定义和基本操作</vt:lpstr>
      <vt:lpstr>13.3  栈的定义和基本操作</vt:lpstr>
      <vt:lpstr>13.3  栈的定义和基本操作</vt:lpstr>
      <vt:lpstr>13.3  栈的定义和基本操作</vt:lpstr>
      <vt:lpstr>13.4  栈的表示和实现</vt:lpstr>
      <vt:lpstr>13.4  栈的表示和实现</vt:lpstr>
      <vt:lpstr>13.4  栈的表示和实现</vt:lpstr>
      <vt:lpstr>13.4  栈的表示和实现</vt:lpstr>
      <vt:lpstr>13.4  栈的表示和实现</vt:lpstr>
      <vt:lpstr>小结</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Office 用户</dc:creator>
  <cp:lastModifiedBy>Microsoft Office User</cp:lastModifiedBy>
  <cp:revision>333</cp:revision>
  <dcterms:created xsi:type="dcterms:W3CDTF">2025-11-26T13:19:47Z</dcterms:created>
  <dcterms:modified xsi:type="dcterms:W3CDTF">2025-11-27T15:27:09Z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5C5895A12F3C44538F2D4F005174432E_12</vt:lpwstr>
  </property>
  <property fmtid="{D5CDD505-2E9C-101B-9397-08002B2CF9AE}" pid="3" name="KSOProductBuildVer">
    <vt:lpwstr>2052-12.1.22522.22522</vt:lpwstr>
  </property>
</Properties>
</file>