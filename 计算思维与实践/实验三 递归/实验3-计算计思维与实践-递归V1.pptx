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0"/>
  </p:handoutMasterIdLst>
  <p:sldIdLst>
    <p:sldId id="322" r:id="rId4"/>
    <p:sldId id="324" r:id="rId6"/>
    <p:sldId id="297" r:id="rId7"/>
    <p:sldId id="393" r:id="rId8"/>
    <p:sldId id="394" r:id="rId9"/>
    <p:sldId id="395" r:id="rId10"/>
    <p:sldId id="396" r:id="rId11"/>
    <p:sldId id="397" r:id="rId12"/>
    <p:sldId id="356" r:id="rId13"/>
    <p:sldId id="383" r:id="rId14"/>
    <p:sldId id="400" r:id="rId15"/>
    <p:sldId id="392" r:id="rId16"/>
    <p:sldId id="391" r:id="rId17"/>
    <p:sldId id="386" r:id="rId18"/>
    <p:sldId id="323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D74A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7" autoAdjust="0"/>
    <p:restoredTop sz="85948" autoAdjust="0"/>
  </p:normalViewPr>
  <p:slideViewPr>
    <p:cSldViewPr snapToGrid="0" showGuides="1">
      <p:cViewPr varScale="1">
        <p:scale>
          <a:sx n="100" d="100"/>
          <a:sy n="100" d="100"/>
        </p:scale>
        <p:origin x="792" y="78"/>
      </p:cViewPr>
      <p:guideLst>
        <p:guide orient="horz" pos="216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2529" y="-72"/>
      </p:cViewPr>
      <p:guideLst>
        <p:guide orient="horz" pos="2882"/>
        <p:guide pos="21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4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0E8E-B145-4FC0-B3F5-88616996E7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39E9-F60F-4776-B545-3ACE882E0A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解释一下为什么有些代码是无法调试的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汉诺塔是一个经典的递归问题。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汉诺塔是一个经典的递归问题。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22" tIns="45711" rIns="91422" bIns="4571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7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8" y="3625900"/>
            <a:ext cx="96440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</a:t>
            </a: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递归</a:t>
            </a:r>
            <a:endParaRPr lang="zh-CN" altLang="en-US" sz="3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f48f5301-91d9-4324-a64a-050410bbde6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9971" y="922004"/>
            <a:ext cx="9661763" cy="4836149"/>
            <a:chOff x="975990" y="622534"/>
            <a:chExt cx="10088641" cy="5578777"/>
          </a:xfrm>
        </p:grpSpPr>
        <p:grpSp>
          <p:nvGrpSpPr>
            <p:cNvPr id="4" name="íṧ1iḋê"/>
            <p:cNvGrpSpPr/>
            <p:nvPr/>
          </p:nvGrpSpPr>
          <p:grpSpPr>
            <a:xfrm>
              <a:off x="2814796" y="2478576"/>
              <a:ext cx="1639137" cy="1562495"/>
              <a:chOff x="1468531" y="1871421"/>
              <a:chExt cx="2080967" cy="1983665"/>
            </a:xfrm>
          </p:grpSpPr>
          <p:sp>
            <p:nvSpPr>
              <p:cNvPr id="44" name="ïṥlïḓè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ślîḋê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şļîḋé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 fontScale="92500" lnSpcReduction="2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01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ïŝlíḋe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ṡḻiďé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ŝľîḑé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42" name="iṩľïḓe"/>
            <p:cNvSpPr txBox="1"/>
            <p:nvPr>
              <p:custDataLst>
                <p:tags r:id="rId8"/>
              </p:custDataLst>
            </p:nvPr>
          </p:nvSpPr>
          <p:spPr>
            <a:xfrm>
              <a:off x="4223545" y="2485987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实验回顾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íṡļïḓè"/>
            <p:cNvGrpSpPr/>
            <p:nvPr/>
          </p:nvGrpSpPr>
          <p:grpSpPr>
            <a:xfrm>
              <a:off x="2814796" y="4638816"/>
              <a:ext cx="1639137" cy="1562495"/>
              <a:chOff x="1468531" y="1871421"/>
              <a:chExt cx="2080967" cy="1983665"/>
            </a:xfrm>
          </p:grpSpPr>
          <p:sp>
            <p:nvSpPr>
              <p:cNvPr id="36" name="isḷíde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ṩliḓè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ṩlîḍè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0" tIns="0" rIns="0" bIns="0" anchor="ctr" anchorCtr="1" forceAA="0" compatLnSpc="1">
                <a:normAutofit lnSpcReduction="1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03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îśliḑê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şḻïd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ŝ1iď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4" name="ïṧļíde"/>
            <p:cNvSpPr txBox="1"/>
            <p:nvPr>
              <p:custDataLst>
                <p:tags r:id="rId15"/>
              </p:custDataLst>
            </p:nvPr>
          </p:nvSpPr>
          <p:spPr>
            <a:xfrm>
              <a:off x="4223545" y="4646228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递归实验题目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îṧḻidé"/>
            <p:cNvGrpSpPr/>
            <p:nvPr/>
          </p:nvGrpSpPr>
          <p:grpSpPr>
            <a:xfrm>
              <a:off x="7032105" y="2478576"/>
              <a:ext cx="1639137" cy="1562495"/>
              <a:chOff x="1468531" y="1871421"/>
              <a:chExt cx="2080967" cy="1983665"/>
            </a:xfrm>
          </p:grpSpPr>
          <p:sp>
            <p:nvSpPr>
              <p:cNvPr id="28" name="ïṣľíďe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šļiḋ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iṥľïďê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0" tIns="0" rIns="0" bIns="0" anchor="ctr" anchorCtr="1" forceAA="0" compatLnSpc="1">
                <a:normAutofit lnSpcReduction="1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02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íṩľíḓé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śliďé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şļîdè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6" name="ïşḻïḍe"/>
            <p:cNvSpPr txBox="1"/>
            <p:nvPr>
              <p:custDataLst>
                <p:tags r:id="rId22"/>
              </p:custDataLst>
            </p:nvPr>
          </p:nvSpPr>
          <p:spPr>
            <a:xfrm>
              <a:off x="8440854" y="2485987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íśľíḓê"/>
            <p:cNvGrpSpPr/>
            <p:nvPr/>
          </p:nvGrpSpPr>
          <p:grpSpPr>
            <a:xfrm>
              <a:off x="975990" y="622534"/>
              <a:ext cx="2807351" cy="1745225"/>
              <a:chOff x="3575720" y="-774342"/>
              <a:chExt cx="4240565" cy="2636200"/>
            </a:xfrm>
          </p:grpSpPr>
          <p:sp>
            <p:nvSpPr>
              <p:cNvPr id="13" name="iśḷiḓé"/>
              <p:cNvSpPr/>
              <p:nvPr/>
            </p:nvSpPr>
            <p:spPr bwMode="auto">
              <a:xfrm>
                <a:off x="3918741" y="1380506"/>
                <a:ext cx="481352" cy="48135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iṧliḓè"/>
              <p:cNvSpPr/>
              <p:nvPr/>
            </p:nvSpPr>
            <p:spPr bwMode="auto">
              <a:xfrm>
                <a:off x="6450579" y="884043"/>
                <a:ext cx="924267" cy="924267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ṩľïḓe"/>
              <p:cNvSpPr/>
              <p:nvPr/>
            </p:nvSpPr>
            <p:spPr bwMode="auto">
              <a:xfrm>
                <a:off x="3575720" y="-387424"/>
                <a:ext cx="1287018" cy="12870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íşľíḍê"/>
              <p:cNvSpPr/>
              <p:nvPr/>
            </p:nvSpPr>
            <p:spPr bwMode="auto">
              <a:xfrm>
                <a:off x="4367808" y="-774342"/>
                <a:ext cx="2557971" cy="2557971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b" anchorCtr="1" forceAA="0" compatLnSpc="1">
                <a:normAutofit fontScale="92500" lnSpcReduction="10000"/>
              </a:bodyPr>
              <a:lstStyle/>
              <a:p>
                <a:pPr algn="ctr"/>
                <a:r>
                  <a:rPr lang="zh-CN" altLang="en-US" sz="48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  <a:t>目录 </a:t>
                </a:r>
                <a:br>
                  <a:rPr lang="zh-CN" altLang="en-US" sz="48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</a:br>
                <a:r>
                  <a:rPr lang="en-US" altLang="zh-CN" sz="22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  <a:t>CONTENT</a:t>
                </a:r>
                <a:endParaRPr lang="en-US" altLang="zh-CN" sz="2200" b="1" spc="300" dirty="0">
                  <a:solidFill>
                    <a:schemeClr val="bg1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iSḷïḑê"/>
              <p:cNvSpPr/>
              <p:nvPr/>
            </p:nvSpPr>
            <p:spPr bwMode="auto">
              <a:xfrm>
                <a:off x="7204217" y="152636"/>
                <a:ext cx="612068" cy="612068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97496" y="1417988"/>
            <a:ext cx="7885043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了解程序调试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深入理解递归算法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37817"/>
            <a:ext cx="520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程序的常见错误类型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34160" y="3165370"/>
            <a:ext cx="9255760" cy="1547863"/>
            <a:chOff x="2476720" y="3094250"/>
            <a:chExt cx="7520719" cy="1547863"/>
          </a:xfrm>
        </p:grpSpPr>
        <p:sp>
          <p:nvSpPr>
            <p:cNvPr id="23" name="圆角矩形 66"/>
            <p:cNvSpPr/>
            <p:nvPr/>
          </p:nvSpPr>
          <p:spPr>
            <a:xfrm>
              <a:off x="3750995" y="3094250"/>
              <a:ext cx="6246444" cy="1409121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TextBox 78"/>
            <p:cNvSpPr txBox="1"/>
            <p:nvPr/>
          </p:nvSpPr>
          <p:spPr>
            <a:xfrm>
              <a:off x="4716052" y="3611062"/>
              <a:ext cx="4907786" cy="10310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缺少包含文件，或者包含文件的路径错误等。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例如：使用了</a:t>
              </a:r>
              <a:r>
                <a:rPr lang="en-US" altLang="zh-CN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math</a:t>
              </a:r>
              <a:r>
                <a:rPr lang="zh-CN" altLang="en-US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的库函数，没有包含</a:t>
              </a:r>
              <a:r>
                <a:rPr lang="en-US" altLang="zh-CN" dirty="0" err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math.h</a:t>
              </a:r>
              <a:r>
                <a:rPr lang="zh-CN" altLang="en-US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文件等</a:t>
              </a:r>
              <a:endPara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2476720" y="3095616"/>
              <a:ext cx="1892079" cy="1403894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34160" y="1377210"/>
            <a:ext cx="9255760" cy="1409121"/>
            <a:chOff x="2497040" y="1377210"/>
            <a:chExt cx="7520719" cy="1409121"/>
          </a:xfrm>
        </p:grpSpPr>
        <p:sp>
          <p:nvSpPr>
            <p:cNvPr id="40" name="圆角矩形 66"/>
            <p:cNvSpPr/>
            <p:nvPr/>
          </p:nvSpPr>
          <p:spPr>
            <a:xfrm>
              <a:off x="3771315" y="1377210"/>
              <a:ext cx="6246444" cy="1409121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" name="TextBox 78"/>
            <p:cNvSpPr txBox="1"/>
            <p:nvPr/>
          </p:nvSpPr>
          <p:spPr>
            <a:xfrm>
              <a:off x="4736373" y="1708343"/>
              <a:ext cx="5174065" cy="828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语法错误，编译器会告知我们。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例如：变量使用前未定义，语句少了分号，括号少了一边等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平行四边形 41"/>
            <p:cNvSpPr/>
            <p:nvPr/>
          </p:nvSpPr>
          <p:spPr>
            <a:xfrm>
              <a:off x="2497040" y="1378576"/>
              <a:ext cx="1892079" cy="1403894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534160" y="4953530"/>
            <a:ext cx="9255760" cy="1409121"/>
            <a:chOff x="2476720" y="3094250"/>
            <a:chExt cx="7520719" cy="1409121"/>
          </a:xfrm>
        </p:grpSpPr>
        <p:sp>
          <p:nvSpPr>
            <p:cNvPr id="44" name="圆角矩形 66"/>
            <p:cNvSpPr/>
            <p:nvPr/>
          </p:nvSpPr>
          <p:spPr>
            <a:xfrm>
              <a:off x="3750995" y="3094250"/>
              <a:ext cx="6246444" cy="1409121"/>
            </a:xfrm>
            <a:prstGeom prst="round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TextBox 78"/>
            <p:cNvSpPr txBox="1"/>
            <p:nvPr/>
          </p:nvSpPr>
          <p:spPr>
            <a:xfrm>
              <a:off x="4716051" y="3381782"/>
              <a:ext cx="4907786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运行结果与预期不一致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程序无法正常运行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平行四边形 45"/>
            <p:cNvSpPr/>
            <p:nvPr/>
          </p:nvSpPr>
          <p:spPr>
            <a:xfrm>
              <a:off x="2476720" y="3095616"/>
              <a:ext cx="1892079" cy="1403894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运行时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388125" y="4953530"/>
            <a:ext cx="9584675" cy="1405260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802" y="1821144"/>
            <a:ext cx="3686175" cy="2952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108802" y="1821144"/>
            <a:ext cx="1359612" cy="2945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286081" y="3358048"/>
            <a:ext cx="262800" cy="2628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283888" y="2423409"/>
            <a:ext cx="288000" cy="288000"/>
            <a:chOff x="3866564" y="3524091"/>
            <a:chExt cx="288000" cy="288000"/>
          </a:xfrm>
        </p:grpSpPr>
        <p:pic>
          <p:nvPicPr>
            <p:cNvPr id="4" name="图片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866564" y="3524091"/>
              <a:ext cx="288000" cy="288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6" name="矩形 5"/>
            <p:cNvSpPr/>
            <p:nvPr/>
          </p:nvSpPr>
          <p:spPr>
            <a:xfrm>
              <a:off x="3878897" y="3537463"/>
              <a:ext cx="262800" cy="261256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淘宝网chenying0907出品 4"/>
          <p:cNvSpPr txBox="1"/>
          <p:nvPr/>
        </p:nvSpPr>
        <p:spPr>
          <a:xfrm>
            <a:off x="1587600" y="262800"/>
            <a:ext cx="520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4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调试器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18595" y="1198183"/>
            <a:ext cx="4916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开启调试器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32381" y="2305710"/>
            <a:ext cx="8502869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“Debug / Continue”: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运行到第一个断点处暂停，如果断点处的代码无法调试，  则在下一可调试的代码行暂停，如果无断点，则程序运行完后终止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03078" y="3222059"/>
            <a:ext cx="9132172" cy="1705403"/>
            <a:chOff x="2303078" y="3180019"/>
            <a:chExt cx="9132172" cy="170540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3078" y="3331280"/>
              <a:ext cx="228600" cy="219075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2932382" y="3180019"/>
              <a:ext cx="8502868" cy="1705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“Run to cursor”: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到光标所在处暂停，如果断点处的代码无法调试，则在下一可调试的代码行暂停。如果代码运行到光标所在处之前设置了断点，则程序会在断点处暂停。当程序无法到达光标所在的位置时，程序会在光标后可调试的第一行代码处暂停。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296221" y="5081674"/>
            <a:ext cx="7796715" cy="369332"/>
            <a:chOff x="2296221" y="4156781"/>
            <a:chExt cx="6477366" cy="369332"/>
          </a:xfrm>
        </p:grpSpPr>
        <p:grpSp>
          <p:nvGrpSpPr>
            <p:cNvPr id="14" name="组合 13"/>
            <p:cNvGrpSpPr/>
            <p:nvPr/>
          </p:nvGrpSpPr>
          <p:grpSpPr>
            <a:xfrm>
              <a:off x="2296221" y="4210047"/>
              <a:ext cx="262800" cy="262800"/>
              <a:chOff x="2296221" y="3600454"/>
              <a:chExt cx="262800" cy="26280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2296221" y="3600454"/>
                <a:ext cx="262800" cy="262800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2706" y="3631984"/>
                <a:ext cx="209550" cy="219075"/>
              </a:xfrm>
              <a:prstGeom prst="rect">
                <a:avLst/>
              </a:prstGeom>
            </p:spPr>
          </p:pic>
        </p:grpSp>
        <p:sp>
          <p:nvSpPr>
            <p:cNvPr id="33" name="文本框 32"/>
            <p:cNvSpPr txBox="1"/>
            <p:nvPr/>
          </p:nvSpPr>
          <p:spPr>
            <a:xfrm>
              <a:off x="2824731" y="4156781"/>
              <a:ext cx="5948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“Step into”: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运行到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main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函数可调试的第一行代码处暂停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2800"/>
            <a:ext cx="520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4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调试器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18595" y="1198183"/>
            <a:ext cx="4916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打开监视窗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162" y="1702288"/>
            <a:ext cx="4729317" cy="371638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702" y="4057463"/>
            <a:ext cx="4895850" cy="128587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38400" y="1786759"/>
            <a:ext cx="462455" cy="189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69627" y="4256690"/>
            <a:ext cx="1156138" cy="189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055476" y="5171090"/>
            <a:ext cx="430924" cy="1471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60585" y="5624648"/>
            <a:ext cx="4223676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arguments: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函数参数的值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Locals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：当前有效的局部变量的值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378262" y="2753710"/>
            <a:ext cx="145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变量名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091443" y="2725948"/>
            <a:ext cx="145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变量值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773774" y="4904692"/>
            <a:ext cx="145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数据类型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40" y="1659848"/>
            <a:ext cx="3751853" cy="1757968"/>
          </a:xfrm>
          <a:prstGeom prst="rect">
            <a:avLst/>
          </a:prstGeom>
        </p:spPr>
      </p:pic>
      <p:sp>
        <p:nvSpPr>
          <p:cNvPr id="6" name="箭头: 上弧形 5"/>
          <p:cNvSpPr/>
          <p:nvPr/>
        </p:nvSpPr>
        <p:spPr>
          <a:xfrm>
            <a:off x="5384261" y="3424146"/>
            <a:ext cx="1807779" cy="557990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箭头: 右弧形 11"/>
          <p:cNvSpPr/>
          <p:nvPr/>
        </p:nvSpPr>
        <p:spPr>
          <a:xfrm>
            <a:off x="10359025" y="2292263"/>
            <a:ext cx="472910" cy="1689871"/>
          </a:xfrm>
          <a:prstGeom prst="curvedLeft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10146" y="3226935"/>
            <a:ext cx="104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方法一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0542942" y="2572551"/>
            <a:ext cx="461665" cy="8786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/>
              <a:t>方法二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8952599" y="4904692"/>
            <a:ext cx="145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变量值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91229" y="4904692"/>
            <a:ext cx="1459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变量名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07749" y="5628322"/>
            <a:ext cx="6610589" cy="875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空白行：可添加想要查看的变量，选中自定义变量所在的行，右键可删除特定行。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2800"/>
            <a:ext cx="520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4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调试器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18595" y="1198183"/>
            <a:ext cx="4916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多种调试方法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085321" y="2040933"/>
            <a:ext cx="6583985" cy="2687913"/>
            <a:chOff x="1285852" y="3214686"/>
            <a:chExt cx="8980523" cy="3401920"/>
          </a:xfrm>
        </p:grpSpPr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285852" y="3214686"/>
              <a:ext cx="3888432" cy="798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2" name="肘形连接符 4"/>
            <p:cNvCxnSpPr/>
            <p:nvPr/>
          </p:nvCxnSpPr>
          <p:spPr>
            <a:xfrm>
              <a:off x="4526212" y="3718742"/>
              <a:ext cx="1767738" cy="455629"/>
            </a:xfrm>
            <a:prstGeom prst="bentConnector3">
              <a:avLst>
                <a:gd name="adj1" fmla="val -351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5"/>
            <p:cNvSpPr txBox="1"/>
            <p:nvPr/>
          </p:nvSpPr>
          <p:spPr>
            <a:xfrm>
              <a:off x="6288757" y="5686847"/>
              <a:ext cx="3824339" cy="428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运行到光标 （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 to cursor)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箭头连接符 23"/>
            <p:cNvCxnSpPr>
              <a:endCxn id="25" idx="1"/>
            </p:cNvCxnSpPr>
            <p:nvPr/>
          </p:nvCxnSpPr>
          <p:spPr>
            <a:xfrm>
              <a:off x="4958260" y="3621030"/>
              <a:ext cx="1368151" cy="2392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7"/>
            <p:cNvSpPr txBox="1"/>
            <p:nvPr/>
          </p:nvSpPr>
          <p:spPr>
            <a:xfrm>
              <a:off x="6326412" y="3430710"/>
              <a:ext cx="1371365" cy="428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中止运行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8"/>
            <p:cNvSpPr txBox="1"/>
            <p:nvPr/>
          </p:nvSpPr>
          <p:spPr>
            <a:xfrm>
              <a:off x="6326413" y="3927118"/>
              <a:ext cx="1371365" cy="428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暂停运行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肘形连接符 9"/>
            <p:cNvCxnSpPr/>
            <p:nvPr/>
          </p:nvCxnSpPr>
          <p:spPr>
            <a:xfrm>
              <a:off x="2924260" y="3854327"/>
              <a:ext cx="3388164" cy="1113741"/>
            </a:xfrm>
            <a:prstGeom prst="bentConnector3">
              <a:avLst>
                <a:gd name="adj1" fmla="val 447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10"/>
            <p:cNvSpPr txBox="1"/>
            <p:nvPr/>
          </p:nvSpPr>
          <p:spPr>
            <a:xfrm>
              <a:off x="6288034" y="4702763"/>
              <a:ext cx="3978341" cy="42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单步进入（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 into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肘形连接符 11"/>
            <p:cNvCxnSpPr/>
            <p:nvPr/>
          </p:nvCxnSpPr>
          <p:spPr>
            <a:xfrm>
              <a:off x="2494413" y="3829419"/>
              <a:ext cx="3830098" cy="1549139"/>
            </a:xfrm>
            <a:prstGeom prst="bentConnector3">
              <a:avLst>
                <a:gd name="adj1" fmla="val 227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12"/>
            <p:cNvSpPr txBox="1"/>
            <p:nvPr/>
          </p:nvSpPr>
          <p:spPr>
            <a:xfrm>
              <a:off x="6288034" y="5166810"/>
              <a:ext cx="3211297" cy="42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运行一行（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 line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肘形连接符 13"/>
            <p:cNvCxnSpPr/>
            <p:nvPr/>
          </p:nvCxnSpPr>
          <p:spPr>
            <a:xfrm>
              <a:off x="2077940" y="3870560"/>
              <a:ext cx="4248473" cy="2016224"/>
            </a:xfrm>
            <a:prstGeom prst="bentConnector3">
              <a:avLst>
                <a:gd name="adj1" fmla="val 689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14"/>
            <p:cNvSpPr txBox="1"/>
            <p:nvPr/>
          </p:nvSpPr>
          <p:spPr>
            <a:xfrm>
              <a:off x="6326410" y="6188120"/>
              <a:ext cx="2924462" cy="428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开始调试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运行到断点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" name="肘形连接符 15"/>
            <p:cNvCxnSpPr/>
            <p:nvPr/>
          </p:nvCxnSpPr>
          <p:spPr>
            <a:xfrm>
              <a:off x="1717900" y="3870561"/>
              <a:ext cx="4608511" cy="2520280"/>
            </a:xfrm>
            <a:prstGeom prst="bentConnector3">
              <a:avLst>
                <a:gd name="adj1" fmla="val 76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连接符: 肘形 15"/>
          <p:cNvCxnSpPr/>
          <p:nvPr/>
        </p:nvCxnSpPr>
        <p:spPr>
          <a:xfrm rot="16200000" flipH="1">
            <a:off x="4378354" y="1751295"/>
            <a:ext cx="545192" cy="2154371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10"/>
          <p:cNvSpPr txBox="1"/>
          <p:nvPr/>
        </p:nvSpPr>
        <p:spPr>
          <a:xfrm>
            <a:off x="5779366" y="2910262"/>
            <a:ext cx="2916683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返回上一级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2800"/>
            <a:ext cx="520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调试方法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2—</a:t>
            </a:r>
            <a:r>
              <a:rPr lang="zh-CN" altLang="en-US" sz="24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调试器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18595" y="1198183"/>
            <a:ext cx="4916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断点调试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664" y="2341349"/>
            <a:ext cx="2898894" cy="1703100"/>
          </a:xfrm>
          <a:prstGeom prst="rect">
            <a:avLst/>
          </a:prstGeom>
          <a:ln w="22225" cmpd="sng">
            <a:solidFill>
              <a:schemeClr val="accent1"/>
            </a:solidFill>
            <a:prstDash val="solid"/>
          </a:ln>
        </p:spPr>
      </p:pic>
      <p:sp>
        <p:nvSpPr>
          <p:cNvPr id="4" name="矩形 3"/>
          <p:cNvSpPr/>
          <p:nvPr/>
        </p:nvSpPr>
        <p:spPr>
          <a:xfrm>
            <a:off x="1400958" y="1914676"/>
            <a:ext cx="2018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禁用断点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13027" y="1885071"/>
            <a:ext cx="20249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条件断点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3419459" y="2905831"/>
            <a:ext cx="363401" cy="16295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99" y="4535386"/>
            <a:ext cx="2918738" cy="1877940"/>
          </a:xfrm>
          <a:prstGeom prst="rect">
            <a:avLst/>
          </a:prstGeom>
          <a:ln w="22225">
            <a:solidFill>
              <a:schemeClr val="accent1"/>
            </a:solidFill>
            <a:prstDash val="sysDash"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72" y="2560753"/>
            <a:ext cx="2281751" cy="231138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168" y="2496905"/>
            <a:ext cx="2281751" cy="2381391"/>
          </a:xfrm>
          <a:prstGeom prst="rect">
            <a:avLst/>
          </a:prstGeom>
        </p:spPr>
      </p:pic>
      <p:cxnSp>
        <p:nvCxnSpPr>
          <p:cNvPr id="33" name="直接箭头连接符 32"/>
          <p:cNvCxnSpPr/>
          <p:nvPr/>
        </p:nvCxnSpPr>
        <p:spPr>
          <a:xfrm>
            <a:off x="3081403" y="2560753"/>
            <a:ext cx="3118981" cy="345078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0645" y="1052195"/>
            <a:ext cx="9969500" cy="571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3001 </a:t>
            </a:r>
            <a:r>
              <a:rPr 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汉诺塔</a:t>
            </a:r>
            <a:endParaRPr 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汉诺塔是一个经典的递归问题。有三根柱子，分别标记为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。在柱子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个大小不同的圆盘，这些圆盘按照从小到大的顺序堆叠，小的在上，大的在下。目标是将所有圆盘从柱子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移动到柱子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，移动过程中需要遵守以下规则：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每次只能移动一个圆盘。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每次移动时，将最上面的圆盘从一根柱子移动到另一根柱子的最上面。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在任何时候，都不能将较大的圆盘放在较小的圆盘之上。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请编写程序，输出将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个圆盘从柱子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移动到柱子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的所有移动步骤。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一行，包含一个正整数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≤ n ≤ 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），表示圆盘的数量。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若干行，每行描述一次移动操作。格式为：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Move disk from [source] to [destination]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[source]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[destination]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分别代表起始柱子和目标柱子的名称（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0645" y="1052195"/>
            <a:ext cx="9969500" cy="571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3001 </a:t>
            </a:r>
            <a:r>
              <a:rPr 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汉诺塔</a:t>
            </a:r>
            <a:endParaRPr 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endParaRPr 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fontAlgn="auto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1】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457200" fontAlgn="auto">
              <a:lnSpc>
                <a:spcPct val="100000"/>
              </a:lnSpc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fontAlgn="auto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1】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A to 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fontAlgn="auto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2】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457200" fontAlgn="auto">
              <a:lnSpc>
                <a:spcPct val="100000"/>
              </a:lnSpc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fontAlgn="auto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输出示例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2】</a:t>
            </a: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A to 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A to B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C to B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A to 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B to A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B to 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457200"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Move disk from A to 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l">
              <a:lnSpc>
                <a:spcPct val="150000"/>
              </a:lnSpc>
              <a:buClrTx/>
              <a:buSzTx/>
              <a:buFontTx/>
            </a:pP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59" name="Picture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8625" y="3956050"/>
            <a:ext cx="2675890" cy="2310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1572" name="Rectangle 3"/>
          <p:cNvSpPr>
            <a:spLocks noGrp="1"/>
          </p:cNvSpPr>
          <p:nvPr>
            <p:ph type="body" idx="4294967295"/>
          </p:nvPr>
        </p:nvSpPr>
        <p:spPr>
          <a:xfrm>
            <a:off x="2781300" y="1479550"/>
            <a:ext cx="9410700" cy="46863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步：将问题简化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复杂问题求解的基本方法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杆上只有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个圆盘，即汉诺塔有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号圆盘从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号圆盘从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号圆盘从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228" name="Rectangle 4"/>
          <p:cNvSpPr/>
          <p:nvPr/>
        </p:nvSpPr>
        <p:spPr>
          <a:xfrm>
            <a:off x="2630488" y="4437063"/>
            <a:ext cx="6629400" cy="14446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2229" name="Rectangle 5"/>
          <p:cNvSpPr/>
          <p:nvPr>
            <p:custDataLst>
              <p:tags r:id="rId1"/>
            </p:custDataLst>
          </p:nvPr>
        </p:nvSpPr>
        <p:spPr>
          <a:xfrm>
            <a:off x="3911600" y="2636838"/>
            <a:ext cx="157163" cy="1800225"/>
          </a:xfrm>
          <a:prstGeom prst="rect">
            <a:avLst/>
          </a:prstGeom>
          <a:solidFill>
            <a:srgbClr val="993366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2230" name="Rectangle 6"/>
          <p:cNvSpPr/>
          <p:nvPr>
            <p:custDataLst>
              <p:tags r:id="rId2"/>
            </p:custDataLst>
          </p:nvPr>
        </p:nvSpPr>
        <p:spPr>
          <a:xfrm>
            <a:off x="5862638" y="2636838"/>
            <a:ext cx="155575" cy="1800225"/>
          </a:xfrm>
          <a:prstGeom prst="rect">
            <a:avLst/>
          </a:prstGeom>
          <a:solidFill>
            <a:srgbClr val="993366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2231" name="Rectangle 7"/>
          <p:cNvSpPr/>
          <p:nvPr>
            <p:custDataLst>
              <p:tags r:id="rId3"/>
            </p:custDataLst>
          </p:nvPr>
        </p:nvSpPr>
        <p:spPr>
          <a:xfrm>
            <a:off x="8047038" y="2636838"/>
            <a:ext cx="155575" cy="1800225"/>
          </a:xfrm>
          <a:prstGeom prst="rect">
            <a:avLst/>
          </a:prstGeom>
          <a:solidFill>
            <a:srgbClr val="993366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131080" name="Rectangle 8"/>
          <p:cNvSpPr/>
          <p:nvPr>
            <p:custDataLst>
              <p:tags r:id="rId4"/>
            </p:custDataLst>
          </p:nvPr>
        </p:nvSpPr>
        <p:spPr>
          <a:xfrm>
            <a:off x="3367088" y="3744913"/>
            <a:ext cx="1246187" cy="346075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131081" name="Text Box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43288" y="2636838"/>
            <a:ext cx="468313" cy="368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1082" name="Text Box 1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94325" y="2636838"/>
            <a:ext cx="468313" cy="368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1083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24763" y="2636838"/>
            <a:ext cx="468313" cy="368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1084" name="Rectangle 12"/>
          <p:cNvSpPr/>
          <p:nvPr>
            <p:custDataLst>
              <p:tags r:id="rId8"/>
            </p:custDataLst>
          </p:nvPr>
        </p:nvSpPr>
        <p:spPr>
          <a:xfrm>
            <a:off x="3054350" y="4090988"/>
            <a:ext cx="1870075" cy="346075"/>
          </a:xfrm>
          <a:prstGeom prst="rect">
            <a:avLst/>
          </a:prstGeom>
          <a:solidFill>
            <a:srgbClr val="00008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131085" name="Rectangle 13"/>
          <p:cNvSpPr/>
          <p:nvPr>
            <p:custDataLst>
              <p:tags r:id="rId9"/>
            </p:custDataLst>
          </p:nvPr>
        </p:nvSpPr>
        <p:spPr>
          <a:xfrm>
            <a:off x="7472363" y="4090988"/>
            <a:ext cx="1246187" cy="346075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131086" name="Rectangle 14"/>
          <p:cNvSpPr/>
          <p:nvPr>
            <p:custDataLst>
              <p:tags r:id="rId10"/>
            </p:custDataLst>
          </p:nvPr>
        </p:nvSpPr>
        <p:spPr>
          <a:xfrm>
            <a:off x="5011738" y="4090988"/>
            <a:ext cx="1871662" cy="346075"/>
          </a:xfrm>
          <a:prstGeom prst="rect">
            <a:avLst/>
          </a:prstGeom>
          <a:solidFill>
            <a:srgbClr val="00008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131087" name="Rectangle 15"/>
          <p:cNvSpPr/>
          <p:nvPr>
            <p:custDataLst>
              <p:tags r:id="rId11"/>
            </p:custDataLst>
          </p:nvPr>
        </p:nvSpPr>
        <p:spPr>
          <a:xfrm>
            <a:off x="5322888" y="3744913"/>
            <a:ext cx="1246187" cy="346075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2240" name="灯片编号占位符 1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>
            <a:noFill/>
          </a:ln>
        </p:spPr>
        <p:txBody>
          <a:bodyPr lIns="45720" rIns="45720" anchor="ctr" anchorCtr="0"/>
          <a:p>
            <a:pPr marL="0" indent="0"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fld id="{9A0DB2DC-4C9A-4742-B13C-FB6460FD3503}" type="slidenum">
              <a:rPr lang="en-US" altLang="zh-CN" sz="1100" dirty="0">
                <a:solidFill>
                  <a:srgbClr val="636363"/>
                </a:solidFill>
                <a:ea typeface="宋体" panose="02010600030101010101" pitchFamily="2" charset="-122"/>
              </a:rPr>
            </a:fld>
            <a:r>
              <a:rPr lang="en-US" altLang="zh-CN" sz="1100" dirty="0">
                <a:solidFill>
                  <a:srgbClr val="636363"/>
                </a:solidFill>
                <a:ea typeface="宋体" panose="02010600030101010101" pitchFamily="2" charset="-122"/>
              </a:rPr>
              <a:t>/113</a:t>
            </a:r>
            <a:endParaRPr lang="zh-CN" altLang="en-US" sz="1100" dirty="0">
              <a:solidFill>
                <a:srgbClr val="636363"/>
              </a:solidFill>
              <a:ea typeface="宋体" panose="02010600030101010101" pitchFamily="2" charset="-122"/>
            </a:endParaRPr>
          </a:p>
        </p:txBody>
      </p:sp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>
                                            <p:txEl>
                                              <p:charRg st="63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1572">
                                            <p:txEl>
                                              <p:charRg st="63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>
                                            <p:txEl>
                                              <p:charRg st="7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1572">
                                            <p:txEl>
                                              <p:charRg st="74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 bldLvl="0" animBg="1"/>
      <p:bldP spid="131084" grpId="0" bldLvl="0" animBg="1"/>
      <p:bldP spid="131085" grpId="0" bldLvl="0" animBg="1"/>
      <p:bldP spid="131085" grpId="1" bldLvl="0" animBg="1"/>
      <p:bldP spid="131086" grpId="0" bldLvl="0" animBg="1"/>
      <p:bldP spid="13108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5" name="Rectangle 3"/>
          <p:cNvSpPr/>
          <p:nvPr/>
        </p:nvSpPr>
        <p:spPr>
          <a:xfrm>
            <a:off x="1568450" y="1268413"/>
            <a:ext cx="9055100" cy="1223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spcBef>
                <a:spcPct val="20000"/>
              </a:spcBef>
              <a:spcAft>
                <a:spcPts val="590"/>
              </a:spcAft>
              <a:buClrTx/>
              <a:buSzPct val="8000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步：对有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n&gt;1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）个圆盘的汉诺塔，将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个圆盘分为两部分，“上面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个圆盘”看成一个整体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Group 25"/>
          <p:cNvGrpSpPr/>
          <p:nvPr/>
        </p:nvGrpSpPr>
        <p:grpSpPr>
          <a:xfrm>
            <a:off x="3052763" y="2416175"/>
            <a:ext cx="7100887" cy="4108450"/>
            <a:chOff x="1110" y="1570"/>
            <a:chExt cx="4129" cy="2588"/>
          </a:xfrm>
        </p:grpSpPr>
        <p:graphicFrame>
          <p:nvGraphicFramePr>
            <p:cNvPr id="54278" name="Object 4"/>
            <p:cNvGraphicFramePr>
              <a:graphicFrameLocks noChangeAspect="1"/>
            </p:cNvGraphicFramePr>
            <p:nvPr/>
          </p:nvGraphicFramePr>
          <p:xfrm>
            <a:off x="1110" y="1570"/>
            <a:ext cx="4129" cy="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6112510" imgH="3831590" progId="Word.Picture.8">
                    <p:embed/>
                  </p:oleObj>
                </mc:Choice>
                <mc:Fallback>
                  <p:oleObj name="" r:id="rId1" imgW="6112510" imgH="3831590" progId="Word.Picture.8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10" y="1570"/>
                          <a:ext cx="4129" cy="25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1247" y="3929"/>
              <a:ext cx="1674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>
              <a:lvl1pPr marL="374650" indent="-3746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3pPr>
              <a:lvl4pPr marL="16002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4pPr>
              <a:lvl5pPr marL="20574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9pPr>
            </a:lstStyle>
            <a:p>
              <a:pPr marL="374650" marR="0" lvl="0" indent="-37465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rgbClr val="FFCC66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1. 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将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-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个圆盘从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移到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3340" y="2614"/>
              <a:ext cx="1672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>
              <a:lvl1pPr marL="374650" indent="-3746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3pPr>
              <a:lvl4pPr marL="16002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4pPr>
              <a:lvl5pPr marL="20574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9pPr>
            </a:lstStyle>
            <a:p>
              <a:pPr marL="374650" marR="0" lvl="0" indent="-37465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rgbClr val="FFCC66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2. 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将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号圆盘从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移到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3340" y="3921"/>
              <a:ext cx="1717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/>
            <a:lstStyle>
              <a:lvl1pPr marL="374650" indent="-3746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3pPr>
              <a:lvl4pPr marL="16002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4pPr>
              <a:lvl5pPr marL="2057400" indent="-228600">
                <a:lnSpc>
                  <a:spcPct val="95000"/>
                </a:lnSpc>
                <a:spcBef>
                  <a:spcPts val="575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ts val="575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9pPr>
            </a:lstStyle>
            <a:p>
              <a:pPr marL="374650" marR="0" lvl="0" indent="-37465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rgbClr val="FFCC66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3. 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将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n-1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个圆盘从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移到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4277" name="灯片编号占位符 5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>
            <a:noFill/>
          </a:ln>
        </p:spPr>
        <p:txBody>
          <a:bodyPr lIns="45720" rIns="45720" anchor="ctr" anchorCtr="0"/>
          <a:p>
            <a:pPr marL="0" indent="0"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fld id="{9A0DB2DC-4C9A-4742-B13C-FB6460FD3503}" type="slidenum">
              <a:rPr lang="en-US" altLang="zh-CN" sz="1100" dirty="0">
                <a:solidFill>
                  <a:srgbClr val="636363"/>
                </a:solidFill>
                <a:ea typeface="宋体" panose="02010600030101010101" pitchFamily="2" charset="-122"/>
              </a:rPr>
            </a:fld>
            <a:r>
              <a:rPr lang="en-US" altLang="zh-CN" sz="1100" dirty="0">
                <a:solidFill>
                  <a:srgbClr val="636363"/>
                </a:solidFill>
                <a:ea typeface="宋体" panose="02010600030101010101" pitchFamily="2" charset="-122"/>
              </a:rPr>
              <a:t>/122</a:t>
            </a:r>
            <a:endParaRPr lang="zh-CN" altLang="en-US" sz="1100" dirty="0">
              <a:solidFill>
                <a:srgbClr val="636363"/>
              </a:solidFill>
              <a:ea typeface="宋体" panose="02010600030101010101" pitchFamily="2" charset="-122"/>
            </a:endParaRPr>
          </a:p>
        </p:txBody>
      </p:sp>
      <p:sp>
        <p:nvSpPr>
          <p:cNvPr id="7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Rectangle 5"/>
          <p:cNvSpPr/>
          <p:nvPr/>
        </p:nvSpPr>
        <p:spPr>
          <a:xfrm>
            <a:off x="1700213" y="1643063"/>
            <a:ext cx="8915400" cy="2362200"/>
          </a:xfrm>
          <a:prstGeom prst="rect">
            <a:avLst/>
          </a:prstGeom>
          <a:solidFill>
            <a:srgbClr val="000066"/>
          </a:solidFill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None/>
            </a:pP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5300" name="AutoShape 6" descr="浅色横线"/>
          <p:cNvSpPr/>
          <p:nvPr/>
        </p:nvSpPr>
        <p:spPr>
          <a:xfrm rot="10800000">
            <a:off x="2298700" y="2332038"/>
            <a:ext cx="1816100" cy="91440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</a:blip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22600" name="Line 7"/>
          <p:cNvSpPr>
            <a:spLocks noChangeShapeType="1"/>
          </p:cNvSpPr>
          <p:nvPr/>
        </p:nvSpPr>
        <p:spPr bwMode="auto">
          <a:xfrm>
            <a:off x="1885950" y="3452813"/>
            <a:ext cx="8585200" cy="0"/>
          </a:xfrm>
          <a:prstGeom prst="line">
            <a:avLst/>
          </a:prstGeom>
          <a:noFill/>
          <a:ln w="38100">
            <a:solidFill>
              <a:srgbClr val="C0C0C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2133600" y="3360738"/>
            <a:ext cx="2146300" cy="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22602" name="Line 9"/>
          <p:cNvSpPr>
            <a:spLocks noChangeShapeType="1"/>
          </p:cNvSpPr>
          <p:nvPr/>
        </p:nvSpPr>
        <p:spPr bwMode="auto">
          <a:xfrm>
            <a:off x="6178550" y="1928813"/>
            <a:ext cx="0" cy="1524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22603" name="Line 10"/>
          <p:cNvSpPr>
            <a:spLocks noChangeShapeType="1"/>
          </p:cNvSpPr>
          <p:nvPr/>
        </p:nvSpPr>
        <p:spPr bwMode="auto">
          <a:xfrm>
            <a:off x="3206750" y="1928813"/>
            <a:ext cx="0" cy="1524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22604" name="Line 11"/>
          <p:cNvSpPr>
            <a:spLocks noChangeShapeType="1"/>
          </p:cNvSpPr>
          <p:nvPr/>
        </p:nvSpPr>
        <p:spPr bwMode="auto">
          <a:xfrm>
            <a:off x="9067800" y="1928813"/>
            <a:ext cx="0" cy="15240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06" name="Text Box 12"/>
          <p:cNvSpPr txBox="1"/>
          <p:nvPr/>
        </p:nvSpPr>
        <p:spPr>
          <a:xfrm>
            <a:off x="2998947" y="3473450"/>
            <a:ext cx="36639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20000"/>
              </a:spcBef>
              <a:spcAft>
                <a:spcPts val="590"/>
              </a:spcAft>
              <a:buSzPct val="80000"/>
              <a:buNone/>
            </a:pPr>
            <a:r>
              <a:rPr lang="en-US" altLang="zh-CN" sz="2000" b="1" dirty="0">
                <a:solidFill>
                  <a:srgbClr val="00FF00"/>
                </a:solidFill>
                <a:ea typeface="宋体" panose="02010600030101010101" pitchFamily="2" charset="-122"/>
              </a:rPr>
              <a:t>A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32109" name="Text Box 13"/>
          <p:cNvSpPr txBox="1">
            <a:spLocks noChangeArrowheads="1"/>
          </p:cNvSpPr>
          <p:nvPr/>
        </p:nvSpPr>
        <p:spPr bwMode="auto">
          <a:xfrm>
            <a:off x="8913654" y="3473450"/>
            <a:ext cx="34798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algn="ctr" defTabSz="914400">
              <a:lnSpc>
                <a:spcPct val="90000"/>
              </a:lnSpc>
              <a:spcBef>
                <a:spcPct val="2000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solidFill>
                  <a:srgbClr val="00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+mn-ea"/>
                <a:cs typeface="+mn-cs"/>
              </a:rPr>
              <a:t>C</a:t>
            </a:r>
            <a:endParaRPr kumimoji="1" lang="zh-CN" altLang="en-US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8" name="Text Box 14"/>
          <p:cNvSpPr txBox="1"/>
          <p:nvPr/>
        </p:nvSpPr>
        <p:spPr>
          <a:xfrm>
            <a:off x="5974715" y="3473450"/>
            <a:ext cx="36639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20000"/>
              </a:spcBef>
              <a:spcAft>
                <a:spcPts val="590"/>
              </a:spcAft>
              <a:buSzPct val="80000"/>
              <a:buNone/>
            </a:pPr>
            <a:r>
              <a:rPr lang="en-US" altLang="zh-CN" sz="2000" b="1" dirty="0">
                <a:solidFill>
                  <a:srgbClr val="FF00FF"/>
                </a:solidFill>
                <a:ea typeface="宋体" panose="02010600030101010101" pitchFamily="2" charset="-122"/>
              </a:rPr>
              <a:t>B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55309" name="AutoShape 15" descr="浅色横线"/>
          <p:cNvSpPr/>
          <p:nvPr/>
        </p:nvSpPr>
        <p:spPr>
          <a:xfrm rot="10800000">
            <a:off x="8167688" y="2517775"/>
            <a:ext cx="1816100" cy="91440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</a:blip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2112" name="Line 16"/>
          <p:cNvSpPr>
            <a:spLocks noChangeShapeType="1"/>
          </p:cNvSpPr>
          <p:nvPr/>
        </p:nvSpPr>
        <p:spPr bwMode="auto">
          <a:xfrm>
            <a:off x="5089525" y="3360738"/>
            <a:ext cx="2146300" cy="0"/>
          </a:xfrm>
          <a:prstGeom prst="line">
            <a:avLst/>
          </a:prstGeom>
          <a:noFill/>
          <a:ln w="76200">
            <a:solidFill>
              <a:srgbClr val="FFCC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11" name="AutoShape 17" descr="浅色横线"/>
          <p:cNvSpPr/>
          <p:nvPr/>
        </p:nvSpPr>
        <p:spPr>
          <a:xfrm rot="10800000">
            <a:off x="5264150" y="2338388"/>
            <a:ext cx="1816100" cy="914400"/>
          </a:xfrm>
          <a:custGeom>
            <a:avLst/>
            <a:gdLst>
              <a:gd name="txL" fmla="*/ 4500 w 21600"/>
              <a:gd name="txT" fmla="*/ 4500 h 21600"/>
              <a:gd name="txR" fmla="*/ 17100 w 21600"/>
              <a:gd name="txB" fmla="*/ 17100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</a:blip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" name="Rectangle 3"/>
          <p:cNvSpPr/>
          <p:nvPr/>
        </p:nvSpPr>
        <p:spPr>
          <a:xfrm>
            <a:off x="1416050" y="4527550"/>
            <a:ext cx="4333875" cy="188658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ts val="575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marL="374650" lvl="0" indent="-374650">
              <a:spcBef>
                <a:spcPct val="20000"/>
              </a:spcBef>
              <a:spcAft>
                <a:spcPts val="59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个圆盘从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74650" lvl="0" indent="-374650">
              <a:spcBef>
                <a:spcPct val="20000"/>
              </a:spcBef>
              <a:spcAft>
                <a:spcPts val="59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号圆盘从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74650" lvl="0" indent="-374650">
              <a:spcBef>
                <a:spcPct val="20000"/>
              </a:spcBef>
              <a:spcAft>
                <a:spcPts val="59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个圆盘从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移到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9555" y="4584700"/>
            <a:ext cx="44577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设计两个函数：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个圆盘借助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移到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将一个圆盘从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移到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74640" y="4977765"/>
            <a:ext cx="969010" cy="41211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charRg st="13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0645" y="1052195"/>
            <a:ext cx="9969500" cy="571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002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预测赢家</a:t>
            </a:r>
            <a:endPara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设计了一个游戏。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轮流进行自己的回合，玩家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先手。开始时，两个玩家的初始分值都是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。每一回合，玩家从数组的任意一端取一个数字（即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nums[0]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nums[nums.length - 1]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），取到的数字将会从数组中移除（数组长度减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）。玩家选中的数字将会加到他的得分上。当数组中没有剩余数字可取时，游戏结束。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能成为赢家，返回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。如果两个玩家得分相等，同样认为玩家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是游戏的赢家，也返回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。你可以假设每个玩家的玩法都会使他的分数最大化。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请你编写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解决这个问题。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两行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行为整数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，表示数组长度，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第二行为数组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nums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的元素。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`true`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`false`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458710" y="3778250"/>
            <a:ext cx="19723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【输入示例】</a:t>
            </a:r>
            <a:endParaRPr lang="zh-CN" altLang="en-US" sz="1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1 5 2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【输出示例】</a:t>
            </a:r>
            <a:endParaRPr lang="en-US" altLang="zh-CN" sz="1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/>
            <a:r>
              <a:rPr lang="en-US" altLang="zh-CN" sz="16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endParaRPr lang="en-US" altLang="zh-CN" sz="16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5199" y="4240309"/>
            <a:ext cx="915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ISLIDE.DIAGRAM" val="f48f5301-91d9-4324-a64a-050410bbde6a"/>
  <p:tag name="KSO_WM_DIAGRAM_VIRTUALLY_FRAME" val="{&quot;height&quot;:380.79913385826774,&quot;left&quot;:53.54102362204725,&quot;top&quot;:72.59874015748031,&quot;width&quot;:760.7687401574804}"/>
</p:tagLst>
</file>

<file path=ppt/tags/tag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5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6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7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8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9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0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5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6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7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8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9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0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3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4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5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6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7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8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29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30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31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32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33.xml><?xml version="1.0" encoding="utf-8"?>
<p:tagLst xmlns:p="http://schemas.openxmlformats.org/presentationml/2006/main">
  <p:tag name="KSO_WM_DIAGRAM_VIRTUALLY_FRAME" val="{&quot;height&quot;:141.75003937007872,&quot;left&quot;:240.5,&quot;top&quot;:207.625,&quot;width&quot;:446}"/>
</p:tagLst>
</file>

<file path=ppt/tags/tag34.xml><?xml version="1.0" encoding="utf-8"?>
<p:tagLst xmlns:p="http://schemas.openxmlformats.org/presentationml/2006/main">
  <p:tag name="ISPRING_PRESENTATION_TITLE" val="PowerPoint 演示文稿3"/>
  <p:tag name="commondata" val="eyJoZGlkIjoiZGEzOGMzMmZjNDU1Mzk0MWZiMzU0NGFhYjE5YTU4MjMifQ=="/>
  <p:tag name="COMMONDATA" val="eyJoZGlkIjoiMDljYWUyMzkyZmQ0OTgwOWUyMjkzNmZiMWJjYjA2Nz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1948</Words>
  <Application>WPS 演示</Application>
  <PresentationFormat>宽屏</PresentationFormat>
  <Paragraphs>217</Paragraphs>
  <Slides>15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Impact</vt:lpstr>
      <vt:lpstr>Calibri</vt:lpstr>
      <vt:lpstr>黑体</vt:lpstr>
      <vt:lpstr>Wingdings 2</vt:lpstr>
      <vt:lpstr>Times New Roman</vt:lpstr>
      <vt:lpstr>Courier New</vt:lpstr>
      <vt:lpstr>Arial Unicode MS</vt:lpstr>
      <vt:lpstr>Calibri Light</vt:lpstr>
      <vt:lpstr>Office 主题</vt:lpstr>
      <vt:lpstr>自定义设计方案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雨虹</cp:lastModifiedBy>
  <cp:revision>598</cp:revision>
  <dcterms:created xsi:type="dcterms:W3CDTF">2016-04-09T13:02:00Z</dcterms:created>
  <dcterms:modified xsi:type="dcterms:W3CDTF">2025-11-27T00:02:14Z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D0826725A43342808F8D9D0C79CE53BF_12</vt:lpwstr>
  </property>
</Properties>
</file>