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13"/>
  </p:handoutMasterIdLst>
  <p:sldIdLst>
    <p:sldId id="322" r:id="rId4"/>
    <p:sldId id="324" r:id="rId6"/>
    <p:sldId id="297" r:id="rId7"/>
    <p:sldId id="379" r:id="rId8"/>
    <p:sldId id="408" r:id="rId9"/>
    <p:sldId id="409" r:id="rId10"/>
    <p:sldId id="410" r:id="rId11"/>
    <p:sldId id="323" r:id="rId12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D74A7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41" autoAdjust="0"/>
    <p:restoredTop sz="84120" autoAdjust="0"/>
  </p:normalViewPr>
  <p:slideViewPr>
    <p:cSldViewPr snapToGrid="0" showGuides="1">
      <p:cViewPr varScale="1">
        <p:scale>
          <a:sx n="174" d="100"/>
          <a:sy n="174" d="100"/>
        </p:scale>
        <p:origin x="5896" y="168"/>
      </p:cViewPr>
      <p:guideLst>
        <p:guide orient="horz" pos="2160"/>
        <p:guide pos="37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-2529" y="-72"/>
      </p:cViewPr>
      <p:guideLst>
        <p:guide orient="horz" pos="2880"/>
        <p:guide pos="21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5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90E8E-B145-4FC0-B3F5-88616996E7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F39E9-F60F-4776-B545-3ACE882E0AD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comb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31800" y="330198"/>
            <a:ext cx="540000" cy="288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431800" y="671197"/>
            <a:ext cx="540000" cy="180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431800" y="904196"/>
            <a:ext cx="540000" cy="72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 flipV="1">
            <a:off x="8966200" y="6528232"/>
            <a:ext cx="2880000" cy="36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0">
    <p:comb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4"/>
            <a:ext cx="12192000" cy="43769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5709"/>
            <a:ext cx="12192000" cy="33622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3065796"/>
            <a:ext cx="3600000" cy="214013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10769600" y="3664910"/>
            <a:ext cx="843953" cy="2410180"/>
            <a:chOff x="10769600" y="3836360"/>
            <a:chExt cx="843953" cy="241018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9600" y="3838038"/>
              <a:ext cx="146835" cy="240850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9612" y="4912297"/>
              <a:ext cx="492494" cy="129551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0930" y="3836360"/>
              <a:ext cx="562623" cy="824898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34" y="247661"/>
            <a:ext cx="3602440" cy="18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7" y="444499"/>
            <a:ext cx="108000" cy="272454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2093857"/>
            <a:ext cx="3600000" cy="8149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822348" y="3625900"/>
            <a:ext cx="964403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计算思维与实践</a:t>
            </a:r>
            <a:endParaRPr lang="en-US" altLang="zh-CN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实验八 排序算法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798622" y="6455543"/>
            <a:ext cx="2107760" cy="288000"/>
            <a:chOff x="1021340" y="5712187"/>
            <a:chExt cx="2107760" cy="28800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340" y="5716689"/>
              <a:ext cx="581924" cy="270576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89100" y="5712187"/>
              <a:ext cx="1440000" cy="28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7255" y="5720618"/>
              <a:ext cx="1186531" cy="270000"/>
            </a:xfrm>
            <a:prstGeom prst="rect">
              <a:avLst/>
            </a:prstGeom>
          </p:spPr>
        </p:pic>
      </p:grp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199" y="5983976"/>
            <a:ext cx="3475990" cy="638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íṧ1iḋê"/>
          <p:cNvGrpSpPr/>
          <p:nvPr/>
        </p:nvGrpSpPr>
        <p:grpSpPr>
          <a:xfrm rot="0">
            <a:off x="2440940" y="2531110"/>
            <a:ext cx="1569720" cy="1354455"/>
            <a:chOff x="1468531" y="1871421"/>
            <a:chExt cx="2080967" cy="1983665"/>
          </a:xfrm>
        </p:grpSpPr>
        <p:sp>
          <p:nvSpPr>
            <p:cNvPr id="73" name="ïṥlïḓè"/>
            <p:cNvSpPr/>
            <p:nvPr>
              <p:custDataLst>
                <p:tags r:id="rId1"/>
              </p:custDataLst>
            </p:nvPr>
          </p:nvSpPr>
          <p:spPr bwMode="auto">
            <a:xfrm>
              <a:off x="1751720" y="2659689"/>
              <a:ext cx="796931" cy="79693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  <p:sp>
          <p:nvSpPr>
            <p:cNvPr id="74" name="îślîḋê"/>
            <p:cNvSpPr/>
            <p:nvPr>
              <p:custDataLst>
                <p:tags r:id="rId2"/>
              </p:custDataLst>
            </p:nvPr>
          </p:nvSpPr>
          <p:spPr bwMode="auto">
            <a:xfrm>
              <a:off x="1847528" y="1880828"/>
              <a:ext cx="966310" cy="96631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  <p:sp>
          <p:nvSpPr>
            <p:cNvPr id="75" name="ïşļîḋé"/>
            <p:cNvSpPr/>
            <p:nvPr>
              <p:custDataLst>
                <p:tags r:id="rId3"/>
              </p:custDataLst>
            </p:nvPr>
          </p:nvSpPr>
          <p:spPr bwMode="auto">
            <a:xfrm>
              <a:off x="2219772" y="2167905"/>
              <a:ext cx="1188132" cy="118813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rot="0" spcFirstLastPara="0" vert="horz" wrap="none" lIns="91440" tIns="45720" rIns="91440" bIns="45720" anchor="ctr" anchorCtr="1" forceAA="0" compatLnSpc="1">
              <a:normAutofit fontScale="92500" lnSpcReduction="20000"/>
            </a:bodyPr>
            <a:p>
              <a:pPr algn="ctr"/>
              <a:r>
                <a:rPr lang="en-US" altLang="zh-CN" sz="4000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40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6" name="ïŝlíḋe"/>
            <p:cNvSpPr/>
            <p:nvPr>
              <p:custDataLst>
                <p:tags r:id="rId4"/>
              </p:custDataLst>
            </p:nvPr>
          </p:nvSpPr>
          <p:spPr bwMode="auto">
            <a:xfrm>
              <a:off x="2687824" y="3456620"/>
              <a:ext cx="398466" cy="398466"/>
            </a:xfrm>
            <a:prstGeom prst="ellipse">
              <a:avLst/>
            </a:prstGeom>
            <a:solidFill>
              <a:schemeClr val="accent3"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  <p:sp>
          <p:nvSpPr>
            <p:cNvPr id="77" name="iṡḻiďé"/>
            <p:cNvSpPr/>
            <p:nvPr>
              <p:custDataLst>
                <p:tags r:id="rId5"/>
              </p:custDataLst>
            </p:nvPr>
          </p:nvSpPr>
          <p:spPr bwMode="auto">
            <a:xfrm>
              <a:off x="1468531" y="2518094"/>
              <a:ext cx="283189" cy="28318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  <p:sp>
          <p:nvSpPr>
            <p:cNvPr id="78" name="iŝľîḑé"/>
            <p:cNvSpPr/>
            <p:nvPr>
              <p:custDataLst>
                <p:tags r:id="rId6"/>
              </p:custDataLst>
            </p:nvPr>
          </p:nvSpPr>
          <p:spPr bwMode="auto">
            <a:xfrm>
              <a:off x="3266309" y="1871421"/>
              <a:ext cx="283189" cy="283189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</p:grpSp>
      <p:sp>
        <p:nvSpPr>
          <p:cNvPr id="79" name="iṩľïḓe"/>
          <p:cNvSpPr txBox="1"/>
          <p:nvPr>
            <p:custDataLst>
              <p:tags r:id="rId7"/>
            </p:custDataLst>
          </p:nvPr>
        </p:nvSpPr>
        <p:spPr>
          <a:xfrm>
            <a:off x="3790315" y="2537460"/>
            <a:ext cx="2512695" cy="540385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Autofit/>
          </a:bodyPr>
          <a:p>
            <a:pPr algn="l"/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实验目的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8" name="îṧḻidé"/>
          <p:cNvGrpSpPr/>
          <p:nvPr/>
        </p:nvGrpSpPr>
        <p:grpSpPr>
          <a:xfrm rot="0">
            <a:off x="6479540" y="2531110"/>
            <a:ext cx="1569720" cy="1354455"/>
            <a:chOff x="1468531" y="1871421"/>
            <a:chExt cx="2080967" cy="1983665"/>
          </a:xfrm>
        </p:grpSpPr>
        <p:sp>
          <p:nvSpPr>
            <p:cNvPr id="89" name="ïṣľíďe"/>
            <p:cNvSpPr/>
            <p:nvPr>
              <p:custDataLst>
                <p:tags r:id="rId8"/>
              </p:custDataLst>
            </p:nvPr>
          </p:nvSpPr>
          <p:spPr bwMode="auto">
            <a:xfrm>
              <a:off x="1751720" y="2659689"/>
              <a:ext cx="796931" cy="79693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  <p:sp>
          <p:nvSpPr>
            <p:cNvPr id="90" name="îšļiḋe"/>
            <p:cNvSpPr/>
            <p:nvPr>
              <p:custDataLst>
                <p:tags r:id="rId9"/>
              </p:custDataLst>
            </p:nvPr>
          </p:nvSpPr>
          <p:spPr bwMode="auto">
            <a:xfrm>
              <a:off x="1847528" y="1880828"/>
              <a:ext cx="966310" cy="96631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  <p:sp>
          <p:nvSpPr>
            <p:cNvPr id="91" name="iṥľïďê"/>
            <p:cNvSpPr/>
            <p:nvPr>
              <p:custDataLst>
                <p:tags r:id="rId10"/>
              </p:custDataLst>
            </p:nvPr>
          </p:nvSpPr>
          <p:spPr bwMode="auto">
            <a:xfrm>
              <a:off x="2219772" y="2167905"/>
              <a:ext cx="1188132" cy="118813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rot="0" spcFirstLastPara="0" vert="horz" wrap="none" lIns="0" tIns="0" rIns="0" bIns="0" anchor="ctr" anchorCtr="1" forceAA="0" compatLnSpc="1">
              <a:normAutofit lnSpcReduction="10000"/>
            </a:bodyPr>
            <a:p>
              <a:pPr algn="ctr"/>
              <a:r>
                <a:rPr lang="en-US" altLang="zh-CN" sz="4000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40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2" name="íṩľíḓé"/>
            <p:cNvSpPr/>
            <p:nvPr>
              <p:custDataLst>
                <p:tags r:id="rId11"/>
              </p:custDataLst>
            </p:nvPr>
          </p:nvSpPr>
          <p:spPr bwMode="auto">
            <a:xfrm>
              <a:off x="2687824" y="3456620"/>
              <a:ext cx="398466" cy="398466"/>
            </a:xfrm>
            <a:prstGeom prst="ellipse">
              <a:avLst/>
            </a:prstGeom>
            <a:solidFill>
              <a:schemeClr val="accent3"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  <p:sp>
          <p:nvSpPr>
            <p:cNvPr id="93" name="ïśliďé"/>
            <p:cNvSpPr/>
            <p:nvPr>
              <p:custDataLst>
                <p:tags r:id="rId12"/>
              </p:custDataLst>
            </p:nvPr>
          </p:nvSpPr>
          <p:spPr bwMode="auto">
            <a:xfrm>
              <a:off x="1468531" y="2518094"/>
              <a:ext cx="283189" cy="28318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  <p:sp>
          <p:nvSpPr>
            <p:cNvPr id="94" name="işļîdè"/>
            <p:cNvSpPr/>
            <p:nvPr>
              <p:custDataLst>
                <p:tags r:id="rId13"/>
              </p:custDataLst>
            </p:nvPr>
          </p:nvSpPr>
          <p:spPr bwMode="auto">
            <a:xfrm>
              <a:off x="3266309" y="1871421"/>
              <a:ext cx="283189" cy="283189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</p:grpSp>
      <p:sp>
        <p:nvSpPr>
          <p:cNvPr id="95" name="ïşḻïḍe"/>
          <p:cNvSpPr txBox="1"/>
          <p:nvPr>
            <p:custDataLst>
              <p:tags r:id="rId14"/>
            </p:custDataLst>
          </p:nvPr>
        </p:nvSpPr>
        <p:spPr>
          <a:xfrm>
            <a:off x="7828915" y="2537460"/>
            <a:ext cx="2512695" cy="540385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Autofit/>
          </a:bodyPr>
          <a:p>
            <a:pPr algn="l"/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排序算法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3" name="íśľíḓê"/>
          <p:cNvGrpSpPr/>
          <p:nvPr/>
        </p:nvGrpSpPr>
        <p:grpSpPr>
          <a:xfrm rot="0">
            <a:off x="680085" y="922020"/>
            <a:ext cx="2688590" cy="1513205"/>
            <a:chOff x="3575720" y="-774342"/>
            <a:chExt cx="4240565" cy="2636200"/>
          </a:xfrm>
        </p:grpSpPr>
        <p:sp>
          <p:nvSpPr>
            <p:cNvPr id="104" name="iśḷiḓé"/>
            <p:cNvSpPr/>
            <p:nvPr/>
          </p:nvSpPr>
          <p:spPr bwMode="auto">
            <a:xfrm>
              <a:off x="3918741" y="1380506"/>
              <a:ext cx="481352" cy="48135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  <p:sp>
          <p:nvSpPr>
            <p:cNvPr id="105" name="iṧliḓè"/>
            <p:cNvSpPr/>
            <p:nvPr/>
          </p:nvSpPr>
          <p:spPr bwMode="auto">
            <a:xfrm>
              <a:off x="6450579" y="884043"/>
              <a:ext cx="924267" cy="924267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  <p:sp>
          <p:nvSpPr>
            <p:cNvPr id="106" name="ïṩľïḓe"/>
            <p:cNvSpPr/>
            <p:nvPr/>
          </p:nvSpPr>
          <p:spPr bwMode="auto">
            <a:xfrm>
              <a:off x="3575720" y="-387424"/>
              <a:ext cx="1287018" cy="1287018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  <p:sp>
          <p:nvSpPr>
            <p:cNvPr id="107" name="íşľíḍê"/>
            <p:cNvSpPr/>
            <p:nvPr/>
          </p:nvSpPr>
          <p:spPr bwMode="auto">
            <a:xfrm>
              <a:off x="4367808" y="-774342"/>
              <a:ext cx="2557971" cy="2557971"/>
            </a:xfrm>
            <a:prstGeom prst="ellipse">
              <a:avLst/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rot="0" spcFirstLastPara="0" vert="horz" wrap="none" lIns="91440" tIns="45720" rIns="91440" bIns="45720" anchor="b" anchorCtr="1" forceAA="0" compatLnSpc="1">
              <a:normAutofit fontScale="92500" lnSpcReduction="10000"/>
            </a:bodyPr>
            <a:p>
              <a:pPr algn="ctr"/>
              <a:r>
                <a:rPr lang="zh-CN" altLang="en-US" sz="4800" b="1" spc="300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目录 </a:t>
              </a:r>
              <a:br>
                <a:rPr lang="zh-CN" altLang="en-US" sz="4800" b="1" spc="300" dirty="0">
                  <a:solidFill>
                    <a:schemeClr val="bg1"/>
                  </a:solidFill>
                  <a:ea typeface="微软雅黑" panose="020B0503020204020204" pitchFamily="34" charset="-122"/>
                </a:rPr>
              </a:br>
              <a:r>
                <a:rPr lang="en-US" altLang="zh-CN" sz="2200" b="1" spc="300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CONTENT</a:t>
              </a:r>
              <a:endParaRPr lang="en-US" altLang="zh-CN" sz="2200" b="1" spc="300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08" name="iSḷïḑê"/>
            <p:cNvSpPr/>
            <p:nvPr/>
          </p:nvSpPr>
          <p:spPr bwMode="auto">
            <a:xfrm>
              <a:off x="7204217" y="152636"/>
              <a:ext cx="612068" cy="612068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noFill/>
              <a:round/>
            </a:ln>
          </p:spPr>
          <p:txBody>
            <a:bodyPr anchor="ctr"/>
            <a:p>
              <a:pPr algn="ct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97330" y="1417955"/>
            <a:ext cx="9417050" cy="172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数组排序算法</a:t>
            </a:r>
            <a:endParaRPr 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灵活运用排序的思想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03349" y="903606"/>
            <a:ext cx="10152381" cy="50811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 typeface="+mj-lt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3001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客户兴趣值排序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实现一种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简单排序算法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来对用户兴趣值进行排序，从以下简单排序算法中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任选一种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实现即可：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选择排序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插入排序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冒泡排序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 algn="just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输入描述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 typeface="Wingdings" panose="05000000000000000000" charset="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第一行输入是一个整数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≤ n ≤ 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），表示客户数量（即数组长度）。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 typeface="Wingdings" panose="05000000000000000000" charset="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第二行输入是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个整数，表示客户的兴趣值数组（其每个元素的范围为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0 ≤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兴趣值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≤ 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【输出描述】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输出排序后（降序排序）的兴趣值数组。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提示：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当数组为空，即 n = 0 时，输出为空。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03350" y="903605"/>
            <a:ext cx="10152380" cy="3089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 typeface="+mj-lt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3001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客户兴趣值排序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在广告推荐系统中，为了实现精准的客户推荐，需要根据客户对广告的兴趣值进行排序。兴趣值越高的客户，越应该被优先推荐相关广告。请任选一种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简单排序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算法来实现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sort_interest()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然后通过提交运行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检验所实现简单排序算法的正确性。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00" y="2864485"/>
            <a:ext cx="4771390" cy="11290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87500" y="4385310"/>
            <a:ext cx="37833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【输入样例】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5 2 5 1 10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【输出样例】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>
              <a:buClrTx/>
              <a:buSzTx/>
              <a:buFontTx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10 5 5 2 1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03350" y="903605"/>
            <a:ext cx="10152380" cy="425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 typeface="+mj-lt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3002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找出兴趣值最大的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个客户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给定一个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未排序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的数组，在不对整个数组进行完整排序的情况下，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找出兴趣值最高的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个客户。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输入描述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 typeface="Wingdings" panose="05000000000000000000" charset="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第一行的第一个输入是一个整数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≤ n ≤ 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），表示总客户数量（即数组长度）；第二个输入是一个整数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≤ k ≤ 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），表示所需要找出的兴趣值最高的客户数量。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 typeface="Wingdings" panose="05000000000000000000" charset="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第二行输入是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个整数，表示客户的兴趣值数组（其每个元素的范围为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0 ≤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兴趣值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≤ 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【输出描述】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输出兴趣值最高的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个客户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03350" y="903605"/>
            <a:ext cx="10152380" cy="3355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 typeface="+mj-lt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3002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找出兴趣值最大的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个客户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find_top_k_index()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函数，在不对整个数组进行完整的排序的情况下，输出兴趣值最高的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个客户序号（兴趣值越高的客户其序号越先输出）。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提示：可以借助选择排序的思想来完成该题。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6185" y="2629535"/>
            <a:ext cx="6535420" cy="16294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44320" y="4574540"/>
            <a:ext cx="49872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【输入样例】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5 2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5 2 3 1 10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【输出样例】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4 0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4"/>
            <a:ext cx="12192000" cy="43769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5709"/>
            <a:ext cx="12192000" cy="33622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3065796"/>
            <a:ext cx="3600000" cy="214013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10769600" y="3664910"/>
            <a:ext cx="843953" cy="2410180"/>
            <a:chOff x="10769600" y="3836360"/>
            <a:chExt cx="843953" cy="241018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9600" y="3838038"/>
              <a:ext cx="146835" cy="240850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9612" y="4912297"/>
              <a:ext cx="492494" cy="129551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0930" y="3836360"/>
              <a:ext cx="562623" cy="824898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34" y="247661"/>
            <a:ext cx="3602440" cy="18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7" y="444499"/>
            <a:ext cx="108000" cy="272454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2093857"/>
            <a:ext cx="3600000" cy="8149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65199" y="4240309"/>
            <a:ext cx="915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请同学们开始实验</a:t>
            </a:r>
            <a:endParaRPr lang="zh-CN" altLang="en-US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798622" y="6455543"/>
            <a:ext cx="2107760" cy="288000"/>
            <a:chOff x="1021340" y="5712187"/>
            <a:chExt cx="2107760" cy="28800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340" y="5716689"/>
              <a:ext cx="581924" cy="270576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89100" y="5712187"/>
              <a:ext cx="1440000" cy="28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7255" y="5720618"/>
              <a:ext cx="1186531" cy="270000"/>
            </a:xfrm>
            <a:prstGeom prst="rect">
              <a:avLst/>
            </a:prstGeom>
          </p:spPr>
        </p:pic>
      </p:grp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199" y="5983976"/>
            <a:ext cx="3475990" cy="638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2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3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4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5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6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7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8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9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0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1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2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3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4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5.xml><?xml version="1.0" encoding="utf-8"?>
<p:tagLst xmlns:p="http://schemas.openxmlformats.org/presentationml/2006/main">
  <p:tag name="ISPRING_PRESENTATION_TITLE" val="PowerPoint 演示文稿3"/>
  <p:tag name="COMMONDATA" val="eyJoZGlkIjoiMDljYWUyMzkyZmQ0OTgwOWUyMjkzNmZiMWJjYjA2Nzg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WPS 演示</Application>
  <PresentationFormat>宽屏</PresentationFormat>
  <Paragraphs>72</Paragraphs>
  <Slides>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Impact</vt:lpstr>
      <vt:lpstr>Wingdings</vt:lpstr>
      <vt:lpstr>Calibri</vt:lpstr>
      <vt:lpstr>Arial Unicode MS</vt:lpstr>
      <vt:lpstr>Calibri Light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雨虹</cp:lastModifiedBy>
  <cp:revision>667</cp:revision>
  <dcterms:created xsi:type="dcterms:W3CDTF">2025-10-06T04:08:00Z</dcterms:created>
  <dcterms:modified xsi:type="dcterms:W3CDTF">2025-12-10T08:41:11Z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B75E88D8FD6E56927740E368AF124889_43</vt:lpwstr>
  </property>
</Properties>
</file>