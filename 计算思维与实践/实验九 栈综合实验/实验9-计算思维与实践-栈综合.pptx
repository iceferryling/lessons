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15"/>
  </p:handoutMasterIdLst>
  <p:sldIdLst>
    <p:sldId id="322" r:id="rId4"/>
    <p:sldId id="324" r:id="rId6"/>
    <p:sldId id="297" r:id="rId7"/>
    <p:sldId id="407" r:id="rId8"/>
    <p:sldId id="411" r:id="rId9"/>
    <p:sldId id="409" r:id="rId10"/>
    <p:sldId id="410" r:id="rId11"/>
    <p:sldId id="405" r:id="rId12"/>
    <p:sldId id="379" r:id="rId13"/>
    <p:sldId id="323" r:id="rId14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7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4A7"/>
    <a:srgbClr val="000000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 autoAdjust="0"/>
    <p:restoredTop sz="91069" autoAdjust="0"/>
  </p:normalViewPr>
  <p:slideViewPr>
    <p:cSldViewPr snapToGrid="0" showGuides="1">
      <p:cViewPr varScale="1">
        <p:scale>
          <a:sx n="104" d="100"/>
          <a:sy n="104" d="100"/>
        </p:scale>
        <p:origin x="642" y="96"/>
      </p:cViewPr>
      <p:guideLst>
        <p:guide orient="horz" pos="2057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2529" y="-72"/>
      </p:cViewPr>
      <p:guideLst>
        <p:guide orient="horz" pos="2742"/>
        <p:guide pos="21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3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0E8E-B145-4FC0-B3F5-88616996E7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39E9-F60F-4776-B545-3ACE882E0A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3D91A-8275-4C29-80FF-E72C08F8C7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119892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8" y="3625900"/>
            <a:ext cx="96440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实验九</a:t>
            </a: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栈综合实验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f48f5301-91d9-4324-a64a-050410bbde6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9971" y="922004"/>
            <a:ext cx="9661763" cy="4836149"/>
            <a:chOff x="975990" y="622534"/>
            <a:chExt cx="10088641" cy="5578777"/>
          </a:xfrm>
        </p:grpSpPr>
        <p:grpSp>
          <p:nvGrpSpPr>
            <p:cNvPr id="4" name="íṧ1iḋê"/>
            <p:cNvGrpSpPr/>
            <p:nvPr/>
          </p:nvGrpSpPr>
          <p:grpSpPr>
            <a:xfrm>
              <a:off x="2814796" y="2478576"/>
              <a:ext cx="1639137" cy="1562495"/>
              <a:chOff x="1468531" y="1871421"/>
              <a:chExt cx="2080967" cy="1983665"/>
            </a:xfrm>
          </p:grpSpPr>
          <p:sp>
            <p:nvSpPr>
              <p:cNvPr id="44" name="ïṥlïḓè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ślîḋê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şļîḋé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ctr" anchorCtr="1" forceAA="0" compatLnSpc="1">
                <a:normAutofit fontScale="92500" lnSpcReduction="2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01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ïŝlíḋe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ṡḻiďé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ŝľîḑé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42" name="iṩľïḓe"/>
            <p:cNvSpPr txBox="1"/>
            <p:nvPr>
              <p:custDataLst>
                <p:tags r:id="rId8"/>
              </p:custDataLst>
            </p:nvPr>
          </p:nvSpPr>
          <p:spPr>
            <a:xfrm>
              <a:off x="4223545" y="2485987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实验回顾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íṡļïḓè"/>
            <p:cNvGrpSpPr/>
            <p:nvPr/>
          </p:nvGrpSpPr>
          <p:grpSpPr>
            <a:xfrm>
              <a:off x="2814796" y="4638816"/>
              <a:ext cx="1639137" cy="1562495"/>
              <a:chOff x="1468531" y="1871421"/>
              <a:chExt cx="2080967" cy="1983665"/>
            </a:xfrm>
          </p:grpSpPr>
          <p:sp>
            <p:nvSpPr>
              <p:cNvPr id="36" name="isḷíde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ṩliḓè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ṩlîḍè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0" tIns="0" rIns="0" bIns="0" anchor="ctr" anchorCtr="1" forceAA="0" compatLnSpc="1">
                <a:normAutofit lnSpcReduction="1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03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îśliḑê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şḻïd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ŝ1iď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4" name="ïṧļíde"/>
            <p:cNvSpPr txBox="1"/>
            <p:nvPr>
              <p:custDataLst>
                <p:tags r:id="rId15"/>
              </p:custDataLst>
            </p:nvPr>
          </p:nvSpPr>
          <p:spPr>
            <a:xfrm>
              <a:off x="4223545" y="4646228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îṧḻidé"/>
            <p:cNvGrpSpPr/>
            <p:nvPr/>
          </p:nvGrpSpPr>
          <p:grpSpPr>
            <a:xfrm>
              <a:off x="7032105" y="2478576"/>
              <a:ext cx="1639137" cy="1562495"/>
              <a:chOff x="1468531" y="1871421"/>
              <a:chExt cx="2080967" cy="1983665"/>
            </a:xfrm>
          </p:grpSpPr>
          <p:sp>
            <p:nvSpPr>
              <p:cNvPr id="28" name="ïṣľíďe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751720" y="2659689"/>
                <a:ext cx="796931" cy="796931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šļiḋ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1847528" y="1880828"/>
                <a:ext cx="966310" cy="96631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iṥľïďê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2219772" y="2167905"/>
                <a:ext cx="1188132" cy="118813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rot="0" spcFirstLastPara="0" vert="horz" wrap="none" lIns="0" tIns="0" rIns="0" bIns="0" anchor="ctr" anchorCtr="1" forceAA="0" compatLnSpc="1">
                <a:normAutofit lnSpcReduction="10000"/>
              </a:bodyPr>
              <a:lstStyle/>
              <a:p>
                <a:pPr algn="ctr"/>
                <a:r>
                  <a:rPr lang="en-US" altLang="zh-CN" sz="4000" dirty="0">
                    <a:solidFill>
                      <a:schemeClr val="bg1">
                        <a:lumMod val="100000"/>
                      </a:schemeClr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02</a:t>
                </a:r>
                <a:endPara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íṩľíḓé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2687824" y="3456620"/>
                <a:ext cx="398466" cy="398466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śliďé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1468531" y="2518094"/>
                <a:ext cx="283189" cy="28318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şļîdè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266309" y="1871421"/>
                <a:ext cx="283189" cy="283189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7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6" name="ïşḻïḍe"/>
            <p:cNvSpPr txBox="1"/>
            <p:nvPr>
              <p:custDataLst>
                <p:tags r:id="rId22"/>
              </p:custDataLst>
            </p:nvPr>
          </p:nvSpPr>
          <p:spPr>
            <a:xfrm>
              <a:off x="8440854" y="2485987"/>
              <a:ext cx="2623777" cy="62343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  <a:endPara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íśľíḓê"/>
            <p:cNvGrpSpPr/>
            <p:nvPr/>
          </p:nvGrpSpPr>
          <p:grpSpPr>
            <a:xfrm>
              <a:off x="975990" y="622534"/>
              <a:ext cx="2807351" cy="1745225"/>
              <a:chOff x="3575720" y="-774342"/>
              <a:chExt cx="4240565" cy="2636200"/>
            </a:xfrm>
          </p:grpSpPr>
          <p:sp>
            <p:nvSpPr>
              <p:cNvPr id="13" name="iśḷiḓé"/>
              <p:cNvSpPr/>
              <p:nvPr/>
            </p:nvSpPr>
            <p:spPr bwMode="auto">
              <a:xfrm>
                <a:off x="3918741" y="1380506"/>
                <a:ext cx="481352" cy="48135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iṧliḓè"/>
              <p:cNvSpPr/>
              <p:nvPr/>
            </p:nvSpPr>
            <p:spPr bwMode="auto">
              <a:xfrm>
                <a:off x="6450579" y="884043"/>
                <a:ext cx="924267" cy="924267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ṩľïḓe"/>
              <p:cNvSpPr/>
              <p:nvPr/>
            </p:nvSpPr>
            <p:spPr bwMode="auto">
              <a:xfrm>
                <a:off x="3575720" y="-387424"/>
                <a:ext cx="1287018" cy="12870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íşľíḍê"/>
              <p:cNvSpPr/>
              <p:nvPr/>
            </p:nvSpPr>
            <p:spPr bwMode="auto">
              <a:xfrm>
                <a:off x="4367808" y="-774342"/>
                <a:ext cx="2557971" cy="2557971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</a:ln>
            </p:spPr>
            <p:txBody>
              <a:bodyPr rot="0" spcFirstLastPara="0" vert="horz" wrap="none" lIns="91440" tIns="45720" rIns="91440" bIns="45720" anchor="b" anchorCtr="1" forceAA="0" compatLnSpc="1">
                <a:normAutofit fontScale="92500" lnSpcReduction="10000"/>
              </a:bodyPr>
              <a:lstStyle/>
              <a:p>
                <a:pPr algn="ctr"/>
                <a:r>
                  <a:rPr lang="zh-CN" altLang="en-US" sz="48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  <a:t>目录 </a:t>
                </a:r>
                <a:br>
                  <a:rPr lang="zh-CN" altLang="en-US" sz="48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</a:br>
                <a:r>
                  <a:rPr lang="en-US" altLang="zh-CN" sz="2200" b="1" spc="300" dirty="0">
                    <a:solidFill>
                      <a:schemeClr val="bg1"/>
                    </a:solidFill>
                    <a:ea typeface="微软雅黑" panose="020B0503020204020204" pitchFamily="34" charset="-122"/>
                  </a:rPr>
                  <a:t>CONTENT</a:t>
                </a:r>
                <a:endParaRPr lang="en-US" altLang="zh-CN" sz="2200" b="1" spc="300" dirty="0">
                  <a:solidFill>
                    <a:schemeClr val="bg1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iSḷïḑê"/>
              <p:cNvSpPr/>
              <p:nvPr/>
            </p:nvSpPr>
            <p:spPr bwMode="auto">
              <a:xfrm>
                <a:off x="7204217" y="152636"/>
                <a:ext cx="612068" cy="612068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97330" y="1417955"/>
            <a:ext cx="9417050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掌握栈（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）的基本实现及操作（压栈、弹栈、判空）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括号匹配任务，用栈实现基础版本和进阶版本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8565" y="1034415"/>
            <a:ext cx="10152380" cy="178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just"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是一种轻量级的数据交换格式，基于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键值对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key:value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键是字符串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值可以是字符串、数字、布尔型、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、对象或者数组，它们可以嵌套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816" y="3611513"/>
            <a:ext cx="1476581" cy="158137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843406" y="2988699"/>
            <a:ext cx="6096000" cy="4996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194" y="3611031"/>
            <a:ext cx="2191056" cy="301032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689275" y="3009489"/>
            <a:ext cx="1709122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743468" y="1513696"/>
            <a:ext cx="92492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 和 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必须成对、嵌套正确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只处理括号匹配，无论括号是否在字符串中；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进阶版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需忽略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字符串内的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括号，且支持转义字符；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只检查括号匹配，不检查其他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43468" y="3288036"/>
            <a:ext cx="3617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26294" y="4762392"/>
            <a:ext cx="1517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基础版非法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135" y="3940300"/>
            <a:ext cx="2084178" cy="822092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440000" y="1008000"/>
            <a:ext cx="10152380" cy="505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括号匹配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67779" y="4762392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进阶版合法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0000" y="1008000"/>
            <a:ext cx="10152380" cy="10456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括号匹配（基础版）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40000" y="1558062"/>
            <a:ext cx="101088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括号匹配的本质：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最后出现的左括号，必须最先匹配对应的右括号（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后进先出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03350" y="2132412"/>
            <a:ext cx="10259505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直到定位到需要处理的括号字符，其他字符直接跳过；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遇到左括号（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压入对应的右括号到栈中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遇到右括号（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弹出栈顶，检验是否与当前的右括号匹配，如不匹配或栈空则非法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终止条件：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串遍历完毕，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栈为空表示所有括号都正确闭合，返回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，否则返回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23670" y="3429000"/>
            <a:ext cx="78708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StackResult stackInit(Stack* stack, int init_capacity, int max_capacity);//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StackResult stackPush(Stack* stack, char bracket, int position);//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StackResult stackPop(Stack* stack, StackElem* elem);//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弹栈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StackResult stackPeek(Stack* stack, StackElem* elem);//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查看栈顶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stackIsEmpty(const Stack* stack);//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stackDestroy(Stack* stack);//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释放内存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23670" y="2896870"/>
            <a:ext cx="216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栈基础操作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45271" y="5289091"/>
            <a:ext cx="509968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基础版本：不考虑字符串内的括号干扰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jsonBracketCheck</a:t>
            </a:r>
            <a:r>
              <a:rPr lang="en-US" altLang="zh-CN" sz="1600" b="1" i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Basic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(const char*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json_str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9503" y="1143157"/>
            <a:ext cx="29984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</a:t>
            </a:r>
            <a:r>
              <a:rPr lang="zh-CN" altLang="en-US" sz="14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定义栈结构体</a:t>
            </a:r>
            <a:endParaRPr lang="zh-CN" altLang="en-US" sz="1400" b="1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struct {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StackElem* data;//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栈数据数组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int top; 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栈顶指针，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表示空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int capacity;     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当前栈容量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int max_capacity; 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最大容量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 Stack;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523882" y="1138793"/>
            <a:ext cx="328826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</a:t>
            </a:r>
            <a:r>
              <a:rPr lang="zh-CN" altLang="en-US" sz="14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定义栈元素结构</a:t>
            </a:r>
            <a:endParaRPr lang="en-US" altLang="zh-CN" sz="1400" b="1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struct {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char bracket;  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括号字符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int position;  // 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在字符串中的位置</a:t>
            </a:r>
            <a:endParaRPr lang="zh-CN" altLang="en-US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 StackElem;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05071" y="1035451"/>
            <a:ext cx="4068305" cy="149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动态扩容函数：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 *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realloc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(void *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ptr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size)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指向需要重新分配的内存块的指针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是新的内存块大小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返回指向新内存块的指针或者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40000" y="1008000"/>
            <a:ext cx="10152381" cy="851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括号匹配（进阶版）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+mj-lt"/>
              <a:buNone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80371" y="1201964"/>
            <a:ext cx="5528310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初始化两个状态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in_string = </a:t>
            </a:r>
            <a:r>
              <a:rPr lang="en-US" altLang="zh-CN" sz="1600" dirty="0">
                <a:solidFill>
                  <a:srgbClr val="E545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1600" dirty="0">
                <a:solidFill>
                  <a:srgbClr val="E545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alse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//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是否在字符串内（0/1）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escape_flag = </a:t>
            </a:r>
            <a:r>
              <a:rPr lang="en-US" altLang="zh-CN" sz="1600" dirty="0">
                <a:solidFill>
                  <a:srgbClr val="E545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zh-CN" sz="1600" dirty="0">
                <a:solidFill>
                  <a:srgbClr val="E545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alse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转义标记（0/1，仅对下一字符生效）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每个字符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 in JSON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在字符串内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处于转义状态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取消转义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else if 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是转义符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进入转义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else if 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是双引号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结束字符串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else: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 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是双引号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开始字符串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else if 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是左括号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压栈，存储对应右括号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else if 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是右括号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弹栈并检查匹配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遍历结束后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在字符串内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字符串未闭合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 非法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栈非空: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括号未闭合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 非法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 合法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5791" y="2529658"/>
            <a:ext cx="4757600" cy="263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在栈实现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括号匹配（基础版）的基础上：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忽略字符串内的括号（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不参与匹配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支持转义字符（如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\"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不终止字符串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sz="2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状态变量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跟踪是否在字符串内或处于转义状态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1891" y="1669668"/>
            <a:ext cx="6096000" cy="6140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进阶版本：考虑字符串内括号干扰，支持转义字符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jsonBracketCheck</a:t>
            </a:r>
            <a:r>
              <a:rPr lang="en-US" altLang="zh-CN" sz="1600" b="1" i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Advanced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(const char* </a:t>
            </a:r>
            <a:r>
              <a:rPr lang="en-US" altLang="zh-CN" sz="16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json_str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0000" y="1008000"/>
            <a:ext cx="10152380" cy="505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+mj-lt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括号匹配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350619" y="1656825"/>
            <a:ext cx="910467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输入描述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一行，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格式的字符串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65929" y="1656825"/>
            <a:ext cx="332150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输入示例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      {"key":"</a:t>
            </a:r>
            <a:r>
              <a:rPr lang="en-US" altLang="zh-CN" dirty="0" err="1"/>
              <a:t>val</a:t>
            </a:r>
            <a:r>
              <a:rPr lang="en-US" altLang="zh-CN" dirty="0"/>
              <a:t>\"{</a:t>
            </a:r>
            <a:r>
              <a:rPr lang="en-US" altLang="zh-CN" dirty="0" err="1"/>
              <a:t>ue</a:t>
            </a:r>
            <a:r>
              <a:rPr lang="en-US" altLang="zh-CN" dirty="0"/>
              <a:t>"}</a:t>
            </a:r>
            <a:endParaRPr lang="en-US" altLang="zh-CN" dirty="0"/>
          </a:p>
        </p:txBody>
      </p:sp>
      <p:sp>
        <p:nvSpPr>
          <p:cNvPr id="14" name="矩形 13"/>
          <p:cNvSpPr/>
          <p:nvPr/>
        </p:nvSpPr>
        <p:spPr>
          <a:xfrm>
            <a:off x="7965929" y="2689178"/>
            <a:ext cx="332150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输出示例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     0 1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1403350" y="3314700"/>
            <a:ext cx="631380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分别用栈实现基础版和进阶版，检查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串的括号是否匹配，匹配输出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，不匹配输出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0619" y="2768164"/>
            <a:ext cx="1569660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输出描述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5199" y="4240309"/>
            <a:ext cx="915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ISLIDE.DIAGRAM" val="f48f5301-91d9-4324-a64a-050410bbde6a"/>
  <p:tag name="KSO_WM_DIAGRAM_VIRTUALLY_FRAME" val="{&quot;height&quot;:380.79913385826774,&quot;left&quot;:53.54102362204725,&quot;top&quot;:72.59874015748031,&quot;width&quot;:760.7687401574804}"/>
</p:tagLst>
</file>

<file path=ppt/tags/tag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5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6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7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8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9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0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3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4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5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6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7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8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9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0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1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2.xml><?xml version="1.0" encoding="utf-8"?>
<p:tagLst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3.xml><?xml version="1.0" encoding="utf-8"?>
<p:tagLst xmlns:p="http://schemas.openxmlformats.org/presentationml/2006/main">
  <p:tag name="ISPRING_PRESENTATION_TITLE" val="PowerPoint 演示文稿3"/>
  <p:tag name="COMMONDATA" val="eyJoZGlkIjoiMDljYWUyMzkyZmQ0OTgwOWUyMjkzNmZiMWJjYjA2Nzg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1949</Words>
  <Application>WPS 演示</Application>
  <PresentationFormat>宽屏</PresentationFormat>
  <Paragraphs>151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Impact</vt:lpstr>
      <vt:lpstr>Wingdings</vt:lpstr>
      <vt:lpstr>Calibri</vt:lpstr>
      <vt:lpstr>Arial Unicode MS</vt:lpstr>
      <vt:lpstr>Calibri Light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雨虹</cp:lastModifiedBy>
  <cp:revision>713</cp:revision>
  <dcterms:created xsi:type="dcterms:W3CDTF">2025-10-06T04:08:00Z</dcterms:created>
  <dcterms:modified xsi:type="dcterms:W3CDTF">2025-12-17T01:51:09Z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374DB847A6714C34A576CB27FB9561E5_13</vt:lpwstr>
  </property>
</Properties>
</file>